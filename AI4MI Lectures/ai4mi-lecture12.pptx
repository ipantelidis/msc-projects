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3"/>
  </p:notesMasterIdLst>
  <p:sldIdLst>
    <p:sldId id="256" r:id="rId2"/>
    <p:sldId id="277" r:id="rId3"/>
    <p:sldId id="282" r:id="rId4"/>
    <p:sldId id="257" r:id="rId5"/>
    <p:sldId id="283" r:id="rId6"/>
    <p:sldId id="281" r:id="rId7"/>
    <p:sldId id="258" r:id="rId8"/>
    <p:sldId id="284" r:id="rId9"/>
    <p:sldId id="259" r:id="rId10"/>
    <p:sldId id="280" r:id="rId11"/>
    <p:sldId id="260" r:id="rId12"/>
    <p:sldId id="261" r:id="rId13"/>
    <p:sldId id="278" r:id="rId14"/>
    <p:sldId id="285" r:id="rId15"/>
    <p:sldId id="279" r:id="rId16"/>
    <p:sldId id="262" r:id="rId17"/>
    <p:sldId id="263" r:id="rId18"/>
    <p:sldId id="286" r:id="rId19"/>
    <p:sldId id="264" r:id="rId20"/>
    <p:sldId id="265" r:id="rId21"/>
    <p:sldId id="266" r:id="rId22"/>
    <p:sldId id="267" r:id="rId23"/>
    <p:sldId id="268" r:id="rId24"/>
    <p:sldId id="287" r:id="rId25"/>
    <p:sldId id="269" r:id="rId26"/>
    <p:sldId id="270" r:id="rId27"/>
    <p:sldId id="271" r:id="rId28"/>
    <p:sldId id="272" r:id="rId29"/>
    <p:sldId id="273" r:id="rId30"/>
    <p:sldId id="274" r:id="rId31"/>
    <p:sldId id="276" r:id="rId3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32"/>
    <p:restoredTop sz="96255"/>
  </p:normalViewPr>
  <p:slideViewPr>
    <p:cSldViewPr snapToGrid="0" snapToObjects="1">
      <p:cViewPr>
        <p:scale>
          <a:sx n="93" d="100"/>
          <a:sy n="93" d="100"/>
        </p:scale>
        <p:origin x="312" y="800"/>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71" d="100"/>
          <a:sy n="71" d="100"/>
        </p:scale>
        <p:origin x="3024"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491409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NL"/>
          </a:p>
        </p:txBody>
      </p:sp>
    </p:spTree>
    <p:extLst>
      <p:ext uri="{BB962C8B-B14F-4D97-AF65-F5344CB8AC3E}">
        <p14:creationId xmlns:p14="http://schemas.microsoft.com/office/powerpoint/2010/main" val="40231665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GB" dirty="0"/>
              <a:t>L</a:t>
            </a:r>
            <a:r>
              <a:rPr lang="en-NL" dirty="0"/>
              <a:t>ong tenure with Philips</a:t>
            </a:r>
          </a:p>
          <a:p>
            <a:pPr marL="171450" indent="-171450">
              <a:buFontTx/>
              <a:buChar char="-"/>
            </a:pPr>
            <a:r>
              <a:rPr lang="en-NL" dirty="0"/>
              <a:t>new product introduction for time of flight PET-CT and PET-MR. Milpitas</a:t>
            </a:r>
            <a:r>
              <a:rPr lang="en-NL" baseline="0" dirty="0"/>
              <a:t> CA &amp; Cleveland OH</a:t>
            </a:r>
          </a:p>
          <a:p>
            <a:pPr marL="171450" indent="-171450">
              <a:buFontTx/>
              <a:buChar char="-"/>
            </a:pPr>
            <a:r>
              <a:rPr lang="en-NL" baseline="0" dirty="0"/>
              <a:t>M&amp;A integrtaion Stentor PACS as a Software Service model –wavelet based losless compresion combined with a pay per exam business model Silently build up 12 Petabyte medical images now driving Philips AI devel</a:t>
            </a:r>
            <a:r>
              <a:rPr lang="en-GB" baseline="0" dirty="0"/>
              <a:t>o</a:t>
            </a:r>
            <a:r>
              <a:rPr lang="en-NL" baseline="0" dirty="0"/>
              <a:t>pment (ao Healthsuite)</a:t>
            </a:r>
          </a:p>
          <a:p>
            <a:pPr marL="171450" indent="-171450">
              <a:buFontTx/>
              <a:buChar char="-"/>
            </a:pPr>
            <a:r>
              <a:rPr lang="en-NL" baseline="0" dirty="0"/>
              <a:t>Then Stanford all clinical technologies except for core </a:t>
            </a:r>
            <a:r>
              <a:rPr lang="en-GB" baseline="0" dirty="0"/>
              <a:t>EHR (patient charting-schedules-claims and billing) BIG change from industry- very highly specialized-many sub specialized thousands of devices and even more applications. No shortage of money and talent.</a:t>
            </a:r>
          </a:p>
          <a:p>
            <a:pPr marL="171450" indent="-171450">
              <a:buFontTx/>
              <a:buChar char="-"/>
            </a:pPr>
            <a:r>
              <a:rPr lang="en-GB" baseline="0" dirty="0"/>
              <a:t>Now UMC-Amsterdam spin-off, always short on money,  leaner (not more efficient though) very highly regarded science and care. &gt; No pain no gain but lots of fun.</a:t>
            </a:r>
            <a:endParaRPr lang="en-NL" baseline="0" dirty="0"/>
          </a:p>
          <a:p>
            <a:pPr marL="171450" indent="-171450">
              <a:buFontTx/>
              <a:buChar char="-"/>
            </a:pPr>
            <a:endParaRPr lang="en-NL" baseline="0" dirty="0"/>
          </a:p>
          <a:p>
            <a:endParaRPr lang="en-NL" dirty="0"/>
          </a:p>
        </p:txBody>
      </p:sp>
    </p:spTree>
    <p:extLst>
      <p:ext uri="{BB962C8B-B14F-4D97-AF65-F5344CB8AC3E}">
        <p14:creationId xmlns:p14="http://schemas.microsoft.com/office/powerpoint/2010/main" val="12368445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nl-NL" dirty="0" err="1"/>
              <a:t>From</a:t>
            </a:r>
            <a:r>
              <a:rPr lang="nl-NL" dirty="0"/>
              <a:t> </a:t>
            </a:r>
            <a:r>
              <a:rPr lang="nl-NL" dirty="0" err="1"/>
              <a:t>the</a:t>
            </a:r>
            <a:r>
              <a:rPr lang="nl-NL" dirty="0"/>
              <a:t> </a:t>
            </a:r>
            <a:r>
              <a:rPr lang="nl-NL" dirty="0" err="1"/>
              <a:t>early</a:t>
            </a:r>
            <a:r>
              <a:rPr lang="nl-NL" dirty="0"/>
              <a:t> </a:t>
            </a:r>
            <a:r>
              <a:rPr lang="nl-NL" dirty="0" err="1"/>
              <a:t>imageNet</a:t>
            </a:r>
            <a:r>
              <a:rPr lang="nl-NL" baseline="0" dirty="0"/>
              <a:t> </a:t>
            </a:r>
            <a:r>
              <a:rPr lang="nl-NL" baseline="0" dirty="0" err="1"/>
              <a:t>to</a:t>
            </a:r>
            <a:r>
              <a:rPr lang="nl-NL" baseline="0" dirty="0"/>
              <a:t> first NN </a:t>
            </a:r>
            <a:r>
              <a:rPr lang="nl-NL" baseline="0" dirty="0" err="1"/>
              <a:t>and</a:t>
            </a:r>
            <a:r>
              <a:rPr lang="nl-NL" baseline="0" dirty="0"/>
              <a:t> back </a:t>
            </a:r>
            <a:r>
              <a:rPr lang="nl-NL" baseline="0" dirty="0" err="1"/>
              <a:t>propogation</a:t>
            </a:r>
            <a:r>
              <a:rPr lang="nl-NL" baseline="0" dirty="0"/>
              <a:t> </a:t>
            </a:r>
            <a:r>
              <a:rPr lang="nl-NL" baseline="0" dirty="0" err="1"/>
              <a:t>the</a:t>
            </a:r>
            <a:r>
              <a:rPr lang="nl-NL" baseline="0" dirty="0"/>
              <a:t> imaging AI </a:t>
            </a:r>
            <a:r>
              <a:rPr lang="nl-NL" baseline="0" dirty="0" err="1"/>
              <a:t>space</a:t>
            </a:r>
            <a:r>
              <a:rPr lang="nl-NL" baseline="0" dirty="0"/>
              <a:t> </a:t>
            </a:r>
            <a:r>
              <a:rPr lang="nl-NL" baseline="0" dirty="0" err="1"/>
              <a:t>exploded</a:t>
            </a:r>
            <a:r>
              <a:rPr lang="nl-NL" baseline="0" dirty="0"/>
              <a:t>. </a:t>
            </a:r>
            <a:endParaRPr lang="en-NL" dirty="0"/>
          </a:p>
        </p:txBody>
      </p:sp>
    </p:spTree>
    <p:extLst>
      <p:ext uri="{BB962C8B-B14F-4D97-AF65-F5344CB8AC3E}">
        <p14:creationId xmlns:p14="http://schemas.microsoft.com/office/powerpoint/2010/main" val="28737894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98B7F-8DC7-48D7-FB52-D961AE55E1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329B65-2C78-E818-5AFD-F65AB9C6F4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F173CD9-C6E1-0488-C7AE-F96050CAF098}"/>
              </a:ext>
            </a:extLst>
          </p:cNvPr>
          <p:cNvSpPr>
            <a:spLocks noGrp="1"/>
          </p:cNvSpPr>
          <p:nvPr>
            <p:ph type="body" idx="1"/>
          </p:nvPr>
        </p:nvSpPr>
        <p:spPr/>
        <p:txBody>
          <a:bodyPr/>
          <a:lstStyle/>
          <a:p>
            <a:r>
              <a:rPr lang="en-US" dirty="0"/>
              <a:t>2021</a:t>
            </a:r>
            <a:r>
              <a:rPr lang="en-US" baseline="0" dirty="0"/>
              <a:t> RSNA (2025 did not fit on one page anymore)</a:t>
            </a:r>
            <a:endParaRPr lang="en-US" dirty="0"/>
          </a:p>
        </p:txBody>
      </p:sp>
      <p:sp>
        <p:nvSpPr>
          <p:cNvPr id="4" name="Slide Number Placeholder 3">
            <a:extLst>
              <a:ext uri="{FF2B5EF4-FFF2-40B4-BE49-F238E27FC236}">
                <a16:creationId xmlns:a16="http://schemas.microsoft.com/office/drawing/2014/main" id="{E9CC6F1D-4F20-3ACA-4F6D-1C334D805D43}"/>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4998491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Radiology dominates because the input is already digital and standardised (DICOM). The 96% via 510(k) matters,: almost every product proves it is similar to something already cleared. what does that mean for a truly new idea? It means a harder, slower route to market access (De Novo).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GB" dirty="0"/>
              <a:t>W</a:t>
            </a:r>
            <a:r>
              <a:rPr lang="en-NL" dirty="0"/>
              <a:t>ith what we know</a:t>
            </a:r>
            <a:r>
              <a:rPr lang="en-NL" baseline="0" dirty="0"/>
              <a:t> today about shortfall of AI models would the models approved by FDA or MDR CE been approved?</a:t>
            </a:r>
          </a:p>
          <a:p>
            <a:r>
              <a:rPr lang="en-GB" baseline="0" dirty="0"/>
              <a:t>M</a:t>
            </a:r>
            <a:r>
              <a:rPr lang="en-NL" baseline="0" dirty="0"/>
              <a:t>any data-sets on basis of which the model showed high performancehad significant bias problem (either in size or gender-race-age etc) </a:t>
            </a:r>
          </a:p>
          <a:p>
            <a:r>
              <a:rPr lang="en-GB" baseline="0" dirty="0"/>
              <a:t>S</a:t>
            </a:r>
            <a:r>
              <a:rPr lang="en-NL" baseline="0" dirty="0"/>
              <a:t>ee </a:t>
            </a:r>
            <a:r>
              <a:rPr lang="en-GB" baseline="0" dirty="0"/>
              <a:t>https://</a:t>
            </a:r>
            <a:r>
              <a:rPr lang="en-GB" baseline="0" dirty="0" err="1"/>
              <a:t>www.cortechs.ai</a:t>
            </a:r>
            <a:r>
              <a:rPr lang="en-GB" baseline="0" dirty="0"/>
              <a:t>/</a:t>
            </a:r>
            <a:r>
              <a:rPr lang="en-GB" baseline="0" dirty="0" err="1"/>
              <a:t>wp</a:t>
            </a:r>
            <a:r>
              <a:rPr lang="en-GB" baseline="0" dirty="0"/>
              <a:t>-content/uploads/2018/10/Normative-Database-White-</a:t>
            </a:r>
            <a:r>
              <a:rPr lang="en-GB" baseline="0" dirty="0" err="1"/>
              <a:t>Paper.pdf</a:t>
            </a:r>
            <a:endParaRPr lang="en-GB" baseline="0" dirty="0"/>
          </a:p>
          <a:p>
            <a:endParaRPr lang="en-NL" dirty="0"/>
          </a:p>
        </p:txBody>
      </p:sp>
    </p:spTree>
    <p:extLst>
      <p:ext uri="{BB962C8B-B14F-4D97-AF65-F5344CB8AC3E}">
        <p14:creationId xmlns:p14="http://schemas.microsoft.com/office/powerpoint/2010/main" val="10818987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rtl="0"/>
            <a:r>
              <a:rPr lang="en-NL" dirty="0"/>
              <a:t>"Watson cures cancer" was promised before there was clinical validation. (btw</a:t>
            </a:r>
            <a:r>
              <a:rPr lang="en-NL" baseline="0" dirty="0"/>
              <a:t> they spend 1.2 B USD to buy radiology data)</a:t>
            </a:r>
            <a:endParaRPr lang="en-NL" dirty="0"/>
          </a:p>
          <a:p>
            <a:pPr lvl="0" rtl="0"/>
            <a:r>
              <a:rPr lang="en-NL" b="1" dirty="0"/>
              <a:t>The wrong data.</a:t>
            </a:r>
            <a:r>
              <a:rPr lang="en-NL" dirty="0"/>
              <a:t> It used synthetic and single-centre cases, so it didn't generalise to other hospitals</a:t>
            </a:r>
            <a:r>
              <a:rPr lang="en-NL" baseline="0" dirty="0"/>
              <a:t> (espesc in APAC-dataset bias)</a:t>
            </a:r>
            <a:endParaRPr lang="en-NL" dirty="0"/>
          </a:p>
          <a:p>
            <a:pPr lvl="0" rtl="0"/>
            <a:r>
              <a:rPr lang="en-NL" dirty="0"/>
              <a:t>There was no payer (insurance-reimbursement) to pay for it. </a:t>
            </a:r>
          </a:p>
          <a:p>
            <a:pPr lvl="0" rtl="0"/>
            <a:r>
              <a:rPr lang="en-NL" dirty="0"/>
              <a:t>Trust gone and hospitals</a:t>
            </a:r>
            <a:r>
              <a:rPr lang="en-NL" baseline="0" dirty="0"/>
              <a:t> did not have a good businesscase</a:t>
            </a:r>
          </a:p>
          <a:p>
            <a:pPr lvl="0" rtl="0"/>
            <a:r>
              <a:rPr lang="en-NL" baseline="0" dirty="0"/>
              <a:t>Ceased business…</a:t>
            </a:r>
          </a:p>
          <a:p>
            <a:pPr lvl="0" rtl="0"/>
            <a:r>
              <a:rPr lang="en-NL" baseline="0" dirty="0"/>
              <a:t>With the knowledge today those AI model would have never been approved see FDA updated ruling.</a:t>
            </a:r>
            <a:endParaRPr lang="en-NL" dirty="0"/>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B23BF-FD50-E336-FA08-236BCE034F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0DB5FB-76EC-559B-B689-06BE09F068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0E7B36-71F4-A66A-9F5A-0A85F1CCADD6}"/>
              </a:ext>
            </a:extLst>
          </p:cNvPr>
          <p:cNvSpPr>
            <a:spLocks noGrp="1"/>
          </p:cNvSpPr>
          <p:nvPr>
            <p:ph type="body" idx="1"/>
          </p:nvPr>
        </p:nvSpPr>
        <p:spPr/>
        <p:txBody>
          <a:bodyPr/>
          <a:lstStyle/>
          <a:p>
            <a:r>
              <a:rPr lang="en-US" dirty="0"/>
              <a:t>model capability is no longer the bottleneck. Segmentation that was a PhD five years ago is now a library call. What you build on top, and how you prove it, is where the value is.</a:t>
            </a:r>
          </a:p>
        </p:txBody>
      </p:sp>
      <p:sp>
        <p:nvSpPr>
          <p:cNvPr id="4" name="Slide Number Placeholder 3">
            <a:extLst>
              <a:ext uri="{FF2B5EF4-FFF2-40B4-BE49-F238E27FC236}">
                <a16:creationId xmlns:a16="http://schemas.microsoft.com/office/drawing/2014/main" id="{F96250DB-11F6-524B-34F4-D5DEFEC92E35}"/>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4401154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on the right is a question a hospital, a notified body or an insurer will ask you. If your thesis answers the left column, you are halfway. Patient-level independence: leakage between train and test at patch level is the most common silent error</a:t>
            </a:r>
            <a:r>
              <a:rPr lang="en-US" baseline="0" dirty="0"/>
              <a:t> in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Orthopaedics</a:t>
            </a:r>
            <a:r>
              <a:rPr lang="en-US" dirty="0"/>
              <a:t> is a good teaching case: big volumes (about 4 million knee and hip replacements a year worldwide), clear decisions, and a huge installed base of implants that will need follow-up. Robotics gets the headlines; the quieter opportunity is diagnosis after surgery,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GB" dirty="0"/>
              <a:t>A</a:t>
            </a:r>
            <a:r>
              <a:rPr lang="en-NL" dirty="0"/>
              <a:t> method to the madness. </a:t>
            </a:r>
            <a:r>
              <a:rPr lang="en-GB" dirty="0"/>
              <a:t>P</a:t>
            </a:r>
            <a:r>
              <a:rPr lang="en-NL" dirty="0"/>
              <a:t>ick one. I use byers-design process</a:t>
            </a:r>
            <a:r>
              <a:rPr lang="en-NL" baseline="0" dirty="0"/>
              <a:t> but there are many and plenty and free formats (ask mr Google</a:t>
            </a:r>
            <a:endParaRPr lang="en-NL" dirty="0"/>
          </a:p>
        </p:txBody>
      </p:sp>
    </p:spTree>
    <p:extLst>
      <p:ext uri="{BB962C8B-B14F-4D97-AF65-F5344CB8AC3E}">
        <p14:creationId xmlns:p14="http://schemas.microsoft.com/office/powerpoint/2010/main" val="36821390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GB" dirty="0"/>
              <a:t>V</a:t>
            </a:r>
            <a:r>
              <a:rPr lang="en-NL" dirty="0"/>
              <a:t>ery</a:t>
            </a:r>
            <a:r>
              <a:rPr lang="en-NL" baseline="0" dirty="0"/>
              <a:t> succesful primary surgery however is still is a major surgery. 20-25% dissatisfied after their initial surgery. </a:t>
            </a:r>
            <a:r>
              <a:rPr lang="en-GB" baseline="0" dirty="0"/>
              <a:t>T</a:t>
            </a:r>
            <a:r>
              <a:rPr lang="en-NL" baseline="0" dirty="0"/>
              <a:t>wo major reasons 1) infection 2) aseptic loosening. Infection is to detect/ rule out. </a:t>
            </a:r>
            <a:r>
              <a:rPr lang="en-GB" baseline="0" dirty="0"/>
              <a:t>A</a:t>
            </a:r>
            <a:r>
              <a:rPr lang="en-NL" baseline="0" dirty="0"/>
              <a:t>septic loosening is hard. </a:t>
            </a:r>
            <a:r>
              <a:rPr lang="en-GB" baseline="0" dirty="0"/>
              <a:t>T</a:t>
            </a:r>
            <a:r>
              <a:rPr lang="en-NL" baseline="0" dirty="0"/>
              <a:t>his is where the need came from. </a:t>
            </a:r>
            <a:endParaRPr lang="en-NL" dirty="0"/>
          </a:p>
        </p:txBody>
      </p:sp>
    </p:spTree>
    <p:extLst>
      <p:ext uri="{BB962C8B-B14F-4D97-AF65-F5344CB8AC3E}">
        <p14:creationId xmlns:p14="http://schemas.microsoft.com/office/powerpoint/2010/main" val="4318110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GB" dirty="0"/>
              <a:t>A</a:t>
            </a:r>
            <a:r>
              <a:rPr lang="en-NL" dirty="0"/>
              <a:t>ging and chronic</a:t>
            </a:r>
            <a:r>
              <a:rPr lang="en-NL" baseline="0" dirty="0"/>
              <a:t> diseases are non lineair contributing to the growth.</a:t>
            </a:r>
          </a:p>
          <a:p>
            <a:r>
              <a:rPr lang="en-GB" baseline="0" dirty="0"/>
              <a:t>F</a:t>
            </a:r>
            <a:r>
              <a:rPr lang="en-NL" baseline="0" dirty="0"/>
              <a:t>orgotten joint &gt; patient who hade knee or hip replaced 18 years ago wil likely come back to clinic in b=next few years. </a:t>
            </a:r>
            <a:r>
              <a:rPr lang="en-GB" baseline="0" dirty="0"/>
              <a:t>C</a:t>
            </a:r>
            <a:r>
              <a:rPr lang="en-NL" baseline="0" dirty="0"/>
              <a:t>ompounding the demand (7 Mln patients in the USA alone walking with implant placed &gt;5 years ago </a:t>
            </a:r>
            <a:endParaRPr lang="en-NL" dirty="0"/>
          </a:p>
        </p:txBody>
      </p:sp>
    </p:spTree>
    <p:extLst>
      <p:ext uri="{BB962C8B-B14F-4D97-AF65-F5344CB8AC3E}">
        <p14:creationId xmlns:p14="http://schemas.microsoft.com/office/powerpoint/2010/main" val="11413178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14:00–16:00. Frame the problem as a clinician experiences it, not as a dataset. The patient is in pain, the surgeon must decide whether to operate again. Both errors are costly: operating on a fixed implant, or waiting too long on a loose one. Notice there is no labelled dataset for this decision; that shaped everything we built.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design choice: we did not train a classifier on images labelled loose or fixed. We measure a physical quantity, motion, so the AI is a measurement tool, not an oracle. That makes validation, explainability and regulation much easier. The AI in this product is segmentation, the least glamorous part, and that is fine.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r>
              <a:rPr lang="en-GB" dirty="0"/>
              <a:t>P</a:t>
            </a:r>
            <a:r>
              <a:rPr lang="en-NL" dirty="0"/>
              <a:t>atented loading device provides</a:t>
            </a:r>
            <a:r>
              <a:rPr lang="en-NL" baseline="0" dirty="0"/>
              <a:t> consistent moment so that confrontation CT can pick most subtle micromotion between bone and implant.</a:t>
            </a:r>
            <a:endParaRPr lang="en-NL" dirty="0"/>
          </a:p>
        </p:txBody>
      </p:sp>
    </p:spTree>
    <p:extLst>
      <p:ext uri="{BB962C8B-B14F-4D97-AF65-F5344CB8AC3E}">
        <p14:creationId xmlns:p14="http://schemas.microsoft.com/office/powerpoint/2010/main" val="14302101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 is a rule of thumb from our own budget: most of the money and our time goes to software engineering around the algorithm, quality, regulatory work and getting into hospitals, not to the algorithm itself.</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academic work stops at step 1 or 2; that is fine, it is research. Each step up needs a different skill and a different kind of proof. steps 5 and 6 are where most good  products die, not step 4.</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code that produced your validation results becomes regulatory evidence. Freeze and document the algorithm version early</a:t>
            </a:r>
            <a:r>
              <a:rPr lang="en-US" baseline="0" dirty="0"/>
              <a: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Academic training is excellent at the first two columns and almost silent on the third. Yet the third is what a hospital buyer and an insurer ask for.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the CT scan belongs to radiology, the decision belongs to orthopaedics, the budget belongs to the hospital, and the savings go to the insurer. Each of those groups needs its own reason to say yes. For</a:t>
            </a:r>
            <a:r>
              <a:rPr lang="en-US" baseline="0" dirty="0"/>
              <a:t> radiology MSK a loosening report like </a:t>
            </a:r>
            <a:r>
              <a:rPr lang="en-US" baseline="0" dirty="0" err="1"/>
              <a:t>AtMoves</a:t>
            </a:r>
            <a:r>
              <a:rPr lang="en-US" baseline="0" dirty="0"/>
              <a:t> doesn’t hurt their bottom line however they definitely don’t want to spend a minute extra &gt; here is where the automated segmentation is key to support the adoption and move Radiology to a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Notes Placeholder 2"/>
          <p:cNvSpPr>
            <a:spLocks noGrp="1"/>
          </p:cNvSpPr>
          <p:nvPr>
            <p:ph type="body" idx="1"/>
          </p:nvPr>
        </p:nvSpPr>
        <p:spPr>
          <a:xfrm>
            <a:off x="685800" y="5867400"/>
            <a:ext cx="5486400" cy="4800600"/>
          </a:xfrm>
          <a:prstGeom prst="rect">
            <a:avLst/>
          </a:prstGeom>
        </p:spPr>
        <p:txBody>
          <a:bodyPr/>
          <a:lstStyle/>
          <a:p>
            <a:endParaRPr lang="en-NL"/>
          </a:p>
        </p:txBody>
      </p:sp>
    </p:spTree>
    <p:extLst>
      <p:ext uri="{BB962C8B-B14F-4D97-AF65-F5344CB8AC3E}">
        <p14:creationId xmlns:p14="http://schemas.microsoft.com/office/powerpoint/2010/main" val="19293193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Netherlands hospital care for joint replacement is paid through DBC packages, so a new test usually has to fit inside an existing package or get a temporary innovation code from the NZa. In the US, coding (CPT) is the equivalent with a bundled</a:t>
            </a:r>
            <a:r>
              <a:rPr lang="en-US" baseline="0" dirty="0"/>
              <a:t> pay structure. Withing the EU this can also differ significantly per country, and this effort needs to be carefully planned in the market expansion planning.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started well before 2019, and the first euro of equity comes in 2026. Over €3.5M in grants carried us to this point. That patience is normal in medtech, and very different from a non-medical software startup.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 to your technology transfer office early, before you publish if there is anything patentable: a public paper can destroy novelty. A university that holds a large stake and a royalty is normal, but it shapes what investors will pay. Investors ask: who is full-time, and what milestone does this money buy?  Investors</a:t>
            </a:r>
            <a:r>
              <a:rPr lang="en-US" baseline="0" dirty="0"/>
              <a:t> invest in  a committed and talented team not part timers for this is just a vehicle to hit their publication and delivered PhD </a:t>
            </a:r>
            <a:r>
              <a:rPr lang="en-US" baseline="0" dirty="0" err="1"/>
              <a:t>kpi’s</a:t>
            </a:r>
            <a:r>
              <a:rPr lang="en-US" baseline="0" dirty="0"/>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teams have a clinician who loses sleep over the problem and an engineer who loses sleep over the product. Regulatory and operational expertise is the hat most often missing in academic spin-offs; it can be part-time or outsourced early, but someone must own it.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lessons I would give my younger self. Lesson 3 cost us the most time: research code was not written to be certified, so parts need to be rebuilt and re-verified to show the result is identical to the studies.</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clinical study you run is also a sales relationship; treat participating clinicians as future customers and co-owners of the result.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Would you trust a model that cannot explain itself? Who should be liable when the AI is wrong? Would you rather join a startup or start one? Don’t</a:t>
            </a:r>
            <a:r>
              <a:rPr lang="en-US" baseline="0" dirty="0"/>
              <a:t> hide behind your keyboard-go out there listen, see and ask questions. The worlds most impactful AI in Medicine researchers, entrepreneurs and investors are more approachable than you think.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2890"/>
          </a:xfrm>
          <a:prstGeom prst="rect">
            <a:avLst/>
          </a:prstGeom>
          <a:noFill/>
          <a:ln/>
        </p:spPr>
        <p:txBody>
          <a:bodyPr wrap="square" lIns="0" tIns="0" rIns="0" bIns="0" rtlCol="0" anchor="t"/>
          <a:lstStyle>
            <a:lvl1pPr marL="0" indent="0" algn="l">
              <a:lnSpc>
                <a:spcPct val="115000"/>
              </a:lnSpc>
              <a:buNone/>
              <a:defRPr lang="en-US" sz="3600" dirty="0">
                <a:solidFill>
                  <a:srgbClr val="14213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600" dirty="0"/>
          </a:p>
        </p:txBody>
      </p:sp>
      <p:sp>
        <p:nvSpPr>
          <p:cNvPr id="3" name="Text Placeholder 2"/>
          <p:cNvSpPr>
            <a:spLocks noGrp="1"/>
          </p:cNvSpPr>
          <p:nvPr>
            <p:ph type="body" idx="101"/>
          </p:nvPr>
        </p:nvSpPr>
        <p:spPr>
          <a:xfrm>
            <a:off x="812800" y="1620490"/>
            <a:ext cx="10566400" cy="442471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pic>
        <p:nvPicPr>
          <p:cNvPr id="7" name="Picture 6">
            <a:extLst>
              <a:ext uri="{FF2B5EF4-FFF2-40B4-BE49-F238E27FC236}">
                <a16:creationId xmlns:a16="http://schemas.microsoft.com/office/drawing/2014/main" id="{FF94596E-2AF0-C41D-9BD8-265E627F2562}"/>
              </a:ext>
            </a:extLst>
          </p:cNvPr>
          <p:cNvPicPr>
            <a:picLocks noChangeAspect="1"/>
          </p:cNvPicPr>
          <p:nvPr userDrawn="1"/>
        </p:nvPicPr>
        <p:blipFill>
          <a:blip r:embed="rId4"/>
          <a:stretch>
            <a:fillRect/>
          </a:stretch>
        </p:blipFill>
        <p:spPr>
          <a:xfrm>
            <a:off x="10266217" y="184589"/>
            <a:ext cx="1745673" cy="67916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7.jpeg"/><Relationship Id="rId4" Type="http://schemas.openxmlformats.org/officeDocument/2006/relationships/image" Target="../media/image16.jpeg"/></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jpeg"/></Relationships>
</file>

<file path=ppt/slides/_rels/slide1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slideLayout" Target="../slideLayouts/slideLayout2.xml"/><Relationship Id="rId7" Type="http://schemas.microsoft.com/office/2007/relationships/hdphoto" Target="../media/hdphoto1.wdp"/><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23.png"/><Relationship Id="rId5" Type="http://schemas.openxmlformats.org/officeDocument/2006/relationships/image" Target="../media/image22.jpe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78822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2A65A"/>
                </a:solidFill>
                <a:latin typeface="IBM Plex Sans" pitchFamily="34" charset="0"/>
                <a:ea typeface="IBM Plex Sans" pitchFamily="34" charset="-122"/>
                <a:cs typeface="IBM Plex Sans" pitchFamily="34" charset="-120"/>
              </a:rPr>
              <a:t>GUEST LECTURE · MEDICAL INFORMATICS · AI &amp; COMPUTER VISION</a:t>
            </a:r>
            <a:endParaRPr lang="en-US" sz="1200" dirty="0"/>
          </a:p>
        </p:txBody>
      </p:sp>
      <p:sp>
        <p:nvSpPr>
          <p:cNvPr id="3" name="Text 1"/>
          <p:cNvSpPr>
            <a:spLocks noGrp="1"/>
          </p:cNvSpPr>
          <p:nvPr>
            <p:ph type="title"/>
          </p:nvPr>
        </p:nvSpPr>
        <p:spPr>
          <a:xfrm>
            <a:off x="812800" y="2255540"/>
            <a:ext cx="9810750" cy="8255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5F3EE"/>
                </a:solidFill>
                <a:latin typeface="Space Grotesk" pitchFamily="34" charset="0"/>
                <a:ea typeface="Space Grotesk" pitchFamily="34" charset="-122"/>
                <a:cs typeface="Space Grotesk" pitchFamily="34" charset="-120"/>
              </a:rPr>
              <a:t>From pixels to patients</a:t>
            </a:r>
            <a:endParaRPr lang="en-US" sz="6000" dirty="0"/>
          </a:p>
        </p:txBody>
      </p:sp>
      <p:sp>
        <p:nvSpPr>
          <p:cNvPr id="4" name="Text 2"/>
          <p:cNvSpPr/>
          <p:nvPr/>
        </p:nvSpPr>
        <p:spPr>
          <a:xfrm>
            <a:off x="812800" y="3309640"/>
            <a:ext cx="9156700" cy="75178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BFC8D6"/>
                </a:solidFill>
                <a:latin typeface="IBM Plex Sans" pitchFamily="34" charset="0"/>
                <a:ea typeface="IBM Plex Sans" pitchFamily="34" charset="-122"/>
                <a:cs typeface="IBM Plex Sans" pitchFamily="34" charset="-120"/>
              </a:rPr>
              <a:t>AI in medical imaging, a zoom into orthopaedics, and what it  takes to get a model into the clinic</a:t>
            </a:r>
            <a:endParaRPr lang="en-US" sz="2200" dirty="0"/>
          </a:p>
        </p:txBody>
      </p:sp>
      <p:sp>
        <p:nvSpPr>
          <p:cNvPr id="5" name="Shape 3"/>
          <p:cNvSpPr/>
          <p:nvPr/>
        </p:nvSpPr>
        <p:spPr>
          <a:xfrm>
            <a:off x="812800" y="4290020"/>
            <a:ext cx="762000" cy="38100"/>
          </a:xfrm>
          <a:prstGeom prst="rect">
            <a:avLst/>
          </a:prstGeom>
          <a:solidFill>
            <a:srgbClr val="F2A65A"/>
          </a:solidFill>
          <a:ln/>
        </p:spPr>
        <p:txBody>
          <a:bodyPr/>
          <a:lstStyle/>
          <a:p>
            <a:endParaRPr lang="en-NL"/>
          </a:p>
        </p:txBody>
      </p:sp>
      <p:sp>
        <p:nvSpPr>
          <p:cNvPr id="6" name="Text 4"/>
          <p:cNvSpPr/>
          <p:nvPr/>
        </p:nvSpPr>
        <p:spPr>
          <a:xfrm>
            <a:off x="812800" y="458212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5F3EE"/>
                </a:solidFill>
                <a:latin typeface="IBM Plex Sans" pitchFamily="34" charset="0"/>
                <a:ea typeface="IBM Plex Sans" pitchFamily="34" charset="-122"/>
                <a:cs typeface="IBM Plex Sans" pitchFamily="34" charset="-120"/>
              </a:rPr>
              <a:t>Dennis Alexander Krap · Co-founder &amp; CEO, AtMoves (Amsterdam UMC spin-off)</a:t>
            </a:r>
            <a:endParaRPr lang="en-US" sz="1600" dirty="0"/>
          </a:p>
        </p:txBody>
      </p:sp>
      <p:sp>
        <p:nvSpPr>
          <p:cNvPr id="7" name="Text 5"/>
          <p:cNvSpPr/>
          <p:nvPr/>
        </p:nvSpPr>
        <p:spPr>
          <a:xfrm>
            <a:off x="812800" y="6238280"/>
            <a:ext cx="7848600" cy="238720"/>
          </a:xfrm>
          <a:prstGeom prst="rect">
            <a:avLst/>
          </a:prstGeom>
          <a:noFill/>
          <a:ln/>
        </p:spPr>
        <p:txBody>
          <a:bodyPr wrap="square" lIns="0" tIns="0" rIns="0" bIns="0" rtlCol="0" anchor="t">
            <a:normAutofit/>
          </a:bodyPr>
          <a:lstStyle/>
          <a:p>
            <a:pPr marL="0" indent="0" algn="l">
              <a:lnSpc>
                <a:spcPts val="1680"/>
              </a:lnSpc>
              <a:buNone/>
            </a:pPr>
            <a:r>
              <a:rPr lang="en-US" sz="1200" dirty="0" err="1">
                <a:solidFill>
                  <a:srgbClr val="BFC8D6"/>
                </a:solidFill>
                <a:latin typeface="IBM Plex Sans" pitchFamily="34" charset="0"/>
                <a:ea typeface="IBM Plex Sans" pitchFamily="34" charset="-122"/>
                <a:cs typeface="IBM Plex Sans" pitchFamily="34" charset="-120"/>
              </a:rPr>
              <a:t>UvA</a:t>
            </a:r>
            <a:r>
              <a:rPr lang="en-US" sz="1200" dirty="0">
                <a:solidFill>
                  <a:srgbClr val="BFC8D6"/>
                </a:solidFill>
                <a:latin typeface="IBM Plex Sans" pitchFamily="34" charset="0"/>
                <a:ea typeface="IBM Plex Sans" pitchFamily="34" charset="-122"/>
                <a:cs typeface="IBM Plex Sans" pitchFamily="34" charset="-120"/>
              </a:rPr>
              <a:t> Amsterdam· Oct 8,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654A7-F230-D6F4-2B04-C04CEE29CFD1}"/>
              </a:ext>
            </a:extLst>
          </p:cNvPr>
          <p:cNvSpPr>
            <a:spLocks noGrp="1"/>
          </p:cNvSpPr>
          <p:nvPr>
            <p:ph type="title"/>
          </p:nvPr>
        </p:nvSpPr>
        <p:spPr>
          <a:xfrm>
            <a:off x="812800" y="812799"/>
            <a:ext cx="10566400" cy="1480457"/>
          </a:xfrm>
        </p:spPr>
        <p:txBody>
          <a:bodyPr/>
          <a:lstStyle/>
          <a:p>
            <a:r>
              <a:rPr lang="en-NL" b="1" dirty="0"/>
              <a:t>“And If the algorithm has 94% accuracy, why isn't every hospital using it?”</a:t>
            </a:r>
            <a:endParaRPr lang="en-NL" dirty="0"/>
          </a:p>
        </p:txBody>
      </p:sp>
      <p:sp>
        <p:nvSpPr>
          <p:cNvPr id="6" name="TextBox 5">
            <a:extLst>
              <a:ext uri="{FF2B5EF4-FFF2-40B4-BE49-F238E27FC236}">
                <a16:creationId xmlns:a16="http://schemas.microsoft.com/office/drawing/2014/main" id="{444FCA12-6D77-A2E9-E374-7BB9DA8ECCC2}"/>
              </a:ext>
            </a:extLst>
          </p:cNvPr>
          <p:cNvSpPr txBox="1"/>
          <p:nvPr/>
        </p:nvSpPr>
        <p:spPr>
          <a:xfrm>
            <a:off x="4548554" y="2846001"/>
            <a:ext cx="6096000" cy="923330"/>
          </a:xfrm>
          <a:prstGeom prst="rect">
            <a:avLst/>
          </a:prstGeom>
          <a:noFill/>
        </p:spPr>
        <p:txBody>
          <a:bodyPr wrap="square">
            <a:spAutoFit/>
          </a:bodyPr>
          <a:lstStyle/>
          <a:p>
            <a:r>
              <a:rPr lang="en-NL" b="0" i="0" u="none" strike="noStrike" dirty="0">
                <a:solidFill>
                  <a:schemeClr val="tx1"/>
                </a:solidFill>
                <a:effectLst/>
                <a:latin typeface="+mn-lt"/>
              </a:rPr>
              <a:t>DICE = 0.94</a:t>
            </a:r>
          </a:p>
          <a:p>
            <a:endParaRPr lang="en-NL" dirty="0"/>
          </a:p>
          <a:p>
            <a:r>
              <a:rPr lang="en-NL" dirty="0"/>
              <a:t>So what?</a:t>
            </a:r>
          </a:p>
        </p:txBody>
      </p:sp>
    </p:spTree>
    <p:extLst>
      <p:ext uri="{BB962C8B-B14F-4D97-AF65-F5344CB8AC3E}">
        <p14:creationId xmlns:p14="http://schemas.microsoft.com/office/powerpoint/2010/main" val="3634192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B6EAF-C95C-54D9-D5C1-758C5D6F726F}"/>
              </a:ext>
            </a:extLst>
          </p:cNvPr>
          <p:cNvSpPr>
            <a:spLocks noGrp="1"/>
          </p:cNvSpPr>
          <p:nvPr>
            <p:ph type="title"/>
          </p:nvPr>
        </p:nvSpPr>
        <p:spPr>
          <a:xfrm>
            <a:off x="1248229" y="580571"/>
            <a:ext cx="10566400" cy="502890"/>
          </a:xfrm>
        </p:spPr>
        <p:txBody>
          <a:bodyPr/>
          <a:lstStyle/>
          <a:p>
            <a:r>
              <a:rPr lang="en-NL" dirty="0"/>
              <a:t>California SF Bay area- highly recommended-</a:t>
            </a:r>
          </a:p>
        </p:txBody>
      </p:sp>
      <p:pic>
        <p:nvPicPr>
          <p:cNvPr id="5" name="Picture 4">
            <a:extLst>
              <a:ext uri="{FF2B5EF4-FFF2-40B4-BE49-F238E27FC236}">
                <a16:creationId xmlns:a16="http://schemas.microsoft.com/office/drawing/2014/main" id="{335F3944-8D98-EB25-A96A-BC91C1C26732}"/>
              </a:ext>
            </a:extLst>
          </p:cNvPr>
          <p:cNvPicPr>
            <a:picLocks noChangeAspect="1"/>
          </p:cNvPicPr>
          <p:nvPr/>
        </p:nvPicPr>
        <p:blipFill>
          <a:blip r:embed="rId3"/>
          <a:stretch>
            <a:fillRect/>
          </a:stretch>
        </p:blipFill>
        <p:spPr>
          <a:xfrm>
            <a:off x="9430568" y="2499686"/>
            <a:ext cx="2402764" cy="1614739"/>
          </a:xfrm>
          <a:prstGeom prst="rect">
            <a:avLst/>
          </a:prstGeom>
        </p:spPr>
      </p:pic>
      <p:pic>
        <p:nvPicPr>
          <p:cNvPr id="7" name="Picture 6">
            <a:extLst>
              <a:ext uri="{FF2B5EF4-FFF2-40B4-BE49-F238E27FC236}">
                <a16:creationId xmlns:a16="http://schemas.microsoft.com/office/drawing/2014/main" id="{392B1669-3477-1FDD-86F6-FB65425F070B}"/>
              </a:ext>
            </a:extLst>
          </p:cNvPr>
          <p:cNvPicPr>
            <a:picLocks noChangeAspect="1"/>
          </p:cNvPicPr>
          <p:nvPr/>
        </p:nvPicPr>
        <p:blipFill>
          <a:blip r:embed="rId4"/>
          <a:stretch>
            <a:fillRect/>
          </a:stretch>
        </p:blipFill>
        <p:spPr>
          <a:xfrm>
            <a:off x="1248229" y="3963157"/>
            <a:ext cx="1724210" cy="2479796"/>
          </a:xfrm>
          <a:prstGeom prst="rect">
            <a:avLst/>
          </a:prstGeom>
        </p:spPr>
      </p:pic>
      <p:pic>
        <p:nvPicPr>
          <p:cNvPr id="9" name="Picture 8">
            <a:extLst>
              <a:ext uri="{FF2B5EF4-FFF2-40B4-BE49-F238E27FC236}">
                <a16:creationId xmlns:a16="http://schemas.microsoft.com/office/drawing/2014/main" id="{125A0C7B-6F30-2B18-7018-859E0B92318B}"/>
              </a:ext>
            </a:extLst>
          </p:cNvPr>
          <p:cNvPicPr>
            <a:picLocks noChangeAspect="1"/>
          </p:cNvPicPr>
          <p:nvPr/>
        </p:nvPicPr>
        <p:blipFill>
          <a:blip r:embed="rId5"/>
          <a:stretch>
            <a:fillRect/>
          </a:stretch>
        </p:blipFill>
        <p:spPr>
          <a:xfrm>
            <a:off x="358668" y="2650952"/>
            <a:ext cx="2535279" cy="1312205"/>
          </a:xfrm>
          <a:prstGeom prst="rect">
            <a:avLst/>
          </a:prstGeom>
        </p:spPr>
      </p:pic>
      <p:pic>
        <p:nvPicPr>
          <p:cNvPr id="11" name="Picture 10">
            <a:extLst>
              <a:ext uri="{FF2B5EF4-FFF2-40B4-BE49-F238E27FC236}">
                <a16:creationId xmlns:a16="http://schemas.microsoft.com/office/drawing/2014/main" id="{092797B6-554B-4BF0-5BD5-3D279EC656AD}"/>
              </a:ext>
            </a:extLst>
          </p:cNvPr>
          <p:cNvPicPr>
            <a:picLocks noChangeAspect="1"/>
          </p:cNvPicPr>
          <p:nvPr/>
        </p:nvPicPr>
        <p:blipFill>
          <a:blip r:embed="rId6"/>
          <a:stretch>
            <a:fillRect/>
          </a:stretch>
        </p:blipFill>
        <p:spPr>
          <a:xfrm rot="5400000">
            <a:off x="8761839" y="3781567"/>
            <a:ext cx="2479796" cy="3145513"/>
          </a:xfrm>
          <a:prstGeom prst="rect">
            <a:avLst/>
          </a:prstGeom>
        </p:spPr>
      </p:pic>
      <p:pic>
        <p:nvPicPr>
          <p:cNvPr id="13" name="Picture 12">
            <a:extLst>
              <a:ext uri="{FF2B5EF4-FFF2-40B4-BE49-F238E27FC236}">
                <a16:creationId xmlns:a16="http://schemas.microsoft.com/office/drawing/2014/main" id="{70AAC939-3D76-F65C-AC86-8856969288E1}"/>
              </a:ext>
            </a:extLst>
          </p:cNvPr>
          <p:cNvPicPr>
            <a:picLocks noChangeAspect="1"/>
          </p:cNvPicPr>
          <p:nvPr/>
        </p:nvPicPr>
        <p:blipFill>
          <a:blip r:embed="rId7"/>
          <a:stretch>
            <a:fillRect/>
          </a:stretch>
        </p:blipFill>
        <p:spPr>
          <a:xfrm rot="5400000">
            <a:off x="4680218" y="4424400"/>
            <a:ext cx="2479797" cy="1859848"/>
          </a:xfrm>
          <a:prstGeom prst="rect">
            <a:avLst/>
          </a:prstGeom>
        </p:spPr>
      </p:pic>
    </p:spTree>
    <p:extLst>
      <p:ext uri="{BB962C8B-B14F-4D97-AF65-F5344CB8AC3E}">
        <p14:creationId xmlns:p14="http://schemas.microsoft.com/office/powerpoint/2010/main" val="9182482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endParaRPr lang="en-US" sz="1200" dirty="0"/>
          </a:p>
        </p:txBody>
      </p:sp>
      <p:sp>
        <p:nvSpPr>
          <p:cNvPr id="3" name="Text 1"/>
          <p:cNvSpPr>
            <a:spLocks noGrp="1"/>
          </p:cNvSpPr>
          <p:nvPr>
            <p:ph type="title"/>
          </p:nvPr>
        </p:nvSpPr>
        <p:spPr>
          <a:xfrm>
            <a:off x="812800" y="13817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dirty="0"/>
              <a:t>Not much hardcore ML today</a:t>
            </a:r>
          </a:p>
        </p:txBody>
      </p:sp>
      <p:sp>
        <p:nvSpPr>
          <p:cNvPr id="4" name="Shape 2"/>
          <p:cNvSpPr/>
          <p:nvPr/>
        </p:nvSpPr>
        <p:spPr>
          <a:xfrm>
            <a:off x="815975" y="2746276"/>
            <a:ext cx="2306786" cy="2223591"/>
          </a:xfrm>
          <a:prstGeom prst="roundRect">
            <a:avLst>
              <a:gd name="adj" fmla="val 4426"/>
            </a:avLst>
          </a:prstGeom>
          <a:solidFill>
            <a:srgbClr val="FFFFFF"/>
          </a:solidFill>
          <a:ln w="6350">
            <a:solidFill>
              <a:srgbClr val="DDD8CC"/>
            </a:solidFill>
            <a:prstDash val="solid"/>
          </a:ln>
        </p:spPr>
        <p:txBody>
          <a:bodyPr/>
          <a:lstStyle/>
          <a:p>
            <a:endParaRPr lang="en-NL"/>
          </a:p>
        </p:txBody>
      </p:sp>
      <p:sp>
        <p:nvSpPr>
          <p:cNvPr id="5" name="Text 3"/>
          <p:cNvSpPr/>
          <p:nvPr/>
        </p:nvSpPr>
        <p:spPr>
          <a:xfrm>
            <a:off x="1073150" y="3003451"/>
            <a:ext cx="1846209"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85C1E"/>
                </a:solidFill>
                <a:latin typeface="Space Grotesk" pitchFamily="34" charset="0"/>
                <a:ea typeface="Space Grotesk" pitchFamily="34" charset="-122"/>
                <a:cs typeface="Space Grotesk" pitchFamily="34" charset="-120"/>
              </a:rPr>
              <a:t>20 min</a:t>
            </a:r>
            <a:endParaRPr lang="en-US" sz="2200" dirty="0"/>
          </a:p>
        </p:txBody>
      </p:sp>
      <p:sp>
        <p:nvSpPr>
          <p:cNvPr id="6" name="Text 4"/>
          <p:cNvSpPr/>
          <p:nvPr/>
        </p:nvSpPr>
        <p:spPr>
          <a:xfrm>
            <a:off x="1073150" y="3496171"/>
            <a:ext cx="1846209"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Story telling</a:t>
            </a:r>
            <a:endParaRPr lang="en-US" sz="1600" dirty="0"/>
          </a:p>
        </p:txBody>
      </p:sp>
      <p:sp>
        <p:nvSpPr>
          <p:cNvPr id="7" name="Text 5"/>
          <p:cNvSpPr/>
          <p:nvPr/>
        </p:nvSpPr>
        <p:spPr>
          <a:xfrm>
            <a:off x="1073150" y="3841601"/>
            <a:ext cx="1846209" cy="452041"/>
          </a:xfrm>
          <a:prstGeom prst="rect">
            <a:avLst/>
          </a:prstGeom>
          <a:noFill/>
          <a:ln/>
        </p:spPr>
        <p:txBody>
          <a:bodyPr wrap="square" lIns="0" tIns="0" rIns="0" bIns="0" rtlCol="0" anchor="t">
            <a:normAutofit fontScale="85000" lnSpcReduction="10000"/>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And a link to current relevant AI in medical imaging in 2026</a:t>
            </a:r>
            <a:endParaRPr lang="en-US" sz="1200" dirty="0"/>
          </a:p>
        </p:txBody>
      </p:sp>
      <p:sp>
        <p:nvSpPr>
          <p:cNvPr id="8" name="Shape 6"/>
          <p:cNvSpPr/>
          <p:nvPr/>
        </p:nvSpPr>
        <p:spPr>
          <a:xfrm>
            <a:off x="3332311" y="2746276"/>
            <a:ext cx="2306786" cy="2223591"/>
          </a:xfrm>
          <a:prstGeom prst="roundRect">
            <a:avLst>
              <a:gd name="adj" fmla="val 4426"/>
            </a:avLst>
          </a:prstGeom>
          <a:solidFill>
            <a:srgbClr val="FFFFFF"/>
          </a:solidFill>
          <a:ln w="6350">
            <a:solidFill>
              <a:srgbClr val="DDD8CC"/>
            </a:solidFill>
            <a:prstDash val="solid"/>
          </a:ln>
        </p:spPr>
        <p:txBody>
          <a:bodyPr/>
          <a:lstStyle/>
          <a:p>
            <a:endParaRPr lang="en-NL"/>
          </a:p>
        </p:txBody>
      </p:sp>
      <p:sp>
        <p:nvSpPr>
          <p:cNvPr id="9" name="Text 7"/>
          <p:cNvSpPr/>
          <p:nvPr/>
        </p:nvSpPr>
        <p:spPr>
          <a:xfrm>
            <a:off x="3589486" y="3003451"/>
            <a:ext cx="1846209"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85C1E"/>
                </a:solidFill>
                <a:latin typeface="Space Grotesk" pitchFamily="34" charset="0"/>
                <a:ea typeface="Space Grotesk" pitchFamily="34" charset="-122"/>
                <a:cs typeface="Space Grotesk" pitchFamily="34" charset="-120"/>
              </a:rPr>
              <a:t>10 min</a:t>
            </a:r>
            <a:endParaRPr lang="en-US" sz="2200" dirty="0"/>
          </a:p>
        </p:txBody>
      </p:sp>
      <p:sp>
        <p:nvSpPr>
          <p:cNvPr id="10" name="Text 8"/>
          <p:cNvSpPr/>
          <p:nvPr/>
        </p:nvSpPr>
        <p:spPr>
          <a:xfrm>
            <a:off x="3589486" y="3496171"/>
            <a:ext cx="1846209" cy="51306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Orthopaedics zoom</a:t>
            </a:r>
            <a:endParaRPr lang="en-US" sz="1600" dirty="0"/>
          </a:p>
        </p:txBody>
      </p:sp>
      <p:sp>
        <p:nvSpPr>
          <p:cNvPr id="11" name="Text 9"/>
          <p:cNvSpPr/>
          <p:nvPr/>
        </p:nvSpPr>
        <p:spPr>
          <a:xfrm>
            <a:off x="3589486" y="4085431"/>
            <a:ext cx="184620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The field, and one case from lab to product</a:t>
            </a:r>
            <a:endParaRPr lang="en-US" sz="1200" dirty="0"/>
          </a:p>
        </p:txBody>
      </p:sp>
      <p:sp>
        <p:nvSpPr>
          <p:cNvPr id="12" name="Shape 10"/>
          <p:cNvSpPr/>
          <p:nvPr/>
        </p:nvSpPr>
        <p:spPr>
          <a:xfrm>
            <a:off x="5845473" y="2743101"/>
            <a:ext cx="3017391" cy="2229941"/>
          </a:xfrm>
          <a:prstGeom prst="roundRect">
            <a:avLst>
              <a:gd name="adj" fmla="val 4556"/>
            </a:avLst>
          </a:prstGeom>
          <a:solidFill>
            <a:srgbClr val="14213D"/>
          </a:solidFill>
          <a:ln/>
        </p:spPr>
        <p:txBody>
          <a:bodyPr/>
          <a:lstStyle/>
          <a:p>
            <a:endParaRPr lang="en-NL"/>
          </a:p>
        </p:txBody>
      </p:sp>
      <p:sp>
        <p:nvSpPr>
          <p:cNvPr id="13" name="Text 11"/>
          <p:cNvSpPr/>
          <p:nvPr/>
        </p:nvSpPr>
        <p:spPr>
          <a:xfrm>
            <a:off x="6099473" y="2997101"/>
            <a:ext cx="2584673"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2A65A"/>
                </a:solidFill>
                <a:latin typeface="Space Grotesk" pitchFamily="34" charset="0"/>
                <a:ea typeface="Space Grotesk" pitchFamily="34" charset="-122"/>
                <a:cs typeface="Space Grotesk" pitchFamily="34" charset="-120"/>
              </a:rPr>
              <a:t>25 min</a:t>
            </a:r>
            <a:endParaRPr lang="en-US" sz="2200" dirty="0"/>
          </a:p>
        </p:txBody>
      </p:sp>
      <p:sp>
        <p:nvSpPr>
          <p:cNvPr id="14" name="Text 12"/>
          <p:cNvSpPr/>
          <p:nvPr/>
        </p:nvSpPr>
        <p:spPr>
          <a:xfrm>
            <a:off x="6099473" y="3489821"/>
            <a:ext cx="2584673" cy="51306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3EE"/>
                </a:solidFill>
                <a:latin typeface="IBM Plex Sans" pitchFamily="34" charset="0"/>
                <a:ea typeface="IBM Plex Sans" pitchFamily="34" charset="-122"/>
                <a:cs typeface="IBM Plex Sans" pitchFamily="34" charset="-120"/>
              </a:rPr>
              <a:t>Research → clinic → company</a:t>
            </a:r>
            <a:endParaRPr lang="en-US" sz="1600" dirty="0"/>
          </a:p>
        </p:txBody>
      </p:sp>
      <p:sp>
        <p:nvSpPr>
          <p:cNvPr id="15" name="Text 13"/>
          <p:cNvSpPr/>
          <p:nvPr/>
        </p:nvSpPr>
        <p:spPr>
          <a:xfrm>
            <a:off x="6099473" y="4079081"/>
            <a:ext cx="2584673"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8D6"/>
                </a:solidFill>
                <a:latin typeface="IBM Plex Sans" pitchFamily="34" charset="0"/>
                <a:ea typeface="IBM Plex Sans" pitchFamily="34" charset="-122"/>
                <a:cs typeface="IBM Plex Sans" pitchFamily="34" charset="-120"/>
              </a:rPr>
              <a:t>Regulation, evidence, workflow, who pays, building a spin-off, lessons learned</a:t>
            </a:r>
            <a:endParaRPr lang="en-US" sz="1200" dirty="0"/>
          </a:p>
        </p:txBody>
      </p:sp>
      <p:sp>
        <p:nvSpPr>
          <p:cNvPr id="16" name="Shape 14"/>
          <p:cNvSpPr/>
          <p:nvPr/>
        </p:nvSpPr>
        <p:spPr>
          <a:xfrm>
            <a:off x="9069239" y="2746276"/>
            <a:ext cx="2306786" cy="2223591"/>
          </a:xfrm>
          <a:prstGeom prst="roundRect">
            <a:avLst>
              <a:gd name="adj" fmla="val 4426"/>
            </a:avLst>
          </a:prstGeom>
          <a:solidFill>
            <a:srgbClr val="FFFFFF"/>
          </a:solidFill>
          <a:ln w="6350">
            <a:solidFill>
              <a:srgbClr val="DDD8CC"/>
            </a:solidFill>
            <a:prstDash val="solid"/>
          </a:ln>
        </p:spPr>
        <p:txBody>
          <a:bodyPr/>
          <a:lstStyle/>
          <a:p>
            <a:endParaRPr lang="en-NL"/>
          </a:p>
        </p:txBody>
      </p:sp>
      <p:sp>
        <p:nvSpPr>
          <p:cNvPr id="17" name="Text 15"/>
          <p:cNvSpPr/>
          <p:nvPr/>
        </p:nvSpPr>
        <p:spPr>
          <a:xfrm>
            <a:off x="9326414" y="3003451"/>
            <a:ext cx="1846209"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85C1E"/>
                </a:solidFill>
                <a:latin typeface="Space Grotesk" pitchFamily="34" charset="0"/>
                <a:ea typeface="Space Grotesk" pitchFamily="34" charset="-122"/>
                <a:cs typeface="Space Grotesk" pitchFamily="34" charset="-120"/>
              </a:rPr>
              <a:t>10 min</a:t>
            </a:r>
            <a:endParaRPr lang="en-US" sz="2200" dirty="0"/>
          </a:p>
        </p:txBody>
      </p:sp>
      <p:sp>
        <p:nvSpPr>
          <p:cNvPr id="18" name="Text 16"/>
          <p:cNvSpPr/>
          <p:nvPr/>
        </p:nvSpPr>
        <p:spPr>
          <a:xfrm>
            <a:off x="9326414" y="3496171"/>
            <a:ext cx="1846209"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Q&amp;A</a:t>
            </a:r>
            <a:endParaRPr lang="en-US" sz="1600" dirty="0"/>
          </a:p>
        </p:txBody>
      </p:sp>
      <p:sp>
        <p:nvSpPr>
          <p:cNvPr id="19" name="Text 17"/>
          <p:cNvSpPr/>
          <p:nvPr/>
        </p:nvSpPr>
        <p:spPr>
          <a:xfrm>
            <a:off x="9326414" y="3841601"/>
            <a:ext cx="184620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Bring the hard questions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BC3BAEC-94AF-9271-CA0A-72EA28EC7A49}"/>
              </a:ext>
            </a:extLst>
          </p:cNvPr>
          <p:cNvPicPr>
            <a:picLocks noChangeAspect="1"/>
          </p:cNvPicPr>
          <p:nvPr/>
        </p:nvPicPr>
        <p:blipFill>
          <a:blip r:embed="rId3"/>
          <a:stretch>
            <a:fillRect/>
          </a:stretch>
        </p:blipFill>
        <p:spPr>
          <a:xfrm>
            <a:off x="163286" y="892727"/>
            <a:ext cx="5486400" cy="2427416"/>
          </a:xfrm>
          <a:prstGeom prst="rect">
            <a:avLst/>
          </a:prstGeom>
        </p:spPr>
      </p:pic>
      <p:pic>
        <p:nvPicPr>
          <p:cNvPr id="5" name="Picture 4">
            <a:extLst>
              <a:ext uri="{FF2B5EF4-FFF2-40B4-BE49-F238E27FC236}">
                <a16:creationId xmlns:a16="http://schemas.microsoft.com/office/drawing/2014/main" id="{1B6AEBCF-58EC-134C-3FEA-1D307C1A3FAE}"/>
              </a:ext>
            </a:extLst>
          </p:cNvPr>
          <p:cNvPicPr>
            <a:picLocks noChangeAspect="1"/>
          </p:cNvPicPr>
          <p:nvPr/>
        </p:nvPicPr>
        <p:blipFill>
          <a:blip r:embed="rId4"/>
          <a:stretch>
            <a:fillRect/>
          </a:stretch>
        </p:blipFill>
        <p:spPr>
          <a:xfrm>
            <a:off x="163286" y="3429000"/>
            <a:ext cx="5816600" cy="3010839"/>
          </a:xfrm>
          <a:prstGeom prst="rect">
            <a:avLst/>
          </a:prstGeom>
        </p:spPr>
      </p:pic>
      <p:pic>
        <p:nvPicPr>
          <p:cNvPr id="6" name="Picture 5">
            <a:extLst>
              <a:ext uri="{FF2B5EF4-FFF2-40B4-BE49-F238E27FC236}">
                <a16:creationId xmlns:a16="http://schemas.microsoft.com/office/drawing/2014/main" id="{EC21530A-EFE4-B47B-4283-19258FCA8828}"/>
              </a:ext>
            </a:extLst>
          </p:cNvPr>
          <p:cNvPicPr>
            <a:picLocks noChangeAspect="1"/>
          </p:cNvPicPr>
          <p:nvPr/>
        </p:nvPicPr>
        <p:blipFill>
          <a:blip r:embed="rId5"/>
          <a:stretch>
            <a:fillRect/>
          </a:stretch>
        </p:blipFill>
        <p:spPr>
          <a:xfrm>
            <a:off x="6212116" y="1404695"/>
            <a:ext cx="4811307" cy="3529724"/>
          </a:xfrm>
          <a:prstGeom prst="rect">
            <a:avLst/>
          </a:prstGeom>
        </p:spPr>
      </p:pic>
      <p:sp>
        <p:nvSpPr>
          <p:cNvPr id="7" name="Text 0">
            <a:extLst>
              <a:ext uri="{FF2B5EF4-FFF2-40B4-BE49-F238E27FC236}">
                <a16:creationId xmlns:a16="http://schemas.microsoft.com/office/drawing/2014/main" id="{9039D1ED-2C6A-F910-AD98-30F60B465B01}"/>
              </a:ext>
            </a:extLst>
          </p:cNvPr>
          <p:cNvSpPr>
            <a:spLocks noGrp="1"/>
          </p:cNvSpPr>
          <p:nvPr>
            <p:ph type="title"/>
          </p:nvPr>
        </p:nvSpPr>
        <p:spPr>
          <a:xfrm>
            <a:off x="1669143" y="140305"/>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From origins of ML to today practice</a:t>
            </a:r>
            <a:endParaRPr lang="en-US" sz="3600" dirty="0"/>
          </a:p>
        </p:txBody>
      </p:sp>
    </p:spTree>
    <p:extLst>
      <p:ext uri="{BB962C8B-B14F-4D97-AF65-F5344CB8AC3E}">
        <p14:creationId xmlns:p14="http://schemas.microsoft.com/office/powerpoint/2010/main" val="29660842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ABA72-844F-B23A-C9CF-C95A623645F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4A97703-4F7E-82D5-B0CC-4E9E9F10F6F0}"/>
              </a:ext>
            </a:extLst>
          </p:cNvPr>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ctr">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From origins of ML to today practice</a:t>
            </a:r>
            <a:endParaRPr lang="en-US" sz="3600" dirty="0"/>
          </a:p>
        </p:txBody>
      </p:sp>
      <p:sp>
        <p:nvSpPr>
          <p:cNvPr id="16" name="TextBox 15">
            <a:extLst>
              <a:ext uri="{FF2B5EF4-FFF2-40B4-BE49-F238E27FC236}">
                <a16:creationId xmlns:a16="http://schemas.microsoft.com/office/drawing/2014/main" id="{64E386BB-ECCF-78F6-94B1-EF21DACD9FA6}"/>
              </a:ext>
            </a:extLst>
          </p:cNvPr>
          <p:cNvSpPr txBox="1"/>
          <p:nvPr/>
        </p:nvSpPr>
        <p:spPr>
          <a:xfrm>
            <a:off x="2714171" y="4789274"/>
            <a:ext cx="6096000" cy="646331"/>
          </a:xfrm>
          <a:prstGeom prst="rect">
            <a:avLst/>
          </a:prstGeom>
          <a:noFill/>
        </p:spPr>
        <p:txBody>
          <a:bodyPr wrap="square">
            <a:spAutoFit/>
          </a:bodyPr>
          <a:lstStyle/>
          <a:p>
            <a:r>
              <a:rPr lang="en-NL" sz="1800" b="0" i="0" u="none" strike="noStrike" dirty="0">
                <a:solidFill>
                  <a:schemeClr val="tx1"/>
                </a:solidFill>
                <a:effectLst/>
                <a:latin typeface="+mn-lt"/>
              </a:rPr>
              <a:t>&gt; machine learning is well suited to create useful imaging applications</a:t>
            </a:r>
            <a:endParaRPr lang="en-NL" dirty="0"/>
          </a:p>
        </p:txBody>
      </p:sp>
      <p:pic>
        <p:nvPicPr>
          <p:cNvPr id="17" name="Picture 16">
            <a:extLst>
              <a:ext uri="{FF2B5EF4-FFF2-40B4-BE49-F238E27FC236}">
                <a16:creationId xmlns:a16="http://schemas.microsoft.com/office/drawing/2014/main" id="{7B53EB47-8E55-0278-AAA5-302C5D38A5BD}"/>
              </a:ext>
            </a:extLst>
          </p:cNvPr>
          <p:cNvPicPr>
            <a:picLocks noChangeAspect="1"/>
          </p:cNvPicPr>
          <p:nvPr/>
        </p:nvPicPr>
        <p:blipFill>
          <a:blip r:embed="rId3"/>
          <a:srcRect t="18394" r="349"/>
          <a:stretch>
            <a:fillRect/>
          </a:stretch>
        </p:blipFill>
        <p:spPr>
          <a:xfrm>
            <a:off x="1167420" y="1683657"/>
            <a:ext cx="9857159" cy="4702629"/>
          </a:xfrm>
          <a:prstGeom prst="rect">
            <a:avLst/>
          </a:prstGeom>
        </p:spPr>
      </p:pic>
    </p:spTree>
    <p:extLst>
      <p:ext uri="{BB962C8B-B14F-4D97-AF65-F5344CB8AC3E}">
        <p14:creationId xmlns:p14="http://schemas.microsoft.com/office/powerpoint/2010/main" val="37755322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3">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27314" y="1554559"/>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2A65A"/>
                </a:solidFill>
                <a:latin typeface="IBM Plex Sans" pitchFamily="34" charset="0"/>
                <a:ea typeface="IBM Plex Sans" pitchFamily="34" charset="-122"/>
                <a:cs typeface="IBM Plex Sans" pitchFamily="34" charset="-120"/>
              </a:rPr>
              <a:t>STATE OF THE ART · 2026 you are the right time, at the right place </a:t>
            </a:r>
            <a:endParaRPr lang="en-US" sz="1200" dirty="0"/>
          </a:p>
        </p:txBody>
      </p:sp>
      <p:sp>
        <p:nvSpPr>
          <p:cNvPr id="3" name="Text 1"/>
          <p:cNvSpPr/>
          <p:nvPr/>
        </p:nvSpPr>
        <p:spPr>
          <a:xfrm>
            <a:off x="812800" y="2316460"/>
            <a:ext cx="4325144" cy="1549400"/>
          </a:xfrm>
          <a:prstGeom prst="rect">
            <a:avLst/>
          </a:prstGeom>
          <a:noFill/>
          <a:ln/>
        </p:spPr>
        <p:txBody>
          <a:bodyPr wrap="square" lIns="0" tIns="0" rIns="0" bIns="0" rtlCol="0" anchor="t">
            <a:normAutofit/>
          </a:bodyPr>
          <a:lstStyle/>
          <a:p>
            <a:pPr marL="0" indent="0" algn="l">
              <a:lnSpc>
                <a:spcPts val="12000"/>
              </a:lnSpc>
              <a:buNone/>
            </a:pPr>
            <a:r>
              <a:rPr lang="en-US" sz="12000" b="1" dirty="0">
                <a:solidFill>
                  <a:srgbClr val="F5F3EE"/>
                </a:solidFill>
                <a:latin typeface="Space Grotesk" pitchFamily="34" charset="0"/>
                <a:ea typeface="Space Grotesk" pitchFamily="34" charset="-122"/>
                <a:cs typeface="Space Grotesk" pitchFamily="34" charset="-120"/>
              </a:rPr>
              <a:t>1,614</a:t>
            </a:r>
            <a:endParaRPr lang="en-US" sz="12000" dirty="0"/>
          </a:p>
        </p:txBody>
      </p:sp>
      <p:sp>
        <p:nvSpPr>
          <p:cNvPr id="4" name="Text 2"/>
          <p:cNvSpPr/>
          <p:nvPr/>
        </p:nvSpPr>
        <p:spPr>
          <a:xfrm>
            <a:off x="812800" y="3891260"/>
            <a:ext cx="382701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FC8D6"/>
                </a:solidFill>
                <a:latin typeface="IBM Plex Sans" pitchFamily="34" charset="0"/>
                <a:ea typeface="IBM Plex Sans" pitchFamily="34" charset="-122"/>
                <a:cs typeface="IBM Plex Sans" pitchFamily="34" charset="-120"/>
              </a:rPr>
              <a:t>AI-enabled devices on the FDA list</a:t>
            </a:r>
            <a:endParaRPr lang="en-US" sz="1600" dirty="0"/>
          </a:p>
        </p:txBody>
      </p:sp>
      <p:sp>
        <p:nvSpPr>
          <p:cNvPr id="5" name="Text 3"/>
          <p:cNvSpPr/>
          <p:nvPr/>
        </p:nvSpPr>
        <p:spPr>
          <a:xfrm>
            <a:off x="5137944" y="2021880"/>
            <a:ext cx="3579800" cy="66546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F2A65A"/>
                </a:solidFill>
                <a:latin typeface="Space Grotesk" pitchFamily="34" charset="0"/>
                <a:ea typeface="Space Grotesk" pitchFamily="34" charset="-122"/>
                <a:cs typeface="Space Grotesk" pitchFamily="34" charset="-120"/>
              </a:rPr>
              <a:t>76%</a:t>
            </a:r>
            <a:endParaRPr lang="en-US" sz="3600" dirty="0"/>
          </a:p>
        </p:txBody>
      </p:sp>
      <p:sp>
        <p:nvSpPr>
          <p:cNvPr id="6" name="Text 4"/>
          <p:cNvSpPr/>
          <p:nvPr/>
        </p:nvSpPr>
        <p:spPr>
          <a:xfrm>
            <a:off x="5137944" y="2687340"/>
            <a:ext cx="357980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FC8D6"/>
                </a:solidFill>
                <a:latin typeface="IBM Plex Sans" pitchFamily="34" charset="0"/>
                <a:ea typeface="IBM Plex Sans" pitchFamily="34" charset="-122"/>
                <a:cs typeface="IBM Plex Sans" pitchFamily="34" charset="-120"/>
              </a:rPr>
              <a:t>are radiology</a:t>
            </a:r>
            <a:endParaRPr lang="en-US" sz="1600" dirty="0"/>
          </a:p>
        </p:txBody>
      </p:sp>
      <p:sp>
        <p:nvSpPr>
          <p:cNvPr id="7" name="Text 5"/>
          <p:cNvSpPr/>
          <p:nvPr/>
        </p:nvSpPr>
        <p:spPr>
          <a:xfrm>
            <a:off x="5137944" y="3225800"/>
            <a:ext cx="3579800" cy="66546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F2A65A"/>
                </a:solidFill>
                <a:latin typeface="Space Grotesk" pitchFamily="34" charset="0"/>
                <a:ea typeface="Space Grotesk" pitchFamily="34" charset="-122"/>
                <a:cs typeface="Space Grotesk" pitchFamily="34" charset="-120"/>
              </a:rPr>
              <a:t>96%</a:t>
            </a:r>
            <a:endParaRPr lang="en-US" sz="3600" dirty="0"/>
          </a:p>
        </p:txBody>
      </p:sp>
      <p:sp>
        <p:nvSpPr>
          <p:cNvPr id="8" name="Text 6"/>
          <p:cNvSpPr/>
          <p:nvPr/>
        </p:nvSpPr>
        <p:spPr>
          <a:xfrm>
            <a:off x="5137944" y="3891260"/>
            <a:ext cx="4170640"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FC8D6"/>
                </a:solidFill>
                <a:latin typeface="IBM Plex Sans" pitchFamily="34" charset="0"/>
                <a:ea typeface="IBM Plex Sans" pitchFamily="34" charset="-122"/>
                <a:cs typeface="IBM Plex Sans" pitchFamily="34" charset="-120"/>
              </a:rPr>
              <a:t>cleared via 510(k), against a </a:t>
            </a:r>
            <a:r>
              <a:rPr lang="en-US" sz="1600" u="heavy" dirty="0">
                <a:solidFill>
                  <a:srgbClr val="BFC8D6"/>
                </a:solidFill>
                <a:uFill>
                  <a:solidFill>
                    <a:srgbClr val="FF0000"/>
                  </a:solidFill>
                </a:uFill>
                <a:latin typeface="IBM Plex Sans" pitchFamily="34" charset="0"/>
                <a:ea typeface="IBM Plex Sans" pitchFamily="34" charset="-122"/>
                <a:cs typeface="IBM Plex Sans" pitchFamily="34" charset="-120"/>
              </a:rPr>
              <a:t>predicate</a:t>
            </a:r>
            <a:endParaRPr lang="en-US" sz="1600" u="heavy" dirty="0">
              <a:uFill>
                <a:solidFill>
                  <a:srgbClr val="FF0000"/>
                </a:solidFill>
              </a:uFill>
            </a:endParaRPr>
          </a:p>
        </p:txBody>
      </p:sp>
      <p:sp>
        <p:nvSpPr>
          <p:cNvPr id="9" name="Text 7"/>
          <p:cNvSpPr>
            <a:spLocks noGrp="1"/>
          </p:cNvSpPr>
          <p:nvPr>
            <p:ph type="title"/>
          </p:nvPr>
        </p:nvSpPr>
        <p:spPr>
          <a:xfrm>
            <a:off x="812800" y="4429720"/>
            <a:ext cx="9810750" cy="695920"/>
          </a:xfrm>
          <a:prstGeom prst="rect">
            <a:avLst/>
          </a:prstGeom>
          <a:noFill/>
          <a:ln/>
        </p:spPr>
        <p:txBody>
          <a:bodyPr wrap="square" lIns="0" tIns="0" rIns="0" bIns="0" rtlCol="0" anchor="t">
            <a:normAutofit/>
          </a:bodyPr>
          <a:lstStyle/>
          <a:p>
            <a:pPr marL="0" indent="0" algn="l">
              <a:lnSpc>
                <a:spcPts val="2640"/>
              </a:lnSpc>
              <a:buNone/>
            </a:pPr>
            <a:r>
              <a:rPr lang="en-US" sz="2200" b="1" i="0" dirty="0">
                <a:solidFill>
                  <a:srgbClr val="F5F3EE"/>
                </a:solidFill>
                <a:latin typeface="Space Grotesk" pitchFamily="34" charset="0"/>
                <a:ea typeface="Space Grotesk" pitchFamily="34" charset="-122"/>
                <a:cs typeface="Space Grotesk" pitchFamily="34" charset="-120"/>
              </a:rPr>
              <a:t>Imaging is where medical AI reaches the market first. Most products are incremental, not new categories.</a:t>
            </a:r>
            <a:endParaRPr lang="en-US" sz="2200" dirty="0"/>
          </a:p>
        </p:txBody>
      </p:sp>
      <p:sp>
        <p:nvSpPr>
          <p:cNvPr id="10" name="Text 8"/>
          <p:cNvSpPr/>
          <p:nvPr/>
        </p:nvSpPr>
        <p:spPr>
          <a:xfrm>
            <a:off x="812800" y="6238280"/>
            <a:ext cx="1046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8D6"/>
                </a:solidFill>
                <a:latin typeface="IBM Plex Sans" pitchFamily="34" charset="0"/>
                <a:ea typeface="IBM Plex Sans" pitchFamily="34" charset="-122"/>
                <a:cs typeface="IBM Plex Sans" pitchFamily="34" charset="-120"/>
              </a:rPr>
              <a:t>Source: FDA AI-enabled device list, update of 4 Sept 2026 (decisions to 29 June 2026), via Complizen tracker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D87E4-2B8F-C463-4CC5-1DD2027895AD}"/>
              </a:ext>
            </a:extLst>
          </p:cNvPr>
          <p:cNvSpPr>
            <a:spLocks noGrp="1"/>
          </p:cNvSpPr>
          <p:nvPr>
            <p:ph type="title"/>
          </p:nvPr>
        </p:nvSpPr>
        <p:spPr/>
        <p:txBody>
          <a:bodyPr/>
          <a:lstStyle/>
          <a:p>
            <a:r>
              <a:rPr lang="en-NL" dirty="0"/>
              <a:t>Bias – from origin of ML to today practice</a:t>
            </a:r>
          </a:p>
        </p:txBody>
      </p:sp>
      <p:pic>
        <p:nvPicPr>
          <p:cNvPr id="4" name="Picture 3">
            <a:extLst>
              <a:ext uri="{FF2B5EF4-FFF2-40B4-BE49-F238E27FC236}">
                <a16:creationId xmlns:a16="http://schemas.microsoft.com/office/drawing/2014/main" id="{A6770167-4DD5-14C5-5A0E-CE650FC53CF6}"/>
              </a:ext>
            </a:extLst>
          </p:cNvPr>
          <p:cNvPicPr>
            <a:picLocks noChangeAspect="1"/>
          </p:cNvPicPr>
          <p:nvPr/>
        </p:nvPicPr>
        <p:blipFill>
          <a:blip r:embed="rId3"/>
          <a:stretch>
            <a:fillRect/>
          </a:stretch>
        </p:blipFill>
        <p:spPr>
          <a:xfrm>
            <a:off x="1788886" y="1933452"/>
            <a:ext cx="7772400" cy="2991095"/>
          </a:xfrm>
          <a:prstGeom prst="rect">
            <a:avLst/>
          </a:prstGeom>
        </p:spPr>
      </p:pic>
      <p:sp>
        <p:nvSpPr>
          <p:cNvPr id="5" name="TextBox 4">
            <a:extLst>
              <a:ext uri="{FF2B5EF4-FFF2-40B4-BE49-F238E27FC236}">
                <a16:creationId xmlns:a16="http://schemas.microsoft.com/office/drawing/2014/main" id="{4A212766-E24E-FC5D-9F9D-4123B3AC0C26}"/>
              </a:ext>
            </a:extLst>
          </p:cNvPr>
          <p:cNvSpPr txBox="1"/>
          <p:nvPr/>
        </p:nvSpPr>
        <p:spPr>
          <a:xfrm>
            <a:off x="2997200" y="4856879"/>
            <a:ext cx="6096000" cy="1569660"/>
          </a:xfrm>
          <a:prstGeom prst="rect">
            <a:avLst/>
          </a:prstGeom>
          <a:noFill/>
        </p:spPr>
        <p:txBody>
          <a:bodyPr wrap="square">
            <a:spAutoFit/>
          </a:bodyPr>
          <a:lstStyle/>
          <a:p>
            <a:r>
              <a:rPr lang="en-GB" sz="1600" dirty="0"/>
              <a:t>E</a:t>
            </a:r>
            <a:r>
              <a:rPr lang="en-NL" sz="1600" dirty="0"/>
              <a:t>g fine tuning vision language&gt; increasingly more aware of challenges and get better at optimizing</a:t>
            </a:r>
          </a:p>
          <a:p>
            <a:endParaRPr lang="en-NL" sz="1600" dirty="0"/>
          </a:p>
          <a:p>
            <a:r>
              <a:rPr lang="en-GB" sz="1600" dirty="0"/>
              <a:t>Availability of useful data is still a challenge</a:t>
            </a:r>
          </a:p>
          <a:p>
            <a:endParaRPr lang="en-GB" sz="1600" dirty="0"/>
          </a:p>
          <a:p>
            <a:r>
              <a:rPr lang="en-GB" sz="1600" dirty="0"/>
              <a:t>Very hot research area and high market interest !</a:t>
            </a:r>
            <a:endParaRPr lang="en-NL" sz="1600" dirty="0"/>
          </a:p>
        </p:txBody>
      </p:sp>
      <p:sp>
        <p:nvSpPr>
          <p:cNvPr id="6" name="Text 8">
            <a:extLst>
              <a:ext uri="{FF2B5EF4-FFF2-40B4-BE49-F238E27FC236}">
                <a16:creationId xmlns:a16="http://schemas.microsoft.com/office/drawing/2014/main" id="{56031D81-9A4B-B2B3-E31F-A53D6679664C}"/>
              </a:ext>
            </a:extLst>
          </p:cNvPr>
          <p:cNvSpPr/>
          <p:nvPr/>
        </p:nvSpPr>
        <p:spPr>
          <a:xfrm>
            <a:off x="812800" y="6426539"/>
            <a:ext cx="1046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8D6"/>
                </a:solidFill>
                <a:latin typeface="IBM Plex Sans" pitchFamily="34" charset="0"/>
                <a:ea typeface="IBM Plex Sans" pitchFamily="34" charset="-122"/>
                <a:cs typeface="IBM Plex Sans" pitchFamily="34" charset="-120"/>
              </a:rPr>
              <a:t>Courtesy AIMI lab Stanford California, USA</a:t>
            </a:r>
            <a:endParaRPr lang="en-US" sz="1200" dirty="0"/>
          </a:p>
        </p:txBody>
      </p:sp>
    </p:spTree>
    <p:extLst>
      <p:ext uri="{BB962C8B-B14F-4D97-AF65-F5344CB8AC3E}">
        <p14:creationId xmlns:p14="http://schemas.microsoft.com/office/powerpoint/2010/main" val="9090981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4">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From origins of ML to today practice</a:t>
            </a:r>
            <a:endParaRPr lang="en-US" sz="3600" dirty="0"/>
          </a:p>
        </p:txBody>
      </p:sp>
      <p:pic>
        <p:nvPicPr>
          <p:cNvPr id="16" name="Picture 15">
            <a:extLst>
              <a:ext uri="{FF2B5EF4-FFF2-40B4-BE49-F238E27FC236}">
                <a16:creationId xmlns:a16="http://schemas.microsoft.com/office/drawing/2014/main" id="{F0FADAC9-FEC1-3A0C-4471-F5512F9B5776}"/>
              </a:ext>
            </a:extLst>
          </p:cNvPr>
          <p:cNvPicPr>
            <a:picLocks noChangeAspect="1"/>
          </p:cNvPicPr>
          <p:nvPr/>
        </p:nvPicPr>
        <p:blipFill>
          <a:blip r:embed="rId3"/>
          <a:stretch>
            <a:fillRect/>
          </a:stretch>
        </p:blipFill>
        <p:spPr>
          <a:xfrm>
            <a:off x="6455616" y="1560646"/>
            <a:ext cx="4778441" cy="1768400"/>
          </a:xfrm>
          <a:prstGeom prst="rect">
            <a:avLst/>
          </a:prstGeom>
        </p:spPr>
      </p:pic>
      <p:pic>
        <p:nvPicPr>
          <p:cNvPr id="17" name="Picture 16">
            <a:extLst>
              <a:ext uri="{FF2B5EF4-FFF2-40B4-BE49-F238E27FC236}">
                <a16:creationId xmlns:a16="http://schemas.microsoft.com/office/drawing/2014/main" id="{CF428F48-5841-FA9C-BA8A-0D1340EB5806}"/>
              </a:ext>
            </a:extLst>
          </p:cNvPr>
          <p:cNvPicPr>
            <a:picLocks noChangeAspect="1"/>
          </p:cNvPicPr>
          <p:nvPr/>
        </p:nvPicPr>
        <p:blipFill>
          <a:blip r:embed="rId4"/>
          <a:stretch>
            <a:fillRect/>
          </a:stretch>
        </p:blipFill>
        <p:spPr>
          <a:xfrm>
            <a:off x="1516745" y="3561274"/>
            <a:ext cx="4405085" cy="2716154"/>
          </a:xfrm>
          <a:prstGeom prst="rect">
            <a:avLst/>
          </a:prstGeom>
        </p:spPr>
      </p:pic>
      <p:sp>
        <p:nvSpPr>
          <p:cNvPr id="18" name="TextBox 17">
            <a:extLst>
              <a:ext uri="{FF2B5EF4-FFF2-40B4-BE49-F238E27FC236}">
                <a16:creationId xmlns:a16="http://schemas.microsoft.com/office/drawing/2014/main" id="{2206C7E0-9BF1-CC50-99AA-4EDAFBCB1077}"/>
              </a:ext>
            </a:extLst>
          </p:cNvPr>
          <p:cNvSpPr txBox="1"/>
          <p:nvPr/>
        </p:nvSpPr>
        <p:spPr>
          <a:xfrm>
            <a:off x="1944914" y="1719162"/>
            <a:ext cx="3033486" cy="584775"/>
          </a:xfrm>
          <a:prstGeom prst="rect">
            <a:avLst/>
          </a:prstGeom>
          <a:noFill/>
        </p:spPr>
        <p:txBody>
          <a:bodyPr wrap="square">
            <a:spAutoFit/>
          </a:bodyPr>
          <a:lstStyle/>
          <a:p>
            <a:endParaRPr lang="en-NL" sz="1600" b="1" dirty="0"/>
          </a:p>
          <a:p>
            <a:r>
              <a:rPr lang="en-NL" sz="1600" dirty="0"/>
              <a:t>Where dit Watson Health go?</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B74BEA-86F5-7A9C-7B7E-6854B85FC3C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CF90F97-C70E-AEB3-F2EA-C0B277660F56}"/>
              </a:ext>
            </a:extLst>
          </p:cNvPr>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From origins of ML to today practice</a:t>
            </a:r>
            <a:endParaRPr lang="en-US" sz="3600" dirty="0"/>
          </a:p>
        </p:txBody>
      </p:sp>
      <p:sp>
        <p:nvSpPr>
          <p:cNvPr id="3" name="Shape 1">
            <a:extLst>
              <a:ext uri="{FF2B5EF4-FFF2-40B4-BE49-F238E27FC236}">
                <a16:creationId xmlns:a16="http://schemas.microsoft.com/office/drawing/2014/main" id="{611BA7ED-349E-1F84-D4A9-B92AC84C1DEF}"/>
              </a:ext>
            </a:extLst>
          </p:cNvPr>
          <p:cNvSpPr/>
          <p:nvPr/>
        </p:nvSpPr>
        <p:spPr>
          <a:xfrm>
            <a:off x="815975" y="1674465"/>
            <a:ext cx="5175250" cy="1261021"/>
          </a:xfrm>
          <a:prstGeom prst="roundRect">
            <a:avLst>
              <a:gd name="adj" fmla="val 7805"/>
            </a:avLst>
          </a:prstGeom>
          <a:solidFill>
            <a:srgbClr val="FFFFFF"/>
          </a:solidFill>
          <a:ln w="6350">
            <a:solidFill>
              <a:srgbClr val="DDD8CC"/>
            </a:solidFill>
            <a:prstDash val="solid"/>
          </a:ln>
        </p:spPr>
        <p:txBody>
          <a:bodyPr/>
          <a:lstStyle/>
          <a:p>
            <a:endParaRPr lang="en-NL"/>
          </a:p>
        </p:txBody>
      </p:sp>
      <p:sp>
        <p:nvSpPr>
          <p:cNvPr id="4" name="Text 2">
            <a:extLst>
              <a:ext uri="{FF2B5EF4-FFF2-40B4-BE49-F238E27FC236}">
                <a16:creationId xmlns:a16="http://schemas.microsoft.com/office/drawing/2014/main" id="{992B448B-ABE9-2C36-3139-4F65F7407AFD}"/>
              </a:ext>
            </a:extLst>
          </p:cNvPr>
          <p:cNvSpPr/>
          <p:nvPr/>
        </p:nvSpPr>
        <p:spPr>
          <a:xfrm>
            <a:off x="1073150" y="1931640"/>
            <a:ext cx="480072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Foundation models</a:t>
            </a:r>
            <a:endParaRPr lang="en-US" sz="1600" dirty="0"/>
          </a:p>
        </p:txBody>
      </p:sp>
      <p:sp>
        <p:nvSpPr>
          <p:cNvPr id="5" name="Text 3">
            <a:extLst>
              <a:ext uri="{FF2B5EF4-FFF2-40B4-BE49-F238E27FC236}">
                <a16:creationId xmlns:a16="http://schemas.microsoft.com/office/drawing/2014/main" id="{3FAF06E8-C1AF-2019-F02C-4EA4DC64CE02}"/>
              </a:ext>
            </a:extLst>
          </p:cNvPr>
          <p:cNvSpPr/>
          <p:nvPr/>
        </p:nvSpPr>
        <p:spPr>
          <a:xfrm>
            <a:off x="1073150" y="2251670"/>
            <a:ext cx="480072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One pretrained model, many tasks: segmentation, classification and retrieval across CT, MRI and X-ray.</a:t>
            </a:r>
            <a:endParaRPr lang="en-US" sz="1200" dirty="0"/>
          </a:p>
        </p:txBody>
      </p:sp>
      <p:sp>
        <p:nvSpPr>
          <p:cNvPr id="6" name="Shape 4">
            <a:extLst>
              <a:ext uri="{FF2B5EF4-FFF2-40B4-BE49-F238E27FC236}">
                <a16:creationId xmlns:a16="http://schemas.microsoft.com/office/drawing/2014/main" id="{7DC557FA-040F-8995-CE47-A6C14BDA217B}"/>
              </a:ext>
            </a:extLst>
          </p:cNvPr>
          <p:cNvSpPr/>
          <p:nvPr/>
        </p:nvSpPr>
        <p:spPr>
          <a:xfrm>
            <a:off x="6200775" y="1674465"/>
            <a:ext cx="5175250" cy="1261021"/>
          </a:xfrm>
          <a:prstGeom prst="roundRect">
            <a:avLst>
              <a:gd name="adj" fmla="val 7805"/>
            </a:avLst>
          </a:prstGeom>
          <a:solidFill>
            <a:srgbClr val="FFFFFF"/>
          </a:solidFill>
          <a:ln w="6350">
            <a:solidFill>
              <a:srgbClr val="DDD8CC"/>
            </a:solidFill>
            <a:prstDash val="solid"/>
          </a:ln>
        </p:spPr>
        <p:txBody>
          <a:bodyPr/>
          <a:lstStyle/>
          <a:p>
            <a:endParaRPr lang="en-NL"/>
          </a:p>
        </p:txBody>
      </p:sp>
      <p:sp>
        <p:nvSpPr>
          <p:cNvPr id="7" name="Text 5">
            <a:extLst>
              <a:ext uri="{FF2B5EF4-FFF2-40B4-BE49-F238E27FC236}">
                <a16:creationId xmlns:a16="http://schemas.microsoft.com/office/drawing/2014/main" id="{B802A55C-6D3F-060C-693A-12BC124424C8}"/>
              </a:ext>
            </a:extLst>
          </p:cNvPr>
          <p:cNvSpPr/>
          <p:nvPr/>
        </p:nvSpPr>
        <p:spPr>
          <a:xfrm>
            <a:off x="6457950" y="1931640"/>
            <a:ext cx="480072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Vision-language models</a:t>
            </a:r>
            <a:endParaRPr lang="en-US" sz="1600" dirty="0"/>
          </a:p>
        </p:txBody>
      </p:sp>
      <p:sp>
        <p:nvSpPr>
          <p:cNvPr id="8" name="Text 6">
            <a:extLst>
              <a:ext uri="{FF2B5EF4-FFF2-40B4-BE49-F238E27FC236}">
                <a16:creationId xmlns:a16="http://schemas.microsoft.com/office/drawing/2014/main" id="{2F1EAE2A-006A-095F-1E82-C0702E63C448}"/>
              </a:ext>
            </a:extLst>
          </p:cNvPr>
          <p:cNvSpPr/>
          <p:nvPr/>
        </p:nvSpPr>
        <p:spPr>
          <a:xfrm>
            <a:off x="6457950" y="2251670"/>
            <a:ext cx="480072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Images in, draft reports out. Triage and report drafting are the first realistic uses.</a:t>
            </a:r>
            <a:endParaRPr lang="en-US" sz="1200" dirty="0"/>
          </a:p>
        </p:txBody>
      </p:sp>
      <p:sp>
        <p:nvSpPr>
          <p:cNvPr id="9" name="Shape 7">
            <a:extLst>
              <a:ext uri="{FF2B5EF4-FFF2-40B4-BE49-F238E27FC236}">
                <a16:creationId xmlns:a16="http://schemas.microsoft.com/office/drawing/2014/main" id="{BB995EE0-EDE0-F16A-5B3C-B8FC285E369E}"/>
              </a:ext>
            </a:extLst>
          </p:cNvPr>
          <p:cNvSpPr/>
          <p:nvPr/>
        </p:nvSpPr>
        <p:spPr>
          <a:xfrm>
            <a:off x="815975" y="3145036"/>
            <a:ext cx="5175250" cy="1261021"/>
          </a:xfrm>
          <a:prstGeom prst="roundRect">
            <a:avLst>
              <a:gd name="adj" fmla="val 7805"/>
            </a:avLst>
          </a:prstGeom>
          <a:solidFill>
            <a:srgbClr val="FFFFFF"/>
          </a:solidFill>
          <a:ln w="6350">
            <a:solidFill>
              <a:srgbClr val="DDD8CC"/>
            </a:solidFill>
            <a:prstDash val="solid"/>
          </a:ln>
        </p:spPr>
        <p:txBody>
          <a:bodyPr/>
          <a:lstStyle/>
          <a:p>
            <a:endParaRPr lang="en-NL"/>
          </a:p>
        </p:txBody>
      </p:sp>
      <p:sp>
        <p:nvSpPr>
          <p:cNvPr id="10" name="Text 8">
            <a:extLst>
              <a:ext uri="{FF2B5EF4-FFF2-40B4-BE49-F238E27FC236}">
                <a16:creationId xmlns:a16="http://schemas.microsoft.com/office/drawing/2014/main" id="{811BD1DD-67DD-C52A-C393-6F9D32A548FE}"/>
              </a:ext>
            </a:extLst>
          </p:cNvPr>
          <p:cNvSpPr/>
          <p:nvPr/>
        </p:nvSpPr>
        <p:spPr>
          <a:xfrm>
            <a:off x="1073150" y="3402211"/>
            <a:ext cx="480072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Segmentation is a commodity</a:t>
            </a:r>
            <a:endParaRPr lang="en-US" sz="1600" dirty="0"/>
          </a:p>
        </p:txBody>
      </p:sp>
      <p:sp>
        <p:nvSpPr>
          <p:cNvPr id="11" name="Text 9">
            <a:extLst>
              <a:ext uri="{FF2B5EF4-FFF2-40B4-BE49-F238E27FC236}">
                <a16:creationId xmlns:a16="http://schemas.microsoft.com/office/drawing/2014/main" id="{F4ADC081-31B4-9D29-9EC0-B59C43926B86}"/>
              </a:ext>
            </a:extLst>
          </p:cNvPr>
          <p:cNvSpPr/>
          <p:nvPr/>
        </p:nvSpPr>
        <p:spPr>
          <a:xfrm>
            <a:off x="1073150" y="3722241"/>
            <a:ext cx="480072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nnU-Net-style pipelines make 3D segmentation routine. The value moves to what you measure with it.</a:t>
            </a:r>
            <a:endParaRPr lang="en-US" sz="1200" dirty="0"/>
          </a:p>
        </p:txBody>
      </p:sp>
      <p:sp>
        <p:nvSpPr>
          <p:cNvPr id="12" name="Shape 10">
            <a:extLst>
              <a:ext uri="{FF2B5EF4-FFF2-40B4-BE49-F238E27FC236}">
                <a16:creationId xmlns:a16="http://schemas.microsoft.com/office/drawing/2014/main" id="{B9D41AED-75F5-98EF-06D3-46093E1D6AED}"/>
              </a:ext>
            </a:extLst>
          </p:cNvPr>
          <p:cNvSpPr/>
          <p:nvPr/>
        </p:nvSpPr>
        <p:spPr>
          <a:xfrm>
            <a:off x="6200775" y="3145036"/>
            <a:ext cx="5175250" cy="1261021"/>
          </a:xfrm>
          <a:prstGeom prst="roundRect">
            <a:avLst>
              <a:gd name="adj" fmla="val 7805"/>
            </a:avLst>
          </a:prstGeom>
          <a:solidFill>
            <a:srgbClr val="FFFFFF"/>
          </a:solidFill>
          <a:ln w="6350">
            <a:solidFill>
              <a:srgbClr val="DDD8CC"/>
            </a:solidFill>
            <a:prstDash val="solid"/>
          </a:ln>
        </p:spPr>
        <p:txBody>
          <a:bodyPr/>
          <a:lstStyle/>
          <a:p>
            <a:endParaRPr lang="en-NL"/>
          </a:p>
        </p:txBody>
      </p:sp>
      <p:sp>
        <p:nvSpPr>
          <p:cNvPr id="13" name="Text 11">
            <a:extLst>
              <a:ext uri="{FF2B5EF4-FFF2-40B4-BE49-F238E27FC236}">
                <a16:creationId xmlns:a16="http://schemas.microsoft.com/office/drawing/2014/main" id="{58D303E0-E314-0716-B010-D61089264BA0}"/>
              </a:ext>
            </a:extLst>
          </p:cNvPr>
          <p:cNvSpPr/>
          <p:nvPr/>
        </p:nvSpPr>
        <p:spPr>
          <a:xfrm>
            <a:off x="6457950" y="3402211"/>
            <a:ext cx="480072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Regulation catches up</a:t>
            </a:r>
            <a:endParaRPr lang="en-US" sz="1600" dirty="0"/>
          </a:p>
        </p:txBody>
      </p:sp>
      <p:sp>
        <p:nvSpPr>
          <p:cNvPr id="14" name="Text 12">
            <a:extLst>
              <a:ext uri="{FF2B5EF4-FFF2-40B4-BE49-F238E27FC236}">
                <a16:creationId xmlns:a16="http://schemas.microsoft.com/office/drawing/2014/main" id="{8D98B455-37DC-47B6-832C-73253F34F943}"/>
              </a:ext>
            </a:extLst>
          </p:cNvPr>
          <p:cNvSpPr/>
          <p:nvPr/>
        </p:nvSpPr>
        <p:spPr>
          <a:xfrm>
            <a:off x="6457950" y="3722241"/>
            <a:ext cx="480072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EU AI Act: AI in medical devices must meet high-risk requirements from 2 August 2028, on top of the MDR.</a:t>
            </a:r>
            <a:endParaRPr lang="en-US" sz="1200" dirty="0"/>
          </a:p>
        </p:txBody>
      </p:sp>
    </p:spTree>
    <p:extLst>
      <p:ext uri="{BB962C8B-B14F-4D97-AF65-F5344CB8AC3E}">
        <p14:creationId xmlns:p14="http://schemas.microsoft.com/office/powerpoint/2010/main" val="17813756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1379200"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The reality check: a benchmark is not a bedside</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1633190"/>
          <a:ext cx="10553700" cy="2316066"/>
        </p:xfrm>
        <a:graphic>
          <a:graphicData uri="http://schemas.openxmlformats.org/drawingml/2006/table">
            <a:tbl>
              <a:tblPr/>
              <a:tblGrid>
                <a:gridCol w="4010406">
                  <a:extLst>
                    <a:ext uri="{9D8B030D-6E8A-4147-A177-3AD203B41FA5}">
                      <a16:colId xmlns:a16="http://schemas.microsoft.com/office/drawing/2014/main" val="20000"/>
                    </a:ext>
                  </a:extLst>
                </a:gridCol>
                <a:gridCol w="6543294">
                  <a:extLst>
                    <a:ext uri="{9D8B030D-6E8A-4147-A177-3AD203B41FA5}">
                      <a16:colId xmlns:a16="http://schemas.microsoft.com/office/drawing/2014/main" val="20001"/>
                    </a:ext>
                  </a:extLst>
                </a:gridCol>
              </a:tblGrid>
              <a:tr h="386011">
                <a:tc>
                  <a:txBody>
                    <a:bodyPr/>
                    <a:lstStyle/>
                    <a:p>
                      <a:pPr marL="0" indent="0">
                        <a:lnSpc>
                          <a:spcPts val="1960"/>
                        </a:lnSpc>
                        <a:buNone/>
                      </a:pPr>
                      <a:r>
                        <a:rPr lang="en-US" sz="1400" b="1" dirty="0">
                          <a:solidFill>
                            <a:srgbClr val="1B2433"/>
                          </a:solidFill>
                          <a:latin typeface="IBM Plex Sans" pitchFamily="34" charset="0"/>
                          <a:ea typeface="IBM Plex Sans" pitchFamily="34" charset="-122"/>
                          <a:cs typeface="IBM Plex Sans" pitchFamily="34" charset="-120"/>
                        </a:rPr>
                        <a:t>What papers report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960"/>
                        </a:lnSpc>
                        <a:buNone/>
                      </a:pPr>
                      <a:r>
                        <a:rPr lang="en-US" sz="1400" b="1" dirty="0">
                          <a:solidFill>
                            <a:srgbClr val="1B2433"/>
                          </a:solidFill>
                          <a:latin typeface="IBM Plex Sans" pitchFamily="34" charset="0"/>
                          <a:ea typeface="IBM Plex Sans" pitchFamily="34" charset="-122"/>
                          <a:cs typeface="IBM Plex Sans" pitchFamily="34" charset="-120"/>
                        </a:rPr>
                        <a:t>What the clinic needs to know</a:t>
                      </a:r>
                      <a:endParaRPr lang="en-US" sz="1400" dirty="0">
                        <a:latin typeface="IBM Plex Sans" charset="0"/>
                        <a:ea typeface="IBM Plex Sans" charset="0"/>
                        <a:cs typeface="IBM Plex Sans" charset="0"/>
                      </a:endParaRPr>
                    </a:p>
                  </a:txBody>
                  <a:tcPr marL="62230" marR="62230" marT="62230" marB="62230">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extLst>
                  <a:ext uri="{0D108BD9-81ED-4DB2-BD59-A6C34878D82A}">
                    <a16:rowId xmlns:a16="http://schemas.microsoft.com/office/drawing/2014/main" val="10000"/>
                  </a:ext>
                </a:extLst>
              </a:tr>
              <a:tr h="386011">
                <a:tc>
                  <a:txBody>
                    <a:bodyPr/>
                    <a:lstStyle/>
                    <a:p>
                      <a:pPr marL="0" indent="0">
                        <a:lnSpc>
                          <a:spcPts val="1960"/>
                        </a:lnSpc>
                        <a:buNone/>
                      </a:pPr>
                      <a:r>
                        <a:rPr lang="en-US" sz="1400" dirty="0">
                          <a:solidFill>
                            <a:srgbClr val="1B2433"/>
                          </a:solidFill>
                          <a:latin typeface="IBM Plex Sans" pitchFamily="34" charset="0"/>
                          <a:ea typeface="IBM Plex Sans" pitchFamily="34" charset="-122"/>
                          <a:cs typeface="IBM Plex Sans" pitchFamily="34" charset="-120"/>
                        </a:rPr>
                        <a:t>AUC on a public benchmark</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B2433"/>
                          </a:solidFill>
                          <a:latin typeface="IBM Plex Sans" pitchFamily="34" charset="0"/>
                          <a:ea typeface="IBM Plex Sans" pitchFamily="34" charset="-122"/>
                          <a:cs typeface="IBM Plex Sans" pitchFamily="34" charset="-120"/>
                        </a:rPr>
                        <a:t>Does it hold on our scanner, our protocol, our patients?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1"/>
                  </a:ext>
                </a:extLst>
              </a:tr>
              <a:tr h="386011">
                <a:tc>
                  <a:txBody>
                    <a:bodyPr/>
                    <a:lstStyle/>
                    <a:p>
                      <a:pPr marL="0" indent="0">
                        <a:lnSpc>
                          <a:spcPts val="1960"/>
                        </a:lnSpc>
                        <a:buNone/>
                      </a:pPr>
                      <a:r>
                        <a:rPr lang="en-US" sz="1400" dirty="0">
                          <a:solidFill>
                            <a:srgbClr val="1B2433"/>
                          </a:solidFill>
                          <a:latin typeface="IBM Plex Sans" pitchFamily="34" charset="0"/>
                          <a:ea typeface="IBM Plex Sans" pitchFamily="34" charset="-122"/>
                          <a:cs typeface="IBM Plex Sans" pitchFamily="34" charset="-120"/>
                        </a:rPr>
                        <a:t>Millions of images or patches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B2433"/>
                          </a:solidFill>
                          <a:latin typeface="IBM Plex Sans" pitchFamily="34" charset="0"/>
                          <a:ea typeface="IBM Plex Sans" pitchFamily="34" charset="-122"/>
                          <a:cs typeface="IBM Plex Sans" pitchFamily="34" charset="-120"/>
                        </a:rPr>
                        <a:t>How many independent patients and centres?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2"/>
                  </a:ext>
                </a:extLst>
              </a:tr>
              <a:tr h="386011">
                <a:tc>
                  <a:txBody>
                    <a:bodyPr/>
                    <a:lstStyle/>
                    <a:p>
                      <a:pPr marL="0" indent="0">
                        <a:lnSpc>
                          <a:spcPts val="1960"/>
                        </a:lnSpc>
                        <a:buNone/>
                      </a:pPr>
                      <a:r>
                        <a:rPr lang="en-US" sz="1400" dirty="0">
                          <a:solidFill>
                            <a:srgbClr val="1B2433"/>
                          </a:solidFill>
                          <a:latin typeface="IBM Plex Sans" pitchFamily="34" charset="0"/>
                          <a:ea typeface="IBM Plex Sans" pitchFamily="34" charset="-122"/>
                          <a:cs typeface="IBM Plex Sans" pitchFamily="34" charset="-120"/>
                        </a:rPr>
                        <a:t>Model versus radiologist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B2433"/>
                          </a:solidFill>
                          <a:latin typeface="IBM Plex Sans" pitchFamily="34" charset="0"/>
                          <a:ea typeface="IBM Plex Sans" pitchFamily="34" charset="-122"/>
                          <a:cs typeface="IBM Plex Sans" pitchFamily="34" charset="-120"/>
                        </a:rPr>
                        <a:t>Radiologist with the model versus without it</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3"/>
                  </a:ext>
                </a:extLst>
              </a:tr>
              <a:tr h="386011">
                <a:tc>
                  <a:txBody>
                    <a:bodyPr/>
                    <a:lstStyle/>
                    <a:p>
                      <a:pPr marL="0" indent="0">
                        <a:lnSpc>
                          <a:spcPts val="1960"/>
                        </a:lnSpc>
                        <a:buNone/>
                      </a:pPr>
                      <a:r>
                        <a:rPr lang="en-US" sz="1400" dirty="0">
                          <a:solidFill>
                            <a:srgbClr val="1B2433"/>
                          </a:solidFill>
                          <a:latin typeface="IBM Plex Sans" pitchFamily="34" charset="0"/>
                          <a:ea typeface="IBM Plex Sans" pitchFamily="34" charset="-122"/>
                          <a:cs typeface="IBM Plex Sans" pitchFamily="34" charset="-120"/>
                        </a:rPr>
                        <a:t>Accuracy</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B2433"/>
                          </a:solidFill>
                          <a:latin typeface="IBM Plex Sans" pitchFamily="34" charset="0"/>
                          <a:ea typeface="IBM Plex Sans" pitchFamily="34" charset="-122"/>
                          <a:cs typeface="IBM Plex Sans" pitchFamily="34" charset="-120"/>
                        </a:rPr>
                        <a:t>Reporting time, decisions changed, patient outcome</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4"/>
                  </a:ext>
                </a:extLst>
              </a:tr>
              <a:tr h="386011">
                <a:tc>
                  <a:txBody>
                    <a:bodyPr/>
                    <a:lstStyle/>
                    <a:p>
                      <a:pPr marL="0" indent="0">
                        <a:lnSpc>
                          <a:spcPts val="1960"/>
                        </a:lnSpc>
                        <a:buNone/>
                      </a:pPr>
                      <a:r>
                        <a:rPr lang="en-US" sz="1400" dirty="0">
                          <a:solidFill>
                            <a:srgbClr val="1B2433"/>
                          </a:solidFill>
                          <a:latin typeface="IBM Plex Sans" pitchFamily="34" charset="0"/>
                          <a:ea typeface="IBM Plex Sans" pitchFamily="34" charset="-122"/>
                          <a:cs typeface="IBM Plex Sans" pitchFamily="34" charset="-120"/>
                        </a:rPr>
                        <a:t>One frozen model</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960"/>
                        </a:lnSpc>
                        <a:buNone/>
                      </a:pPr>
                      <a:r>
                        <a:rPr lang="en-US" sz="1400" dirty="0">
                          <a:solidFill>
                            <a:srgbClr val="1B2433"/>
                          </a:solidFill>
                          <a:latin typeface="IBM Plex Sans" pitchFamily="34" charset="0"/>
                          <a:ea typeface="IBM Plex Sans" pitchFamily="34" charset="-122"/>
                          <a:cs typeface="IBM Plex Sans" pitchFamily="34" charset="-120"/>
                        </a:rPr>
                        <a:t>Version control, drift monitoring, revalidation after updates</a:t>
                      </a:r>
                      <a:endParaRPr lang="en-US" sz="1400" dirty="0">
                        <a:latin typeface="IBM Plex Sans" charset="0"/>
                        <a:ea typeface="IBM Plex Sans" charset="0"/>
                        <a:cs typeface="IBM Plex Sans" charset="0"/>
                      </a:endParaRPr>
                    </a:p>
                  </a:txBody>
                  <a:tcPr marL="62230" marR="62230" marT="62230" marB="62230">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p:nvPr/>
        </p:nvSpPr>
        <p:spPr>
          <a:xfrm>
            <a:off x="812800" y="4254054"/>
            <a:ext cx="981075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Most evidence is still retrospective. The realistic first jobs for large models are limited and reviewable: triage, report drafts, risk scores.</a:t>
            </a:r>
            <a:endParaRPr lang="en-US" sz="1600" dirty="0"/>
          </a:p>
        </p:txBody>
      </p:sp>
      <p:sp>
        <p:nvSpPr>
          <p:cNvPr id="5" name="Text 2"/>
          <p:cNvSpPr/>
          <p:nvPr/>
        </p:nvSpPr>
        <p:spPr>
          <a:xfrm>
            <a:off x="812800" y="6238280"/>
            <a:ext cx="1046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Based on: review of medical imaging foundation models and clinical translation, Med J Peking Union Med Coll Hosp, July 2026</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B85C1E"/>
                </a:solidFill>
                <a:latin typeface="IBM Plex Sans" pitchFamily="34" charset="0"/>
                <a:ea typeface="IBM Plex Sans" pitchFamily="34" charset="-122"/>
                <a:cs typeface="IBM Plex Sans" pitchFamily="34" charset="-120"/>
              </a:rPr>
              <a:t>ZOOM IN · ORTHOPAEDICS</a:t>
            </a:r>
            <a:endParaRPr lang="en-US" sz="1200" dirty="0"/>
          </a:p>
        </p:txBody>
      </p:sp>
      <p:sp>
        <p:nvSpPr>
          <p:cNvPr id="3" name="Text 1"/>
          <p:cNvSpPr>
            <a:spLocks noGrp="1"/>
          </p:cNvSpPr>
          <p:nvPr>
            <p:ph type="title"/>
          </p:nvPr>
        </p:nvSpPr>
        <p:spPr>
          <a:xfrm>
            <a:off x="812800" y="133092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dirty="0"/>
              <a:t>Progress but a long way to go</a:t>
            </a:r>
          </a:p>
        </p:txBody>
      </p:sp>
      <p:sp>
        <p:nvSpPr>
          <p:cNvPr id="4" name="Shape 2"/>
          <p:cNvSpPr/>
          <p:nvPr/>
        </p:nvSpPr>
        <p:spPr>
          <a:xfrm>
            <a:off x="815975" y="2644676"/>
            <a:ext cx="2524125" cy="1583531"/>
          </a:xfrm>
          <a:prstGeom prst="roundRect">
            <a:avLst>
              <a:gd name="adj" fmla="val 6216"/>
            </a:avLst>
          </a:prstGeom>
          <a:solidFill>
            <a:srgbClr val="FFFFFF"/>
          </a:solidFill>
          <a:ln w="6350">
            <a:solidFill>
              <a:srgbClr val="DDD8CC"/>
            </a:solidFill>
            <a:prstDash val="solid"/>
          </a:ln>
        </p:spPr>
        <p:txBody>
          <a:bodyPr/>
          <a:lstStyle/>
          <a:p>
            <a:endParaRPr lang="en-NL"/>
          </a:p>
        </p:txBody>
      </p:sp>
      <p:sp>
        <p:nvSpPr>
          <p:cNvPr id="5" name="Text 3"/>
          <p:cNvSpPr/>
          <p:nvPr/>
        </p:nvSpPr>
        <p:spPr>
          <a:xfrm>
            <a:off x="1022350" y="2851051"/>
            <a:ext cx="2174716"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85C1E"/>
                </a:solidFill>
                <a:latin typeface="Space Grotesk" pitchFamily="34" charset="0"/>
                <a:ea typeface="Space Grotesk" pitchFamily="34" charset="-122"/>
                <a:cs typeface="Space Grotesk" pitchFamily="34" charset="-120"/>
              </a:rPr>
              <a:t>~90%</a:t>
            </a:r>
            <a:endParaRPr lang="en-US" sz="2200" dirty="0"/>
          </a:p>
        </p:txBody>
      </p:sp>
      <p:sp>
        <p:nvSpPr>
          <p:cNvPr id="6" name="Text 4"/>
          <p:cNvSpPr/>
          <p:nvPr/>
        </p:nvSpPr>
        <p:spPr>
          <a:xfrm>
            <a:off x="1022350" y="3318371"/>
            <a:ext cx="217471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Fracture detection</a:t>
            </a:r>
            <a:endParaRPr lang="en-US" sz="1400" dirty="0"/>
          </a:p>
        </p:txBody>
      </p:sp>
      <p:sp>
        <p:nvSpPr>
          <p:cNvPr id="7" name="Text 5"/>
          <p:cNvSpPr/>
          <p:nvPr/>
        </p:nvSpPr>
        <p:spPr>
          <a:xfrm>
            <a:off x="1022350" y="3607891"/>
            <a:ext cx="21747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sensitivity, ~92% specificity</a:t>
            </a:r>
            <a:endParaRPr lang="en-US" sz="1200" dirty="0"/>
          </a:p>
        </p:txBody>
      </p:sp>
      <p:sp>
        <p:nvSpPr>
          <p:cNvPr id="8" name="Shape 6"/>
          <p:cNvSpPr/>
          <p:nvPr/>
        </p:nvSpPr>
        <p:spPr>
          <a:xfrm>
            <a:off x="3498850" y="2644676"/>
            <a:ext cx="2524125" cy="1583531"/>
          </a:xfrm>
          <a:prstGeom prst="roundRect">
            <a:avLst>
              <a:gd name="adj" fmla="val 6216"/>
            </a:avLst>
          </a:prstGeom>
          <a:solidFill>
            <a:srgbClr val="FFFFFF"/>
          </a:solidFill>
          <a:ln w="6350">
            <a:solidFill>
              <a:srgbClr val="DDD8CC"/>
            </a:solidFill>
            <a:prstDash val="solid"/>
          </a:ln>
        </p:spPr>
        <p:txBody>
          <a:bodyPr/>
          <a:lstStyle/>
          <a:p>
            <a:endParaRPr lang="en-NL"/>
          </a:p>
        </p:txBody>
      </p:sp>
      <p:sp>
        <p:nvSpPr>
          <p:cNvPr id="9" name="Text 7"/>
          <p:cNvSpPr/>
          <p:nvPr/>
        </p:nvSpPr>
        <p:spPr>
          <a:xfrm>
            <a:off x="3705225" y="2851051"/>
            <a:ext cx="2174716"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85C1E"/>
                </a:solidFill>
                <a:latin typeface="Space Grotesk" pitchFamily="34" charset="0"/>
                <a:ea typeface="Space Grotesk" pitchFamily="34" charset="-122"/>
                <a:cs typeface="Space Grotesk" pitchFamily="34" charset="-120"/>
              </a:rPr>
              <a:t>≤93%</a:t>
            </a:r>
            <a:endParaRPr lang="en-US" sz="2200" dirty="0"/>
          </a:p>
        </p:txBody>
      </p:sp>
      <p:sp>
        <p:nvSpPr>
          <p:cNvPr id="10" name="Text 8"/>
          <p:cNvSpPr/>
          <p:nvPr/>
        </p:nvSpPr>
        <p:spPr>
          <a:xfrm>
            <a:off x="3705225" y="3318371"/>
            <a:ext cx="217471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Osteoarthritis grading</a:t>
            </a:r>
            <a:endParaRPr lang="en-US" sz="1400" dirty="0"/>
          </a:p>
        </p:txBody>
      </p:sp>
      <p:sp>
        <p:nvSpPr>
          <p:cNvPr id="11" name="Text 9"/>
          <p:cNvSpPr/>
          <p:nvPr/>
        </p:nvSpPr>
        <p:spPr>
          <a:xfrm>
            <a:off x="3705225" y="3607891"/>
            <a:ext cx="21747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accuracy, better agreement</a:t>
            </a:r>
            <a:endParaRPr lang="en-US" sz="1200" dirty="0"/>
          </a:p>
        </p:txBody>
      </p:sp>
      <p:sp>
        <p:nvSpPr>
          <p:cNvPr id="12" name="Shape 10"/>
          <p:cNvSpPr/>
          <p:nvPr/>
        </p:nvSpPr>
        <p:spPr>
          <a:xfrm>
            <a:off x="6181725" y="2644676"/>
            <a:ext cx="2524125" cy="1583531"/>
          </a:xfrm>
          <a:prstGeom prst="roundRect">
            <a:avLst>
              <a:gd name="adj" fmla="val 6216"/>
            </a:avLst>
          </a:prstGeom>
          <a:solidFill>
            <a:srgbClr val="FFFFFF"/>
          </a:solidFill>
          <a:ln w="6350">
            <a:solidFill>
              <a:srgbClr val="DDD8CC"/>
            </a:solidFill>
            <a:prstDash val="solid"/>
          </a:ln>
        </p:spPr>
        <p:txBody>
          <a:bodyPr/>
          <a:lstStyle/>
          <a:p>
            <a:endParaRPr lang="en-NL"/>
          </a:p>
        </p:txBody>
      </p:sp>
      <p:sp>
        <p:nvSpPr>
          <p:cNvPr id="13" name="Text 11"/>
          <p:cNvSpPr/>
          <p:nvPr/>
        </p:nvSpPr>
        <p:spPr>
          <a:xfrm>
            <a:off x="6388100" y="2851051"/>
            <a:ext cx="2174716"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85C1E"/>
                </a:solidFill>
                <a:latin typeface="Space Grotesk" pitchFamily="34" charset="0"/>
                <a:ea typeface="Space Grotesk" pitchFamily="34" charset="-122"/>
                <a:cs typeface="Space Grotesk" pitchFamily="34" charset="-120"/>
              </a:rPr>
              <a:t>97–99%</a:t>
            </a:r>
            <a:endParaRPr lang="en-US" sz="2200" dirty="0"/>
          </a:p>
        </p:txBody>
      </p:sp>
      <p:sp>
        <p:nvSpPr>
          <p:cNvPr id="14" name="Text 12"/>
          <p:cNvSpPr/>
          <p:nvPr/>
        </p:nvSpPr>
        <p:spPr>
          <a:xfrm>
            <a:off x="6388100" y="3318371"/>
            <a:ext cx="217471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Implant identification</a:t>
            </a:r>
            <a:endParaRPr lang="en-US" sz="1400" dirty="0"/>
          </a:p>
        </p:txBody>
      </p:sp>
      <p:sp>
        <p:nvSpPr>
          <p:cNvPr id="15" name="Text 13"/>
          <p:cNvSpPr/>
          <p:nvPr/>
        </p:nvSpPr>
        <p:spPr>
          <a:xfrm>
            <a:off x="6388100" y="3607891"/>
            <a:ext cx="21747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model type from an X-ray</a:t>
            </a:r>
            <a:endParaRPr lang="en-US" sz="1200" dirty="0"/>
          </a:p>
        </p:txBody>
      </p:sp>
      <p:sp>
        <p:nvSpPr>
          <p:cNvPr id="16" name="Shape 14"/>
          <p:cNvSpPr/>
          <p:nvPr/>
        </p:nvSpPr>
        <p:spPr>
          <a:xfrm>
            <a:off x="8861425" y="2641501"/>
            <a:ext cx="2517775" cy="1589881"/>
          </a:xfrm>
          <a:prstGeom prst="roundRect">
            <a:avLst>
              <a:gd name="adj" fmla="val 6390"/>
            </a:avLst>
          </a:prstGeom>
          <a:solidFill>
            <a:srgbClr val="14213D"/>
          </a:solidFill>
          <a:ln/>
        </p:spPr>
        <p:txBody>
          <a:bodyPr/>
          <a:lstStyle/>
          <a:p>
            <a:endParaRPr lang="en-NL"/>
          </a:p>
        </p:txBody>
      </p:sp>
      <p:sp>
        <p:nvSpPr>
          <p:cNvPr id="17" name="Text 15"/>
          <p:cNvSpPr/>
          <p:nvPr/>
        </p:nvSpPr>
        <p:spPr>
          <a:xfrm>
            <a:off x="9064625" y="2844701"/>
            <a:ext cx="2174716"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2A65A"/>
                </a:solidFill>
                <a:latin typeface="Space Grotesk" pitchFamily="34" charset="0"/>
                <a:ea typeface="Space Grotesk" pitchFamily="34" charset="-122"/>
                <a:cs typeface="Space Grotesk" pitchFamily="34" charset="-120"/>
              </a:rPr>
              <a:t>2025</a:t>
            </a:r>
            <a:endParaRPr lang="en-US" sz="2200" dirty="0"/>
          </a:p>
        </p:txBody>
      </p:sp>
      <p:sp>
        <p:nvSpPr>
          <p:cNvPr id="18" name="Text 16"/>
          <p:cNvSpPr/>
          <p:nvPr/>
        </p:nvSpPr>
        <p:spPr>
          <a:xfrm>
            <a:off x="9064625" y="3312021"/>
            <a:ext cx="217471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5F3EE"/>
                </a:solidFill>
                <a:latin typeface="IBM Plex Sans" pitchFamily="34" charset="0"/>
                <a:ea typeface="IBM Plex Sans" pitchFamily="34" charset="-122"/>
                <a:cs typeface="IBM Plex Sans" pitchFamily="34" charset="-120"/>
              </a:rPr>
              <a:t>Robotics</a:t>
            </a:r>
            <a:endParaRPr lang="en-US" sz="1400" dirty="0"/>
          </a:p>
        </p:txBody>
      </p:sp>
      <p:sp>
        <p:nvSpPr>
          <p:cNvPr id="19" name="Text 17"/>
          <p:cNvSpPr/>
          <p:nvPr/>
        </p:nvSpPr>
        <p:spPr>
          <a:xfrm>
            <a:off x="9064625" y="3601541"/>
            <a:ext cx="2174716" cy="452041"/>
          </a:xfrm>
          <a:prstGeom prst="rect">
            <a:avLst/>
          </a:prstGeom>
          <a:noFill/>
          <a:ln/>
        </p:spPr>
        <p:txBody>
          <a:bodyPr wrap="square" lIns="0" tIns="0" rIns="0" bIns="0" rtlCol="0" anchor="t">
            <a:normAutofit fontScale="70000" lnSpcReduction="20000"/>
          </a:bodyPr>
          <a:lstStyle/>
          <a:p>
            <a:pPr marL="0" indent="0" algn="l">
              <a:lnSpc>
                <a:spcPts val="1680"/>
              </a:lnSpc>
              <a:buNone/>
            </a:pPr>
            <a:r>
              <a:rPr lang="en-US" sz="1200" dirty="0">
                <a:solidFill>
                  <a:srgbClr val="BFC8D6"/>
                </a:solidFill>
                <a:latin typeface="IBM Plex Sans" pitchFamily="34" charset="0"/>
                <a:ea typeface="IBM Plex Sans" pitchFamily="34" charset="-122"/>
                <a:cs typeface="IBM Plex Sans" pitchFamily="34" charset="-120"/>
              </a:rPr>
              <a:t>first autonomous knee replacement in a patient</a:t>
            </a:r>
          </a:p>
          <a:p>
            <a:pPr marL="0" indent="0" algn="l">
              <a:lnSpc>
                <a:spcPts val="1680"/>
              </a:lnSpc>
              <a:buNone/>
            </a:pPr>
            <a:r>
              <a:rPr lang="en-US" sz="1200" dirty="0">
                <a:solidFill>
                  <a:srgbClr val="BFC8D6"/>
                </a:solidFill>
                <a:latin typeface="IBM Plex Sans" pitchFamily="34" charset="0"/>
              </a:rPr>
              <a:t>&lt;weak outcome evidence&gt;</a:t>
            </a:r>
            <a:endParaRPr lang="en-US" sz="1200" dirty="0"/>
          </a:p>
        </p:txBody>
      </p:sp>
      <p:sp>
        <p:nvSpPr>
          <p:cNvPr id="20" name="Text 18"/>
          <p:cNvSpPr/>
          <p:nvPr/>
        </p:nvSpPr>
        <p:spPr>
          <a:xfrm>
            <a:off x="812800" y="4536182"/>
            <a:ext cx="10464800"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IBM Plex Sans" pitchFamily="34" charset="0"/>
                <a:ea typeface="IBM Plex Sans" pitchFamily="34" charset="-122"/>
                <a:cs typeface="IBM Plex Sans" pitchFamily="34" charset="-120"/>
              </a:rPr>
              <a:t>Outcome prediction scores look high (AUC up to 0.98), but </a:t>
            </a:r>
            <a:r>
              <a:rPr lang="en-US" sz="1400" b="1" dirty="0">
                <a:solidFill>
                  <a:srgbClr val="4A5568"/>
                </a:solidFill>
                <a:latin typeface="IBM Plex Sans" pitchFamily="34" charset="0"/>
                <a:ea typeface="IBM Plex Sans" pitchFamily="34" charset="-122"/>
                <a:cs typeface="IBM Plex Sans" pitchFamily="34" charset="-120"/>
              </a:rPr>
              <a:t>almost none are externally or prospectively validated.</a:t>
            </a:r>
            <a:endParaRPr lang="en-US" sz="1400" b="1" dirty="0"/>
          </a:p>
        </p:txBody>
      </p:sp>
      <p:sp>
        <p:nvSpPr>
          <p:cNvPr id="21" name="Text 19"/>
          <p:cNvSpPr/>
          <p:nvPr/>
        </p:nvSpPr>
        <p:spPr>
          <a:xfrm>
            <a:off x="812800" y="6238280"/>
            <a:ext cx="1046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Sources: J Clin Med 2026;15:1751 (review) · Monogram/Zimmer Biomet, July 2025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B9181-95D5-4E06-CDB9-1B3011194CCE}"/>
              </a:ext>
            </a:extLst>
          </p:cNvPr>
          <p:cNvSpPr>
            <a:spLocks noGrp="1"/>
          </p:cNvSpPr>
          <p:nvPr>
            <p:ph type="title"/>
          </p:nvPr>
        </p:nvSpPr>
        <p:spPr>
          <a:xfrm>
            <a:off x="812800" y="291628"/>
            <a:ext cx="10566400" cy="502890"/>
          </a:xfrm>
        </p:spPr>
        <p:txBody>
          <a:bodyPr/>
          <a:lstStyle/>
          <a:p>
            <a:r>
              <a:rPr lang="en-NL" dirty="0"/>
              <a:t>Determine the need and attractiveness</a:t>
            </a:r>
          </a:p>
        </p:txBody>
      </p:sp>
      <p:sp>
        <p:nvSpPr>
          <p:cNvPr id="3" name="Text Placeholder 2">
            <a:extLst>
              <a:ext uri="{FF2B5EF4-FFF2-40B4-BE49-F238E27FC236}">
                <a16:creationId xmlns:a16="http://schemas.microsoft.com/office/drawing/2014/main" id="{4CD5CF2A-F2E0-92AF-E021-F43447DA9876}"/>
              </a:ext>
            </a:extLst>
          </p:cNvPr>
          <p:cNvSpPr>
            <a:spLocks noGrp="1"/>
          </p:cNvSpPr>
          <p:nvPr>
            <p:ph type="body" idx="101"/>
          </p:nvPr>
        </p:nvSpPr>
        <p:spPr>
          <a:xfrm>
            <a:off x="812800" y="1620490"/>
            <a:ext cx="6386286" cy="1808510"/>
          </a:xfrm>
        </p:spPr>
        <p:txBody>
          <a:bodyPr/>
          <a:lstStyle/>
          <a:p>
            <a:r>
              <a:rPr lang="en-NL" b="1" dirty="0"/>
              <a:t>Bones are geometric.</a:t>
            </a:r>
            <a:endParaRPr lang="en-NL" dirty="0"/>
          </a:p>
          <a:p>
            <a:r>
              <a:rPr lang="en-NL" b="1" dirty="0"/>
              <a:t>Implants are engineered objects.</a:t>
            </a:r>
            <a:endParaRPr lang="en-NL" dirty="0"/>
          </a:p>
          <a:p>
            <a:r>
              <a:rPr lang="en-NL" b="1" dirty="0"/>
              <a:t>Anatomy is measurable.</a:t>
            </a:r>
            <a:endParaRPr lang="en-NL" dirty="0"/>
          </a:p>
          <a:p>
            <a:r>
              <a:rPr lang="en-NL" b="1" dirty="0"/>
              <a:t>Surgery is a planning problem.</a:t>
            </a:r>
          </a:p>
          <a:p>
            <a:endParaRPr lang="en-NL" dirty="0"/>
          </a:p>
        </p:txBody>
      </p:sp>
      <p:sp>
        <p:nvSpPr>
          <p:cNvPr id="5" name="TextBox 4">
            <a:extLst>
              <a:ext uri="{FF2B5EF4-FFF2-40B4-BE49-F238E27FC236}">
                <a16:creationId xmlns:a16="http://schemas.microsoft.com/office/drawing/2014/main" id="{761BBCFD-FDDC-45B5-E5A9-8E434AA0E21C}"/>
              </a:ext>
            </a:extLst>
          </p:cNvPr>
          <p:cNvSpPr txBox="1"/>
          <p:nvPr/>
        </p:nvSpPr>
        <p:spPr>
          <a:xfrm>
            <a:off x="711200" y="3272434"/>
            <a:ext cx="6096000" cy="2899255"/>
          </a:xfrm>
          <a:prstGeom prst="rect">
            <a:avLst/>
          </a:prstGeom>
          <a:noFill/>
        </p:spPr>
        <p:txBody>
          <a:bodyPr wrap="square">
            <a:spAutoFit/>
          </a:bodyPr>
          <a:lstStyle/>
          <a:p>
            <a:endParaRPr lang="en-NL" sz="1600" b="1" dirty="0"/>
          </a:p>
          <a:p>
            <a:pPr>
              <a:lnSpc>
                <a:spcPct val="140000"/>
              </a:lnSpc>
              <a:spcBef>
                <a:spcPct val="20000"/>
              </a:spcBef>
            </a:pPr>
            <a:r>
              <a:rPr lang="en-NL" sz="1600" b="1" dirty="0">
                <a:solidFill>
                  <a:srgbClr val="14213D"/>
                </a:solidFill>
                <a:latin typeface="IBM Plex Sans" pitchFamily="34" charset="0"/>
              </a:rPr>
              <a:t>A large and growing problem</a:t>
            </a:r>
          </a:p>
          <a:p>
            <a:pPr>
              <a:lnSpc>
                <a:spcPct val="140000"/>
              </a:lnSpc>
              <a:spcBef>
                <a:spcPct val="20000"/>
              </a:spcBef>
            </a:pPr>
            <a:r>
              <a:rPr lang="en-GB" sz="1600" b="1" dirty="0">
                <a:solidFill>
                  <a:srgbClr val="14213D"/>
                </a:solidFill>
                <a:latin typeface="IBM Plex Sans" pitchFamily="34" charset="0"/>
              </a:rPr>
              <a:t>H</a:t>
            </a:r>
            <a:r>
              <a:rPr lang="en-NL" sz="1600" b="1" dirty="0">
                <a:solidFill>
                  <a:srgbClr val="14213D"/>
                </a:solidFill>
                <a:latin typeface="IBM Plex Sans" pitchFamily="34" charset="0"/>
              </a:rPr>
              <a:t>igh treshold to copy to enter the space (moat)</a:t>
            </a:r>
          </a:p>
          <a:p>
            <a:pPr>
              <a:lnSpc>
                <a:spcPct val="140000"/>
              </a:lnSpc>
              <a:spcBef>
                <a:spcPct val="20000"/>
              </a:spcBef>
            </a:pPr>
            <a:r>
              <a:rPr lang="en-GB" sz="1600" b="1" dirty="0">
                <a:solidFill>
                  <a:srgbClr val="14213D"/>
                </a:solidFill>
                <a:latin typeface="IBM Plex Sans" pitchFamily="34" charset="0"/>
              </a:rPr>
              <a:t>C</a:t>
            </a:r>
            <a:r>
              <a:rPr lang="en-NL" sz="1600" b="1" dirty="0">
                <a:solidFill>
                  <a:srgbClr val="14213D"/>
                </a:solidFill>
                <a:latin typeface="IBM Plex Sans" pitchFamily="34" charset="0"/>
              </a:rPr>
              <a:t>ontrollable risk (no knife, needle &gt; regulatory)</a:t>
            </a:r>
          </a:p>
          <a:p>
            <a:pPr>
              <a:lnSpc>
                <a:spcPct val="140000"/>
              </a:lnSpc>
              <a:spcBef>
                <a:spcPct val="20000"/>
              </a:spcBef>
            </a:pPr>
            <a:r>
              <a:rPr lang="nl-NL" sz="1600" b="1" dirty="0">
                <a:solidFill>
                  <a:srgbClr val="14213D"/>
                </a:solidFill>
                <a:latin typeface="IBM Plex Sans" pitchFamily="34" charset="0"/>
              </a:rPr>
              <a:t>Little impact </a:t>
            </a:r>
            <a:r>
              <a:rPr lang="nl-NL" sz="1600" b="1" dirty="0" err="1">
                <a:solidFill>
                  <a:srgbClr val="14213D"/>
                </a:solidFill>
                <a:latin typeface="IBM Plex Sans" pitchFamily="34" charset="0"/>
              </a:rPr>
              <a:t>to</a:t>
            </a:r>
            <a:r>
              <a:rPr lang="nl-NL" sz="1600" b="1" dirty="0">
                <a:solidFill>
                  <a:srgbClr val="14213D"/>
                </a:solidFill>
                <a:latin typeface="IBM Plex Sans" pitchFamily="34" charset="0"/>
              </a:rPr>
              <a:t> </a:t>
            </a:r>
            <a:r>
              <a:rPr lang="en-NL" sz="1600" b="1" dirty="0">
                <a:solidFill>
                  <a:srgbClr val="14213D"/>
                </a:solidFill>
                <a:latin typeface="IBM Plex Sans" pitchFamily="34" charset="0"/>
              </a:rPr>
              <a:t>workflow or IT infrastructure </a:t>
            </a:r>
          </a:p>
          <a:p>
            <a:pPr>
              <a:lnSpc>
                <a:spcPct val="140000"/>
              </a:lnSpc>
              <a:spcBef>
                <a:spcPct val="20000"/>
              </a:spcBef>
            </a:pPr>
            <a:r>
              <a:rPr lang="en-GB" sz="1600" b="1" dirty="0">
                <a:solidFill>
                  <a:srgbClr val="14213D"/>
                </a:solidFill>
                <a:latin typeface="IBM Plex Sans" pitchFamily="34" charset="0"/>
              </a:rPr>
              <a:t>E</a:t>
            </a:r>
            <a:r>
              <a:rPr lang="en-NL" sz="1600" b="1" dirty="0">
                <a:solidFill>
                  <a:srgbClr val="14213D"/>
                </a:solidFill>
                <a:latin typeface="IBM Plex Sans" pitchFamily="34" charset="0"/>
              </a:rPr>
              <a:t>asy to understand who benefits – no new reimbursement code</a:t>
            </a:r>
          </a:p>
          <a:p>
            <a:pPr marL="285750" indent="-285750">
              <a:buFont typeface="Wingdings" pitchFamily="2" charset="2"/>
              <a:buChar char="Ø"/>
            </a:pPr>
            <a:endParaRPr lang="en-NL" sz="1600" dirty="0"/>
          </a:p>
        </p:txBody>
      </p:sp>
      <p:pic>
        <p:nvPicPr>
          <p:cNvPr id="8" name="Picture 7" descr="Introduction to Biodesign - Stanford University - Ravi Pamnani | PDF">
            <a:extLst>
              <a:ext uri="{FF2B5EF4-FFF2-40B4-BE49-F238E27FC236}">
                <a16:creationId xmlns:a16="http://schemas.microsoft.com/office/drawing/2014/main" id="{1091C4B4-F670-1582-A7DD-25B12CA024D2}"/>
              </a:ext>
            </a:extLst>
          </p:cNvPr>
          <p:cNvPicPr>
            <a:picLocks noChangeAspect="1"/>
          </p:cNvPicPr>
          <p:nvPr/>
        </p:nvPicPr>
        <p:blipFill>
          <a:blip r:embed="rId3"/>
          <a:stretch>
            <a:fillRect/>
          </a:stretch>
        </p:blipFill>
        <p:spPr>
          <a:xfrm>
            <a:off x="6507238" y="1175324"/>
            <a:ext cx="5416248" cy="4062186"/>
          </a:xfrm>
          <a:prstGeom prst="rect">
            <a:avLst/>
          </a:prstGeom>
        </p:spPr>
      </p:pic>
      <p:sp>
        <p:nvSpPr>
          <p:cNvPr id="9" name="Text 8">
            <a:extLst>
              <a:ext uri="{FF2B5EF4-FFF2-40B4-BE49-F238E27FC236}">
                <a16:creationId xmlns:a16="http://schemas.microsoft.com/office/drawing/2014/main" id="{A239EE2E-B439-AC9A-64D3-0CD88A03223A}"/>
              </a:ext>
            </a:extLst>
          </p:cNvPr>
          <p:cNvSpPr/>
          <p:nvPr/>
        </p:nvSpPr>
        <p:spPr>
          <a:xfrm>
            <a:off x="812800" y="6426539"/>
            <a:ext cx="1046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8D6"/>
                </a:solidFill>
                <a:latin typeface="IBM Plex Sans" pitchFamily="34" charset="0"/>
                <a:ea typeface="IBM Plex Sans" pitchFamily="34" charset="-122"/>
                <a:cs typeface="IBM Plex Sans" pitchFamily="34" charset="-120"/>
              </a:rPr>
              <a:t>Courtesy Stanford Biodesign, California, USA</a:t>
            </a:r>
            <a:endParaRPr lang="en-US" sz="1200" dirty="0"/>
          </a:p>
        </p:txBody>
      </p:sp>
    </p:spTree>
    <p:extLst>
      <p:ext uri="{BB962C8B-B14F-4D97-AF65-F5344CB8AC3E}">
        <p14:creationId xmlns:p14="http://schemas.microsoft.com/office/powerpoint/2010/main" val="35399283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nimBg="1"/>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244FC4-B324-23D3-29E7-155E1087349C}"/>
              </a:ext>
            </a:extLst>
          </p:cNvPr>
          <p:cNvSpPr>
            <a:spLocks noGrp="1"/>
          </p:cNvSpPr>
          <p:nvPr>
            <p:ph type="title"/>
          </p:nvPr>
        </p:nvSpPr>
        <p:spPr/>
        <p:txBody>
          <a:bodyPr/>
          <a:lstStyle/>
          <a:p>
            <a:r>
              <a:rPr lang="en-NL" dirty="0"/>
              <a:t>Total Joint Arthoplasty</a:t>
            </a:r>
          </a:p>
        </p:txBody>
      </p:sp>
      <p:pic>
        <p:nvPicPr>
          <p:cNvPr id="4" name="Picture 3" descr="ZagrebMed - Knee replacement in Zagreb">
            <a:extLst>
              <a:ext uri="{FF2B5EF4-FFF2-40B4-BE49-F238E27FC236}">
                <a16:creationId xmlns:a16="http://schemas.microsoft.com/office/drawing/2014/main" id="{ED01AA83-26C7-B026-29DC-C9152CB3692C}"/>
              </a:ext>
            </a:extLst>
          </p:cNvPr>
          <p:cNvPicPr>
            <a:picLocks noChangeAspect="1"/>
          </p:cNvPicPr>
          <p:nvPr/>
        </p:nvPicPr>
        <p:blipFill>
          <a:blip r:embed="rId3"/>
          <a:stretch>
            <a:fillRect/>
          </a:stretch>
        </p:blipFill>
        <p:spPr>
          <a:xfrm>
            <a:off x="546101" y="2445658"/>
            <a:ext cx="3750128" cy="3750128"/>
          </a:xfrm>
          <a:prstGeom prst="rect">
            <a:avLst/>
          </a:prstGeom>
        </p:spPr>
      </p:pic>
      <p:pic>
        <p:nvPicPr>
          <p:cNvPr id="5" name="Picture 4" descr="Total Joint Replacement - Heiden Orthopedics">
            <a:extLst>
              <a:ext uri="{FF2B5EF4-FFF2-40B4-BE49-F238E27FC236}">
                <a16:creationId xmlns:a16="http://schemas.microsoft.com/office/drawing/2014/main" id="{8D4FB229-3F52-8F0C-34C6-9DB1EFD3D4C5}"/>
              </a:ext>
            </a:extLst>
          </p:cNvPr>
          <p:cNvPicPr>
            <a:picLocks noChangeAspect="1"/>
          </p:cNvPicPr>
          <p:nvPr/>
        </p:nvPicPr>
        <p:blipFill>
          <a:blip r:embed="rId4"/>
          <a:stretch>
            <a:fillRect/>
          </a:stretch>
        </p:blipFill>
        <p:spPr>
          <a:xfrm>
            <a:off x="8839199" y="1729620"/>
            <a:ext cx="3236685" cy="4315580"/>
          </a:xfrm>
          <a:prstGeom prst="rect">
            <a:avLst/>
          </a:prstGeom>
        </p:spPr>
      </p:pic>
      <p:pic>
        <p:nvPicPr>
          <p:cNvPr id="6" name="Picture 5" descr="Physical Therapy Following Hip Replacement Surgery">
            <a:extLst>
              <a:ext uri="{FF2B5EF4-FFF2-40B4-BE49-F238E27FC236}">
                <a16:creationId xmlns:a16="http://schemas.microsoft.com/office/drawing/2014/main" id="{291249DC-C2DB-4329-4649-24EAA3C1DFD5}"/>
              </a:ext>
            </a:extLst>
          </p:cNvPr>
          <p:cNvPicPr>
            <a:picLocks noChangeAspect="1"/>
          </p:cNvPicPr>
          <p:nvPr/>
        </p:nvPicPr>
        <p:blipFill>
          <a:blip r:embed="rId5"/>
          <a:stretch>
            <a:fillRect/>
          </a:stretch>
        </p:blipFill>
        <p:spPr>
          <a:xfrm>
            <a:off x="4296229" y="3412916"/>
            <a:ext cx="4034971" cy="2165106"/>
          </a:xfrm>
          <a:prstGeom prst="rect">
            <a:avLst/>
          </a:prstGeom>
        </p:spPr>
      </p:pic>
      <p:sp>
        <p:nvSpPr>
          <p:cNvPr id="7" name="TextBox 6">
            <a:extLst>
              <a:ext uri="{FF2B5EF4-FFF2-40B4-BE49-F238E27FC236}">
                <a16:creationId xmlns:a16="http://schemas.microsoft.com/office/drawing/2014/main" id="{2C118139-41D7-E074-DAB3-4E88910200E4}"/>
              </a:ext>
            </a:extLst>
          </p:cNvPr>
          <p:cNvSpPr txBox="1"/>
          <p:nvPr/>
        </p:nvSpPr>
        <p:spPr>
          <a:xfrm>
            <a:off x="5167086" y="3048000"/>
            <a:ext cx="2204450" cy="338554"/>
          </a:xfrm>
          <a:prstGeom prst="rect">
            <a:avLst/>
          </a:prstGeom>
          <a:noFill/>
        </p:spPr>
        <p:txBody>
          <a:bodyPr wrap="none" rtlCol="0">
            <a:spAutoFit/>
          </a:bodyPr>
          <a:lstStyle/>
          <a:p>
            <a:r>
              <a:rPr lang="en-GB" sz="1600" dirty="0"/>
              <a:t>T</a:t>
            </a:r>
            <a:r>
              <a:rPr lang="en-NL" sz="1600" dirty="0"/>
              <a:t>otal hip replacement</a:t>
            </a:r>
          </a:p>
        </p:txBody>
      </p:sp>
    </p:spTree>
    <p:extLst>
      <p:ext uri="{BB962C8B-B14F-4D97-AF65-F5344CB8AC3E}">
        <p14:creationId xmlns:p14="http://schemas.microsoft.com/office/powerpoint/2010/main" val="427720318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2">
            <a:extLst>
              <a:ext uri="{FF2B5EF4-FFF2-40B4-BE49-F238E27FC236}">
                <a16:creationId xmlns:a16="http://schemas.microsoft.com/office/drawing/2014/main" id="{0F1515AA-7E0A-1C8E-7D44-AA005D649402}"/>
              </a:ext>
            </a:extLst>
          </p:cNvPr>
          <p:cNvSpPr/>
          <p:nvPr/>
        </p:nvSpPr>
        <p:spPr>
          <a:xfrm>
            <a:off x="548640" y="2103120"/>
            <a:ext cx="5212080" cy="3931920"/>
          </a:xfrm>
          <a:prstGeom prst="roundRect">
            <a:avLst>
              <a:gd name="adj" fmla="val 2326"/>
            </a:avLst>
          </a:prstGeom>
          <a:solidFill>
            <a:srgbClr val="F2F5F5"/>
          </a:solidFill>
          <a:ln w="12700">
            <a:solidFill>
              <a:srgbClr val="F2F5F5"/>
            </a:solidFill>
            <a:prstDash val="solid"/>
          </a:ln>
        </p:spPr>
        <p:txBody>
          <a:bodyPr/>
          <a:lstStyle/>
          <a:p>
            <a:endParaRPr lang="en-NL"/>
          </a:p>
        </p:txBody>
      </p:sp>
      <p:pic>
        <p:nvPicPr>
          <p:cNvPr id="5" name="Image 1" descr="/home/claude/un/ppt/media/image29.jpeg">
            <a:extLst>
              <a:ext uri="{FF2B5EF4-FFF2-40B4-BE49-F238E27FC236}">
                <a16:creationId xmlns:a16="http://schemas.microsoft.com/office/drawing/2014/main" id="{0072517F-E390-35AE-5304-A4420F4F817A}"/>
              </a:ext>
            </a:extLst>
          </p:cNvPr>
          <p:cNvPicPr>
            <a:picLocks noChangeAspect="1"/>
          </p:cNvPicPr>
          <p:nvPr/>
        </p:nvPicPr>
        <p:blipFill>
          <a:blip r:embed="rId3"/>
          <a:stretch>
            <a:fillRect/>
          </a:stretch>
        </p:blipFill>
        <p:spPr>
          <a:xfrm>
            <a:off x="743058" y="2240280"/>
            <a:ext cx="4823244" cy="3246120"/>
          </a:xfrm>
          <a:prstGeom prst="rect">
            <a:avLst/>
          </a:prstGeom>
        </p:spPr>
      </p:pic>
      <p:sp>
        <p:nvSpPr>
          <p:cNvPr id="6" name="Text 3">
            <a:extLst>
              <a:ext uri="{FF2B5EF4-FFF2-40B4-BE49-F238E27FC236}">
                <a16:creationId xmlns:a16="http://schemas.microsoft.com/office/drawing/2014/main" id="{51A4472B-F574-9897-56C4-C8C91D321833}"/>
              </a:ext>
            </a:extLst>
          </p:cNvPr>
          <p:cNvSpPr txBox="1"/>
          <p:nvPr/>
        </p:nvSpPr>
        <p:spPr>
          <a:xfrm>
            <a:off x="731520" y="5577840"/>
            <a:ext cx="4846320" cy="320040"/>
          </a:xfrm>
          <a:prstGeom prst="rect">
            <a:avLst/>
          </a:prstGeom>
          <a:noFill/>
          <a:ln/>
        </p:spPr>
        <p:txBody>
          <a:bodyPr wrap="square" lIns="0" tIns="0" rIns="0" bIns="0" rtlCol="0" anchor="t"/>
          <a:lstStyle/>
          <a:p>
            <a:pPr marL="0" indent="0" algn="ctr">
              <a:buNone/>
            </a:pPr>
            <a:r>
              <a:rPr lang="en-US" sz="1100" i="1" dirty="0">
                <a:solidFill>
                  <a:srgbClr val="5F6B70"/>
                </a:solidFill>
                <a:latin typeface="Calibri" pitchFamily="34" charset="0"/>
                <a:ea typeface="Calibri" pitchFamily="34" charset="-122"/>
                <a:cs typeface="Calibri" pitchFamily="34" charset="-120"/>
              </a:rPr>
              <a:t>Projected annual knee (TKA) and hip (THA) replacements, 2015–2040</a:t>
            </a:r>
            <a:endParaRPr lang="en-US" sz="1100" dirty="0"/>
          </a:p>
        </p:txBody>
      </p:sp>
      <p:sp>
        <p:nvSpPr>
          <p:cNvPr id="7" name="Shape 4">
            <a:extLst>
              <a:ext uri="{FF2B5EF4-FFF2-40B4-BE49-F238E27FC236}">
                <a16:creationId xmlns:a16="http://schemas.microsoft.com/office/drawing/2014/main" id="{727BC9DE-92E2-74D5-389A-DA459E8887B6}"/>
              </a:ext>
            </a:extLst>
          </p:cNvPr>
          <p:cNvSpPr/>
          <p:nvPr/>
        </p:nvSpPr>
        <p:spPr>
          <a:xfrm>
            <a:off x="6126480" y="2103120"/>
            <a:ext cx="2743200" cy="1188720"/>
          </a:xfrm>
          <a:prstGeom prst="roundRect">
            <a:avLst>
              <a:gd name="adj" fmla="val 6154"/>
            </a:avLst>
          </a:prstGeom>
          <a:solidFill>
            <a:srgbClr val="FFFFFF"/>
          </a:solidFill>
          <a:ln w="12700">
            <a:solidFill>
              <a:srgbClr val="DCE3E4"/>
            </a:solidFill>
            <a:prstDash val="solid"/>
          </a:ln>
        </p:spPr>
        <p:txBody>
          <a:bodyPr/>
          <a:lstStyle/>
          <a:p>
            <a:endParaRPr lang="en-NL"/>
          </a:p>
        </p:txBody>
      </p:sp>
      <p:sp>
        <p:nvSpPr>
          <p:cNvPr id="8" name="Text 5">
            <a:extLst>
              <a:ext uri="{FF2B5EF4-FFF2-40B4-BE49-F238E27FC236}">
                <a16:creationId xmlns:a16="http://schemas.microsoft.com/office/drawing/2014/main" id="{5388DE5B-0138-D2EB-ECFD-00DC00D046DE}"/>
              </a:ext>
            </a:extLst>
          </p:cNvPr>
          <p:cNvSpPr txBox="1"/>
          <p:nvPr/>
        </p:nvSpPr>
        <p:spPr>
          <a:xfrm>
            <a:off x="6309360" y="2240280"/>
            <a:ext cx="2377440" cy="457200"/>
          </a:xfrm>
          <a:prstGeom prst="rect">
            <a:avLst/>
          </a:prstGeom>
          <a:noFill/>
          <a:ln/>
        </p:spPr>
        <p:txBody>
          <a:bodyPr wrap="square" lIns="0" tIns="0" rIns="0" bIns="0" rtlCol="0" anchor="t"/>
          <a:lstStyle/>
          <a:p>
            <a:pPr marL="0" indent="0">
              <a:buNone/>
            </a:pPr>
            <a:r>
              <a:rPr lang="en-US" sz="2600" b="1" dirty="0">
                <a:solidFill>
                  <a:srgbClr val="D12A21"/>
                </a:solidFill>
                <a:latin typeface="Calibri" pitchFamily="34" charset="0"/>
                <a:ea typeface="Calibri" pitchFamily="34" charset="-122"/>
                <a:cs typeface="Calibri" pitchFamily="34" charset="-120"/>
              </a:rPr>
              <a:t>4M</a:t>
            </a:r>
            <a:endParaRPr lang="en-US" sz="2600" dirty="0"/>
          </a:p>
        </p:txBody>
      </p:sp>
      <p:sp>
        <p:nvSpPr>
          <p:cNvPr id="9" name="Text 6">
            <a:extLst>
              <a:ext uri="{FF2B5EF4-FFF2-40B4-BE49-F238E27FC236}">
                <a16:creationId xmlns:a16="http://schemas.microsoft.com/office/drawing/2014/main" id="{A431108B-6EFB-95D8-CC15-2790EA8E923E}"/>
              </a:ext>
            </a:extLst>
          </p:cNvPr>
          <p:cNvSpPr txBox="1"/>
          <p:nvPr/>
        </p:nvSpPr>
        <p:spPr>
          <a:xfrm>
            <a:off x="6309360" y="2706624"/>
            <a:ext cx="2377440" cy="502920"/>
          </a:xfrm>
          <a:prstGeom prst="rect">
            <a:avLst/>
          </a:prstGeom>
          <a:noFill/>
          <a:ln/>
        </p:spPr>
        <p:txBody>
          <a:bodyPr wrap="square" lIns="0" tIns="0" rIns="0" bIns="0" rtlCol="0" anchor="t"/>
          <a:lstStyle/>
          <a:p>
            <a:pPr marL="0" indent="0">
              <a:buNone/>
            </a:pPr>
            <a:r>
              <a:rPr lang="en-US" sz="1200" dirty="0">
                <a:solidFill>
                  <a:srgbClr val="1F2A30"/>
                </a:solidFill>
                <a:latin typeface="Calibri" pitchFamily="34" charset="0"/>
                <a:ea typeface="Calibri" pitchFamily="34" charset="-122"/>
                <a:cs typeface="Calibri" pitchFamily="34" charset="-120"/>
              </a:rPr>
              <a:t>knee and hip replacements worldwide — every year</a:t>
            </a:r>
            <a:endParaRPr lang="en-US" sz="1200" dirty="0"/>
          </a:p>
        </p:txBody>
      </p:sp>
      <p:sp>
        <p:nvSpPr>
          <p:cNvPr id="10" name="Shape 7">
            <a:extLst>
              <a:ext uri="{FF2B5EF4-FFF2-40B4-BE49-F238E27FC236}">
                <a16:creationId xmlns:a16="http://schemas.microsoft.com/office/drawing/2014/main" id="{D953DCCD-49B0-A92D-7772-4B6C0ACC5AC4}"/>
              </a:ext>
            </a:extLst>
          </p:cNvPr>
          <p:cNvSpPr/>
          <p:nvPr/>
        </p:nvSpPr>
        <p:spPr>
          <a:xfrm>
            <a:off x="9052560" y="2103120"/>
            <a:ext cx="2743200" cy="1188720"/>
          </a:xfrm>
          <a:prstGeom prst="roundRect">
            <a:avLst>
              <a:gd name="adj" fmla="val 6154"/>
            </a:avLst>
          </a:prstGeom>
          <a:solidFill>
            <a:srgbClr val="FFFFFF"/>
          </a:solidFill>
          <a:ln w="12700">
            <a:solidFill>
              <a:srgbClr val="DCE3E4"/>
            </a:solidFill>
            <a:prstDash val="solid"/>
          </a:ln>
        </p:spPr>
        <p:txBody>
          <a:bodyPr/>
          <a:lstStyle/>
          <a:p>
            <a:endParaRPr lang="en-NL"/>
          </a:p>
        </p:txBody>
      </p:sp>
      <p:sp>
        <p:nvSpPr>
          <p:cNvPr id="11" name="Text 8">
            <a:extLst>
              <a:ext uri="{FF2B5EF4-FFF2-40B4-BE49-F238E27FC236}">
                <a16:creationId xmlns:a16="http://schemas.microsoft.com/office/drawing/2014/main" id="{5BC01648-EE67-C65E-7ECA-B415CE63D529}"/>
              </a:ext>
            </a:extLst>
          </p:cNvPr>
          <p:cNvSpPr txBox="1"/>
          <p:nvPr/>
        </p:nvSpPr>
        <p:spPr>
          <a:xfrm>
            <a:off x="9235440" y="2240280"/>
            <a:ext cx="2377440" cy="457200"/>
          </a:xfrm>
          <a:prstGeom prst="rect">
            <a:avLst/>
          </a:prstGeom>
          <a:noFill/>
          <a:ln/>
        </p:spPr>
        <p:txBody>
          <a:bodyPr wrap="square" lIns="0" tIns="0" rIns="0" bIns="0" rtlCol="0" anchor="t"/>
          <a:lstStyle/>
          <a:p>
            <a:pPr marL="0" indent="0">
              <a:buNone/>
            </a:pPr>
            <a:r>
              <a:rPr lang="en-US" sz="2600" b="1" dirty="0">
                <a:solidFill>
                  <a:srgbClr val="D12A21"/>
                </a:solidFill>
                <a:latin typeface="Calibri" pitchFamily="34" charset="0"/>
                <a:ea typeface="Calibri" pitchFamily="34" charset="-122"/>
                <a:cs typeface="Calibri" pitchFamily="34" charset="-120"/>
              </a:rPr>
              <a:t>15–18 yrs</a:t>
            </a:r>
            <a:endParaRPr lang="en-US" sz="2600" dirty="0"/>
          </a:p>
        </p:txBody>
      </p:sp>
      <p:sp>
        <p:nvSpPr>
          <p:cNvPr id="12" name="Text 9">
            <a:extLst>
              <a:ext uri="{FF2B5EF4-FFF2-40B4-BE49-F238E27FC236}">
                <a16:creationId xmlns:a16="http://schemas.microsoft.com/office/drawing/2014/main" id="{ED68FAF8-2424-C546-34AB-A9DA9B6721BD}"/>
              </a:ext>
            </a:extLst>
          </p:cNvPr>
          <p:cNvSpPr txBox="1"/>
          <p:nvPr/>
        </p:nvSpPr>
        <p:spPr>
          <a:xfrm>
            <a:off x="9235440" y="2706624"/>
            <a:ext cx="2377440" cy="502920"/>
          </a:xfrm>
          <a:prstGeom prst="rect">
            <a:avLst/>
          </a:prstGeom>
          <a:noFill/>
          <a:ln/>
        </p:spPr>
        <p:txBody>
          <a:bodyPr wrap="square" lIns="0" tIns="0" rIns="0" bIns="0" rtlCol="0" anchor="t"/>
          <a:lstStyle/>
          <a:p>
            <a:pPr marL="0" indent="0">
              <a:buNone/>
            </a:pPr>
            <a:r>
              <a:rPr lang="en-US" sz="1200" dirty="0">
                <a:solidFill>
                  <a:srgbClr val="1F2A30"/>
                </a:solidFill>
                <a:latin typeface="Calibri" pitchFamily="34" charset="0"/>
                <a:ea typeface="Calibri" pitchFamily="34" charset="-122"/>
                <a:cs typeface="Calibri" pitchFamily="34" charset="-120"/>
              </a:rPr>
              <a:t>typical implant lifespan: every patient eventually returns to the clinic</a:t>
            </a:r>
            <a:endParaRPr lang="en-US" sz="1200" dirty="0"/>
          </a:p>
        </p:txBody>
      </p:sp>
      <p:sp>
        <p:nvSpPr>
          <p:cNvPr id="13" name="Shape 10">
            <a:extLst>
              <a:ext uri="{FF2B5EF4-FFF2-40B4-BE49-F238E27FC236}">
                <a16:creationId xmlns:a16="http://schemas.microsoft.com/office/drawing/2014/main" id="{E9CC6B62-8466-B02E-DA0A-F487D67A6EF1}"/>
              </a:ext>
            </a:extLst>
          </p:cNvPr>
          <p:cNvSpPr/>
          <p:nvPr/>
        </p:nvSpPr>
        <p:spPr>
          <a:xfrm>
            <a:off x="6126480" y="3474720"/>
            <a:ext cx="2743200" cy="1188720"/>
          </a:xfrm>
          <a:prstGeom prst="roundRect">
            <a:avLst>
              <a:gd name="adj" fmla="val 6154"/>
            </a:avLst>
          </a:prstGeom>
          <a:solidFill>
            <a:srgbClr val="FFFFFF"/>
          </a:solidFill>
          <a:ln w="12700">
            <a:solidFill>
              <a:srgbClr val="DCE3E4"/>
            </a:solidFill>
            <a:prstDash val="solid"/>
          </a:ln>
        </p:spPr>
        <p:txBody>
          <a:bodyPr/>
          <a:lstStyle/>
          <a:p>
            <a:endParaRPr lang="en-NL"/>
          </a:p>
        </p:txBody>
      </p:sp>
      <p:sp>
        <p:nvSpPr>
          <p:cNvPr id="14" name="Text 11">
            <a:extLst>
              <a:ext uri="{FF2B5EF4-FFF2-40B4-BE49-F238E27FC236}">
                <a16:creationId xmlns:a16="http://schemas.microsoft.com/office/drawing/2014/main" id="{C6CFF185-D57A-2637-DC66-B61887D40B39}"/>
              </a:ext>
            </a:extLst>
          </p:cNvPr>
          <p:cNvSpPr txBox="1"/>
          <p:nvPr/>
        </p:nvSpPr>
        <p:spPr>
          <a:xfrm>
            <a:off x="6309360" y="3611880"/>
            <a:ext cx="2377440" cy="457200"/>
          </a:xfrm>
          <a:prstGeom prst="rect">
            <a:avLst/>
          </a:prstGeom>
          <a:noFill/>
          <a:ln/>
        </p:spPr>
        <p:txBody>
          <a:bodyPr wrap="square" lIns="0" tIns="0" rIns="0" bIns="0" rtlCol="0" anchor="t"/>
          <a:lstStyle/>
          <a:p>
            <a:pPr marL="0" indent="0">
              <a:buNone/>
            </a:pPr>
            <a:r>
              <a:rPr lang="en-US" sz="2600" b="1" dirty="0">
                <a:solidFill>
                  <a:srgbClr val="D12A21"/>
                </a:solidFill>
                <a:latin typeface="Calibri" pitchFamily="34" charset="0"/>
                <a:ea typeface="Calibri" pitchFamily="34" charset="-122"/>
                <a:cs typeface="Calibri" pitchFamily="34" charset="-120"/>
              </a:rPr>
              <a:t>#1</a:t>
            </a:r>
            <a:endParaRPr lang="en-US" sz="2600" dirty="0"/>
          </a:p>
        </p:txBody>
      </p:sp>
      <p:sp>
        <p:nvSpPr>
          <p:cNvPr id="15" name="Text 12">
            <a:extLst>
              <a:ext uri="{FF2B5EF4-FFF2-40B4-BE49-F238E27FC236}">
                <a16:creationId xmlns:a16="http://schemas.microsoft.com/office/drawing/2014/main" id="{C6A63F14-5386-16EC-887D-5042DA040D56}"/>
              </a:ext>
            </a:extLst>
          </p:cNvPr>
          <p:cNvSpPr txBox="1"/>
          <p:nvPr/>
        </p:nvSpPr>
        <p:spPr>
          <a:xfrm>
            <a:off x="6309360" y="4078224"/>
            <a:ext cx="2377440" cy="502920"/>
          </a:xfrm>
          <a:prstGeom prst="rect">
            <a:avLst/>
          </a:prstGeom>
          <a:noFill/>
          <a:ln/>
        </p:spPr>
        <p:txBody>
          <a:bodyPr wrap="square" lIns="0" tIns="0" rIns="0" bIns="0" rtlCol="0" anchor="t"/>
          <a:lstStyle/>
          <a:p>
            <a:pPr marL="0" indent="0">
              <a:buNone/>
            </a:pPr>
            <a:r>
              <a:rPr lang="en-US" sz="1200" dirty="0">
                <a:solidFill>
                  <a:srgbClr val="1F2A30"/>
                </a:solidFill>
                <a:latin typeface="Calibri" pitchFamily="34" charset="0"/>
                <a:ea typeface="Calibri" pitchFamily="34" charset="-122"/>
                <a:cs typeface="Calibri" pitchFamily="34" charset="-120"/>
              </a:rPr>
              <a:t>loosening is the leading reason for revision surgery</a:t>
            </a:r>
            <a:endParaRPr lang="en-US" sz="1200" dirty="0"/>
          </a:p>
        </p:txBody>
      </p:sp>
      <p:sp>
        <p:nvSpPr>
          <p:cNvPr id="16" name="Shape 13">
            <a:extLst>
              <a:ext uri="{FF2B5EF4-FFF2-40B4-BE49-F238E27FC236}">
                <a16:creationId xmlns:a16="http://schemas.microsoft.com/office/drawing/2014/main" id="{1754CC61-03EC-7140-1934-90E1FAF4B652}"/>
              </a:ext>
            </a:extLst>
          </p:cNvPr>
          <p:cNvSpPr/>
          <p:nvPr/>
        </p:nvSpPr>
        <p:spPr>
          <a:xfrm>
            <a:off x="9052560" y="3474720"/>
            <a:ext cx="2743200" cy="1188720"/>
          </a:xfrm>
          <a:prstGeom prst="roundRect">
            <a:avLst>
              <a:gd name="adj" fmla="val 6154"/>
            </a:avLst>
          </a:prstGeom>
          <a:solidFill>
            <a:srgbClr val="FFFFFF"/>
          </a:solidFill>
          <a:ln w="12700">
            <a:solidFill>
              <a:srgbClr val="DCE3E4"/>
            </a:solidFill>
            <a:prstDash val="solid"/>
          </a:ln>
        </p:spPr>
        <p:txBody>
          <a:bodyPr/>
          <a:lstStyle/>
          <a:p>
            <a:endParaRPr lang="en-NL"/>
          </a:p>
        </p:txBody>
      </p:sp>
      <p:sp>
        <p:nvSpPr>
          <p:cNvPr id="17" name="Text 14">
            <a:extLst>
              <a:ext uri="{FF2B5EF4-FFF2-40B4-BE49-F238E27FC236}">
                <a16:creationId xmlns:a16="http://schemas.microsoft.com/office/drawing/2014/main" id="{52B670ED-3469-BBE8-9BA0-0AC3809F534E}"/>
              </a:ext>
            </a:extLst>
          </p:cNvPr>
          <p:cNvSpPr txBox="1"/>
          <p:nvPr/>
        </p:nvSpPr>
        <p:spPr>
          <a:xfrm>
            <a:off x="9235440" y="3611880"/>
            <a:ext cx="2377440" cy="457200"/>
          </a:xfrm>
          <a:prstGeom prst="rect">
            <a:avLst/>
          </a:prstGeom>
          <a:noFill/>
          <a:ln/>
        </p:spPr>
        <p:txBody>
          <a:bodyPr wrap="square" lIns="0" tIns="0" rIns="0" bIns="0" rtlCol="0" anchor="t"/>
          <a:lstStyle/>
          <a:p>
            <a:pPr marL="0" indent="0">
              <a:buNone/>
            </a:pPr>
            <a:r>
              <a:rPr lang="en-US" sz="2600" b="1" dirty="0">
                <a:solidFill>
                  <a:srgbClr val="D12A21"/>
                </a:solidFill>
                <a:latin typeface="Calibri" pitchFamily="34" charset="0"/>
                <a:ea typeface="Calibri" pitchFamily="34" charset="-122"/>
                <a:cs typeface="Calibri" pitchFamily="34" charset="-120"/>
              </a:rPr>
              <a:t>10–15%</a:t>
            </a:r>
            <a:endParaRPr lang="en-US" sz="2600" dirty="0"/>
          </a:p>
        </p:txBody>
      </p:sp>
      <p:sp>
        <p:nvSpPr>
          <p:cNvPr id="18" name="Text 15">
            <a:extLst>
              <a:ext uri="{FF2B5EF4-FFF2-40B4-BE49-F238E27FC236}">
                <a16:creationId xmlns:a16="http://schemas.microsoft.com/office/drawing/2014/main" id="{5C38F088-2BD1-D881-D83B-2C10426C7880}"/>
              </a:ext>
            </a:extLst>
          </p:cNvPr>
          <p:cNvSpPr txBox="1"/>
          <p:nvPr/>
        </p:nvSpPr>
        <p:spPr>
          <a:xfrm>
            <a:off x="9235440" y="4078224"/>
            <a:ext cx="2377440" cy="502920"/>
          </a:xfrm>
          <a:prstGeom prst="rect">
            <a:avLst/>
          </a:prstGeom>
          <a:noFill/>
          <a:ln/>
        </p:spPr>
        <p:txBody>
          <a:bodyPr wrap="square" lIns="0" tIns="0" rIns="0" bIns="0" rtlCol="0" anchor="t"/>
          <a:lstStyle/>
          <a:p>
            <a:pPr marL="0" indent="0">
              <a:buNone/>
            </a:pPr>
            <a:r>
              <a:rPr lang="en-US" sz="1200" dirty="0">
                <a:solidFill>
                  <a:srgbClr val="1F2A30"/>
                </a:solidFill>
                <a:latin typeface="Calibri" pitchFamily="34" charset="0"/>
                <a:ea typeface="Calibri" pitchFamily="34" charset="-122"/>
                <a:cs typeface="Calibri" pitchFamily="34" charset="-120"/>
              </a:rPr>
              <a:t>of revision surgeries today are unnecessary</a:t>
            </a:r>
            <a:endParaRPr lang="en-US" sz="1200" dirty="0"/>
          </a:p>
        </p:txBody>
      </p:sp>
      <p:sp>
        <p:nvSpPr>
          <p:cNvPr id="19" name="Shape 16">
            <a:extLst>
              <a:ext uri="{FF2B5EF4-FFF2-40B4-BE49-F238E27FC236}">
                <a16:creationId xmlns:a16="http://schemas.microsoft.com/office/drawing/2014/main" id="{15533AD9-5A9A-0383-3838-C4BEF72E9BD8}"/>
              </a:ext>
            </a:extLst>
          </p:cNvPr>
          <p:cNvSpPr/>
          <p:nvPr/>
        </p:nvSpPr>
        <p:spPr>
          <a:xfrm>
            <a:off x="6126480" y="4846320"/>
            <a:ext cx="2743200" cy="1188720"/>
          </a:xfrm>
          <a:prstGeom prst="roundRect">
            <a:avLst>
              <a:gd name="adj" fmla="val 6154"/>
            </a:avLst>
          </a:prstGeom>
          <a:solidFill>
            <a:srgbClr val="FFFFFF"/>
          </a:solidFill>
          <a:ln w="12700">
            <a:solidFill>
              <a:srgbClr val="DCE3E4"/>
            </a:solidFill>
            <a:prstDash val="solid"/>
          </a:ln>
        </p:spPr>
        <p:txBody>
          <a:bodyPr/>
          <a:lstStyle/>
          <a:p>
            <a:endParaRPr lang="en-NL"/>
          </a:p>
        </p:txBody>
      </p:sp>
      <p:sp>
        <p:nvSpPr>
          <p:cNvPr id="20" name="Text 17">
            <a:extLst>
              <a:ext uri="{FF2B5EF4-FFF2-40B4-BE49-F238E27FC236}">
                <a16:creationId xmlns:a16="http://schemas.microsoft.com/office/drawing/2014/main" id="{910685B4-BFD9-64A2-9B04-EF27D0F23CD4}"/>
              </a:ext>
            </a:extLst>
          </p:cNvPr>
          <p:cNvSpPr txBox="1"/>
          <p:nvPr/>
        </p:nvSpPr>
        <p:spPr>
          <a:xfrm>
            <a:off x="6309360" y="4983480"/>
            <a:ext cx="2377440" cy="457200"/>
          </a:xfrm>
          <a:prstGeom prst="rect">
            <a:avLst/>
          </a:prstGeom>
          <a:noFill/>
          <a:ln/>
        </p:spPr>
        <p:txBody>
          <a:bodyPr wrap="square" lIns="0" tIns="0" rIns="0" bIns="0" rtlCol="0" anchor="t"/>
          <a:lstStyle/>
          <a:p>
            <a:pPr marL="0" indent="0">
              <a:buNone/>
            </a:pPr>
            <a:r>
              <a:rPr lang="en-US" sz="2600" b="1" dirty="0">
                <a:solidFill>
                  <a:srgbClr val="D12A21"/>
                </a:solidFill>
                <a:latin typeface="Calibri" pitchFamily="34" charset="0"/>
                <a:ea typeface="Calibri" pitchFamily="34" charset="-122"/>
                <a:cs typeface="Calibri" pitchFamily="34" charset="-120"/>
              </a:rPr>
              <a:t>Months</a:t>
            </a:r>
            <a:endParaRPr lang="en-US" sz="2600" dirty="0"/>
          </a:p>
        </p:txBody>
      </p:sp>
      <p:sp>
        <p:nvSpPr>
          <p:cNvPr id="21" name="Text 18">
            <a:extLst>
              <a:ext uri="{FF2B5EF4-FFF2-40B4-BE49-F238E27FC236}">
                <a16:creationId xmlns:a16="http://schemas.microsoft.com/office/drawing/2014/main" id="{DF67E1EB-A506-AE70-46EE-F03033FD19C1}"/>
              </a:ext>
            </a:extLst>
          </p:cNvPr>
          <p:cNvSpPr txBox="1"/>
          <p:nvPr/>
        </p:nvSpPr>
        <p:spPr>
          <a:xfrm>
            <a:off x="6309360" y="5449824"/>
            <a:ext cx="2377440" cy="502920"/>
          </a:xfrm>
          <a:prstGeom prst="rect">
            <a:avLst/>
          </a:prstGeom>
          <a:noFill/>
          <a:ln/>
        </p:spPr>
        <p:txBody>
          <a:bodyPr wrap="square" lIns="0" tIns="0" rIns="0" bIns="0" rtlCol="0" anchor="t"/>
          <a:lstStyle/>
          <a:p>
            <a:pPr marL="0" indent="0">
              <a:buNone/>
            </a:pPr>
            <a:r>
              <a:rPr lang="en-US" sz="1200" dirty="0">
                <a:solidFill>
                  <a:srgbClr val="1F2A30"/>
                </a:solidFill>
                <a:latin typeface="Calibri" pitchFamily="34" charset="0"/>
                <a:ea typeface="Calibri" pitchFamily="34" charset="-122"/>
                <a:cs typeface="Calibri" pitchFamily="34" charset="-120"/>
              </a:rPr>
              <a:t>until a diagnosis — which is often still inconclusive</a:t>
            </a:r>
            <a:endParaRPr lang="en-US" sz="1200" dirty="0"/>
          </a:p>
        </p:txBody>
      </p:sp>
      <p:sp>
        <p:nvSpPr>
          <p:cNvPr id="22" name="Shape 19">
            <a:extLst>
              <a:ext uri="{FF2B5EF4-FFF2-40B4-BE49-F238E27FC236}">
                <a16:creationId xmlns:a16="http://schemas.microsoft.com/office/drawing/2014/main" id="{817173EF-CD26-87DF-03E7-25045270CE0C}"/>
              </a:ext>
            </a:extLst>
          </p:cNvPr>
          <p:cNvSpPr/>
          <p:nvPr/>
        </p:nvSpPr>
        <p:spPr>
          <a:xfrm>
            <a:off x="9052560" y="4846320"/>
            <a:ext cx="2743200" cy="1188720"/>
          </a:xfrm>
          <a:prstGeom prst="roundRect">
            <a:avLst>
              <a:gd name="adj" fmla="val 6154"/>
            </a:avLst>
          </a:prstGeom>
          <a:solidFill>
            <a:srgbClr val="FFFFFF"/>
          </a:solidFill>
          <a:ln w="12700">
            <a:solidFill>
              <a:srgbClr val="DCE3E4"/>
            </a:solidFill>
            <a:prstDash val="solid"/>
          </a:ln>
        </p:spPr>
        <p:txBody>
          <a:bodyPr/>
          <a:lstStyle/>
          <a:p>
            <a:endParaRPr lang="en-NL"/>
          </a:p>
        </p:txBody>
      </p:sp>
      <p:sp>
        <p:nvSpPr>
          <p:cNvPr id="23" name="Text 20">
            <a:extLst>
              <a:ext uri="{FF2B5EF4-FFF2-40B4-BE49-F238E27FC236}">
                <a16:creationId xmlns:a16="http://schemas.microsoft.com/office/drawing/2014/main" id="{DC93C1B8-9E28-D0F1-BECB-D0A2B71D0348}"/>
              </a:ext>
            </a:extLst>
          </p:cNvPr>
          <p:cNvSpPr txBox="1"/>
          <p:nvPr/>
        </p:nvSpPr>
        <p:spPr>
          <a:xfrm>
            <a:off x="9235440" y="4983480"/>
            <a:ext cx="2377440" cy="457200"/>
          </a:xfrm>
          <a:prstGeom prst="rect">
            <a:avLst/>
          </a:prstGeom>
          <a:noFill/>
          <a:ln/>
        </p:spPr>
        <p:txBody>
          <a:bodyPr wrap="square" lIns="0" tIns="0" rIns="0" bIns="0" rtlCol="0" anchor="t"/>
          <a:lstStyle/>
          <a:p>
            <a:pPr marL="0" indent="0">
              <a:buNone/>
            </a:pPr>
            <a:r>
              <a:rPr lang="en-US" sz="2600" b="1" dirty="0">
                <a:solidFill>
                  <a:srgbClr val="D12A21"/>
                </a:solidFill>
                <a:latin typeface="Calibri" pitchFamily="34" charset="0"/>
                <a:ea typeface="Calibri" pitchFamily="34" charset="-122"/>
                <a:cs typeface="Calibri" pitchFamily="34" charset="-120"/>
              </a:rPr>
              <a:t>8M+</a:t>
            </a:r>
            <a:endParaRPr lang="en-US" sz="2600" dirty="0"/>
          </a:p>
        </p:txBody>
      </p:sp>
      <p:sp>
        <p:nvSpPr>
          <p:cNvPr id="24" name="Text 21">
            <a:extLst>
              <a:ext uri="{FF2B5EF4-FFF2-40B4-BE49-F238E27FC236}">
                <a16:creationId xmlns:a16="http://schemas.microsoft.com/office/drawing/2014/main" id="{B0ACF014-6BFD-B7BB-EEB6-04B076DB4B50}"/>
              </a:ext>
            </a:extLst>
          </p:cNvPr>
          <p:cNvSpPr txBox="1"/>
          <p:nvPr/>
        </p:nvSpPr>
        <p:spPr>
          <a:xfrm>
            <a:off x="9235440" y="5449824"/>
            <a:ext cx="2377440" cy="502920"/>
          </a:xfrm>
          <a:prstGeom prst="rect">
            <a:avLst/>
          </a:prstGeom>
          <a:noFill/>
          <a:ln/>
        </p:spPr>
        <p:txBody>
          <a:bodyPr wrap="square" lIns="0" tIns="0" rIns="0" bIns="0" rtlCol="0" anchor="t"/>
          <a:lstStyle/>
          <a:p>
            <a:pPr marL="0" indent="0">
              <a:buNone/>
            </a:pPr>
            <a:r>
              <a:rPr lang="en-US" sz="1200" dirty="0">
                <a:solidFill>
                  <a:srgbClr val="1F2A30"/>
                </a:solidFill>
                <a:latin typeface="Calibri" pitchFamily="34" charset="0"/>
                <a:ea typeface="Calibri" pitchFamily="34" charset="-122"/>
                <a:cs typeface="Calibri" pitchFamily="34" charset="-120"/>
              </a:rPr>
              <a:t>knee implants older than 5 years in the US alone</a:t>
            </a:r>
            <a:endParaRPr lang="en-US" sz="1200" dirty="0"/>
          </a:p>
        </p:txBody>
      </p:sp>
      <p:sp>
        <p:nvSpPr>
          <p:cNvPr id="27" name="Title 26">
            <a:extLst>
              <a:ext uri="{FF2B5EF4-FFF2-40B4-BE49-F238E27FC236}">
                <a16:creationId xmlns:a16="http://schemas.microsoft.com/office/drawing/2014/main" id="{D7D440AB-2C10-6578-56DA-8D9CA3ED6CB1}"/>
              </a:ext>
            </a:extLst>
          </p:cNvPr>
          <p:cNvSpPr>
            <a:spLocks noGrp="1"/>
          </p:cNvSpPr>
          <p:nvPr>
            <p:ph type="title"/>
          </p:nvPr>
        </p:nvSpPr>
        <p:spPr/>
        <p:txBody>
          <a:bodyPr/>
          <a:lstStyle/>
          <a:p>
            <a:r>
              <a:rPr lang="en-NL" dirty="0"/>
              <a:t>The care curb challenge</a:t>
            </a:r>
          </a:p>
        </p:txBody>
      </p:sp>
    </p:spTree>
    <p:extLst>
      <p:ext uri="{BB962C8B-B14F-4D97-AF65-F5344CB8AC3E}">
        <p14:creationId xmlns:p14="http://schemas.microsoft.com/office/powerpoint/2010/main" val="36589139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7">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2A65A"/>
                </a:solidFill>
                <a:latin typeface="IBM Plex Sans" pitchFamily="34" charset="0"/>
                <a:ea typeface="IBM Plex Sans" pitchFamily="34" charset="-122"/>
                <a:cs typeface="IBM Plex Sans" pitchFamily="34" charset="-120"/>
              </a:rPr>
              <a:t>CASE · THE LOOSE IMPLANT</a:t>
            </a:r>
            <a:endParaRPr lang="en-US" sz="1200" dirty="0"/>
          </a:p>
        </p:txBody>
      </p:sp>
      <p:sp>
        <p:nvSpPr>
          <p:cNvPr id="3" name="Text 1"/>
          <p:cNvSpPr>
            <a:spLocks noGrp="1"/>
          </p:cNvSpPr>
          <p:nvPr>
            <p:ph type="title"/>
          </p:nvPr>
        </p:nvSpPr>
        <p:spPr>
          <a:xfrm>
            <a:off x="812800" y="1381720"/>
            <a:ext cx="10464800" cy="1534071"/>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5F3EE"/>
                </a:solidFill>
                <a:latin typeface="Space Grotesk" pitchFamily="34" charset="0"/>
                <a:ea typeface="Space Grotesk" pitchFamily="34" charset="-122"/>
                <a:cs typeface="Space Grotesk" pitchFamily="34" charset="-120"/>
              </a:rPr>
              <a:t>Is this knee implant fixated or loose? Today it takes months to find out, and the answer is often wrong.</a:t>
            </a:r>
            <a:endParaRPr lang="en-US" sz="3600" dirty="0"/>
          </a:p>
        </p:txBody>
      </p:sp>
      <p:sp>
        <p:nvSpPr>
          <p:cNvPr id="4" name="Text 2"/>
          <p:cNvSpPr/>
          <p:nvPr/>
        </p:nvSpPr>
        <p:spPr>
          <a:xfrm>
            <a:off x="812800" y="3245991"/>
            <a:ext cx="3348736"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F2A65A"/>
                </a:solidFill>
                <a:latin typeface="Space Grotesk" pitchFamily="34" charset="0"/>
                <a:ea typeface="Space Grotesk" pitchFamily="34" charset="-122"/>
                <a:cs typeface="Space Grotesk" pitchFamily="34" charset="-120"/>
              </a:rPr>
              <a:t>~6 mo</a:t>
            </a:r>
            <a:endParaRPr lang="en-US" sz="4800" dirty="0"/>
          </a:p>
        </p:txBody>
      </p:sp>
      <p:sp>
        <p:nvSpPr>
          <p:cNvPr id="5" name="Text 3"/>
          <p:cNvSpPr/>
          <p:nvPr/>
        </p:nvSpPr>
        <p:spPr>
          <a:xfrm>
            <a:off x="812800" y="4150221"/>
            <a:ext cx="3348736"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8D6"/>
                </a:solidFill>
                <a:latin typeface="IBM Plex Sans" pitchFamily="34" charset="0"/>
                <a:ea typeface="IBM Plex Sans" pitchFamily="34" charset="-122"/>
                <a:cs typeface="IBM Plex Sans" pitchFamily="34" charset="-120"/>
              </a:rPr>
              <a:t>to a diagnosis, via X-ray, CT and nuclear scans</a:t>
            </a:r>
            <a:endParaRPr lang="en-US" sz="1400" dirty="0"/>
          </a:p>
        </p:txBody>
      </p:sp>
      <p:sp>
        <p:nvSpPr>
          <p:cNvPr id="6" name="Text 4"/>
          <p:cNvSpPr/>
          <p:nvPr/>
        </p:nvSpPr>
        <p:spPr>
          <a:xfrm>
            <a:off x="4470400" y="3245991"/>
            <a:ext cx="3348736"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F2A65A"/>
                </a:solidFill>
                <a:latin typeface="Space Grotesk" pitchFamily="34" charset="0"/>
                <a:ea typeface="Space Grotesk" pitchFamily="34" charset="-122"/>
                <a:cs typeface="Space Grotesk" pitchFamily="34" charset="-120"/>
              </a:rPr>
              <a:t>7.3%</a:t>
            </a:r>
            <a:endParaRPr lang="en-US" sz="4800" dirty="0"/>
          </a:p>
        </p:txBody>
      </p:sp>
      <p:sp>
        <p:nvSpPr>
          <p:cNvPr id="7" name="Text 5"/>
          <p:cNvSpPr/>
          <p:nvPr/>
        </p:nvSpPr>
        <p:spPr>
          <a:xfrm>
            <a:off x="4470400" y="4150221"/>
            <a:ext cx="3348736"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8D6"/>
                </a:solidFill>
                <a:latin typeface="IBM Plex Sans" pitchFamily="34" charset="0"/>
                <a:ea typeface="IBM Plex Sans" pitchFamily="34" charset="-122"/>
                <a:cs typeface="IBM Plex Sans" pitchFamily="34" charset="-120"/>
              </a:rPr>
              <a:t>of loose tibial components recognised on X-ray</a:t>
            </a:r>
            <a:endParaRPr lang="en-US" sz="1400" dirty="0"/>
          </a:p>
        </p:txBody>
      </p:sp>
      <p:sp>
        <p:nvSpPr>
          <p:cNvPr id="8" name="Text 6"/>
          <p:cNvSpPr/>
          <p:nvPr/>
        </p:nvSpPr>
        <p:spPr>
          <a:xfrm>
            <a:off x="8128000" y="3245991"/>
            <a:ext cx="3348736"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F2A65A"/>
                </a:solidFill>
                <a:latin typeface="Space Grotesk" pitchFamily="34" charset="0"/>
                <a:ea typeface="Space Grotesk" pitchFamily="34" charset="-122"/>
                <a:cs typeface="Space Grotesk" pitchFamily="34" charset="-120"/>
              </a:rPr>
              <a:t>26%</a:t>
            </a:r>
            <a:endParaRPr lang="en-US" sz="4800" dirty="0"/>
          </a:p>
        </p:txBody>
      </p:sp>
      <p:sp>
        <p:nvSpPr>
          <p:cNvPr id="9" name="Text 7"/>
          <p:cNvSpPr/>
          <p:nvPr/>
        </p:nvSpPr>
        <p:spPr>
          <a:xfrm>
            <a:off x="8128000" y="4150221"/>
            <a:ext cx="3348736" cy="5231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8D6"/>
                </a:solidFill>
                <a:latin typeface="IBM Plex Sans" pitchFamily="34" charset="0"/>
                <a:ea typeface="IBM Plex Sans" pitchFamily="34" charset="-122"/>
                <a:cs typeface="IBM Plex Sans" pitchFamily="34" charset="-120"/>
              </a:rPr>
              <a:t>of Danish knee revisions done for pain without loosening</a:t>
            </a:r>
            <a:endParaRPr lang="en-US" sz="1400" dirty="0"/>
          </a:p>
        </p:txBody>
      </p:sp>
      <p:sp>
        <p:nvSpPr>
          <p:cNvPr id="10" name="Text 8"/>
          <p:cNvSpPr/>
          <p:nvPr/>
        </p:nvSpPr>
        <p:spPr>
          <a:xfrm>
            <a:off x="812800" y="6238280"/>
            <a:ext cx="1046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8D6"/>
                </a:solidFill>
                <a:latin typeface="IBM Plex Sans" pitchFamily="34" charset="0"/>
                <a:ea typeface="IBM Plex Sans" pitchFamily="34" charset="-122"/>
                <a:cs typeface="IBM Plex Sans" pitchFamily="34" charset="-120"/>
              </a:rPr>
              <a:t>Sources: Chalmers et al., J Arthroplasty 2017 · Arndt et al., Acta Orthop 2022 · AtMoves impact analysis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8">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1379200"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Measure movement, don't guess from a picture</a:t>
            </a:r>
            <a:endParaRPr lang="en-US" sz="3600" dirty="0"/>
          </a:p>
        </p:txBody>
      </p:sp>
      <p:sp>
        <p:nvSpPr>
          <p:cNvPr id="3" name="Shape 1"/>
          <p:cNvSpPr/>
          <p:nvPr/>
        </p:nvSpPr>
        <p:spPr>
          <a:xfrm>
            <a:off x="815975" y="1674465"/>
            <a:ext cx="2257425" cy="1809552"/>
          </a:xfrm>
          <a:prstGeom prst="roundRect">
            <a:avLst>
              <a:gd name="adj" fmla="val 5439"/>
            </a:avLst>
          </a:prstGeom>
          <a:solidFill>
            <a:srgbClr val="FFFFFF"/>
          </a:solidFill>
          <a:ln w="6350">
            <a:solidFill>
              <a:srgbClr val="DDD8CC"/>
            </a:solidFill>
            <a:prstDash val="solid"/>
          </a:ln>
        </p:spPr>
        <p:txBody>
          <a:bodyPr/>
          <a:lstStyle/>
          <a:p>
            <a:endParaRPr lang="en-NL"/>
          </a:p>
        </p:txBody>
      </p:sp>
      <p:sp>
        <p:nvSpPr>
          <p:cNvPr id="4" name="Text 2"/>
          <p:cNvSpPr/>
          <p:nvPr/>
        </p:nvSpPr>
        <p:spPr>
          <a:xfrm>
            <a:off x="1022350" y="1880840"/>
            <a:ext cx="1900015"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85C1E"/>
                </a:solidFill>
                <a:latin typeface="Space Grotesk" pitchFamily="34" charset="0"/>
                <a:ea typeface="Space Grotesk" pitchFamily="34" charset="-122"/>
                <a:cs typeface="Space Grotesk" pitchFamily="34" charset="-120"/>
              </a:rPr>
              <a:t>1</a:t>
            </a:r>
            <a:endParaRPr lang="en-US" sz="2200" dirty="0"/>
          </a:p>
        </p:txBody>
      </p:sp>
      <p:sp>
        <p:nvSpPr>
          <p:cNvPr id="5" name="Text 3"/>
          <p:cNvSpPr/>
          <p:nvPr/>
        </p:nvSpPr>
        <p:spPr>
          <a:xfrm>
            <a:off x="1022350" y="2348161"/>
            <a:ext cx="190001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CT under load</a:t>
            </a:r>
            <a:endParaRPr lang="en-US" sz="1400" dirty="0"/>
          </a:p>
        </p:txBody>
      </p:sp>
      <p:sp>
        <p:nvSpPr>
          <p:cNvPr id="6" name="Text 4"/>
          <p:cNvSpPr/>
          <p:nvPr/>
        </p:nvSpPr>
        <p:spPr>
          <a:xfrm>
            <a:off x="1022350" y="2637681"/>
            <a:ext cx="1900015"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Standard CT, joint loaded in two directions by a small device</a:t>
            </a:r>
            <a:endParaRPr lang="en-US" sz="1200" dirty="0"/>
          </a:p>
        </p:txBody>
      </p:sp>
      <p:pic>
        <p:nvPicPr>
          <p:cNvPr id="7" name="Image 0" descr="arrow-right"/>
          <p:cNvPicPr>
            <a:picLocks noChangeAspect="1"/>
          </p:cNvPicPr>
          <p:nvPr/>
        </p:nvPicPr>
        <p:blipFill>
          <a:blip r:embed="rId3"/>
          <a:srcRect/>
          <a:stretch/>
        </p:blipFill>
        <p:spPr>
          <a:xfrm>
            <a:off x="3178175" y="2490341"/>
            <a:ext cx="304800" cy="177800"/>
          </a:xfrm>
          <a:prstGeom prst="rect">
            <a:avLst/>
          </a:prstGeom>
        </p:spPr>
      </p:pic>
      <p:sp>
        <p:nvSpPr>
          <p:cNvPr id="8" name="Shape 5"/>
          <p:cNvSpPr/>
          <p:nvPr/>
        </p:nvSpPr>
        <p:spPr>
          <a:xfrm>
            <a:off x="3587750" y="1781125"/>
            <a:ext cx="2257425" cy="1596231"/>
          </a:xfrm>
          <a:prstGeom prst="roundRect">
            <a:avLst>
              <a:gd name="adj" fmla="val 6166"/>
            </a:avLst>
          </a:prstGeom>
          <a:solidFill>
            <a:srgbClr val="FFFFFF"/>
          </a:solidFill>
          <a:ln w="6350">
            <a:solidFill>
              <a:srgbClr val="DDD8CC"/>
            </a:solidFill>
            <a:prstDash val="solid"/>
          </a:ln>
        </p:spPr>
        <p:txBody>
          <a:bodyPr/>
          <a:lstStyle/>
          <a:p>
            <a:endParaRPr lang="en-NL"/>
          </a:p>
        </p:txBody>
      </p:sp>
      <p:sp>
        <p:nvSpPr>
          <p:cNvPr id="9" name="Text 6"/>
          <p:cNvSpPr/>
          <p:nvPr/>
        </p:nvSpPr>
        <p:spPr>
          <a:xfrm>
            <a:off x="3794125" y="1987500"/>
            <a:ext cx="1900015"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85C1E"/>
                </a:solidFill>
                <a:latin typeface="Space Grotesk" pitchFamily="34" charset="0"/>
                <a:ea typeface="Space Grotesk" pitchFamily="34" charset="-122"/>
                <a:cs typeface="Space Grotesk" pitchFamily="34" charset="-120"/>
              </a:rPr>
              <a:t>2</a:t>
            </a:r>
            <a:endParaRPr lang="en-US" sz="2200" dirty="0"/>
          </a:p>
        </p:txBody>
      </p:sp>
      <p:sp>
        <p:nvSpPr>
          <p:cNvPr id="10" name="Text 7"/>
          <p:cNvSpPr/>
          <p:nvPr/>
        </p:nvSpPr>
        <p:spPr>
          <a:xfrm>
            <a:off x="3794125" y="2454821"/>
            <a:ext cx="190001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Segment</a:t>
            </a:r>
            <a:endParaRPr lang="en-US" sz="1400" dirty="0"/>
          </a:p>
        </p:txBody>
      </p:sp>
      <p:sp>
        <p:nvSpPr>
          <p:cNvPr id="11" name="Text 8"/>
          <p:cNvSpPr/>
          <p:nvPr/>
        </p:nvSpPr>
        <p:spPr>
          <a:xfrm>
            <a:off x="3794125" y="2744341"/>
            <a:ext cx="1900015"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Deep learning separates implant and bone in 3D</a:t>
            </a:r>
            <a:endParaRPr lang="en-US" sz="1200" dirty="0"/>
          </a:p>
        </p:txBody>
      </p:sp>
      <p:pic>
        <p:nvPicPr>
          <p:cNvPr id="12" name="Image 1" descr="arrow-right"/>
          <p:cNvPicPr>
            <a:picLocks noChangeAspect="1"/>
          </p:cNvPicPr>
          <p:nvPr/>
        </p:nvPicPr>
        <p:blipFill>
          <a:blip r:embed="rId3"/>
          <a:srcRect/>
          <a:stretch/>
        </p:blipFill>
        <p:spPr>
          <a:xfrm>
            <a:off x="5949950" y="2490341"/>
            <a:ext cx="304800" cy="177800"/>
          </a:xfrm>
          <a:prstGeom prst="rect">
            <a:avLst/>
          </a:prstGeom>
        </p:spPr>
      </p:pic>
      <p:sp>
        <p:nvSpPr>
          <p:cNvPr id="13" name="Shape 9"/>
          <p:cNvSpPr/>
          <p:nvPr/>
        </p:nvSpPr>
        <p:spPr>
          <a:xfrm>
            <a:off x="6359525" y="1674465"/>
            <a:ext cx="2257425" cy="1809552"/>
          </a:xfrm>
          <a:prstGeom prst="roundRect">
            <a:avLst>
              <a:gd name="adj" fmla="val 5439"/>
            </a:avLst>
          </a:prstGeom>
          <a:solidFill>
            <a:srgbClr val="FFFFFF"/>
          </a:solidFill>
          <a:ln w="6350">
            <a:solidFill>
              <a:srgbClr val="DDD8CC"/>
            </a:solidFill>
            <a:prstDash val="solid"/>
          </a:ln>
        </p:spPr>
        <p:txBody>
          <a:bodyPr/>
          <a:lstStyle/>
          <a:p>
            <a:endParaRPr lang="en-NL"/>
          </a:p>
        </p:txBody>
      </p:sp>
      <p:sp>
        <p:nvSpPr>
          <p:cNvPr id="14" name="Text 10"/>
          <p:cNvSpPr/>
          <p:nvPr/>
        </p:nvSpPr>
        <p:spPr>
          <a:xfrm>
            <a:off x="6565900" y="1880840"/>
            <a:ext cx="1900015"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85C1E"/>
                </a:solidFill>
                <a:latin typeface="Space Grotesk" pitchFamily="34" charset="0"/>
                <a:ea typeface="Space Grotesk" pitchFamily="34" charset="-122"/>
                <a:cs typeface="Space Grotesk" pitchFamily="34" charset="-120"/>
              </a:rPr>
              <a:t>3</a:t>
            </a:r>
            <a:endParaRPr lang="en-US" sz="2200" dirty="0"/>
          </a:p>
        </p:txBody>
      </p:sp>
      <p:sp>
        <p:nvSpPr>
          <p:cNvPr id="15" name="Text 11"/>
          <p:cNvSpPr/>
          <p:nvPr/>
        </p:nvSpPr>
        <p:spPr>
          <a:xfrm>
            <a:off x="6565900" y="2348161"/>
            <a:ext cx="190001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4213D"/>
                </a:solidFill>
                <a:latin typeface="IBM Plex Sans" pitchFamily="34" charset="0"/>
                <a:ea typeface="IBM Plex Sans" pitchFamily="34" charset="-122"/>
                <a:cs typeface="IBM Plex Sans" pitchFamily="34" charset="-120"/>
              </a:rPr>
              <a:t>Register</a:t>
            </a:r>
            <a:endParaRPr lang="en-US" sz="1400" dirty="0"/>
          </a:p>
        </p:txBody>
      </p:sp>
      <p:sp>
        <p:nvSpPr>
          <p:cNvPr id="16" name="Text 12"/>
          <p:cNvSpPr/>
          <p:nvPr/>
        </p:nvSpPr>
        <p:spPr>
          <a:xfrm>
            <a:off x="6565900" y="2637681"/>
            <a:ext cx="1900015"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Align both loaded scans and compute implant-versus-bone motion</a:t>
            </a:r>
            <a:endParaRPr lang="en-US" sz="1200" dirty="0"/>
          </a:p>
        </p:txBody>
      </p:sp>
      <p:pic>
        <p:nvPicPr>
          <p:cNvPr id="17" name="Image 2" descr="arrow-right"/>
          <p:cNvPicPr>
            <a:picLocks noChangeAspect="1"/>
          </p:cNvPicPr>
          <p:nvPr/>
        </p:nvPicPr>
        <p:blipFill>
          <a:blip r:embed="rId3"/>
          <a:srcRect/>
          <a:stretch/>
        </p:blipFill>
        <p:spPr>
          <a:xfrm>
            <a:off x="8721725" y="2490341"/>
            <a:ext cx="304800" cy="177800"/>
          </a:xfrm>
          <a:prstGeom prst="rect">
            <a:avLst/>
          </a:prstGeom>
        </p:spPr>
      </p:pic>
      <p:sp>
        <p:nvSpPr>
          <p:cNvPr id="18" name="Shape 13"/>
          <p:cNvSpPr/>
          <p:nvPr/>
        </p:nvSpPr>
        <p:spPr>
          <a:xfrm>
            <a:off x="9128125" y="1677640"/>
            <a:ext cx="2251075" cy="1803202"/>
          </a:xfrm>
          <a:prstGeom prst="roundRect">
            <a:avLst>
              <a:gd name="adj" fmla="val 5634"/>
            </a:avLst>
          </a:prstGeom>
          <a:solidFill>
            <a:srgbClr val="14213D"/>
          </a:solidFill>
          <a:ln/>
        </p:spPr>
        <p:txBody>
          <a:bodyPr/>
          <a:lstStyle/>
          <a:p>
            <a:endParaRPr lang="en-NL"/>
          </a:p>
        </p:txBody>
      </p:sp>
      <p:sp>
        <p:nvSpPr>
          <p:cNvPr id="19" name="Text 14"/>
          <p:cNvSpPr/>
          <p:nvPr/>
        </p:nvSpPr>
        <p:spPr>
          <a:xfrm>
            <a:off x="9331325" y="1880840"/>
            <a:ext cx="1900015" cy="41652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F2A65A"/>
                </a:solidFill>
                <a:latin typeface="Space Grotesk" pitchFamily="34" charset="0"/>
                <a:ea typeface="Space Grotesk" pitchFamily="34" charset="-122"/>
                <a:cs typeface="Space Grotesk" pitchFamily="34" charset="-120"/>
              </a:rPr>
              <a:t>4</a:t>
            </a:r>
            <a:endParaRPr lang="en-US" sz="2200" dirty="0"/>
          </a:p>
        </p:txBody>
      </p:sp>
      <p:sp>
        <p:nvSpPr>
          <p:cNvPr id="20" name="Text 15"/>
          <p:cNvSpPr/>
          <p:nvPr/>
        </p:nvSpPr>
        <p:spPr>
          <a:xfrm>
            <a:off x="9331325" y="2348161"/>
            <a:ext cx="1900015"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5F3EE"/>
                </a:solidFill>
                <a:latin typeface="IBM Plex Sans" pitchFamily="34" charset="0"/>
                <a:ea typeface="IBM Plex Sans" pitchFamily="34" charset="-122"/>
                <a:cs typeface="IBM Plex Sans" pitchFamily="34" charset="-120"/>
              </a:rPr>
              <a:t>Report</a:t>
            </a:r>
            <a:endParaRPr lang="en-US" sz="1400" dirty="0"/>
          </a:p>
        </p:txBody>
      </p:sp>
      <p:sp>
        <p:nvSpPr>
          <p:cNvPr id="21" name="Text 16"/>
          <p:cNvSpPr/>
          <p:nvPr/>
        </p:nvSpPr>
        <p:spPr>
          <a:xfrm>
            <a:off x="9331325" y="2637681"/>
            <a:ext cx="1900015" cy="66536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8D6"/>
                </a:solidFill>
                <a:latin typeface="IBM Plex Sans" pitchFamily="34" charset="0"/>
                <a:ea typeface="IBM Plex Sans" pitchFamily="34" charset="-122"/>
                <a:cs typeface="IBM Plex Sans" pitchFamily="34" charset="-120"/>
              </a:rPr>
              <a:t>Quantified, visual result for the surgeon in under 30 minutes</a:t>
            </a:r>
            <a:endParaRPr lang="en-US" sz="1200" dirty="0"/>
          </a:p>
        </p:txBody>
      </p:sp>
      <p:sp>
        <p:nvSpPr>
          <p:cNvPr id="22" name="Text 17"/>
          <p:cNvSpPr/>
          <p:nvPr/>
        </p:nvSpPr>
        <p:spPr>
          <a:xfrm>
            <a:off x="812800" y="3561730"/>
            <a:ext cx="1046480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2025: the manual steps became a semi automatic nnU-Net pipeline, with excellent reliability (ICC above 0.90) and no more error than the manual method. </a:t>
            </a:r>
            <a:r>
              <a:rPr lang="en-US" sz="1600" b="1" dirty="0">
                <a:solidFill>
                  <a:srgbClr val="4A5568"/>
                </a:solidFill>
                <a:latin typeface="IBM Plex Sans" pitchFamily="34" charset="0"/>
                <a:ea typeface="IBM Plex Sans" pitchFamily="34" charset="-122"/>
                <a:cs typeface="IBM Plex Sans" pitchFamily="34" charset="-120"/>
              </a:rPr>
              <a:t>Measured</a:t>
            </a:r>
            <a:r>
              <a:rPr lang="en-US" sz="1600" dirty="0">
                <a:solidFill>
                  <a:srgbClr val="4A5568"/>
                </a:solidFill>
                <a:latin typeface="IBM Plex Sans" pitchFamily="34" charset="0"/>
                <a:ea typeface="IBM Plex Sans" pitchFamily="34" charset="-122"/>
                <a:cs typeface="IBM Plex Sans" pitchFamily="34" charset="-120"/>
              </a:rPr>
              <a:t>  (</a:t>
            </a:r>
            <a:r>
              <a:rPr lang="en-US" sz="1600" dirty="0" err="1">
                <a:solidFill>
                  <a:srgbClr val="4A5568"/>
                </a:solidFill>
                <a:latin typeface="IBM Plex Sans" pitchFamily="34" charset="0"/>
                <a:ea typeface="IBM Plex Sans" pitchFamily="34" charset="-122"/>
                <a:cs typeface="IBM Plex Sans" pitchFamily="34" charset="-120"/>
              </a:rPr>
              <a:t>tMag</a:t>
            </a:r>
            <a:r>
              <a:rPr lang="en-US" sz="1600" dirty="0">
                <a:solidFill>
                  <a:srgbClr val="4A5568"/>
                </a:solidFill>
                <a:latin typeface="IBM Plex Sans" pitchFamily="34" charset="0"/>
                <a:ea typeface="IBM Plex Sans" pitchFamily="34" charset="-122"/>
                <a:cs typeface="IBM Plex Sans" pitchFamily="34" charset="-120"/>
              </a:rPr>
              <a:t>, </a:t>
            </a:r>
            <a:r>
              <a:rPr lang="en-US" sz="1600" dirty="0" err="1">
                <a:solidFill>
                  <a:srgbClr val="4A5568"/>
                </a:solidFill>
                <a:latin typeface="IBM Plex Sans" pitchFamily="34" charset="0"/>
                <a:ea typeface="IBM Plex Sans" pitchFamily="34" charset="-122"/>
                <a:cs typeface="IBM Plex Sans" pitchFamily="34" charset="-120"/>
              </a:rPr>
              <a:t>rMag</a:t>
            </a:r>
            <a:r>
              <a:rPr lang="en-US" sz="1600" dirty="0">
                <a:solidFill>
                  <a:srgbClr val="4A5568"/>
                </a:solidFill>
                <a:latin typeface="IBM Plex Sans" pitchFamily="34" charset="0"/>
                <a:ea typeface="IBM Plex Sans" pitchFamily="34" charset="-122"/>
                <a:cs typeface="IBM Plex Sans" pitchFamily="34" charset="-120"/>
              </a:rPr>
              <a:t>, </a:t>
            </a:r>
            <a:r>
              <a:rPr lang="en-US" sz="1600" dirty="0" err="1">
                <a:solidFill>
                  <a:srgbClr val="4A5568"/>
                </a:solidFill>
                <a:latin typeface="IBM Plex Sans" pitchFamily="34" charset="0"/>
                <a:ea typeface="IBM Plex Sans" pitchFamily="34" charset="-122"/>
                <a:cs typeface="IBM Plex Sans" pitchFamily="34" charset="-120"/>
              </a:rPr>
              <a:t>Mtre</a:t>
            </a:r>
            <a:r>
              <a:rPr lang="en-US" sz="1600" dirty="0">
                <a:solidFill>
                  <a:srgbClr val="4A5568"/>
                </a:solidFill>
                <a:latin typeface="IBM Plex Sans" pitchFamily="34" charset="0"/>
                <a:ea typeface="IBM Plex Sans" pitchFamily="34" charset="-122"/>
                <a:cs typeface="IBM Plex Sans" pitchFamily="34" charset="-120"/>
              </a:rPr>
              <a:t>, MTPM)</a:t>
            </a:r>
            <a:endParaRPr lang="en-US" sz="1600" dirty="0"/>
          </a:p>
        </p:txBody>
      </p:sp>
      <p:sp>
        <p:nvSpPr>
          <p:cNvPr id="23" name="Text 18"/>
          <p:cNvSpPr/>
          <p:nvPr/>
        </p:nvSpPr>
        <p:spPr>
          <a:xfrm>
            <a:off x="812800" y="6238280"/>
            <a:ext cx="1046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Source: Automation in tibial implant loosening detection using deep-learning segmentation, IJCARS, June 2025 (Amsterdam UMC)</a:t>
            </a:r>
            <a:endParaRPr lang="en-US" sz="1200" dirty="0"/>
          </a:p>
        </p:txBody>
      </p:sp>
      <p:pic>
        <p:nvPicPr>
          <p:cNvPr id="24" name="Image 9" descr="/home/claude/un/ppt/media/image31.jpeg">
            <a:extLst>
              <a:ext uri="{FF2B5EF4-FFF2-40B4-BE49-F238E27FC236}">
                <a16:creationId xmlns:a16="http://schemas.microsoft.com/office/drawing/2014/main" id="{ABD5DB42-8F90-E369-65F2-4A6AB47B270F}"/>
              </a:ext>
            </a:extLst>
          </p:cNvPr>
          <p:cNvPicPr>
            <a:picLocks noChangeAspect="1"/>
          </p:cNvPicPr>
          <p:nvPr/>
        </p:nvPicPr>
        <p:blipFill>
          <a:blip r:embed="rId4"/>
          <a:stretch>
            <a:fillRect/>
          </a:stretch>
        </p:blipFill>
        <p:spPr>
          <a:xfrm>
            <a:off x="3575051" y="4377606"/>
            <a:ext cx="3146564" cy="1629072"/>
          </a:xfrm>
          <a:prstGeom prst="rect">
            <a:avLst/>
          </a:prstGeom>
        </p:spPr>
      </p:pic>
      <p:pic>
        <p:nvPicPr>
          <p:cNvPr id="28" name="Image 0" descr="arrow-right">
            <a:extLst>
              <a:ext uri="{FF2B5EF4-FFF2-40B4-BE49-F238E27FC236}">
                <a16:creationId xmlns:a16="http://schemas.microsoft.com/office/drawing/2014/main" id="{8C86689F-821D-6547-B700-73EB25958019}"/>
              </a:ext>
            </a:extLst>
          </p:cNvPr>
          <p:cNvPicPr>
            <a:picLocks noChangeAspect="1"/>
          </p:cNvPicPr>
          <p:nvPr/>
        </p:nvPicPr>
        <p:blipFill>
          <a:blip r:embed="rId3"/>
          <a:srcRect/>
          <a:stretch/>
        </p:blipFill>
        <p:spPr>
          <a:xfrm>
            <a:off x="7515907" y="4960739"/>
            <a:ext cx="304800" cy="177800"/>
          </a:xfrm>
          <a:prstGeom prst="rect">
            <a:avLst/>
          </a:prstGeom>
        </p:spPr>
      </p:pic>
      <p:pic>
        <p:nvPicPr>
          <p:cNvPr id="31" name="Image 2" descr="/home/claude/un/ppt/media/image26.png">
            <a:extLst>
              <a:ext uri="{FF2B5EF4-FFF2-40B4-BE49-F238E27FC236}">
                <a16:creationId xmlns:a16="http://schemas.microsoft.com/office/drawing/2014/main" id="{EA67532A-4EFB-F5EB-9575-6E0C0AAAF614}"/>
              </a:ext>
            </a:extLst>
          </p:cNvPr>
          <p:cNvPicPr>
            <a:picLocks noChangeAspect="1"/>
          </p:cNvPicPr>
          <p:nvPr/>
        </p:nvPicPr>
        <p:blipFill>
          <a:blip r:embed="rId5"/>
          <a:stretch>
            <a:fillRect/>
          </a:stretch>
        </p:blipFill>
        <p:spPr>
          <a:xfrm>
            <a:off x="8616950" y="4196631"/>
            <a:ext cx="2804961" cy="1895411"/>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EFC2F-2616-9F2F-E040-65644DEF9A14}"/>
              </a:ext>
            </a:extLst>
          </p:cNvPr>
          <p:cNvSpPr>
            <a:spLocks noGrp="1"/>
          </p:cNvSpPr>
          <p:nvPr>
            <p:ph type="title"/>
          </p:nvPr>
        </p:nvSpPr>
        <p:spPr/>
        <p:txBody>
          <a:bodyPr/>
          <a:lstStyle/>
          <a:p>
            <a:r>
              <a:rPr lang="en-GB" dirty="0"/>
              <a:t>H</a:t>
            </a:r>
            <a:r>
              <a:rPr lang="en-NL" dirty="0"/>
              <a:t>elping the CT scan a little</a:t>
            </a:r>
          </a:p>
        </p:txBody>
      </p:sp>
      <p:pic>
        <p:nvPicPr>
          <p:cNvPr id="4" name="Picture 3" descr="Image preview">
            <a:extLst>
              <a:ext uri="{FF2B5EF4-FFF2-40B4-BE49-F238E27FC236}">
                <a16:creationId xmlns:a16="http://schemas.microsoft.com/office/drawing/2014/main" id="{1FDA92F1-99C0-515F-AD20-F3EB43536079}"/>
              </a:ext>
            </a:extLst>
          </p:cNvPr>
          <p:cNvPicPr>
            <a:picLocks noChangeAspect="1"/>
          </p:cNvPicPr>
          <p:nvPr/>
        </p:nvPicPr>
        <p:blipFill>
          <a:blip r:embed="rId5"/>
          <a:stretch>
            <a:fillRect/>
          </a:stretch>
        </p:blipFill>
        <p:spPr>
          <a:xfrm>
            <a:off x="298964" y="2978727"/>
            <a:ext cx="5094468" cy="3602182"/>
          </a:xfrm>
          <a:prstGeom prst="rect">
            <a:avLst/>
          </a:prstGeom>
        </p:spPr>
      </p:pic>
      <p:pic>
        <p:nvPicPr>
          <p:cNvPr id="5" name="Afbeelding 7" descr="Afbeelding met kleding, computer, persoon, overdekt&#10;&#10;Door AI gegenereerde inhoud is mogelijk onjuist.">
            <a:extLst>
              <a:ext uri="{FF2B5EF4-FFF2-40B4-BE49-F238E27FC236}">
                <a16:creationId xmlns:a16="http://schemas.microsoft.com/office/drawing/2014/main" id="{87004A73-2CDD-A994-2BD8-A81DEB697F06}"/>
              </a:ext>
            </a:extLst>
          </p:cNvPr>
          <p:cNvPicPr>
            <a:picLocks noChangeAspect="1"/>
          </p:cNvPicPr>
          <p:nvPr/>
        </p:nvPicPr>
        <p:blipFill>
          <a:blip r:embed="rId6">
            <a:extLst>
              <a:ext uri="{BEBA8EAE-BF5A-486C-A8C5-ECC9F3942E4B}">
                <a14:imgProps xmlns:a14="http://schemas.microsoft.com/office/drawing/2010/main">
                  <a14:imgLayer r:embed="rId7">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5876059" y="2205182"/>
            <a:ext cx="3281795" cy="4375727"/>
          </a:xfrm>
          <a:prstGeom prst="rect">
            <a:avLst/>
          </a:prstGeom>
        </p:spPr>
      </p:pic>
      <p:pic>
        <p:nvPicPr>
          <p:cNvPr id="6" name="stem-endoexo-transparant">
            <a:hlinkClick r:id="" action="ppaction://media"/>
            <a:extLst>
              <a:ext uri="{FF2B5EF4-FFF2-40B4-BE49-F238E27FC236}">
                <a16:creationId xmlns:a16="http://schemas.microsoft.com/office/drawing/2014/main" id="{5E4E1166-CDE4-95BC-AA02-122E788D9A74}"/>
              </a:ext>
            </a:extLst>
          </p:cNvPr>
          <p:cNvPicPr>
            <a:picLocks noChangeAspect="1"/>
          </p:cNvPicPr>
          <p:nvPr>
            <a:videoFile r:link="rId2"/>
            <p:extLst>
              <p:ext uri="{DAA4B4D4-6D71-4841-9C94-3DE7FCFB9230}">
                <p14:media xmlns:p14="http://schemas.microsoft.com/office/powerpoint/2010/main" r:embed="rId1"/>
              </p:ext>
            </p:extLst>
          </p:nvPr>
        </p:nvPicPr>
        <p:blipFill>
          <a:blip r:embed="rId8"/>
          <a:stretch>
            <a:fillRect/>
          </a:stretch>
        </p:blipFill>
        <p:spPr>
          <a:xfrm>
            <a:off x="9454140" y="2205182"/>
            <a:ext cx="2089549" cy="4375727"/>
          </a:xfrm>
          <a:prstGeom prst="rect">
            <a:avLst/>
          </a:prstGeom>
        </p:spPr>
      </p:pic>
    </p:spTree>
    <p:extLst>
      <p:ext uri="{BB962C8B-B14F-4D97-AF65-F5344CB8AC3E}">
        <p14:creationId xmlns:p14="http://schemas.microsoft.com/office/powerpoint/2010/main" val="1269217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930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6"/>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6"/>
                                        </p:tgtEl>
                                      </p:cBhvr>
                                    </p:cmd>
                                  </p:childTnLst>
                                </p:cTn>
                              </p:par>
                            </p:childTnLst>
                          </p:cTn>
                        </p:par>
                      </p:childTnLst>
                    </p:cTn>
                  </p:par>
                </p:childTnLst>
              </p:cTn>
              <p:nextCondLst>
                <p:cond evt="onClick" delay="0">
                  <p:tgtEl>
                    <p:spTgt spid="6"/>
                  </p:tgtEl>
                </p:cond>
              </p:nextCondLst>
            </p:seq>
            <p:video>
              <p:cMediaNode>
                <p:cTn id="12" fill="hold" display="0">
                  <p:stCondLst>
                    <p:cond delay="indefinite"/>
                  </p:stCondLst>
                </p:cTn>
                <p:tgtEl>
                  <p:spTgt spid="6"/>
                </p:tgtEl>
              </p:cMediaNode>
            </p:video>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name="Slide 9">
    <p:bg>
      <p:bgPr>
        <a:solidFill>
          <a:srgbClr val="B85C1E"/>
        </a:solidFill>
        <a:effectLst/>
      </p:bgPr>
    </p:bg>
    <p:spTree>
      <p:nvGrpSpPr>
        <p:cNvPr id="1" name=""/>
        <p:cNvGrpSpPr/>
        <p:nvPr/>
      </p:nvGrpSpPr>
      <p:grpSpPr>
        <a:xfrm>
          <a:off x="0" y="0"/>
          <a:ext cx="0" cy="0"/>
          <a:chOff x="0" y="0"/>
          <a:chExt cx="0" cy="0"/>
        </a:xfrm>
      </p:grpSpPr>
      <p:sp>
        <p:nvSpPr>
          <p:cNvPr id="2" name="Text 0"/>
          <p:cNvSpPr/>
          <p:nvPr/>
        </p:nvSpPr>
        <p:spPr>
          <a:xfrm>
            <a:off x="812800" y="208662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BF4EC"/>
                </a:solidFill>
                <a:latin typeface="IBM Plex Sans" pitchFamily="34" charset="0"/>
                <a:ea typeface="IBM Plex Sans" pitchFamily="34" charset="-122"/>
                <a:cs typeface="IBM Plex Sans" pitchFamily="34" charset="-120"/>
              </a:rPr>
              <a:t>FROM RESEARCH TO CLINICAL ADOPTION</a:t>
            </a:r>
            <a:endParaRPr lang="en-US" sz="1200" dirty="0"/>
          </a:p>
        </p:txBody>
      </p:sp>
      <p:sp>
        <p:nvSpPr>
          <p:cNvPr id="3" name="Text 1"/>
          <p:cNvSpPr>
            <a:spLocks noGrp="1"/>
          </p:cNvSpPr>
          <p:nvPr>
            <p:ph type="title"/>
          </p:nvPr>
        </p:nvSpPr>
        <p:spPr>
          <a:xfrm>
            <a:off x="812800" y="2553940"/>
            <a:ext cx="10464800"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BF4EC"/>
                </a:solidFill>
                <a:latin typeface="Space Grotesk" pitchFamily="34" charset="0"/>
                <a:ea typeface="Space Grotesk" pitchFamily="34" charset="-122"/>
                <a:cs typeface="Space Grotesk" pitchFamily="34" charset="-120"/>
              </a:rPr>
              <a:t>The model is about 10% of the product.</a:t>
            </a:r>
            <a:endParaRPr lang="en-US" sz="6000" dirty="0"/>
          </a:p>
        </p:txBody>
      </p:sp>
      <p:sp>
        <p:nvSpPr>
          <p:cNvPr id="4" name="Text 2"/>
          <p:cNvSpPr/>
          <p:nvPr/>
        </p:nvSpPr>
        <p:spPr>
          <a:xfrm>
            <a:off x="812800" y="4408140"/>
            <a:ext cx="9810750" cy="38859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FBF4EC"/>
                </a:solidFill>
                <a:latin typeface="IBM Plex Sans" pitchFamily="34" charset="0"/>
                <a:ea typeface="IBM Plex Sans" pitchFamily="34" charset="-122"/>
                <a:cs typeface="IBM Plex Sans" pitchFamily="34" charset="-120"/>
              </a:rPr>
              <a:t>The other 90% is regulation, evidence, workflow, payment and people.</a:t>
            </a:r>
            <a:endParaRPr lang="en-US" sz="2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0">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from paper to patient</a:t>
            </a:r>
            <a:endParaRPr lang="en-US" sz="3600" dirty="0"/>
          </a:p>
        </p:txBody>
      </p:sp>
      <p:sp>
        <p:nvSpPr>
          <p:cNvPr id="3" name="Shape 1"/>
          <p:cNvSpPr/>
          <p:nvPr/>
        </p:nvSpPr>
        <p:spPr>
          <a:xfrm>
            <a:off x="812800" y="4236690"/>
            <a:ext cx="1444129" cy="1270000"/>
          </a:xfrm>
          <a:prstGeom prst="roundRect">
            <a:avLst>
              <a:gd name="adj" fmla="val 6000"/>
            </a:avLst>
          </a:prstGeom>
          <a:solidFill>
            <a:srgbClr val="E4DED2"/>
          </a:solidFill>
          <a:ln/>
        </p:spPr>
        <p:txBody>
          <a:bodyPr/>
          <a:lstStyle/>
          <a:p>
            <a:endParaRPr lang="en-NL"/>
          </a:p>
        </p:txBody>
      </p:sp>
      <p:sp>
        <p:nvSpPr>
          <p:cNvPr id="4" name="Text 2"/>
          <p:cNvSpPr/>
          <p:nvPr/>
        </p:nvSpPr>
        <p:spPr>
          <a:xfrm>
            <a:off x="965200" y="4876850"/>
            <a:ext cx="119012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1 Paper</a:t>
            </a:r>
            <a:endParaRPr lang="en-US" sz="1200" dirty="0"/>
          </a:p>
        </p:txBody>
      </p:sp>
      <p:sp>
        <p:nvSpPr>
          <p:cNvPr id="5" name="Text 3"/>
          <p:cNvSpPr/>
          <p:nvPr/>
        </p:nvSpPr>
        <p:spPr>
          <a:xfrm>
            <a:off x="965200" y="5140970"/>
            <a:ext cx="119012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AUC</a:t>
            </a:r>
            <a:endParaRPr lang="en-US" sz="1200" dirty="0"/>
          </a:p>
        </p:txBody>
      </p:sp>
      <p:sp>
        <p:nvSpPr>
          <p:cNvPr id="6" name="Shape 4"/>
          <p:cNvSpPr/>
          <p:nvPr/>
        </p:nvSpPr>
        <p:spPr>
          <a:xfrm>
            <a:off x="2333129" y="3792190"/>
            <a:ext cx="1444179" cy="1714500"/>
          </a:xfrm>
          <a:prstGeom prst="roundRect">
            <a:avLst>
              <a:gd name="adj" fmla="val 5276"/>
            </a:avLst>
          </a:prstGeom>
          <a:solidFill>
            <a:srgbClr val="E4DED2"/>
          </a:solidFill>
          <a:ln/>
        </p:spPr>
        <p:txBody>
          <a:bodyPr/>
          <a:lstStyle/>
          <a:p>
            <a:endParaRPr lang="en-NL"/>
          </a:p>
        </p:txBody>
      </p:sp>
      <p:sp>
        <p:nvSpPr>
          <p:cNvPr id="7" name="Text 5"/>
          <p:cNvSpPr/>
          <p:nvPr/>
        </p:nvSpPr>
        <p:spPr>
          <a:xfrm>
            <a:off x="2485529" y="4663529"/>
            <a:ext cx="119017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2 Prototype</a:t>
            </a:r>
            <a:endParaRPr lang="en-US" sz="1200" dirty="0"/>
          </a:p>
        </p:txBody>
      </p:sp>
      <p:sp>
        <p:nvSpPr>
          <p:cNvPr id="8" name="Text 6"/>
          <p:cNvSpPr/>
          <p:nvPr/>
        </p:nvSpPr>
        <p:spPr>
          <a:xfrm>
            <a:off x="2485529" y="4927650"/>
            <a:ext cx="119017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works on my data</a:t>
            </a:r>
            <a:endParaRPr lang="en-US" sz="1200" dirty="0"/>
          </a:p>
        </p:txBody>
      </p:sp>
      <p:sp>
        <p:nvSpPr>
          <p:cNvPr id="9" name="Shape 7"/>
          <p:cNvSpPr/>
          <p:nvPr/>
        </p:nvSpPr>
        <p:spPr>
          <a:xfrm>
            <a:off x="3853507" y="3347690"/>
            <a:ext cx="1444179" cy="2159000"/>
          </a:xfrm>
          <a:prstGeom prst="roundRect">
            <a:avLst>
              <a:gd name="adj" fmla="val 5276"/>
            </a:avLst>
          </a:prstGeom>
          <a:solidFill>
            <a:srgbClr val="D9CFBE"/>
          </a:solidFill>
          <a:ln/>
        </p:spPr>
        <p:txBody>
          <a:bodyPr/>
          <a:lstStyle/>
          <a:p>
            <a:endParaRPr lang="en-NL"/>
          </a:p>
        </p:txBody>
      </p:sp>
      <p:sp>
        <p:nvSpPr>
          <p:cNvPr id="10" name="Text 8"/>
          <p:cNvSpPr/>
          <p:nvPr/>
        </p:nvSpPr>
        <p:spPr>
          <a:xfrm>
            <a:off x="4005907" y="4663529"/>
            <a:ext cx="119017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3 Software</a:t>
            </a:r>
            <a:endParaRPr lang="en-US" sz="1200" dirty="0"/>
          </a:p>
        </p:txBody>
      </p:sp>
      <p:sp>
        <p:nvSpPr>
          <p:cNvPr id="11" name="Text 9"/>
          <p:cNvSpPr/>
          <p:nvPr/>
        </p:nvSpPr>
        <p:spPr>
          <a:xfrm>
            <a:off x="4005907" y="4927650"/>
            <a:ext cx="119017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IEC 62304, tested</a:t>
            </a:r>
            <a:endParaRPr lang="en-US" sz="1200" dirty="0"/>
          </a:p>
        </p:txBody>
      </p:sp>
      <p:sp>
        <p:nvSpPr>
          <p:cNvPr id="12" name="Shape 10"/>
          <p:cNvSpPr/>
          <p:nvPr/>
        </p:nvSpPr>
        <p:spPr>
          <a:xfrm>
            <a:off x="5373886" y="2903190"/>
            <a:ext cx="1444179" cy="2603500"/>
          </a:xfrm>
          <a:prstGeom prst="roundRect">
            <a:avLst>
              <a:gd name="adj" fmla="val 5276"/>
            </a:avLst>
          </a:prstGeom>
          <a:solidFill>
            <a:srgbClr val="D9CFBE"/>
          </a:solidFill>
          <a:ln/>
        </p:spPr>
        <p:txBody>
          <a:bodyPr/>
          <a:lstStyle/>
          <a:p>
            <a:endParaRPr lang="en-NL"/>
          </a:p>
        </p:txBody>
      </p:sp>
      <p:sp>
        <p:nvSpPr>
          <p:cNvPr id="13" name="Text 11"/>
          <p:cNvSpPr/>
          <p:nvPr/>
        </p:nvSpPr>
        <p:spPr>
          <a:xfrm>
            <a:off x="5526286" y="4876850"/>
            <a:ext cx="119017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4 Certified</a:t>
            </a:r>
            <a:endParaRPr lang="en-US" sz="1200" dirty="0"/>
          </a:p>
        </p:txBody>
      </p:sp>
      <p:sp>
        <p:nvSpPr>
          <p:cNvPr id="14" name="Text 12"/>
          <p:cNvSpPr/>
          <p:nvPr/>
        </p:nvSpPr>
        <p:spPr>
          <a:xfrm>
            <a:off x="5526286" y="5140970"/>
            <a:ext cx="119017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CE / FDA</a:t>
            </a:r>
            <a:endParaRPr lang="en-US" sz="1200" dirty="0"/>
          </a:p>
        </p:txBody>
      </p:sp>
      <p:sp>
        <p:nvSpPr>
          <p:cNvPr id="15" name="Shape 13"/>
          <p:cNvSpPr/>
          <p:nvPr/>
        </p:nvSpPr>
        <p:spPr>
          <a:xfrm>
            <a:off x="6894264" y="2458690"/>
            <a:ext cx="1444179" cy="3048000"/>
          </a:xfrm>
          <a:prstGeom prst="roundRect">
            <a:avLst>
              <a:gd name="adj" fmla="val 5276"/>
            </a:avLst>
          </a:prstGeom>
          <a:solidFill>
            <a:srgbClr val="F2C9A1"/>
          </a:solidFill>
          <a:ln/>
        </p:spPr>
        <p:txBody>
          <a:bodyPr/>
          <a:lstStyle/>
          <a:p>
            <a:endParaRPr lang="en-NL"/>
          </a:p>
        </p:txBody>
      </p:sp>
      <p:sp>
        <p:nvSpPr>
          <p:cNvPr id="16" name="Text 14"/>
          <p:cNvSpPr/>
          <p:nvPr/>
        </p:nvSpPr>
        <p:spPr>
          <a:xfrm>
            <a:off x="7046664" y="4876850"/>
            <a:ext cx="119017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5 Used</a:t>
            </a:r>
            <a:endParaRPr lang="en-US" sz="1200" dirty="0"/>
          </a:p>
        </p:txBody>
      </p:sp>
      <p:sp>
        <p:nvSpPr>
          <p:cNvPr id="17" name="Text 15"/>
          <p:cNvSpPr/>
          <p:nvPr/>
        </p:nvSpPr>
        <p:spPr>
          <a:xfrm>
            <a:off x="7046664" y="5140970"/>
            <a:ext cx="119017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in the workflow</a:t>
            </a:r>
            <a:endParaRPr lang="en-US" sz="1200" dirty="0"/>
          </a:p>
        </p:txBody>
      </p:sp>
      <p:sp>
        <p:nvSpPr>
          <p:cNvPr id="18" name="Shape 16"/>
          <p:cNvSpPr/>
          <p:nvPr/>
        </p:nvSpPr>
        <p:spPr>
          <a:xfrm>
            <a:off x="8414643" y="2014190"/>
            <a:ext cx="1444179" cy="3492500"/>
          </a:xfrm>
          <a:prstGeom prst="roundRect">
            <a:avLst>
              <a:gd name="adj" fmla="val 5276"/>
            </a:avLst>
          </a:prstGeom>
          <a:solidFill>
            <a:srgbClr val="F2C9A1"/>
          </a:solidFill>
          <a:ln/>
        </p:spPr>
        <p:txBody>
          <a:bodyPr/>
          <a:lstStyle/>
          <a:p>
            <a:endParaRPr lang="en-NL"/>
          </a:p>
        </p:txBody>
      </p:sp>
      <p:sp>
        <p:nvSpPr>
          <p:cNvPr id="19" name="Text 17"/>
          <p:cNvSpPr/>
          <p:nvPr/>
        </p:nvSpPr>
        <p:spPr>
          <a:xfrm>
            <a:off x="8567043" y="4663529"/>
            <a:ext cx="119017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6 Paid for</a:t>
            </a:r>
            <a:endParaRPr lang="en-US" sz="1200" dirty="0"/>
          </a:p>
        </p:txBody>
      </p:sp>
      <p:sp>
        <p:nvSpPr>
          <p:cNvPr id="20" name="Text 18"/>
          <p:cNvSpPr/>
          <p:nvPr/>
        </p:nvSpPr>
        <p:spPr>
          <a:xfrm>
            <a:off x="8567043" y="4927650"/>
            <a:ext cx="1190179"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someone's budget</a:t>
            </a:r>
            <a:endParaRPr lang="en-US" sz="1200" dirty="0"/>
          </a:p>
        </p:txBody>
      </p:sp>
      <p:sp>
        <p:nvSpPr>
          <p:cNvPr id="21" name="Shape 19"/>
          <p:cNvSpPr/>
          <p:nvPr/>
        </p:nvSpPr>
        <p:spPr>
          <a:xfrm>
            <a:off x="9935021" y="1569690"/>
            <a:ext cx="1444179" cy="3937000"/>
          </a:xfrm>
          <a:prstGeom prst="roundRect">
            <a:avLst>
              <a:gd name="adj" fmla="val 5276"/>
            </a:avLst>
          </a:prstGeom>
          <a:solidFill>
            <a:srgbClr val="14213D"/>
          </a:solidFill>
          <a:ln/>
        </p:spPr>
        <p:txBody>
          <a:bodyPr/>
          <a:lstStyle/>
          <a:p>
            <a:endParaRPr lang="en-NL"/>
          </a:p>
        </p:txBody>
      </p:sp>
      <p:sp>
        <p:nvSpPr>
          <p:cNvPr id="22" name="Text 20"/>
          <p:cNvSpPr/>
          <p:nvPr/>
        </p:nvSpPr>
        <p:spPr>
          <a:xfrm>
            <a:off x="10087421" y="4876850"/>
            <a:ext cx="1190179"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7 Changes care</a:t>
            </a:r>
            <a:endParaRPr lang="en-US" sz="1200" dirty="0"/>
          </a:p>
        </p:txBody>
      </p:sp>
      <p:sp>
        <p:nvSpPr>
          <p:cNvPr id="23" name="Text 21"/>
          <p:cNvSpPr/>
          <p:nvPr/>
        </p:nvSpPr>
        <p:spPr>
          <a:xfrm>
            <a:off x="10087421" y="5140970"/>
            <a:ext cx="1291779"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2A65A"/>
                </a:solidFill>
                <a:latin typeface="IBM Plex Sans" pitchFamily="34" charset="0"/>
                <a:ea typeface="IBM Plex Sans" pitchFamily="34" charset="-122"/>
                <a:cs typeface="IBM Plex Sans" pitchFamily="34" charset="-120"/>
              </a:rPr>
              <a:t>better outcomes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1">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Regulation: your intended use decides everything</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5500" y="2085280"/>
          <a:ext cx="10553700" cy="2387056"/>
        </p:xfrm>
        <a:graphic>
          <a:graphicData uri="http://schemas.openxmlformats.org/drawingml/2006/table">
            <a:tbl>
              <a:tblPr/>
              <a:tblGrid>
                <a:gridCol w="2743962">
                  <a:extLst>
                    <a:ext uri="{9D8B030D-6E8A-4147-A177-3AD203B41FA5}">
                      <a16:colId xmlns:a16="http://schemas.microsoft.com/office/drawing/2014/main" val="20000"/>
                    </a:ext>
                  </a:extLst>
                </a:gridCol>
                <a:gridCol w="3904869">
                  <a:extLst>
                    <a:ext uri="{9D8B030D-6E8A-4147-A177-3AD203B41FA5}">
                      <a16:colId xmlns:a16="http://schemas.microsoft.com/office/drawing/2014/main" val="20001"/>
                    </a:ext>
                  </a:extLst>
                </a:gridCol>
                <a:gridCol w="3904869">
                  <a:extLst>
                    <a:ext uri="{9D8B030D-6E8A-4147-A177-3AD203B41FA5}">
                      <a16:colId xmlns:a16="http://schemas.microsoft.com/office/drawing/2014/main" val="20002"/>
                    </a:ext>
                  </a:extLst>
                </a:gridCol>
              </a:tblGrid>
              <a:tr h="359321">
                <a:tc>
                  <a:txBody>
                    <a:bodyPr/>
                    <a:lstStyle/>
                    <a:p>
                      <a:pPr marL="0" indent="0">
                        <a:lnSpc>
                          <a:spcPts val="1820"/>
                        </a:lnSpc>
                        <a:buNone/>
                      </a:pPr>
                      <a:endParaRPr lang="en-US" sz="1300" dirty="0">
                        <a:latin typeface="IBM Plex Sans" charset="0"/>
                        <a:ea typeface="IBM Plex Sans" charset="0"/>
                        <a:cs typeface="IBM Plex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820"/>
                        </a:lnSpc>
                        <a:buNone/>
                      </a:pPr>
                      <a:r>
                        <a:rPr lang="en-US" sz="1300" b="1" dirty="0">
                          <a:solidFill>
                            <a:srgbClr val="1B2433"/>
                          </a:solidFill>
                          <a:latin typeface="IBM Plex Sans" pitchFamily="34" charset="0"/>
                          <a:ea typeface="IBM Plex Sans" pitchFamily="34" charset="-122"/>
                          <a:cs typeface="IBM Plex Sans" pitchFamily="34" charset="-120"/>
                        </a:rPr>
                        <a:t>EU (MDR)</a:t>
                      </a:r>
                      <a:endParaRPr lang="en-US" sz="1300" dirty="0">
                        <a:latin typeface="IBM Plex Sans" charset="0"/>
                        <a:ea typeface="IBM Plex Sans" charset="0"/>
                        <a:cs typeface="IBM Plex Sans" charset="0"/>
                      </a:endParaRPr>
                    </a:p>
                  </a:txBody>
                  <a:tcPr marL="57785" marR="57785" marT="57785" marB="57785">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tc>
                  <a:txBody>
                    <a:bodyPr/>
                    <a:lstStyle/>
                    <a:p>
                      <a:pPr marL="0" indent="0">
                        <a:lnSpc>
                          <a:spcPts val="1820"/>
                        </a:lnSpc>
                        <a:buNone/>
                      </a:pPr>
                      <a:r>
                        <a:rPr lang="en-US" sz="1300" b="1" dirty="0">
                          <a:solidFill>
                            <a:srgbClr val="1B2433"/>
                          </a:solidFill>
                          <a:latin typeface="IBM Plex Sans" pitchFamily="34" charset="0"/>
                          <a:ea typeface="IBM Plex Sans" pitchFamily="34" charset="-122"/>
                          <a:cs typeface="IBM Plex Sans" pitchFamily="34" charset="-120"/>
                        </a:rPr>
                        <a:t>US (FDA)</a:t>
                      </a:r>
                      <a:endParaRPr lang="en-US" sz="1300" dirty="0">
                        <a:latin typeface="IBM Plex Sans" charset="0"/>
                        <a:ea typeface="IBM Plex Sans" charset="0"/>
                        <a:cs typeface="IBM Plex Sans" charset="0"/>
                      </a:endParaRPr>
                    </a:p>
                  </a:txBody>
                  <a:tcPr marL="57785" marR="57785" marT="57785" marB="57785">
                    <a:lnL w="12700" cap="flat" cmpd="sng" algn="ctr">
                      <a:solidFill>
                        <a:srgbClr val="B5B4B0"/>
                      </a:solidFill>
                      <a:prstDash val="solid"/>
                      <a:round/>
                      <a:headEnd type="none" w="med" len="med"/>
                      <a:tailEnd type="none" w="med" len="med"/>
                    </a:lnL>
                    <a:lnR w="12700" cap="flat" cmpd="sng" algn="ctr">
                      <a:solidFill>
                        <a:srgbClr val="B5B4B0"/>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B5B4B0"/>
                      </a:solidFill>
                      <a:prstDash val="solid"/>
                      <a:round/>
                      <a:headEnd type="none" w="med" len="med"/>
                      <a:tailEnd type="none" w="med" len="med"/>
                    </a:lnB>
                    <a:solidFill>
                      <a:srgbClr val="E3E1DC"/>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B2433"/>
                          </a:solidFill>
                          <a:latin typeface="IBM Plex Sans" pitchFamily="34" charset="0"/>
                          <a:ea typeface="IBM Plex Sans" pitchFamily="34" charset="-122"/>
                          <a:cs typeface="IBM Plex Sans" pitchFamily="34" charset="-120"/>
                        </a:rPr>
                        <a:t>Typical class for imaging software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B2433"/>
                          </a:solidFill>
                          <a:latin typeface="IBM Plex Sans" pitchFamily="34" charset="0"/>
                          <a:ea typeface="IBM Plex Sans" pitchFamily="34" charset="-122"/>
                          <a:cs typeface="IBM Plex Sans" pitchFamily="34" charset="-120"/>
                        </a:rPr>
                        <a:t>IIa; IIb if the output drives surgery (rule 11)</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B2433"/>
                          </a:solidFill>
                          <a:latin typeface="IBM Plex Sans" pitchFamily="34" charset="0"/>
                          <a:ea typeface="IBM Plex Sans" pitchFamily="34" charset="-122"/>
                          <a:cs typeface="IBM Plex Sans" pitchFamily="34" charset="-120"/>
                        </a:rPr>
                        <a:t>Class II</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B5B4B0"/>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B2433"/>
                          </a:solidFill>
                          <a:latin typeface="IBM Plex Sans" pitchFamily="34" charset="0"/>
                          <a:ea typeface="IBM Plex Sans" pitchFamily="34" charset="-122"/>
                          <a:cs typeface="IBM Plex Sans" pitchFamily="34" charset="-120"/>
                        </a:rPr>
                        <a:t>Route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B2433"/>
                          </a:solidFill>
                          <a:latin typeface="IBM Plex Sans" pitchFamily="34" charset="0"/>
                          <a:ea typeface="IBM Plex Sans" pitchFamily="34" charset="-122"/>
                          <a:cs typeface="IBM Plex Sans" pitchFamily="34" charset="-120"/>
                        </a:rPr>
                        <a:t>Notified body reviews your technical file</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B2433"/>
                          </a:solidFill>
                          <a:latin typeface="IBM Plex Sans" pitchFamily="34" charset="0"/>
                          <a:ea typeface="IBM Plex Sans" pitchFamily="34" charset="-122"/>
                          <a:cs typeface="IBM Plex Sans" pitchFamily="34" charset="-120"/>
                        </a:rPr>
                        <a:t>510(k) with a predicate, or De Novo</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B2433"/>
                          </a:solidFill>
                          <a:latin typeface="IBM Plex Sans" pitchFamily="34" charset="0"/>
                          <a:ea typeface="IBM Plex Sans" pitchFamily="34" charset="-122"/>
                          <a:cs typeface="IBM Plex Sans" pitchFamily="34" charset="-120"/>
                        </a:rPr>
                        <a:t>Quality system</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B2433"/>
                          </a:solidFill>
                          <a:latin typeface="IBM Plex Sans" pitchFamily="34" charset="0"/>
                          <a:ea typeface="IBM Plex Sans" pitchFamily="34" charset="-122"/>
                          <a:cs typeface="IBM Plex Sans" pitchFamily="34" charset="-120"/>
                        </a:rPr>
                        <a:t>ISO 13485</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B2433"/>
                          </a:solidFill>
                          <a:latin typeface="IBM Plex Sans" pitchFamily="34" charset="0"/>
                          <a:ea typeface="IBM Plex Sans" pitchFamily="34" charset="-122"/>
                          <a:cs typeface="IBM Plex Sans" pitchFamily="34" charset="-120"/>
                        </a:rPr>
                        <a:t>QMSR (aligned with ISO 13485)</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3"/>
                  </a:ext>
                </a:extLst>
              </a:tr>
              <a:tr h="590451">
                <a:tc>
                  <a:txBody>
                    <a:bodyPr/>
                    <a:lstStyle/>
                    <a:p>
                      <a:pPr marL="0" indent="0">
                        <a:lnSpc>
                          <a:spcPts val="1820"/>
                        </a:lnSpc>
                        <a:buNone/>
                      </a:pPr>
                      <a:r>
                        <a:rPr lang="en-US" sz="1300" dirty="0">
                          <a:solidFill>
                            <a:srgbClr val="1B2433"/>
                          </a:solidFill>
                          <a:latin typeface="IBM Plex Sans" pitchFamily="34" charset="0"/>
                          <a:ea typeface="IBM Plex Sans" pitchFamily="34" charset="-122"/>
                          <a:cs typeface="IBM Plex Sans" pitchFamily="34" charset="-120"/>
                        </a:rPr>
                        <a:t>Software and risk</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B2433"/>
                          </a:solidFill>
                          <a:latin typeface="IBM Plex Sans" pitchFamily="34" charset="0"/>
                          <a:ea typeface="IBM Plex Sans" pitchFamily="34" charset="-122"/>
                          <a:cs typeface="IBM Plex Sans" pitchFamily="34" charset="-120"/>
                        </a:rPr>
                        <a:t>IEC 62304, ISO 14971, IEC 62366-1, IEC 81001-5-1</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B2433"/>
                          </a:solidFill>
                          <a:latin typeface="IBM Plex Sans" pitchFamily="34" charset="0"/>
                          <a:ea typeface="IBM Plex Sans" pitchFamily="34" charset="-122"/>
                          <a:cs typeface="IBM Plex Sans" pitchFamily="34" charset="-120"/>
                        </a:rPr>
                        <a:t>Same standards recognised</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4"/>
                  </a:ext>
                </a:extLst>
              </a:tr>
              <a:tr h="359321">
                <a:tc>
                  <a:txBody>
                    <a:bodyPr/>
                    <a:lstStyle/>
                    <a:p>
                      <a:pPr marL="0" indent="0">
                        <a:lnSpc>
                          <a:spcPts val="1820"/>
                        </a:lnSpc>
                        <a:buNone/>
                      </a:pPr>
                      <a:r>
                        <a:rPr lang="en-US" sz="1300" dirty="0">
                          <a:solidFill>
                            <a:srgbClr val="1B2433"/>
                          </a:solidFill>
                          <a:latin typeface="IBM Plex Sans" pitchFamily="34" charset="0"/>
                          <a:ea typeface="IBM Plex Sans" pitchFamily="34" charset="-122"/>
                          <a:cs typeface="IBM Plex Sans" pitchFamily="34" charset="-120"/>
                        </a:rPr>
                        <a:t>AI on top</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B2433"/>
                          </a:solidFill>
                          <a:latin typeface="IBM Plex Sans" pitchFamily="34" charset="0"/>
                          <a:ea typeface="IBM Plex Sans" pitchFamily="34" charset="-122"/>
                          <a:cs typeface="IBM Plex Sans" pitchFamily="34" charset="-120"/>
                        </a:rPr>
                        <a:t>AI Act high-risk rules from Aug 2028</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tc>
                  <a:txBody>
                    <a:bodyPr/>
                    <a:lstStyle/>
                    <a:p>
                      <a:pPr marL="0" indent="0">
                        <a:lnSpc>
                          <a:spcPts val="1820"/>
                        </a:lnSpc>
                        <a:buNone/>
                      </a:pPr>
                      <a:r>
                        <a:rPr lang="en-US" sz="1300" dirty="0">
                          <a:solidFill>
                            <a:srgbClr val="1B2433"/>
                          </a:solidFill>
                          <a:latin typeface="IBM Plex Sans" pitchFamily="34" charset="0"/>
                          <a:ea typeface="IBM Plex Sans" pitchFamily="34" charset="-122"/>
                          <a:cs typeface="IBM Plex Sans" pitchFamily="34" charset="-120"/>
                        </a:rPr>
                        <a:t>Plan for changes to the algorithm (PCCP)</a:t>
                      </a:r>
                      <a:endParaRPr lang="en-US" sz="1300" dirty="0">
                        <a:latin typeface="IBM Plex Sans" charset="0"/>
                        <a:ea typeface="IBM Plex Sans" charset="0"/>
                        <a:cs typeface="IBM Plex Sans" charset="0"/>
                      </a:endParaRPr>
                    </a:p>
                  </a:txBody>
                  <a:tcPr marL="57785" marR="57785" marT="57785" marB="57785">
                    <a:lnL w="12700" cap="flat" cmpd="sng" algn="ctr">
                      <a:solidFill>
                        <a:srgbClr val="C4C2BE"/>
                      </a:solidFill>
                      <a:prstDash val="solid"/>
                      <a:round/>
                      <a:headEnd type="none" w="med" len="med"/>
                      <a:tailEnd type="none" w="med" len="med"/>
                    </a:lnL>
                    <a:lnR w="12700" cap="flat" cmpd="sng" algn="ctr">
                      <a:solidFill>
                        <a:srgbClr val="C4C2BE"/>
                      </a:solidFill>
                      <a:prstDash val="solid"/>
                      <a:round/>
                      <a:headEnd type="none" w="med" len="med"/>
                      <a:tailEnd type="none" w="med" len="med"/>
                    </a:lnR>
                    <a:lnT w="12700" cap="flat" cmpd="sng" algn="ctr">
                      <a:solidFill>
                        <a:srgbClr val="C4C2BE"/>
                      </a:solidFill>
                      <a:prstDash val="solid"/>
                      <a:round/>
                      <a:headEnd type="none" w="med" len="med"/>
                      <a:tailEnd type="none" w="med" len="med"/>
                    </a:lnT>
                    <a:lnB w="12700" cap="flat" cmpd="sng" algn="ctr">
                      <a:solidFill>
                        <a:srgbClr val="C4C2BE"/>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Text 1"/>
          <p:cNvSpPr/>
          <p:nvPr/>
        </p:nvSpPr>
        <p:spPr>
          <a:xfrm>
            <a:off x="812800" y="4726335"/>
            <a:ext cx="10464800" cy="59432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4A5568"/>
                </a:solidFill>
                <a:latin typeface="IBM Plex Sans" pitchFamily="34" charset="0"/>
                <a:ea typeface="IBM Plex Sans" pitchFamily="34" charset="-122"/>
                <a:cs typeface="IBM Plex Sans" pitchFamily="34" charset="-120"/>
              </a:rPr>
              <a:t>One sentence in your intended use, such as "supports the decision to operate", can move you up a class and add a year.</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2">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Three kinds of evidence, three different audiences</a:t>
            </a:r>
            <a:endParaRPr lang="en-US" sz="3600" dirty="0"/>
          </a:p>
        </p:txBody>
      </p:sp>
      <p:sp>
        <p:nvSpPr>
          <p:cNvPr id="3" name="Shape 1"/>
          <p:cNvSpPr/>
          <p:nvPr/>
        </p:nvSpPr>
        <p:spPr>
          <a:xfrm>
            <a:off x="815975" y="2126555"/>
            <a:ext cx="3384550" cy="1916261"/>
          </a:xfrm>
          <a:prstGeom prst="roundRect">
            <a:avLst>
              <a:gd name="adj" fmla="val 5136"/>
            </a:avLst>
          </a:prstGeom>
          <a:solidFill>
            <a:srgbClr val="FFFFFF"/>
          </a:solidFill>
          <a:ln w="6350">
            <a:solidFill>
              <a:srgbClr val="DDD8CC"/>
            </a:solidFill>
            <a:prstDash val="solid"/>
          </a:ln>
        </p:spPr>
        <p:txBody>
          <a:bodyPr/>
          <a:lstStyle/>
          <a:p>
            <a:endParaRPr lang="en-NL"/>
          </a:p>
        </p:txBody>
      </p:sp>
      <p:sp>
        <p:nvSpPr>
          <p:cNvPr id="4" name="Text 2"/>
          <p:cNvSpPr/>
          <p:nvPr/>
        </p:nvSpPr>
        <p:spPr>
          <a:xfrm>
            <a:off x="1073150" y="2383730"/>
            <a:ext cx="295630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C1E"/>
                </a:solidFill>
                <a:latin typeface="IBM Plex Sans" pitchFamily="34" charset="0"/>
                <a:ea typeface="IBM Plex Sans" pitchFamily="34" charset="-122"/>
                <a:cs typeface="IBM Plex Sans" pitchFamily="34" charset="-120"/>
              </a:rPr>
              <a:t>TECHNICAL</a:t>
            </a:r>
            <a:endParaRPr lang="en-US" sz="1200" dirty="0"/>
          </a:p>
        </p:txBody>
      </p:sp>
      <p:sp>
        <p:nvSpPr>
          <p:cNvPr id="5" name="Text 3"/>
          <p:cNvSpPr/>
          <p:nvPr/>
        </p:nvSpPr>
        <p:spPr>
          <a:xfrm>
            <a:off x="1073150" y="2698651"/>
            <a:ext cx="295630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Does it measure correctly?</a:t>
            </a:r>
            <a:endParaRPr lang="en-US" sz="1600" dirty="0"/>
          </a:p>
        </p:txBody>
      </p:sp>
      <p:sp>
        <p:nvSpPr>
          <p:cNvPr id="6" name="Text 4"/>
          <p:cNvSpPr/>
          <p:nvPr/>
        </p:nvSpPr>
        <p:spPr>
          <a:xfrm>
            <a:off x="1073150" y="3044081"/>
            <a:ext cx="295630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Repeatability, phantom and cadaver tests, error versus ground truth.</a:t>
            </a:r>
            <a:endParaRPr lang="en-US" sz="1200" dirty="0"/>
          </a:p>
        </p:txBody>
      </p:sp>
      <p:sp>
        <p:nvSpPr>
          <p:cNvPr id="7" name="Text 5"/>
          <p:cNvSpPr/>
          <p:nvPr/>
        </p:nvSpPr>
        <p:spPr>
          <a:xfrm>
            <a:off x="1073150" y="3572321"/>
            <a:ext cx="295630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Convinces:</a:t>
            </a:r>
            <a:r>
              <a:rPr lang="en-US" sz="1200" dirty="0">
                <a:solidFill>
                  <a:srgbClr val="14213D"/>
                </a:solidFill>
                <a:latin typeface="IBM Plex Sans" pitchFamily="34" charset="0"/>
                <a:ea typeface="IBM Plex Sans" pitchFamily="34" charset="-122"/>
                <a:cs typeface="IBM Plex Sans" pitchFamily="34" charset="-120"/>
              </a:rPr>
              <a:t> engineers, notified body</a:t>
            </a:r>
            <a:endParaRPr lang="en-US" sz="1200" dirty="0"/>
          </a:p>
        </p:txBody>
      </p:sp>
      <p:sp>
        <p:nvSpPr>
          <p:cNvPr id="8" name="Shape 6"/>
          <p:cNvSpPr/>
          <p:nvPr/>
        </p:nvSpPr>
        <p:spPr>
          <a:xfrm>
            <a:off x="4410075" y="2126555"/>
            <a:ext cx="3384550" cy="1916261"/>
          </a:xfrm>
          <a:prstGeom prst="roundRect">
            <a:avLst>
              <a:gd name="adj" fmla="val 5136"/>
            </a:avLst>
          </a:prstGeom>
          <a:solidFill>
            <a:srgbClr val="FFFFFF"/>
          </a:solidFill>
          <a:ln w="6350">
            <a:solidFill>
              <a:srgbClr val="DDD8CC"/>
            </a:solidFill>
            <a:prstDash val="solid"/>
          </a:ln>
        </p:spPr>
        <p:txBody>
          <a:bodyPr/>
          <a:lstStyle/>
          <a:p>
            <a:endParaRPr lang="en-NL"/>
          </a:p>
        </p:txBody>
      </p:sp>
      <p:sp>
        <p:nvSpPr>
          <p:cNvPr id="9" name="Text 7"/>
          <p:cNvSpPr/>
          <p:nvPr/>
        </p:nvSpPr>
        <p:spPr>
          <a:xfrm>
            <a:off x="4667250" y="2383730"/>
            <a:ext cx="295630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C1E"/>
                </a:solidFill>
                <a:latin typeface="IBM Plex Sans" pitchFamily="34" charset="0"/>
                <a:ea typeface="IBM Plex Sans" pitchFamily="34" charset="-122"/>
                <a:cs typeface="IBM Plex Sans" pitchFamily="34" charset="-120"/>
              </a:rPr>
              <a:t>CLINICAL</a:t>
            </a:r>
            <a:endParaRPr lang="en-US" sz="1200" dirty="0"/>
          </a:p>
        </p:txBody>
      </p:sp>
      <p:sp>
        <p:nvSpPr>
          <p:cNvPr id="10" name="Text 8"/>
          <p:cNvSpPr/>
          <p:nvPr/>
        </p:nvSpPr>
        <p:spPr>
          <a:xfrm>
            <a:off x="4667250" y="2698651"/>
            <a:ext cx="295630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Is it right in patients?</a:t>
            </a:r>
            <a:endParaRPr lang="en-US" sz="1600" dirty="0"/>
          </a:p>
        </p:txBody>
      </p:sp>
      <p:sp>
        <p:nvSpPr>
          <p:cNvPr id="11" name="Text 9"/>
          <p:cNvSpPr/>
          <p:nvPr/>
        </p:nvSpPr>
        <p:spPr>
          <a:xfrm>
            <a:off x="4667250" y="3044081"/>
            <a:ext cx="295630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Sensitivity and specificity against a reference standard, ideally multicentre.</a:t>
            </a:r>
            <a:endParaRPr lang="en-US" sz="1200" dirty="0"/>
          </a:p>
        </p:txBody>
      </p:sp>
      <p:sp>
        <p:nvSpPr>
          <p:cNvPr id="12" name="Text 10"/>
          <p:cNvSpPr/>
          <p:nvPr/>
        </p:nvSpPr>
        <p:spPr>
          <a:xfrm>
            <a:off x="4667250" y="3572321"/>
            <a:ext cx="295630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4213D"/>
                </a:solidFill>
                <a:latin typeface="IBM Plex Sans" pitchFamily="34" charset="0"/>
                <a:ea typeface="IBM Plex Sans" pitchFamily="34" charset="-122"/>
                <a:cs typeface="IBM Plex Sans" pitchFamily="34" charset="-120"/>
              </a:rPr>
              <a:t>Convinces:</a:t>
            </a:r>
            <a:r>
              <a:rPr lang="en-US" sz="1200" dirty="0">
                <a:solidFill>
                  <a:srgbClr val="14213D"/>
                </a:solidFill>
                <a:latin typeface="IBM Plex Sans" pitchFamily="34" charset="0"/>
                <a:ea typeface="IBM Plex Sans" pitchFamily="34" charset="-122"/>
                <a:cs typeface="IBM Plex Sans" pitchFamily="34" charset="-120"/>
              </a:rPr>
              <a:t> clinicians, regulators</a:t>
            </a:r>
            <a:endParaRPr lang="en-US" sz="1200" dirty="0"/>
          </a:p>
        </p:txBody>
      </p:sp>
      <p:sp>
        <p:nvSpPr>
          <p:cNvPr id="13" name="Shape 11"/>
          <p:cNvSpPr/>
          <p:nvPr/>
        </p:nvSpPr>
        <p:spPr>
          <a:xfrm>
            <a:off x="8001000" y="2123380"/>
            <a:ext cx="3378200" cy="1922611"/>
          </a:xfrm>
          <a:prstGeom prst="roundRect">
            <a:avLst>
              <a:gd name="adj" fmla="val 5284"/>
            </a:avLst>
          </a:prstGeom>
          <a:solidFill>
            <a:srgbClr val="14213D"/>
          </a:solidFill>
          <a:ln/>
        </p:spPr>
        <p:txBody>
          <a:bodyPr/>
          <a:lstStyle/>
          <a:p>
            <a:endParaRPr lang="en-NL"/>
          </a:p>
        </p:txBody>
      </p:sp>
      <p:sp>
        <p:nvSpPr>
          <p:cNvPr id="14" name="Text 12"/>
          <p:cNvSpPr/>
          <p:nvPr/>
        </p:nvSpPr>
        <p:spPr>
          <a:xfrm>
            <a:off x="8255000" y="2377380"/>
            <a:ext cx="2956306"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65A"/>
                </a:solidFill>
                <a:latin typeface="IBM Plex Sans" pitchFamily="34" charset="0"/>
                <a:ea typeface="IBM Plex Sans" pitchFamily="34" charset="-122"/>
                <a:cs typeface="IBM Plex Sans" pitchFamily="34" charset="-120"/>
              </a:rPr>
              <a:t>UTILITY</a:t>
            </a:r>
            <a:endParaRPr lang="en-US" sz="1200" dirty="0"/>
          </a:p>
        </p:txBody>
      </p:sp>
      <p:sp>
        <p:nvSpPr>
          <p:cNvPr id="15" name="Text 13"/>
          <p:cNvSpPr/>
          <p:nvPr/>
        </p:nvSpPr>
        <p:spPr>
          <a:xfrm>
            <a:off x="8255000" y="2692301"/>
            <a:ext cx="2956306"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3EE"/>
                </a:solidFill>
                <a:latin typeface="IBM Plex Sans" pitchFamily="34" charset="0"/>
                <a:ea typeface="IBM Plex Sans" pitchFamily="34" charset="-122"/>
                <a:cs typeface="IBM Plex Sans" pitchFamily="34" charset="-120"/>
              </a:rPr>
              <a:t>Does it change care and cost?</a:t>
            </a:r>
            <a:endParaRPr lang="en-US" sz="1600" dirty="0"/>
          </a:p>
        </p:txBody>
      </p:sp>
      <p:sp>
        <p:nvSpPr>
          <p:cNvPr id="16" name="Text 14"/>
          <p:cNvSpPr/>
          <p:nvPr/>
        </p:nvSpPr>
        <p:spPr>
          <a:xfrm>
            <a:off x="8255000" y="3037731"/>
            <a:ext cx="295630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8D6"/>
                </a:solidFill>
                <a:latin typeface="IBM Plex Sans" pitchFamily="34" charset="0"/>
                <a:ea typeface="IBM Plex Sans" pitchFamily="34" charset="-122"/>
                <a:cs typeface="IBM Plex Sans" pitchFamily="34" charset="-120"/>
              </a:rPr>
              <a:t>Time to diagnosis, decisions changed, fewer unnecessary operations.</a:t>
            </a:r>
            <a:endParaRPr lang="en-US" sz="1200" dirty="0"/>
          </a:p>
        </p:txBody>
      </p:sp>
      <p:sp>
        <p:nvSpPr>
          <p:cNvPr id="17" name="Text 15"/>
          <p:cNvSpPr/>
          <p:nvPr/>
        </p:nvSpPr>
        <p:spPr>
          <a:xfrm>
            <a:off x="8255000" y="3565971"/>
            <a:ext cx="2956306"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5F3EE"/>
                </a:solidFill>
                <a:latin typeface="IBM Plex Sans" pitchFamily="34" charset="0"/>
                <a:ea typeface="IBM Plex Sans" pitchFamily="34" charset="-122"/>
                <a:cs typeface="IBM Plex Sans" pitchFamily="34" charset="-120"/>
              </a:rPr>
              <a:t>Convinces:</a:t>
            </a:r>
            <a:r>
              <a:rPr lang="en-US" sz="1200" dirty="0">
                <a:solidFill>
                  <a:srgbClr val="F5F3EE"/>
                </a:solidFill>
                <a:latin typeface="IBM Plex Sans" pitchFamily="34" charset="0"/>
                <a:ea typeface="IBM Plex Sans" pitchFamily="34" charset="-122"/>
                <a:cs typeface="IBM Plex Sans" pitchFamily="34" charset="-120"/>
              </a:rPr>
              <a:t> hospital boards, insurers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3">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Adoption: Workflow beats accuracy</a:t>
            </a:r>
            <a:endParaRPr lang="en-US" sz="3600" dirty="0"/>
          </a:p>
        </p:txBody>
      </p:sp>
      <p:grpSp>
        <p:nvGrpSpPr>
          <p:cNvPr id="9" name="Group 8">
            <a:extLst>
              <a:ext uri="{FF2B5EF4-FFF2-40B4-BE49-F238E27FC236}">
                <a16:creationId xmlns:a16="http://schemas.microsoft.com/office/drawing/2014/main" id="{307E6367-4CC0-F829-7B5D-26349D9465A6}"/>
              </a:ext>
            </a:extLst>
          </p:cNvPr>
          <p:cNvGrpSpPr/>
          <p:nvPr/>
        </p:nvGrpSpPr>
        <p:grpSpPr>
          <a:xfrm>
            <a:off x="812800" y="1620490"/>
            <a:ext cx="5232400" cy="1488430"/>
            <a:chOff x="812800" y="1620490"/>
            <a:chExt cx="5232400" cy="1488430"/>
          </a:xfrm>
        </p:grpSpPr>
        <p:sp>
          <p:nvSpPr>
            <p:cNvPr id="3" name="Text 1"/>
            <p:cNvSpPr/>
            <p:nvPr/>
          </p:nvSpPr>
          <p:spPr>
            <a:xfrm>
              <a:off x="812800" y="1620490"/>
              <a:ext cx="523240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Four people must say yes</a:t>
              </a:r>
              <a:endParaRPr lang="en-US" sz="1600" dirty="0"/>
            </a:p>
          </p:txBody>
        </p:sp>
        <p:sp>
          <p:nvSpPr>
            <p:cNvPr id="4" name="Text 2"/>
            <p:cNvSpPr/>
            <p:nvPr/>
          </p:nvSpPr>
          <p:spPr>
            <a:xfrm>
              <a:off x="891032" y="2016720"/>
              <a:ext cx="5146548" cy="1092200"/>
            </a:xfrm>
            <a:prstGeom prst="rect">
              <a:avLst/>
            </a:prstGeom>
            <a:noFill/>
            <a:ln/>
          </p:spPr>
          <p:txBody>
            <a:bodyPr wrap="square" lIns="0" tIns="0" rIns="0" bIns="0" rtlCol="0" anchor="t">
              <a:normAutofit/>
            </a:bodyPr>
            <a:lstStyle/>
            <a:p>
              <a:pPr marL="175768" indent="-175768" algn="l">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The surgeon who orders the test</a:t>
              </a:r>
              <a:endParaRPr lang="en-US" sz="1400" dirty="0"/>
            </a:p>
            <a:p>
              <a:pPr marL="175768" indent="-175768" algn="l">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The radiographer who scans</a:t>
              </a:r>
              <a:endParaRPr lang="en-US" sz="1400" dirty="0"/>
            </a:p>
            <a:p>
              <a:pPr marL="175768" indent="-175768" algn="l">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The radiologist who signs off</a:t>
              </a:r>
              <a:endParaRPr lang="en-US" sz="1400" dirty="0"/>
            </a:p>
            <a:p>
              <a:pPr marL="175768" indent="-175768" algn="l">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IT and security, who approves and connect you</a:t>
              </a:r>
              <a:endParaRPr lang="en-US" sz="1400" dirty="0"/>
            </a:p>
          </p:txBody>
        </p:sp>
      </p:grpSp>
      <p:grpSp>
        <p:nvGrpSpPr>
          <p:cNvPr id="10" name="Group 9">
            <a:extLst>
              <a:ext uri="{FF2B5EF4-FFF2-40B4-BE49-F238E27FC236}">
                <a16:creationId xmlns:a16="http://schemas.microsoft.com/office/drawing/2014/main" id="{1F09FF2C-5809-ACCE-0186-E76BFBDB3B29}"/>
              </a:ext>
            </a:extLst>
          </p:cNvPr>
          <p:cNvGrpSpPr/>
          <p:nvPr/>
        </p:nvGrpSpPr>
        <p:grpSpPr>
          <a:xfrm>
            <a:off x="6299200" y="1620490"/>
            <a:ext cx="5232400" cy="1488430"/>
            <a:chOff x="6299200" y="1620490"/>
            <a:chExt cx="5232400" cy="1488430"/>
          </a:xfrm>
        </p:grpSpPr>
        <p:sp>
          <p:nvSpPr>
            <p:cNvPr id="5" name="Text 3"/>
            <p:cNvSpPr/>
            <p:nvPr/>
          </p:nvSpPr>
          <p:spPr>
            <a:xfrm>
              <a:off x="6299200" y="1620490"/>
              <a:ext cx="5232400"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What they ask for</a:t>
              </a:r>
              <a:endParaRPr lang="en-US" sz="1600" dirty="0"/>
            </a:p>
          </p:txBody>
        </p:sp>
        <p:sp>
          <p:nvSpPr>
            <p:cNvPr id="6" name="Text 4"/>
            <p:cNvSpPr/>
            <p:nvPr/>
          </p:nvSpPr>
          <p:spPr>
            <a:xfrm>
              <a:off x="6377432" y="2016720"/>
              <a:ext cx="5146548" cy="1092200"/>
            </a:xfrm>
            <a:prstGeom prst="rect">
              <a:avLst/>
            </a:prstGeom>
            <a:noFill/>
            <a:ln/>
          </p:spPr>
          <p:txBody>
            <a:bodyPr wrap="square" lIns="0" tIns="0" rIns="0" bIns="0" rtlCol="0" anchor="t">
              <a:normAutofit/>
            </a:bodyPr>
            <a:lstStyle/>
            <a:p>
              <a:pPr marL="175768" indent="-175768" algn="l">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No new scanner, no new protocol</a:t>
              </a:r>
              <a:endParaRPr lang="en-US" sz="1400" dirty="0"/>
            </a:p>
            <a:p>
              <a:pPr marL="175768" indent="-175768" algn="l">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DICOM in, report back in the patient record</a:t>
              </a:r>
              <a:endParaRPr lang="en-US" sz="1400" dirty="0"/>
            </a:p>
            <a:p>
              <a:pPr marL="175768" indent="-175768" algn="l">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Minutes, not days</a:t>
              </a:r>
              <a:endParaRPr lang="en-US" sz="1400" dirty="0"/>
            </a:p>
            <a:p>
              <a:pPr marL="175768" indent="-175768" algn="l">
                <a:lnSpc>
                  <a:spcPts val="2100"/>
                </a:lnSpc>
                <a:buSzPct val="100000"/>
                <a:buChar char="•"/>
              </a:pPr>
              <a:r>
                <a:rPr lang="en-US" sz="1400" dirty="0">
                  <a:solidFill>
                    <a:srgbClr val="4A5568"/>
                  </a:solidFill>
                  <a:latin typeface="IBM Plex Sans" pitchFamily="34" charset="0"/>
                  <a:ea typeface="IBM Plex Sans" pitchFamily="34" charset="-122"/>
                  <a:cs typeface="IBM Plex Sans" pitchFamily="34" charset="-120"/>
                </a:rPr>
                <a:t>Data processing agreement, security test </a:t>
              </a:r>
              <a:r>
                <a:rPr lang="en-US" sz="1400" dirty="0" err="1">
                  <a:solidFill>
                    <a:srgbClr val="4A5568"/>
                  </a:solidFill>
                  <a:latin typeface="IBM Plex Sans" pitchFamily="34" charset="0"/>
                  <a:ea typeface="IBM Plex Sans" pitchFamily="34" charset="-122"/>
                  <a:cs typeface="IBM Plex Sans" pitchFamily="34" charset="-120"/>
                </a:rPr>
                <a:t>etc</a:t>
              </a:r>
              <a:endParaRPr lang="en-US" sz="1400" dirty="0"/>
            </a:p>
          </p:txBody>
        </p:sp>
      </p:grpSp>
      <p:sp>
        <p:nvSpPr>
          <p:cNvPr id="7" name="Text 5"/>
          <p:cNvSpPr/>
          <p:nvPr/>
        </p:nvSpPr>
        <p:spPr>
          <a:xfrm>
            <a:off x="812800" y="3388320"/>
            <a:ext cx="10464800" cy="59432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Rule of thumb:</a:t>
            </a:r>
            <a:r>
              <a:rPr lang="en-US" sz="1600" dirty="0">
                <a:solidFill>
                  <a:srgbClr val="14213D"/>
                </a:solidFill>
                <a:latin typeface="IBM Plex Sans" pitchFamily="34" charset="0"/>
                <a:ea typeface="IBM Plex Sans" pitchFamily="34" charset="-122"/>
                <a:cs typeface="IBM Plex Sans" pitchFamily="34" charset="-120"/>
              </a:rPr>
              <a:t> if your product needs a new login, a new device or a new habit, budget a year of change management.</a:t>
            </a:r>
            <a:endParaRPr lang="en-US" sz="1600" dirty="0"/>
          </a:p>
        </p:txBody>
      </p:sp>
      <p:sp>
        <p:nvSpPr>
          <p:cNvPr id="8" name="Text 1">
            <a:extLst>
              <a:ext uri="{FF2B5EF4-FFF2-40B4-BE49-F238E27FC236}">
                <a16:creationId xmlns:a16="http://schemas.microsoft.com/office/drawing/2014/main" id="{8B999744-09F2-2482-DAA7-61B199662923}"/>
              </a:ext>
            </a:extLst>
          </p:cNvPr>
          <p:cNvSpPr/>
          <p:nvPr/>
        </p:nvSpPr>
        <p:spPr>
          <a:xfrm>
            <a:off x="812800" y="4726335"/>
            <a:ext cx="10464800" cy="1021322"/>
          </a:xfrm>
          <a:prstGeom prst="rect">
            <a:avLst/>
          </a:prstGeom>
          <a:noFill/>
          <a:ln/>
        </p:spPr>
        <p:txBody>
          <a:bodyPr wrap="square" lIns="0" tIns="0" rIns="0" bIns="0" rtlCol="0" anchor="t">
            <a:noAutofit/>
          </a:bodyPr>
          <a:lstStyle/>
          <a:p>
            <a:pPr marL="0" indent="0" algn="l">
              <a:lnSpc>
                <a:spcPts val="2240"/>
              </a:lnSpc>
              <a:buNone/>
            </a:pPr>
            <a:r>
              <a:rPr lang="en-US" sz="2000" dirty="0">
                <a:solidFill>
                  <a:srgbClr val="4A5568"/>
                </a:solidFill>
                <a:latin typeface="IBM Plex Sans" pitchFamily="34" charset="0"/>
                <a:ea typeface="IBM Plex Sans" pitchFamily="34" charset="-122"/>
                <a:cs typeface="IBM Plex Sans" pitchFamily="34" charset="-120"/>
              </a:rPr>
              <a:t>The </a:t>
            </a:r>
            <a:r>
              <a:rPr lang="en-US" sz="2000" dirty="0" err="1">
                <a:solidFill>
                  <a:srgbClr val="4A5568"/>
                </a:solidFill>
                <a:latin typeface="IBM Plex Sans" pitchFamily="34" charset="0"/>
                <a:ea typeface="IBM Plex Sans" pitchFamily="34" charset="-122"/>
                <a:cs typeface="IBM Plex Sans" pitchFamily="34" charset="-120"/>
              </a:rPr>
              <a:t>QurAI</a:t>
            </a:r>
            <a:r>
              <a:rPr lang="en-US" sz="2000" dirty="0">
                <a:solidFill>
                  <a:srgbClr val="4A5568"/>
                </a:solidFill>
                <a:latin typeface="IBM Plex Sans" pitchFamily="34" charset="0"/>
                <a:ea typeface="IBM Plex Sans" pitchFamily="34" charset="-122"/>
                <a:cs typeface="IBM Plex Sans" pitchFamily="34" charset="-120"/>
              </a:rPr>
              <a:t> and </a:t>
            </a:r>
            <a:r>
              <a:rPr lang="en-US" sz="2000" dirty="0" err="1">
                <a:solidFill>
                  <a:srgbClr val="4A5568"/>
                </a:solidFill>
                <a:latin typeface="IBM Plex Sans" pitchFamily="34" charset="0"/>
                <a:ea typeface="IBM Plex Sans" pitchFamily="34" charset="-122"/>
                <a:cs typeface="IBM Plex Sans" pitchFamily="34" charset="-120"/>
              </a:rPr>
              <a:t>Atmoves</a:t>
            </a:r>
            <a:r>
              <a:rPr lang="en-US" sz="2000" dirty="0">
                <a:solidFill>
                  <a:srgbClr val="4A5568"/>
                </a:solidFill>
                <a:latin typeface="IBM Plex Sans" pitchFamily="34" charset="0"/>
                <a:ea typeface="IBM Plex Sans" pitchFamily="34" charset="-122"/>
                <a:cs typeface="IBM Plex Sans" pitchFamily="34" charset="-120"/>
              </a:rPr>
              <a:t> automated segmentation of 3D CT of lower extremities with metal implants is a very significant step towards adoption.  </a:t>
            </a:r>
            <a:r>
              <a:rPr lang="en-US" sz="2000" b="1" dirty="0">
                <a:solidFill>
                  <a:srgbClr val="4A5568"/>
                </a:solidFill>
                <a:latin typeface="IBM Plex Sans" pitchFamily="34" charset="0"/>
                <a:ea typeface="IBM Plex Sans" pitchFamily="34" charset="-122"/>
                <a:cs typeface="IBM Plex Sans" pitchFamily="34" charset="-120"/>
              </a:rPr>
              <a:t>Trust</a:t>
            </a:r>
            <a:r>
              <a:rPr lang="en-US" sz="2000" dirty="0">
                <a:solidFill>
                  <a:srgbClr val="4A5568"/>
                </a:solidFill>
                <a:latin typeface="IBM Plex Sans" pitchFamily="34" charset="0"/>
                <a:ea typeface="IBM Plex Sans" pitchFamily="34" charset="-122"/>
                <a:cs typeface="IBM Plex Sans" pitchFamily="34" charset="-120"/>
              </a:rPr>
              <a:t> in the data selection, outcome definition and algorithm development is key.</a:t>
            </a:r>
            <a:endParaRPr lang="en-US" sz="20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FDD45-E487-E07E-7DAB-A4D6C1E15424}"/>
              </a:ext>
            </a:extLst>
          </p:cNvPr>
          <p:cNvSpPr>
            <a:spLocks noGrp="1"/>
          </p:cNvSpPr>
          <p:nvPr>
            <p:ph type="title"/>
          </p:nvPr>
        </p:nvSpPr>
        <p:spPr>
          <a:xfrm>
            <a:off x="812800" y="120073"/>
            <a:ext cx="10566400" cy="502890"/>
          </a:xfrm>
        </p:spPr>
        <p:txBody>
          <a:bodyPr/>
          <a:lstStyle/>
          <a:p>
            <a:r>
              <a:rPr lang="en-NL" sz="3200" dirty="0"/>
              <a:t>Layman summary current status and open invite to contribute</a:t>
            </a:r>
          </a:p>
        </p:txBody>
      </p:sp>
      <p:sp>
        <p:nvSpPr>
          <p:cNvPr id="3" name="Text Placeholder 2">
            <a:extLst>
              <a:ext uri="{FF2B5EF4-FFF2-40B4-BE49-F238E27FC236}">
                <a16:creationId xmlns:a16="http://schemas.microsoft.com/office/drawing/2014/main" id="{94A5A37E-7571-BA5A-928C-BE86F9172072}"/>
              </a:ext>
            </a:extLst>
          </p:cNvPr>
          <p:cNvSpPr>
            <a:spLocks noGrp="1"/>
          </p:cNvSpPr>
          <p:nvPr>
            <p:ph type="body" idx="101"/>
          </p:nvPr>
        </p:nvSpPr>
        <p:spPr>
          <a:xfrm>
            <a:off x="327891" y="835398"/>
            <a:ext cx="10566400" cy="5763984"/>
          </a:xfrm>
        </p:spPr>
        <p:txBody>
          <a:bodyPr/>
          <a:lstStyle/>
          <a:p>
            <a:r>
              <a:rPr lang="en-GB" dirty="0"/>
              <a:t>A</a:t>
            </a:r>
            <a:r>
              <a:rPr lang="en-NL" dirty="0"/>
              <a:t>s previously presented by C.M</a:t>
            </a:r>
            <a:r>
              <a:rPr lang="en-GB" dirty="0"/>
              <a:t>a</a:t>
            </a:r>
            <a:r>
              <a:rPr lang="en-NL" dirty="0"/>
              <a:t>gg and E.Simon</a:t>
            </a:r>
          </a:p>
          <a:p>
            <a:r>
              <a:rPr lang="en-GB" u="sng" dirty="0"/>
              <a:t>C</a:t>
            </a:r>
            <a:r>
              <a:rPr lang="en-NL" u="sng" dirty="0"/>
              <a:t>urrent </a:t>
            </a:r>
            <a:r>
              <a:rPr lang="en-NL" dirty="0"/>
              <a:t>approach;after the varus valgus load induced scans;</a:t>
            </a:r>
          </a:p>
          <a:p>
            <a:pPr marL="285750" indent="-285750">
              <a:buFontTx/>
              <a:buChar char="-"/>
            </a:pPr>
            <a:r>
              <a:rPr lang="en-NL" dirty="0"/>
              <a:t>threshold-based region-growing algorithm generates segmentation masks of the tibial cortex and the tibial implant in the valgus scan and tibial implant in the varus scan</a:t>
            </a:r>
          </a:p>
          <a:p>
            <a:pPr marL="285750" indent="-285750">
              <a:buFontTx/>
              <a:buChar char="-"/>
            </a:pPr>
            <a:r>
              <a:rPr lang="en-NL" dirty="0">
                <a:solidFill>
                  <a:schemeClr val="tx1"/>
                </a:solidFill>
              </a:rPr>
              <a:t>User set </a:t>
            </a:r>
            <a:r>
              <a:rPr lang="en-NL" dirty="0">
                <a:solidFill>
                  <a:srgbClr val="FF0000"/>
                </a:solidFill>
              </a:rPr>
              <a:t>manual </a:t>
            </a:r>
            <a:r>
              <a:rPr lang="en-NL" dirty="0"/>
              <a:t>seedpoint and can </a:t>
            </a:r>
            <a:r>
              <a:rPr lang="en-NL" dirty="0">
                <a:solidFill>
                  <a:srgbClr val="FF0000"/>
                </a:solidFill>
              </a:rPr>
              <a:t>manual</a:t>
            </a:r>
            <a:r>
              <a:rPr lang="en-NL" dirty="0"/>
              <a:t> adjust the predefined treshold  if needed</a:t>
            </a:r>
          </a:p>
          <a:p>
            <a:pPr marL="285750" indent="-285750">
              <a:buFontTx/>
              <a:buChar char="-"/>
            </a:pPr>
            <a:r>
              <a:rPr lang="en-NL" dirty="0"/>
              <a:t>a polygon mesh generated by the Marching Cubes algorithm</a:t>
            </a:r>
          </a:p>
          <a:p>
            <a:pPr marL="285750" indent="-285750">
              <a:buFontTx/>
              <a:buChar char="-"/>
            </a:pPr>
            <a:r>
              <a:rPr lang="en-NL" dirty="0"/>
              <a:t> alignment of varus valgus contour using Iterative Closest Point registration</a:t>
            </a:r>
          </a:p>
          <a:p>
            <a:pPr marL="285750" indent="-285750">
              <a:buFontTx/>
              <a:buChar char="-"/>
            </a:pPr>
            <a:r>
              <a:rPr lang="en-NL" dirty="0"/>
              <a:t>double-contour sampled and point-to-image registration optimized by Nelder-Mead downhill algorithm</a:t>
            </a:r>
          </a:p>
          <a:p>
            <a:r>
              <a:rPr lang="en-NL" u="sng" dirty="0"/>
              <a:t>Proposed </a:t>
            </a:r>
            <a:r>
              <a:rPr lang="en-NL" dirty="0"/>
              <a:t>and in process;</a:t>
            </a:r>
          </a:p>
          <a:p>
            <a:r>
              <a:rPr lang="en-GB" dirty="0"/>
              <a:t>- R</a:t>
            </a:r>
            <a:r>
              <a:rPr lang="en-NL" dirty="0"/>
              <a:t>eplace semi-automated steps by fully automated utilizing nnU-Net model</a:t>
            </a:r>
          </a:p>
          <a:p>
            <a:r>
              <a:rPr lang="en-NL" dirty="0"/>
              <a:t>- avoid overlap bone and implant mask, dilate with a circular structural element. Remove bone mask overlapping</a:t>
            </a:r>
          </a:p>
          <a:p>
            <a:pPr marL="285750" indent="-285750">
              <a:buFontTx/>
              <a:buChar char="-"/>
            </a:pPr>
            <a:r>
              <a:rPr lang="en-NL" dirty="0"/>
              <a:t>Increase user </a:t>
            </a:r>
            <a:r>
              <a:rPr lang="en-NL" b="1" dirty="0"/>
              <a:t>trust</a:t>
            </a:r>
            <a:r>
              <a:rPr lang="en-NL" dirty="0"/>
              <a:t> by introducing performane score (likelyhood) of the automated segmentation model</a:t>
            </a:r>
          </a:p>
          <a:p>
            <a:pPr marL="285750" indent="-285750">
              <a:buFontTx/>
              <a:buChar char="-"/>
            </a:pPr>
            <a:endParaRPr lang="en-NL" dirty="0"/>
          </a:p>
          <a:p>
            <a:r>
              <a:rPr lang="en-NL" b="1" dirty="0"/>
              <a:t>If you are interested in AI for orthopedics and or movement science there is still lots of work to be done with a true impact at the end…</a:t>
            </a:r>
          </a:p>
        </p:txBody>
      </p:sp>
    </p:spTree>
    <p:extLst>
      <p:ext uri="{BB962C8B-B14F-4D97-AF65-F5344CB8AC3E}">
        <p14:creationId xmlns:p14="http://schemas.microsoft.com/office/powerpoint/2010/main" val="19189133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4">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464800"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F5F3EE"/>
                </a:solidFill>
                <a:latin typeface="Space Grotesk" pitchFamily="34" charset="0"/>
                <a:ea typeface="Space Grotesk" pitchFamily="34" charset="-122"/>
                <a:cs typeface="Space Grotesk" pitchFamily="34" charset="-120"/>
              </a:rPr>
              <a:t>Who pays? The user, the buyer and the one who saves are three different parties.</a:t>
            </a:r>
            <a:endParaRPr lang="en-US" sz="3600" dirty="0"/>
          </a:p>
        </p:txBody>
      </p:sp>
      <p:sp>
        <p:nvSpPr>
          <p:cNvPr id="3" name="Shape 1"/>
          <p:cNvSpPr/>
          <p:nvPr/>
        </p:nvSpPr>
        <p:spPr>
          <a:xfrm>
            <a:off x="815975" y="2126555"/>
            <a:ext cx="3380284" cy="1550541"/>
          </a:xfrm>
          <a:prstGeom prst="roundRect">
            <a:avLst>
              <a:gd name="adj" fmla="val 6348"/>
            </a:avLst>
          </a:prstGeom>
          <a:noFill/>
          <a:ln w="6350">
            <a:solidFill>
              <a:srgbClr val="3A4A6B"/>
            </a:solidFill>
            <a:prstDash val="solid"/>
          </a:ln>
        </p:spPr>
        <p:txBody>
          <a:bodyPr/>
          <a:lstStyle/>
          <a:p>
            <a:endParaRPr lang="en-NL"/>
          </a:p>
        </p:txBody>
      </p:sp>
      <p:sp>
        <p:nvSpPr>
          <p:cNvPr id="4" name="Text 2"/>
          <p:cNvSpPr/>
          <p:nvPr/>
        </p:nvSpPr>
        <p:spPr>
          <a:xfrm>
            <a:off x="1073150" y="2383730"/>
            <a:ext cx="295191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65A"/>
                </a:solidFill>
                <a:latin typeface="IBM Plex Sans" pitchFamily="34" charset="0"/>
                <a:ea typeface="IBM Plex Sans" pitchFamily="34" charset="-122"/>
                <a:cs typeface="IBM Plex Sans" pitchFamily="34" charset="-120"/>
              </a:rPr>
              <a:t>USES IT</a:t>
            </a:r>
            <a:endParaRPr lang="en-US" sz="1200" dirty="0"/>
          </a:p>
        </p:txBody>
      </p:sp>
      <p:sp>
        <p:nvSpPr>
          <p:cNvPr id="5" name="Text 3"/>
          <p:cNvSpPr/>
          <p:nvPr/>
        </p:nvSpPr>
        <p:spPr>
          <a:xfrm>
            <a:off x="1073150" y="2673251"/>
            <a:ext cx="295191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3EE"/>
                </a:solidFill>
                <a:latin typeface="IBM Plex Sans" pitchFamily="34" charset="0"/>
                <a:ea typeface="IBM Plex Sans" pitchFamily="34" charset="-122"/>
                <a:cs typeface="IBM Plex Sans" pitchFamily="34" charset="-120"/>
              </a:rPr>
              <a:t>Surgeon and radiologist</a:t>
            </a:r>
            <a:endParaRPr lang="en-US" sz="1600" dirty="0"/>
          </a:p>
        </p:txBody>
      </p:sp>
      <p:sp>
        <p:nvSpPr>
          <p:cNvPr id="6" name="Text 4"/>
          <p:cNvSpPr/>
          <p:nvPr/>
        </p:nvSpPr>
        <p:spPr>
          <a:xfrm>
            <a:off x="1073150" y="2993281"/>
            <a:ext cx="295191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8D6"/>
                </a:solidFill>
                <a:latin typeface="IBM Plex Sans" pitchFamily="34" charset="0"/>
                <a:ea typeface="IBM Plex Sans" pitchFamily="34" charset="-122"/>
                <a:cs typeface="IBM Plex Sans" pitchFamily="34" charset="-120"/>
              </a:rPr>
              <a:t>Wants a clear answer, fast</a:t>
            </a:r>
            <a:endParaRPr lang="en-US" sz="1200" dirty="0"/>
          </a:p>
        </p:txBody>
      </p:sp>
      <p:sp>
        <p:nvSpPr>
          <p:cNvPr id="7" name="Shape 5"/>
          <p:cNvSpPr/>
          <p:nvPr/>
        </p:nvSpPr>
        <p:spPr>
          <a:xfrm>
            <a:off x="4405809" y="2126555"/>
            <a:ext cx="3380333" cy="1550541"/>
          </a:xfrm>
          <a:prstGeom prst="roundRect">
            <a:avLst>
              <a:gd name="adj" fmla="val 6348"/>
            </a:avLst>
          </a:prstGeom>
          <a:noFill/>
          <a:ln w="6350">
            <a:solidFill>
              <a:srgbClr val="3A4A6B"/>
            </a:solidFill>
            <a:prstDash val="solid"/>
          </a:ln>
        </p:spPr>
        <p:txBody>
          <a:bodyPr/>
          <a:lstStyle/>
          <a:p>
            <a:endParaRPr lang="en-NL"/>
          </a:p>
        </p:txBody>
      </p:sp>
      <p:sp>
        <p:nvSpPr>
          <p:cNvPr id="8" name="Text 6"/>
          <p:cNvSpPr/>
          <p:nvPr/>
        </p:nvSpPr>
        <p:spPr>
          <a:xfrm>
            <a:off x="4662984" y="2383730"/>
            <a:ext cx="295196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65A"/>
                </a:solidFill>
                <a:latin typeface="IBM Plex Sans" pitchFamily="34" charset="0"/>
                <a:ea typeface="IBM Plex Sans" pitchFamily="34" charset="-122"/>
                <a:cs typeface="IBM Plex Sans" pitchFamily="34" charset="-120"/>
              </a:rPr>
              <a:t>PAYS FOR IT</a:t>
            </a:r>
            <a:endParaRPr lang="en-US" sz="1200" dirty="0"/>
          </a:p>
        </p:txBody>
      </p:sp>
      <p:sp>
        <p:nvSpPr>
          <p:cNvPr id="9" name="Text 7"/>
          <p:cNvSpPr/>
          <p:nvPr/>
        </p:nvSpPr>
        <p:spPr>
          <a:xfrm>
            <a:off x="4662984" y="2673251"/>
            <a:ext cx="2951963"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3EE"/>
                </a:solidFill>
                <a:latin typeface="IBM Plex Sans" pitchFamily="34" charset="0"/>
                <a:ea typeface="IBM Plex Sans" pitchFamily="34" charset="-122"/>
                <a:cs typeface="IBM Plex Sans" pitchFamily="34" charset="-120"/>
              </a:rPr>
              <a:t>Hospital</a:t>
            </a:r>
            <a:endParaRPr lang="en-US" sz="1600" dirty="0"/>
          </a:p>
        </p:txBody>
      </p:sp>
      <p:sp>
        <p:nvSpPr>
          <p:cNvPr id="10" name="Text 8"/>
          <p:cNvSpPr/>
          <p:nvPr/>
        </p:nvSpPr>
        <p:spPr>
          <a:xfrm>
            <a:off x="4662984" y="2993281"/>
            <a:ext cx="295196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8D6"/>
                </a:solidFill>
                <a:latin typeface="IBM Plex Sans" pitchFamily="34" charset="0"/>
                <a:ea typeface="IBM Plex Sans" pitchFamily="34" charset="-122"/>
                <a:cs typeface="IBM Plex Sans" pitchFamily="34" charset="-120"/>
              </a:rPr>
              <a:t>Inside an existing reimbursement fee, the Dutch DBC</a:t>
            </a:r>
            <a:endParaRPr lang="en-US" sz="1200" dirty="0"/>
          </a:p>
        </p:txBody>
      </p:sp>
      <p:sp>
        <p:nvSpPr>
          <p:cNvPr id="11" name="Shape 9"/>
          <p:cNvSpPr/>
          <p:nvPr/>
        </p:nvSpPr>
        <p:spPr>
          <a:xfrm>
            <a:off x="7995692" y="2126555"/>
            <a:ext cx="3380333" cy="1550541"/>
          </a:xfrm>
          <a:prstGeom prst="roundRect">
            <a:avLst>
              <a:gd name="adj" fmla="val 6348"/>
            </a:avLst>
          </a:prstGeom>
          <a:noFill/>
          <a:ln w="6350">
            <a:solidFill>
              <a:srgbClr val="3A4A6B"/>
            </a:solidFill>
            <a:prstDash val="solid"/>
          </a:ln>
        </p:spPr>
        <p:txBody>
          <a:bodyPr/>
          <a:lstStyle/>
          <a:p>
            <a:endParaRPr lang="en-NL"/>
          </a:p>
        </p:txBody>
      </p:sp>
      <p:sp>
        <p:nvSpPr>
          <p:cNvPr id="12" name="Text 10"/>
          <p:cNvSpPr/>
          <p:nvPr/>
        </p:nvSpPr>
        <p:spPr>
          <a:xfrm>
            <a:off x="8252867" y="2383730"/>
            <a:ext cx="2951963"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2A65A"/>
                </a:solidFill>
                <a:latin typeface="IBM Plex Sans" pitchFamily="34" charset="0"/>
                <a:ea typeface="IBM Plex Sans" pitchFamily="34" charset="-122"/>
                <a:cs typeface="IBM Plex Sans" pitchFamily="34" charset="-120"/>
              </a:rPr>
              <a:t>SAVES MOST</a:t>
            </a:r>
            <a:endParaRPr lang="en-US" sz="1200" dirty="0"/>
          </a:p>
        </p:txBody>
      </p:sp>
      <p:sp>
        <p:nvSpPr>
          <p:cNvPr id="13" name="Text 11"/>
          <p:cNvSpPr/>
          <p:nvPr/>
        </p:nvSpPr>
        <p:spPr>
          <a:xfrm>
            <a:off x="8252867" y="2673251"/>
            <a:ext cx="2951963"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3EE"/>
                </a:solidFill>
                <a:latin typeface="IBM Plex Sans" pitchFamily="34" charset="0"/>
                <a:ea typeface="IBM Plex Sans" pitchFamily="34" charset="-122"/>
                <a:cs typeface="IBM Plex Sans" pitchFamily="34" charset="-120"/>
              </a:rPr>
              <a:t>Insurer and society</a:t>
            </a:r>
            <a:endParaRPr lang="en-US" sz="1600" dirty="0"/>
          </a:p>
        </p:txBody>
      </p:sp>
      <p:sp>
        <p:nvSpPr>
          <p:cNvPr id="14" name="Text 12"/>
          <p:cNvSpPr/>
          <p:nvPr/>
        </p:nvSpPr>
        <p:spPr>
          <a:xfrm>
            <a:off x="8252867" y="2993281"/>
            <a:ext cx="2951963"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8D6"/>
                </a:solidFill>
                <a:latin typeface="IBM Plex Sans" pitchFamily="34" charset="0"/>
                <a:ea typeface="IBM Plex Sans" pitchFamily="34" charset="-122"/>
                <a:cs typeface="IBM Plex Sans" pitchFamily="34" charset="-120"/>
              </a:rPr>
              <a:t>Fewer unnecessary interventions, less time off work</a:t>
            </a:r>
            <a:endParaRPr lang="en-US" sz="1200" dirty="0"/>
          </a:p>
        </p:txBody>
      </p:sp>
      <p:sp>
        <p:nvSpPr>
          <p:cNvPr id="16" name="Text 14"/>
          <p:cNvSpPr/>
          <p:nvPr/>
        </p:nvSpPr>
        <p:spPr>
          <a:xfrm>
            <a:off x="812800" y="6238280"/>
            <a:ext cx="104648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8D6"/>
                </a:solidFill>
                <a:latin typeface="IBM Plex Sans" pitchFamily="34" charset="0"/>
                <a:ea typeface="IBM Plex Sans" pitchFamily="34" charset="-122"/>
                <a:cs typeface="IBM Plex Sans" pitchFamily="34" charset="-120"/>
              </a:rPr>
              <a:t>Sources: AtMoves impact analysis; LROI cost estimate per revision</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5">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B85C1E"/>
                </a:solidFill>
                <a:latin typeface="IBM Plex Sans" pitchFamily="34" charset="0"/>
                <a:ea typeface="IBM Plex Sans" pitchFamily="34" charset="-122"/>
                <a:cs typeface="IBM Plex Sans" pitchFamily="34" charset="-120"/>
              </a:rPr>
              <a:t>BUILDING A medtech class2a SPIN-OFF</a:t>
            </a:r>
            <a:endParaRPr lang="en-US" sz="1200" dirty="0"/>
          </a:p>
        </p:txBody>
      </p:sp>
      <p:sp>
        <p:nvSpPr>
          <p:cNvPr id="3" name="Text 1"/>
          <p:cNvSpPr>
            <a:spLocks noGrp="1"/>
          </p:cNvSpPr>
          <p:nvPr>
            <p:ph type="title"/>
          </p:nvPr>
        </p:nvSpPr>
        <p:spPr>
          <a:xfrm>
            <a:off x="812800" y="1432520"/>
            <a:ext cx="11379200" cy="528290"/>
          </a:xfrm>
          <a:prstGeom prst="rect">
            <a:avLst/>
          </a:prstGeom>
          <a:noFill/>
          <a:ln/>
        </p:spPr>
        <p:txBody>
          <a:bodyPr wrap="square" lIns="0" tIns="0" rIns="0" bIns="0" rtlCol="0" anchor="t">
            <a:normAutofit/>
          </a:bodyPr>
          <a:lstStyle/>
          <a:p>
            <a:pPr>
              <a:lnSpc>
                <a:spcPts val="3960"/>
              </a:lnSpc>
            </a:pPr>
            <a:r>
              <a:rPr lang="en-US" sz="3600" b="1" i="0" dirty="0">
                <a:solidFill>
                  <a:srgbClr val="14213D"/>
                </a:solidFill>
                <a:latin typeface="Space Grotesk" pitchFamily="34" charset="0"/>
                <a:ea typeface="Space Grotesk" pitchFamily="34" charset="-122"/>
                <a:cs typeface="Space Grotesk" pitchFamily="34" charset="-120"/>
              </a:rPr>
              <a:t>Eight years and </a:t>
            </a:r>
            <a:r>
              <a:rPr lang="en-US" b="1" dirty="0"/>
              <a:t>€ </a:t>
            </a:r>
            <a:r>
              <a:rPr lang="en-US" sz="3600" b="1" i="0" dirty="0">
                <a:solidFill>
                  <a:srgbClr val="14213D"/>
                </a:solidFill>
                <a:latin typeface="Space Grotesk" pitchFamily="34" charset="0"/>
                <a:ea typeface="Space Grotesk" pitchFamily="34" charset="-122"/>
                <a:cs typeface="Space Grotesk" pitchFamily="34" charset="-120"/>
              </a:rPr>
              <a:t>3.5M from first grant to certified product</a:t>
            </a:r>
            <a:endParaRPr lang="en-US" sz="3600" dirty="0"/>
          </a:p>
        </p:txBody>
      </p:sp>
      <p:sp>
        <p:nvSpPr>
          <p:cNvPr id="4" name="Shape 2"/>
          <p:cNvSpPr/>
          <p:nvPr/>
        </p:nvSpPr>
        <p:spPr>
          <a:xfrm>
            <a:off x="812800" y="2722811"/>
            <a:ext cx="10566400" cy="38100"/>
          </a:xfrm>
          <a:prstGeom prst="rect">
            <a:avLst/>
          </a:prstGeom>
          <a:solidFill>
            <a:srgbClr val="D9CFBE"/>
          </a:solidFill>
          <a:ln/>
        </p:spPr>
        <p:txBody>
          <a:bodyPr/>
          <a:lstStyle/>
          <a:p>
            <a:endParaRPr lang="en-NL"/>
          </a:p>
        </p:txBody>
      </p:sp>
      <p:sp>
        <p:nvSpPr>
          <p:cNvPr id="5" name="Shape 3"/>
          <p:cNvSpPr/>
          <p:nvPr/>
        </p:nvSpPr>
        <p:spPr>
          <a:xfrm>
            <a:off x="812800" y="2621211"/>
            <a:ext cx="241300" cy="241300"/>
          </a:xfrm>
          <a:prstGeom prst="roundRect">
            <a:avLst>
              <a:gd name="adj" fmla="val 50000"/>
            </a:avLst>
          </a:prstGeom>
          <a:solidFill>
            <a:srgbClr val="14213D"/>
          </a:solidFill>
          <a:ln/>
        </p:spPr>
        <p:txBody>
          <a:bodyPr/>
          <a:lstStyle/>
          <a:p>
            <a:endParaRPr lang="en-NL"/>
          </a:p>
        </p:txBody>
      </p:sp>
      <p:sp>
        <p:nvSpPr>
          <p:cNvPr id="6" name="Text 4"/>
          <p:cNvSpPr/>
          <p:nvPr/>
        </p:nvSpPr>
        <p:spPr>
          <a:xfrm>
            <a:off x="812800" y="3040311"/>
            <a:ext cx="17018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2019</a:t>
            </a:r>
            <a:endParaRPr lang="en-US" sz="1600" dirty="0"/>
          </a:p>
        </p:txBody>
      </p:sp>
      <p:sp>
        <p:nvSpPr>
          <p:cNvPr id="7" name="Text 5"/>
          <p:cNvSpPr/>
          <p:nvPr/>
        </p:nvSpPr>
        <p:spPr>
          <a:xfrm>
            <a:off x="812800" y="3357811"/>
            <a:ext cx="1701800"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Research grants, first awards</a:t>
            </a:r>
            <a:endParaRPr lang="en-US" sz="1200" dirty="0"/>
          </a:p>
        </p:txBody>
      </p:sp>
      <p:sp>
        <p:nvSpPr>
          <p:cNvPr id="8" name="Shape 6"/>
          <p:cNvSpPr/>
          <p:nvPr/>
        </p:nvSpPr>
        <p:spPr>
          <a:xfrm>
            <a:off x="2590800" y="2621211"/>
            <a:ext cx="241300" cy="241300"/>
          </a:xfrm>
          <a:prstGeom prst="roundRect">
            <a:avLst>
              <a:gd name="adj" fmla="val 50000"/>
            </a:avLst>
          </a:prstGeom>
          <a:solidFill>
            <a:srgbClr val="14213D"/>
          </a:solidFill>
          <a:ln/>
        </p:spPr>
        <p:txBody>
          <a:bodyPr/>
          <a:lstStyle/>
          <a:p>
            <a:endParaRPr lang="en-NL"/>
          </a:p>
        </p:txBody>
      </p:sp>
      <p:sp>
        <p:nvSpPr>
          <p:cNvPr id="9" name="Text 7"/>
          <p:cNvSpPr/>
          <p:nvPr/>
        </p:nvSpPr>
        <p:spPr>
          <a:xfrm>
            <a:off x="2590800" y="3040311"/>
            <a:ext cx="17018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2022</a:t>
            </a:r>
            <a:endParaRPr lang="en-US" sz="1600" dirty="0"/>
          </a:p>
        </p:txBody>
      </p:sp>
      <p:sp>
        <p:nvSpPr>
          <p:cNvPr id="10" name="Text 8"/>
          <p:cNvSpPr/>
          <p:nvPr/>
        </p:nvSpPr>
        <p:spPr>
          <a:xfrm>
            <a:off x="2590800" y="3357811"/>
            <a:ext cx="1701800"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AtMoves B.V. founded; €1.9M knee grant</a:t>
            </a:r>
            <a:endParaRPr lang="en-US" sz="1200" dirty="0"/>
          </a:p>
        </p:txBody>
      </p:sp>
      <p:sp>
        <p:nvSpPr>
          <p:cNvPr id="11" name="Shape 9"/>
          <p:cNvSpPr/>
          <p:nvPr/>
        </p:nvSpPr>
        <p:spPr>
          <a:xfrm>
            <a:off x="4368800" y="2621211"/>
            <a:ext cx="241300" cy="241300"/>
          </a:xfrm>
          <a:prstGeom prst="roundRect">
            <a:avLst>
              <a:gd name="adj" fmla="val 50000"/>
            </a:avLst>
          </a:prstGeom>
          <a:solidFill>
            <a:srgbClr val="14213D"/>
          </a:solidFill>
          <a:ln/>
        </p:spPr>
        <p:txBody>
          <a:bodyPr/>
          <a:lstStyle/>
          <a:p>
            <a:endParaRPr lang="en-NL"/>
          </a:p>
        </p:txBody>
      </p:sp>
      <p:sp>
        <p:nvSpPr>
          <p:cNvPr id="12" name="Text 10"/>
          <p:cNvSpPr/>
          <p:nvPr/>
        </p:nvSpPr>
        <p:spPr>
          <a:xfrm>
            <a:off x="4368800" y="3040311"/>
            <a:ext cx="17018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2023</a:t>
            </a:r>
            <a:endParaRPr lang="en-US" sz="1600" dirty="0"/>
          </a:p>
        </p:txBody>
      </p:sp>
      <p:sp>
        <p:nvSpPr>
          <p:cNvPr id="13" name="Text 11"/>
          <p:cNvSpPr/>
          <p:nvPr/>
        </p:nvSpPr>
        <p:spPr>
          <a:xfrm>
            <a:off x="4368800" y="3357811"/>
            <a:ext cx="1701800"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€1.4M EU grant for hip research</a:t>
            </a:r>
            <a:endParaRPr lang="en-US" sz="1200" dirty="0"/>
          </a:p>
        </p:txBody>
      </p:sp>
      <p:sp>
        <p:nvSpPr>
          <p:cNvPr id="14" name="Shape 12"/>
          <p:cNvSpPr/>
          <p:nvPr/>
        </p:nvSpPr>
        <p:spPr>
          <a:xfrm>
            <a:off x="6146800" y="2621211"/>
            <a:ext cx="241300" cy="241300"/>
          </a:xfrm>
          <a:prstGeom prst="roundRect">
            <a:avLst>
              <a:gd name="adj" fmla="val 50000"/>
            </a:avLst>
          </a:prstGeom>
          <a:solidFill>
            <a:srgbClr val="14213D"/>
          </a:solidFill>
          <a:ln/>
        </p:spPr>
        <p:txBody>
          <a:bodyPr/>
          <a:lstStyle/>
          <a:p>
            <a:endParaRPr lang="en-NL"/>
          </a:p>
        </p:txBody>
      </p:sp>
      <p:sp>
        <p:nvSpPr>
          <p:cNvPr id="15" name="Text 13"/>
          <p:cNvSpPr/>
          <p:nvPr/>
        </p:nvSpPr>
        <p:spPr>
          <a:xfrm>
            <a:off x="6146800" y="3040311"/>
            <a:ext cx="17018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4213D"/>
                </a:solidFill>
                <a:latin typeface="IBM Plex Sans" pitchFamily="34" charset="0"/>
                <a:ea typeface="IBM Plex Sans" pitchFamily="34" charset="-122"/>
                <a:cs typeface="IBM Plex Sans" pitchFamily="34" charset="-120"/>
              </a:rPr>
              <a:t>2025</a:t>
            </a:r>
            <a:endParaRPr lang="en-US" sz="1600" dirty="0"/>
          </a:p>
        </p:txBody>
      </p:sp>
      <p:sp>
        <p:nvSpPr>
          <p:cNvPr id="16" name="Text 14"/>
          <p:cNvSpPr/>
          <p:nvPr/>
        </p:nvSpPr>
        <p:spPr>
          <a:xfrm>
            <a:off x="6146800" y="3357811"/>
            <a:ext cx="1701800" cy="64259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Semi  automatic pipeline; AI4AI consortium</a:t>
            </a:r>
            <a:endParaRPr lang="en-US" sz="1200" dirty="0"/>
          </a:p>
        </p:txBody>
      </p:sp>
      <p:sp>
        <p:nvSpPr>
          <p:cNvPr id="17" name="Shape 15"/>
          <p:cNvSpPr/>
          <p:nvPr/>
        </p:nvSpPr>
        <p:spPr>
          <a:xfrm>
            <a:off x="7924800" y="2621211"/>
            <a:ext cx="241300" cy="241300"/>
          </a:xfrm>
          <a:prstGeom prst="roundRect">
            <a:avLst>
              <a:gd name="adj" fmla="val 50000"/>
            </a:avLst>
          </a:prstGeom>
          <a:solidFill>
            <a:srgbClr val="B85C1E"/>
          </a:solidFill>
          <a:ln/>
        </p:spPr>
        <p:txBody>
          <a:bodyPr/>
          <a:lstStyle/>
          <a:p>
            <a:endParaRPr lang="en-NL"/>
          </a:p>
        </p:txBody>
      </p:sp>
      <p:sp>
        <p:nvSpPr>
          <p:cNvPr id="18" name="Text 16"/>
          <p:cNvSpPr/>
          <p:nvPr/>
        </p:nvSpPr>
        <p:spPr>
          <a:xfrm>
            <a:off x="7924800" y="3040311"/>
            <a:ext cx="17018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85C1E"/>
                </a:solidFill>
                <a:latin typeface="IBM Plex Sans" pitchFamily="34" charset="0"/>
                <a:ea typeface="IBM Plex Sans" pitchFamily="34" charset="-122"/>
                <a:cs typeface="IBM Plex Sans" pitchFamily="34" charset="-120"/>
              </a:rPr>
              <a:t>2026</a:t>
            </a:r>
            <a:endParaRPr lang="en-US" sz="1600" dirty="0"/>
          </a:p>
        </p:txBody>
      </p:sp>
      <p:sp>
        <p:nvSpPr>
          <p:cNvPr id="19" name="Text 17"/>
          <p:cNvSpPr/>
          <p:nvPr/>
        </p:nvSpPr>
        <p:spPr>
          <a:xfrm>
            <a:off x="7924800" y="3357811"/>
            <a:ext cx="1701800"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First equity: seed round</a:t>
            </a:r>
            <a:endParaRPr lang="en-US" sz="1200" dirty="0"/>
          </a:p>
        </p:txBody>
      </p:sp>
      <p:sp>
        <p:nvSpPr>
          <p:cNvPr id="20" name="Shape 18"/>
          <p:cNvSpPr/>
          <p:nvPr/>
        </p:nvSpPr>
        <p:spPr>
          <a:xfrm>
            <a:off x="9715500" y="2633911"/>
            <a:ext cx="215900" cy="215900"/>
          </a:xfrm>
          <a:prstGeom prst="roundRect">
            <a:avLst>
              <a:gd name="adj" fmla="val 50000"/>
            </a:avLst>
          </a:prstGeom>
          <a:solidFill>
            <a:srgbClr val="FFFFFF"/>
          </a:solidFill>
          <a:ln w="25400">
            <a:solidFill>
              <a:srgbClr val="B85C1E"/>
            </a:solidFill>
            <a:prstDash val="solid"/>
          </a:ln>
        </p:spPr>
        <p:txBody>
          <a:bodyPr/>
          <a:lstStyle/>
          <a:p>
            <a:endParaRPr lang="en-NL"/>
          </a:p>
        </p:txBody>
      </p:sp>
      <p:sp>
        <p:nvSpPr>
          <p:cNvPr id="21" name="Text 19"/>
          <p:cNvSpPr/>
          <p:nvPr/>
        </p:nvSpPr>
        <p:spPr>
          <a:xfrm>
            <a:off x="9702800" y="3040311"/>
            <a:ext cx="1727200"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B85C1E"/>
                </a:solidFill>
                <a:latin typeface="IBM Plex Sans" pitchFamily="34" charset="0"/>
                <a:ea typeface="IBM Plex Sans" pitchFamily="34" charset="-122"/>
                <a:cs typeface="IBM Plex Sans" pitchFamily="34" charset="-120"/>
              </a:rPr>
              <a:t>Q4 2027</a:t>
            </a:r>
            <a:endParaRPr lang="en-US" sz="1600" dirty="0"/>
          </a:p>
        </p:txBody>
      </p:sp>
      <p:sp>
        <p:nvSpPr>
          <p:cNvPr id="22" name="Text 20"/>
          <p:cNvSpPr/>
          <p:nvPr/>
        </p:nvSpPr>
        <p:spPr>
          <a:xfrm>
            <a:off x="9702800" y="3357811"/>
            <a:ext cx="1727200" cy="436860"/>
          </a:xfrm>
          <a:prstGeom prst="rect">
            <a:avLst/>
          </a:prstGeom>
          <a:noFill/>
          <a:ln/>
        </p:spPr>
        <p:txBody>
          <a:bodyPr wrap="square" lIns="0" tIns="0" rIns="0" bIns="0" rtlCol="0" anchor="t">
            <a:normAutofit/>
          </a:bodyPr>
          <a:lstStyle/>
          <a:p>
            <a:pPr marL="0" indent="0" algn="l">
              <a:lnSpc>
                <a:spcPts val="1620"/>
              </a:lnSpc>
              <a:buNone/>
            </a:pPr>
            <a:r>
              <a:rPr lang="en-US" sz="1200" dirty="0">
                <a:solidFill>
                  <a:srgbClr val="4A5568"/>
                </a:solidFill>
                <a:latin typeface="IBM Plex Sans" pitchFamily="34" charset="0"/>
                <a:ea typeface="IBM Plex Sans" pitchFamily="34" charset="-122"/>
                <a:cs typeface="IBM Plex Sans" pitchFamily="34" charset="-120"/>
              </a:rPr>
              <a:t>Target: CE marking, first hospitals live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6">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2829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The three conversations every spin-off has</a:t>
            </a:r>
            <a:endParaRPr lang="en-US" sz="3600" dirty="0"/>
          </a:p>
        </p:txBody>
      </p:sp>
      <p:sp>
        <p:nvSpPr>
          <p:cNvPr id="3" name="Shape 1"/>
          <p:cNvSpPr/>
          <p:nvPr/>
        </p:nvSpPr>
        <p:spPr>
          <a:xfrm>
            <a:off x="812800" y="2015551"/>
            <a:ext cx="3380284" cy="2002780"/>
          </a:xfrm>
          <a:prstGeom prst="roundRect">
            <a:avLst>
              <a:gd name="adj" fmla="val 4914"/>
            </a:avLst>
          </a:prstGeom>
          <a:solidFill>
            <a:srgbClr val="FFFFFF"/>
          </a:solidFill>
          <a:ln w="6350">
            <a:solidFill>
              <a:srgbClr val="DDD8CC"/>
            </a:solidFill>
            <a:prstDash val="solid"/>
          </a:ln>
        </p:spPr>
        <p:txBody>
          <a:bodyPr/>
          <a:lstStyle/>
          <a:p>
            <a:endParaRPr lang="en-NL"/>
          </a:p>
        </p:txBody>
      </p:sp>
      <p:pic>
        <p:nvPicPr>
          <p:cNvPr id="4" name="Image 0" descr="Key"/>
          <p:cNvPicPr>
            <a:picLocks noChangeAspect="1"/>
          </p:cNvPicPr>
          <p:nvPr/>
        </p:nvPicPr>
        <p:blipFill>
          <a:blip r:embed="rId3"/>
          <a:srcRect/>
          <a:stretch/>
        </p:blipFill>
        <p:spPr>
          <a:xfrm>
            <a:off x="1069975" y="2272726"/>
            <a:ext cx="355600" cy="355600"/>
          </a:xfrm>
          <a:prstGeom prst="rect">
            <a:avLst/>
          </a:prstGeom>
        </p:spPr>
      </p:pic>
      <p:sp>
        <p:nvSpPr>
          <p:cNvPr id="5" name="Text 2"/>
          <p:cNvSpPr/>
          <p:nvPr/>
        </p:nvSpPr>
        <p:spPr>
          <a:xfrm>
            <a:off x="1069975" y="2729926"/>
            <a:ext cx="2951912"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IP and the university</a:t>
            </a:r>
            <a:endParaRPr lang="en-US" sz="1600" dirty="0"/>
          </a:p>
        </p:txBody>
      </p:sp>
      <p:sp>
        <p:nvSpPr>
          <p:cNvPr id="6" name="Text 3"/>
          <p:cNvSpPr/>
          <p:nvPr/>
        </p:nvSpPr>
        <p:spPr>
          <a:xfrm>
            <a:off x="1168781" y="3075356"/>
            <a:ext cx="2845486" cy="7112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dirty="0">
                <a:solidFill>
                  <a:srgbClr val="4A5568"/>
                </a:solidFill>
                <a:latin typeface="IBM Plex Sans" pitchFamily="34" charset="0"/>
                <a:ea typeface="IBM Plex Sans" pitchFamily="34" charset="-122"/>
                <a:cs typeface="IBM Plex Sans" pitchFamily="34" charset="-120"/>
              </a:rPr>
              <a:t>Who owns patents, code and models?</a:t>
            </a:r>
            <a:endParaRPr lang="en-US" sz="1200" dirty="0"/>
          </a:p>
          <a:p>
            <a:pPr marL="155194" indent="-155194" algn="l">
              <a:lnSpc>
                <a:spcPts val="1800"/>
              </a:lnSpc>
              <a:buSzPct val="100000"/>
              <a:buChar char="•"/>
            </a:pPr>
            <a:r>
              <a:rPr lang="en-US" sz="1200" dirty="0">
                <a:solidFill>
                  <a:srgbClr val="4A5568"/>
                </a:solidFill>
                <a:latin typeface="IBM Plex Sans" pitchFamily="34" charset="0"/>
                <a:ea typeface="IBM Plex Sans" pitchFamily="34" charset="-122"/>
                <a:cs typeface="IBM Plex Sans" pitchFamily="34" charset="-120"/>
              </a:rPr>
              <a:t>Licence: royalty, field, exclusivity</a:t>
            </a:r>
            <a:endParaRPr lang="en-US" sz="1200" dirty="0"/>
          </a:p>
          <a:p>
            <a:pPr marL="155194" indent="-155194" algn="l">
              <a:lnSpc>
                <a:spcPts val="1800"/>
              </a:lnSpc>
              <a:buSzPct val="100000"/>
              <a:buChar char="•"/>
            </a:pPr>
            <a:r>
              <a:rPr lang="en-US" sz="1200" dirty="0">
                <a:solidFill>
                  <a:srgbClr val="4A5568"/>
                </a:solidFill>
                <a:latin typeface="IBM Plex Sans" pitchFamily="34" charset="0"/>
                <a:ea typeface="IBM Plex Sans" pitchFamily="34" charset="-122"/>
                <a:cs typeface="IBM Plex Sans" pitchFamily="34" charset="-120"/>
              </a:rPr>
              <a:t>The university as shareholder</a:t>
            </a:r>
            <a:endParaRPr lang="en-US" sz="1200" dirty="0"/>
          </a:p>
        </p:txBody>
      </p:sp>
      <p:sp>
        <p:nvSpPr>
          <p:cNvPr id="7" name="Shape 4"/>
          <p:cNvSpPr/>
          <p:nvPr/>
        </p:nvSpPr>
        <p:spPr>
          <a:xfrm>
            <a:off x="4402634" y="2015551"/>
            <a:ext cx="3380333" cy="2002780"/>
          </a:xfrm>
          <a:prstGeom prst="roundRect">
            <a:avLst>
              <a:gd name="adj" fmla="val 4914"/>
            </a:avLst>
          </a:prstGeom>
          <a:solidFill>
            <a:srgbClr val="FFFFFF"/>
          </a:solidFill>
          <a:ln w="6350">
            <a:solidFill>
              <a:srgbClr val="DDD8CC"/>
            </a:solidFill>
            <a:prstDash val="solid"/>
          </a:ln>
        </p:spPr>
        <p:txBody>
          <a:bodyPr/>
          <a:lstStyle/>
          <a:p>
            <a:endParaRPr lang="en-NL"/>
          </a:p>
        </p:txBody>
      </p:sp>
      <p:pic>
        <p:nvPicPr>
          <p:cNvPr id="8" name="Image 1" descr="Chart"/>
          <p:cNvPicPr>
            <a:picLocks noChangeAspect="1"/>
          </p:cNvPicPr>
          <p:nvPr/>
        </p:nvPicPr>
        <p:blipFill>
          <a:blip r:embed="rId4"/>
          <a:srcRect/>
          <a:stretch/>
        </p:blipFill>
        <p:spPr>
          <a:xfrm>
            <a:off x="4659809" y="2272726"/>
            <a:ext cx="355600" cy="355600"/>
          </a:xfrm>
          <a:prstGeom prst="rect">
            <a:avLst/>
          </a:prstGeom>
        </p:spPr>
      </p:pic>
      <p:sp>
        <p:nvSpPr>
          <p:cNvPr id="9" name="Text 5"/>
          <p:cNvSpPr/>
          <p:nvPr/>
        </p:nvSpPr>
        <p:spPr>
          <a:xfrm>
            <a:off x="4758615" y="2628326"/>
            <a:ext cx="2951963" cy="269230"/>
          </a:xfrm>
          <a:prstGeom prst="rect">
            <a:avLst/>
          </a:prstGeom>
          <a:noFill/>
          <a:ln/>
        </p:spPr>
        <p:txBody>
          <a:bodyPr wrap="square" lIns="0" tIns="0" rIns="0" bIns="0" rtlCol="0" anchor="t">
            <a:no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Money, in the right order </a:t>
            </a:r>
          </a:p>
          <a:p>
            <a:pPr marL="0" indent="0" algn="l">
              <a:lnSpc>
                <a:spcPts val="1920"/>
              </a:lnSpc>
              <a:buNone/>
            </a:pPr>
            <a:r>
              <a:rPr lang="en-US" sz="1200" b="1" dirty="0">
                <a:solidFill>
                  <a:srgbClr val="14213D"/>
                </a:solidFill>
                <a:latin typeface="IBM Plex Sans" pitchFamily="34" charset="0"/>
                <a:ea typeface="IBM Plex Sans" pitchFamily="34" charset="-122"/>
                <a:cs typeface="IBM Plex Sans" pitchFamily="34" charset="-120"/>
              </a:rPr>
              <a:t>(if EU based)</a:t>
            </a:r>
            <a:endParaRPr lang="en-US" sz="1200" dirty="0"/>
          </a:p>
        </p:txBody>
      </p:sp>
      <p:sp>
        <p:nvSpPr>
          <p:cNvPr id="10" name="Text 6"/>
          <p:cNvSpPr/>
          <p:nvPr/>
        </p:nvSpPr>
        <p:spPr>
          <a:xfrm>
            <a:off x="4758615" y="3075356"/>
            <a:ext cx="2845537" cy="7112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dirty="0">
                <a:solidFill>
                  <a:srgbClr val="4A5568"/>
                </a:solidFill>
                <a:latin typeface="IBM Plex Sans" pitchFamily="34" charset="0"/>
                <a:ea typeface="IBM Plex Sans" pitchFamily="34" charset="-122"/>
                <a:cs typeface="IBM Plex Sans" pitchFamily="34" charset="-120"/>
              </a:rPr>
              <a:t>Grants first: they buy time</a:t>
            </a:r>
            <a:endParaRPr lang="en-US" sz="1200" dirty="0"/>
          </a:p>
          <a:p>
            <a:pPr marL="155194" indent="-155194" algn="l">
              <a:lnSpc>
                <a:spcPts val="1800"/>
              </a:lnSpc>
              <a:buSzPct val="100000"/>
              <a:buChar char="•"/>
            </a:pPr>
            <a:r>
              <a:rPr lang="en-US" sz="1200" dirty="0">
                <a:solidFill>
                  <a:srgbClr val="4A5568"/>
                </a:solidFill>
                <a:latin typeface="IBM Plex Sans" pitchFamily="34" charset="0"/>
                <a:ea typeface="IBM Plex Sans" pitchFamily="34" charset="-122"/>
                <a:cs typeface="IBM Plex Sans" pitchFamily="34" charset="-120"/>
              </a:rPr>
              <a:t>Equity when risk drops</a:t>
            </a:r>
            <a:endParaRPr lang="en-US" sz="1200" dirty="0"/>
          </a:p>
          <a:p>
            <a:pPr marL="155194" indent="-155194" algn="l">
              <a:lnSpc>
                <a:spcPts val="1800"/>
              </a:lnSpc>
              <a:buSzPct val="100000"/>
              <a:buChar char="•"/>
            </a:pPr>
            <a:r>
              <a:rPr lang="en-US" sz="1200" dirty="0">
                <a:solidFill>
                  <a:srgbClr val="4A5568"/>
                </a:solidFill>
                <a:latin typeface="IBM Plex Sans" pitchFamily="34" charset="0"/>
                <a:ea typeface="IBM Plex Sans" pitchFamily="34" charset="-122"/>
                <a:cs typeface="IBM Plex Sans" pitchFamily="34" charset="-120"/>
              </a:rPr>
              <a:t>Investors buy milestones, not ideas</a:t>
            </a:r>
            <a:endParaRPr lang="en-US" sz="1200" dirty="0"/>
          </a:p>
        </p:txBody>
      </p:sp>
      <p:sp>
        <p:nvSpPr>
          <p:cNvPr id="11" name="Shape 7"/>
          <p:cNvSpPr/>
          <p:nvPr/>
        </p:nvSpPr>
        <p:spPr>
          <a:xfrm>
            <a:off x="7992517" y="2015551"/>
            <a:ext cx="3380333" cy="2002780"/>
          </a:xfrm>
          <a:prstGeom prst="roundRect">
            <a:avLst>
              <a:gd name="adj" fmla="val 4914"/>
            </a:avLst>
          </a:prstGeom>
          <a:solidFill>
            <a:srgbClr val="FFFFFF"/>
          </a:solidFill>
          <a:ln w="6350">
            <a:solidFill>
              <a:srgbClr val="DDD8CC"/>
            </a:solidFill>
            <a:prstDash val="solid"/>
          </a:ln>
        </p:spPr>
        <p:txBody>
          <a:bodyPr/>
          <a:lstStyle/>
          <a:p>
            <a:endParaRPr lang="en-NL"/>
          </a:p>
        </p:txBody>
      </p:sp>
      <p:pic>
        <p:nvPicPr>
          <p:cNvPr id="12" name="Image 2" descr="Users"/>
          <p:cNvPicPr>
            <a:picLocks noChangeAspect="1"/>
          </p:cNvPicPr>
          <p:nvPr/>
        </p:nvPicPr>
        <p:blipFill>
          <a:blip r:embed="rId5"/>
          <a:srcRect/>
          <a:stretch/>
        </p:blipFill>
        <p:spPr>
          <a:xfrm>
            <a:off x="8249692" y="2272726"/>
            <a:ext cx="355600" cy="355600"/>
          </a:xfrm>
          <a:prstGeom prst="rect">
            <a:avLst/>
          </a:prstGeom>
        </p:spPr>
      </p:pic>
      <p:sp>
        <p:nvSpPr>
          <p:cNvPr id="13" name="Text 8"/>
          <p:cNvSpPr/>
          <p:nvPr/>
        </p:nvSpPr>
        <p:spPr>
          <a:xfrm>
            <a:off x="8249692" y="2729926"/>
            <a:ext cx="2951963"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Cap table and roles</a:t>
            </a:r>
            <a:endParaRPr lang="en-US" sz="1600" dirty="0"/>
          </a:p>
        </p:txBody>
      </p:sp>
      <p:sp>
        <p:nvSpPr>
          <p:cNvPr id="14" name="Text 9"/>
          <p:cNvSpPr/>
          <p:nvPr/>
        </p:nvSpPr>
        <p:spPr>
          <a:xfrm>
            <a:off x="8348498" y="3075356"/>
            <a:ext cx="2845537" cy="711200"/>
          </a:xfrm>
          <a:prstGeom prst="rect">
            <a:avLst/>
          </a:prstGeom>
          <a:noFill/>
          <a:ln/>
        </p:spPr>
        <p:txBody>
          <a:bodyPr wrap="square" lIns="0" tIns="0" rIns="0" bIns="0" rtlCol="0" anchor="t">
            <a:normAutofit/>
          </a:bodyPr>
          <a:lstStyle/>
          <a:p>
            <a:pPr marL="155194" indent="-155194" algn="l">
              <a:lnSpc>
                <a:spcPts val="1800"/>
              </a:lnSpc>
              <a:buSzPct val="100000"/>
              <a:buChar char="•"/>
            </a:pPr>
            <a:r>
              <a:rPr lang="en-US" sz="1200" dirty="0">
                <a:solidFill>
                  <a:srgbClr val="4A5568"/>
                </a:solidFill>
                <a:latin typeface="IBM Plex Sans" pitchFamily="34" charset="0"/>
                <a:ea typeface="IBM Plex Sans" pitchFamily="34" charset="-122"/>
                <a:cs typeface="IBM Plex Sans" pitchFamily="34" charset="-120"/>
              </a:rPr>
              <a:t>Who works full-time?</a:t>
            </a:r>
            <a:endParaRPr lang="en-US" sz="1200" dirty="0"/>
          </a:p>
          <a:p>
            <a:pPr marL="155194" indent="-155194" algn="l">
              <a:lnSpc>
                <a:spcPts val="1800"/>
              </a:lnSpc>
              <a:buSzPct val="100000"/>
              <a:buChar char="•"/>
            </a:pPr>
            <a:r>
              <a:rPr lang="en-US" sz="1200" dirty="0">
                <a:solidFill>
                  <a:srgbClr val="4A5568"/>
                </a:solidFill>
                <a:latin typeface="IBM Plex Sans" pitchFamily="34" charset="0"/>
                <a:ea typeface="IBM Plex Sans" pitchFamily="34" charset="-122"/>
                <a:cs typeface="IBM Plex Sans" pitchFamily="34" charset="-120"/>
              </a:rPr>
              <a:t>Vesting and leaver terms</a:t>
            </a:r>
            <a:endParaRPr lang="en-US" sz="1200" dirty="0"/>
          </a:p>
          <a:p>
            <a:pPr marL="155194" indent="-155194" algn="l">
              <a:lnSpc>
                <a:spcPts val="1800"/>
              </a:lnSpc>
              <a:buSzPct val="100000"/>
              <a:buChar char="•"/>
            </a:pPr>
            <a:r>
              <a:rPr lang="en-US" sz="1200" dirty="0">
                <a:solidFill>
                  <a:srgbClr val="4A5568"/>
                </a:solidFill>
                <a:latin typeface="IBM Plex Sans" pitchFamily="34" charset="0"/>
                <a:ea typeface="IBM Plex Sans" pitchFamily="34" charset="-122"/>
                <a:cs typeface="IBM Plex Sans" pitchFamily="34" charset="-120"/>
              </a:rPr>
              <a:t>A pool for future hires</a:t>
            </a:r>
            <a:endParaRPr lang="en-US" sz="1200" dirty="0"/>
          </a:p>
        </p:txBody>
      </p:sp>
      <p:sp>
        <p:nvSpPr>
          <p:cNvPr id="15" name="TextBox 14">
            <a:extLst>
              <a:ext uri="{FF2B5EF4-FFF2-40B4-BE49-F238E27FC236}">
                <a16:creationId xmlns:a16="http://schemas.microsoft.com/office/drawing/2014/main" id="{793888F0-6EFA-E40D-8546-010866AE9049}"/>
              </a:ext>
            </a:extLst>
          </p:cNvPr>
          <p:cNvSpPr txBox="1"/>
          <p:nvPr/>
        </p:nvSpPr>
        <p:spPr>
          <a:xfrm>
            <a:off x="1069975" y="4794069"/>
            <a:ext cx="8387232" cy="369332"/>
          </a:xfrm>
          <a:prstGeom prst="rect">
            <a:avLst/>
          </a:prstGeom>
          <a:noFill/>
        </p:spPr>
        <p:txBody>
          <a:bodyPr wrap="none" rtlCol="0">
            <a:spAutoFit/>
          </a:bodyPr>
          <a:lstStyle/>
          <a:p>
            <a:r>
              <a:rPr lang="en-NL" dirty="0"/>
              <a:t>Want to know more about the good, the bad and the ugly?: dennis@atmoves.nl </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7">
    <p:bg>
      <p:bgPr>
        <a:solidFill>
          <a:srgbClr val="F5F3EE"/>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1031180"/>
          </a:xfrm>
          <a:prstGeom prst="rect">
            <a:avLst/>
          </a:prstGeom>
          <a:noFill/>
          <a:ln/>
        </p:spPr>
        <p:txBody>
          <a:bodyPr wrap="square" lIns="0" tIns="0" rIns="0" bIns="0" rtlCol="0" anchor="t">
            <a:normAutofit/>
          </a:bodyPr>
          <a:lstStyle/>
          <a:p>
            <a:pPr marL="0" indent="0" algn="l">
              <a:lnSpc>
                <a:spcPts val="3960"/>
              </a:lnSpc>
              <a:buNone/>
            </a:pPr>
            <a:r>
              <a:rPr lang="en-US" sz="3600" b="1" i="0" dirty="0">
                <a:solidFill>
                  <a:srgbClr val="14213D"/>
                </a:solidFill>
                <a:latin typeface="Space Grotesk" pitchFamily="34" charset="0"/>
                <a:ea typeface="Space Grotesk" pitchFamily="34" charset="-122"/>
                <a:cs typeface="Space Grotesk" pitchFamily="34" charset="-120"/>
              </a:rPr>
              <a:t>A medtech team wears many hats. </a:t>
            </a:r>
            <a:endParaRPr lang="en-US" sz="3600" dirty="0"/>
          </a:p>
        </p:txBody>
      </p:sp>
      <p:sp>
        <p:nvSpPr>
          <p:cNvPr id="3" name="Shape 1"/>
          <p:cNvSpPr/>
          <p:nvPr/>
        </p:nvSpPr>
        <p:spPr>
          <a:xfrm>
            <a:off x="815975" y="2126555"/>
            <a:ext cx="5175250" cy="1261021"/>
          </a:xfrm>
          <a:prstGeom prst="roundRect">
            <a:avLst>
              <a:gd name="adj" fmla="val 7805"/>
            </a:avLst>
          </a:prstGeom>
          <a:solidFill>
            <a:srgbClr val="FFFFFF"/>
          </a:solidFill>
          <a:ln w="6350">
            <a:solidFill>
              <a:srgbClr val="DDD8CC"/>
            </a:solidFill>
            <a:prstDash val="solid"/>
          </a:ln>
        </p:spPr>
        <p:txBody>
          <a:bodyPr/>
          <a:lstStyle/>
          <a:p>
            <a:endParaRPr lang="en-NL"/>
          </a:p>
        </p:txBody>
      </p:sp>
      <p:sp>
        <p:nvSpPr>
          <p:cNvPr id="4" name="Text 2"/>
          <p:cNvSpPr/>
          <p:nvPr/>
        </p:nvSpPr>
        <p:spPr>
          <a:xfrm>
            <a:off x="1073150" y="2383730"/>
            <a:ext cx="480072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Clinical champion</a:t>
            </a:r>
            <a:endParaRPr lang="en-US" sz="1600" dirty="0"/>
          </a:p>
        </p:txBody>
      </p:sp>
      <p:sp>
        <p:nvSpPr>
          <p:cNvPr id="5" name="Text 3"/>
          <p:cNvSpPr/>
          <p:nvPr/>
        </p:nvSpPr>
        <p:spPr>
          <a:xfrm>
            <a:off x="1073150" y="2703761"/>
            <a:ext cx="480072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Owns the problem, opens hospital doors, co-founder rather than data supplier</a:t>
            </a:r>
            <a:endParaRPr lang="en-US" sz="1200" dirty="0"/>
          </a:p>
        </p:txBody>
      </p:sp>
      <p:sp>
        <p:nvSpPr>
          <p:cNvPr id="6" name="Shape 4"/>
          <p:cNvSpPr/>
          <p:nvPr/>
        </p:nvSpPr>
        <p:spPr>
          <a:xfrm>
            <a:off x="6197600" y="2123380"/>
            <a:ext cx="5181600" cy="1267371"/>
          </a:xfrm>
          <a:prstGeom prst="roundRect">
            <a:avLst>
              <a:gd name="adj" fmla="val 8017"/>
            </a:avLst>
          </a:prstGeom>
          <a:solidFill>
            <a:srgbClr val="14213D"/>
          </a:solidFill>
          <a:ln/>
        </p:spPr>
        <p:txBody>
          <a:bodyPr/>
          <a:lstStyle/>
          <a:p>
            <a:endParaRPr lang="en-NL"/>
          </a:p>
        </p:txBody>
      </p:sp>
      <p:sp>
        <p:nvSpPr>
          <p:cNvPr id="7" name="Text 5"/>
          <p:cNvSpPr/>
          <p:nvPr/>
        </p:nvSpPr>
        <p:spPr>
          <a:xfrm>
            <a:off x="6451600" y="2377380"/>
            <a:ext cx="4813808"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5F3EE"/>
                </a:solidFill>
                <a:latin typeface="IBM Plex Sans" pitchFamily="34" charset="0"/>
                <a:ea typeface="IBM Plex Sans" pitchFamily="34" charset="-122"/>
                <a:cs typeface="IBM Plex Sans" pitchFamily="34" charset="-120"/>
              </a:rPr>
              <a:t>Engineer </a:t>
            </a:r>
            <a:endParaRPr lang="en-US" sz="1600" dirty="0"/>
          </a:p>
        </p:txBody>
      </p:sp>
      <p:sp>
        <p:nvSpPr>
          <p:cNvPr id="8" name="Text 6"/>
          <p:cNvSpPr/>
          <p:nvPr/>
        </p:nvSpPr>
        <p:spPr>
          <a:xfrm>
            <a:off x="6451600" y="2697411"/>
            <a:ext cx="4813808"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FC8D6"/>
                </a:solidFill>
                <a:latin typeface="IBM Plex Sans" pitchFamily="34" charset="0"/>
                <a:ea typeface="IBM Plex Sans" pitchFamily="34" charset="-122"/>
                <a:cs typeface="IBM Plex Sans" pitchFamily="34" charset="-120"/>
              </a:rPr>
              <a:t>Algorithm, software, infrastructure, security; most of the work is not the model</a:t>
            </a:r>
            <a:endParaRPr lang="en-US" sz="1200" dirty="0"/>
          </a:p>
        </p:txBody>
      </p:sp>
      <p:sp>
        <p:nvSpPr>
          <p:cNvPr id="9" name="Shape 7"/>
          <p:cNvSpPr/>
          <p:nvPr/>
        </p:nvSpPr>
        <p:spPr>
          <a:xfrm>
            <a:off x="815975" y="3597126"/>
            <a:ext cx="5175250" cy="1261021"/>
          </a:xfrm>
          <a:prstGeom prst="roundRect">
            <a:avLst>
              <a:gd name="adj" fmla="val 7805"/>
            </a:avLst>
          </a:prstGeom>
          <a:solidFill>
            <a:srgbClr val="FFFFFF"/>
          </a:solidFill>
          <a:ln w="6350">
            <a:solidFill>
              <a:srgbClr val="DDD8CC"/>
            </a:solidFill>
            <a:prstDash val="solid"/>
          </a:ln>
        </p:spPr>
        <p:txBody>
          <a:bodyPr/>
          <a:lstStyle/>
          <a:p>
            <a:endParaRPr lang="en-NL"/>
          </a:p>
        </p:txBody>
      </p:sp>
      <p:sp>
        <p:nvSpPr>
          <p:cNvPr id="10" name="Text 8"/>
          <p:cNvSpPr/>
          <p:nvPr/>
        </p:nvSpPr>
        <p:spPr>
          <a:xfrm>
            <a:off x="1073150" y="3854301"/>
            <a:ext cx="480072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Quality and regulatory</a:t>
            </a:r>
            <a:endParaRPr lang="en-US" sz="1600" dirty="0"/>
          </a:p>
        </p:txBody>
      </p:sp>
      <p:sp>
        <p:nvSpPr>
          <p:cNvPr id="11" name="Text 9"/>
          <p:cNvSpPr/>
          <p:nvPr/>
        </p:nvSpPr>
        <p:spPr>
          <a:xfrm>
            <a:off x="1073150" y="4174331"/>
            <a:ext cx="480072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Quality system, technical file, notified body; needed from day one, not at the end</a:t>
            </a:r>
            <a:endParaRPr lang="en-US" sz="1200" dirty="0"/>
          </a:p>
        </p:txBody>
      </p:sp>
      <p:sp>
        <p:nvSpPr>
          <p:cNvPr id="12" name="Shape 10"/>
          <p:cNvSpPr/>
          <p:nvPr/>
        </p:nvSpPr>
        <p:spPr>
          <a:xfrm>
            <a:off x="6200775" y="3597126"/>
            <a:ext cx="5175250" cy="1261021"/>
          </a:xfrm>
          <a:prstGeom prst="roundRect">
            <a:avLst>
              <a:gd name="adj" fmla="val 7805"/>
            </a:avLst>
          </a:prstGeom>
          <a:solidFill>
            <a:srgbClr val="FFFFFF"/>
          </a:solidFill>
          <a:ln w="6350">
            <a:solidFill>
              <a:srgbClr val="DDD8CC"/>
            </a:solidFill>
            <a:prstDash val="solid"/>
          </a:ln>
        </p:spPr>
        <p:txBody>
          <a:bodyPr/>
          <a:lstStyle/>
          <a:p>
            <a:endParaRPr lang="en-NL"/>
          </a:p>
        </p:txBody>
      </p:sp>
      <p:sp>
        <p:nvSpPr>
          <p:cNvPr id="13" name="Text 11"/>
          <p:cNvSpPr/>
          <p:nvPr/>
        </p:nvSpPr>
        <p:spPr>
          <a:xfrm>
            <a:off x="6457950" y="3854301"/>
            <a:ext cx="4800727" cy="26923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IBM Plex Sans" pitchFamily="34" charset="0"/>
                <a:ea typeface="IBM Plex Sans" pitchFamily="34" charset="-122"/>
                <a:cs typeface="IBM Plex Sans" pitchFamily="34" charset="-120"/>
              </a:rPr>
              <a:t>Commercial</a:t>
            </a:r>
            <a:endParaRPr lang="en-US" sz="1600" dirty="0"/>
          </a:p>
        </p:txBody>
      </p:sp>
      <p:sp>
        <p:nvSpPr>
          <p:cNvPr id="14" name="Text 12"/>
          <p:cNvSpPr/>
          <p:nvPr/>
        </p:nvSpPr>
        <p:spPr>
          <a:xfrm>
            <a:off x="6457950" y="4174331"/>
            <a:ext cx="4800727"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IBM Plex Sans" pitchFamily="34" charset="0"/>
                <a:ea typeface="IBM Plex Sans" pitchFamily="34" charset="-122"/>
                <a:cs typeface="IBM Plex Sans" pitchFamily="34" charset="-120"/>
              </a:rPr>
              <a:t>Funding, pricing, contracts, insurers; someone who can sell to a hospital board</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2A65A"/>
                </a:solidFill>
                <a:latin typeface="IBM Plex Sans" pitchFamily="34" charset="0"/>
                <a:ea typeface="IBM Plex Sans" pitchFamily="34" charset="-122"/>
                <a:cs typeface="IBM Plex Sans" pitchFamily="34" charset="-120"/>
              </a:rPr>
              <a:t>LESSONS LEARNED · 1 OF 2 let AI measure, let the clinician decide </a:t>
            </a:r>
            <a:endParaRPr lang="en-US" sz="1200" dirty="0"/>
          </a:p>
        </p:txBody>
      </p:sp>
      <p:sp>
        <p:nvSpPr>
          <p:cNvPr id="3" name="Text 1"/>
          <p:cNvSpPr/>
          <p:nvPr/>
        </p:nvSpPr>
        <p:spPr>
          <a:xfrm>
            <a:off x="812800" y="1330920"/>
            <a:ext cx="685800" cy="66546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F2A65A"/>
                </a:solidFill>
                <a:latin typeface="Space Grotesk" pitchFamily="34" charset="0"/>
                <a:ea typeface="Space Grotesk" pitchFamily="34" charset="-122"/>
                <a:cs typeface="Space Grotesk" pitchFamily="34" charset="-120"/>
              </a:rPr>
              <a:t>1</a:t>
            </a:r>
            <a:endParaRPr lang="en-US" sz="3600" dirty="0"/>
          </a:p>
        </p:txBody>
      </p:sp>
      <p:sp>
        <p:nvSpPr>
          <p:cNvPr id="4" name="Text 2"/>
          <p:cNvSpPr/>
          <p:nvPr/>
        </p:nvSpPr>
        <p:spPr>
          <a:xfrm>
            <a:off x="1701800" y="1330920"/>
            <a:ext cx="9967722"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5F3EE"/>
                </a:solidFill>
                <a:latin typeface="IBM Plex Sans" pitchFamily="34" charset="0"/>
                <a:ea typeface="IBM Plex Sans" pitchFamily="34" charset="-122"/>
                <a:cs typeface="IBM Plex Sans" pitchFamily="34" charset="-120"/>
              </a:rPr>
              <a:t>Start from the clinical decision, not the dataset</a:t>
            </a:r>
            <a:endParaRPr lang="en-US" sz="2200" dirty="0"/>
          </a:p>
        </p:txBody>
      </p:sp>
      <p:sp>
        <p:nvSpPr>
          <p:cNvPr id="5" name="Text 3"/>
          <p:cNvSpPr/>
          <p:nvPr/>
        </p:nvSpPr>
        <p:spPr>
          <a:xfrm>
            <a:off x="1701800" y="1716980"/>
            <a:ext cx="996772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8D6"/>
                </a:solidFill>
                <a:latin typeface="IBM Plex Sans" pitchFamily="34" charset="0"/>
                <a:ea typeface="IBM Plex Sans" pitchFamily="34" charset="-122"/>
                <a:cs typeface="IBM Plex Sans" pitchFamily="34" charset="-120"/>
              </a:rPr>
              <a:t>Ask which decision your output changes, and who makes it.</a:t>
            </a:r>
            <a:endParaRPr lang="en-US" sz="1400" dirty="0"/>
          </a:p>
        </p:txBody>
      </p:sp>
      <p:sp>
        <p:nvSpPr>
          <p:cNvPr id="6" name="Text 4"/>
          <p:cNvSpPr/>
          <p:nvPr/>
        </p:nvSpPr>
        <p:spPr>
          <a:xfrm>
            <a:off x="812800" y="2224980"/>
            <a:ext cx="685800" cy="66546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F2A65A"/>
                </a:solidFill>
                <a:latin typeface="Space Grotesk" pitchFamily="34" charset="0"/>
                <a:ea typeface="Space Grotesk" pitchFamily="34" charset="-122"/>
                <a:cs typeface="Space Grotesk" pitchFamily="34" charset="-120"/>
              </a:rPr>
              <a:t>2</a:t>
            </a:r>
            <a:endParaRPr lang="en-US" sz="3600" dirty="0"/>
          </a:p>
        </p:txBody>
      </p:sp>
      <p:sp>
        <p:nvSpPr>
          <p:cNvPr id="7" name="Text 5"/>
          <p:cNvSpPr/>
          <p:nvPr/>
        </p:nvSpPr>
        <p:spPr>
          <a:xfrm>
            <a:off x="1701800" y="2224980"/>
            <a:ext cx="9967722"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5F3EE"/>
                </a:solidFill>
                <a:latin typeface="IBM Plex Sans" pitchFamily="34" charset="0"/>
                <a:ea typeface="IBM Plex Sans" pitchFamily="34" charset="-122"/>
                <a:cs typeface="IBM Plex Sans" pitchFamily="34" charset="-120"/>
              </a:rPr>
              <a:t>Measure, don't only classify-</a:t>
            </a:r>
            <a:endParaRPr lang="en-US" sz="2200" dirty="0"/>
          </a:p>
        </p:txBody>
      </p:sp>
      <p:sp>
        <p:nvSpPr>
          <p:cNvPr id="8" name="Text 6"/>
          <p:cNvSpPr/>
          <p:nvPr/>
        </p:nvSpPr>
        <p:spPr>
          <a:xfrm>
            <a:off x="1701800" y="2611041"/>
            <a:ext cx="996772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8D6"/>
                </a:solidFill>
                <a:latin typeface="IBM Plex Sans" pitchFamily="34" charset="0"/>
                <a:ea typeface="IBM Plex Sans" pitchFamily="34" charset="-122"/>
                <a:cs typeface="IBM Plex Sans" pitchFamily="34" charset="-120"/>
              </a:rPr>
              <a:t>A physical quantity is easier to explain than a black-box label.</a:t>
            </a:r>
            <a:endParaRPr lang="en-US" sz="1400" dirty="0"/>
          </a:p>
        </p:txBody>
      </p:sp>
      <p:sp>
        <p:nvSpPr>
          <p:cNvPr id="9" name="Text 7"/>
          <p:cNvSpPr/>
          <p:nvPr/>
        </p:nvSpPr>
        <p:spPr>
          <a:xfrm>
            <a:off x="812800" y="3119041"/>
            <a:ext cx="685800" cy="66546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F2A65A"/>
                </a:solidFill>
                <a:latin typeface="Space Grotesk" pitchFamily="34" charset="0"/>
                <a:ea typeface="Space Grotesk" pitchFamily="34" charset="-122"/>
                <a:cs typeface="Space Grotesk" pitchFamily="34" charset="-120"/>
              </a:rPr>
              <a:t>3</a:t>
            </a:r>
            <a:endParaRPr lang="en-US" sz="3600" dirty="0"/>
          </a:p>
        </p:txBody>
      </p:sp>
      <p:sp>
        <p:nvSpPr>
          <p:cNvPr id="10" name="Text 8"/>
          <p:cNvSpPr/>
          <p:nvPr/>
        </p:nvSpPr>
        <p:spPr>
          <a:xfrm>
            <a:off x="1701800" y="3119041"/>
            <a:ext cx="9967722"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5F3EE"/>
                </a:solidFill>
                <a:latin typeface="IBM Plex Sans" pitchFamily="34" charset="0"/>
                <a:ea typeface="IBM Plex Sans" pitchFamily="34" charset="-122"/>
                <a:cs typeface="IBM Plex Sans" pitchFamily="34" charset="-120"/>
              </a:rPr>
              <a:t>Regulation is a design input</a:t>
            </a:r>
            <a:endParaRPr lang="en-US" sz="2200" dirty="0"/>
          </a:p>
        </p:txBody>
      </p:sp>
      <p:sp>
        <p:nvSpPr>
          <p:cNvPr id="11" name="Text 9"/>
          <p:cNvSpPr/>
          <p:nvPr/>
        </p:nvSpPr>
        <p:spPr>
          <a:xfrm>
            <a:off x="1701800" y="3505101"/>
            <a:ext cx="996772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8D6"/>
                </a:solidFill>
                <a:latin typeface="IBM Plex Sans" pitchFamily="34" charset="0"/>
                <a:ea typeface="IBM Plex Sans" pitchFamily="34" charset="-122"/>
                <a:cs typeface="IBM Plex Sans" pitchFamily="34" charset="-120"/>
              </a:rPr>
              <a:t>Write the intended use first; freeze and document the algorithm your evidence comes from.</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9">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2A65A"/>
                </a:solidFill>
                <a:latin typeface="IBM Plex Sans" pitchFamily="34" charset="0"/>
                <a:ea typeface="IBM Plex Sans" pitchFamily="34" charset="-122"/>
                <a:cs typeface="IBM Plex Sans" pitchFamily="34" charset="-120"/>
              </a:rPr>
              <a:t>LESSONS LEARNED · 2 OF 2 follow the money</a:t>
            </a:r>
            <a:endParaRPr lang="en-US" sz="1200" dirty="0"/>
          </a:p>
        </p:txBody>
      </p:sp>
      <p:sp>
        <p:nvSpPr>
          <p:cNvPr id="3" name="Text 1"/>
          <p:cNvSpPr/>
          <p:nvPr/>
        </p:nvSpPr>
        <p:spPr>
          <a:xfrm>
            <a:off x="812800" y="1330920"/>
            <a:ext cx="685800" cy="66546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F2A65A"/>
                </a:solidFill>
                <a:latin typeface="Space Grotesk" pitchFamily="34" charset="0"/>
                <a:ea typeface="Space Grotesk" pitchFamily="34" charset="-122"/>
                <a:cs typeface="Space Grotesk" pitchFamily="34" charset="-120"/>
              </a:rPr>
              <a:t>4</a:t>
            </a:r>
            <a:endParaRPr lang="en-US" sz="3600" dirty="0"/>
          </a:p>
        </p:txBody>
      </p:sp>
      <p:sp>
        <p:nvSpPr>
          <p:cNvPr id="4" name="Text 2"/>
          <p:cNvSpPr/>
          <p:nvPr/>
        </p:nvSpPr>
        <p:spPr>
          <a:xfrm>
            <a:off x="1701800" y="1330920"/>
            <a:ext cx="9967722"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5F3EE"/>
                </a:solidFill>
                <a:latin typeface="IBM Plex Sans" pitchFamily="34" charset="0"/>
                <a:ea typeface="IBM Plex Sans" pitchFamily="34" charset="-122"/>
                <a:cs typeface="IBM Plex Sans" pitchFamily="34" charset="-120"/>
              </a:rPr>
              <a:t>Find out early who pays</a:t>
            </a:r>
            <a:endParaRPr lang="en-US" sz="2200" dirty="0"/>
          </a:p>
        </p:txBody>
      </p:sp>
      <p:sp>
        <p:nvSpPr>
          <p:cNvPr id="5" name="Text 3"/>
          <p:cNvSpPr/>
          <p:nvPr/>
        </p:nvSpPr>
        <p:spPr>
          <a:xfrm>
            <a:off x="1701800" y="1716980"/>
            <a:ext cx="996772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8D6"/>
                </a:solidFill>
                <a:latin typeface="IBM Plex Sans" pitchFamily="34" charset="0"/>
                <a:ea typeface="IBM Plex Sans" pitchFamily="34" charset="-122"/>
                <a:cs typeface="IBM Plex Sans" pitchFamily="34" charset="-120"/>
              </a:rPr>
              <a:t>Map user, buyer and saver; talk to an insurer before you need one.</a:t>
            </a:r>
            <a:endParaRPr lang="en-US" sz="1400" dirty="0"/>
          </a:p>
        </p:txBody>
      </p:sp>
      <p:sp>
        <p:nvSpPr>
          <p:cNvPr id="6" name="Text 4"/>
          <p:cNvSpPr/>
          <p:nvPr/>
        </p:nvSpPr>
        <p:spPr>
          <a:xfrm>
            <a:off x="812800" y="2224980"/>
            <a:ext cx="685800" cy="66546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F2A65A"/>
                </a:solidFill>
                <a:latin typeface="Space Grotesk" pitchFamily="34" charset="0"/>
                <a:ea typeface="Space Grotesk" pitchFamily="34" charset="-122"/>
                <a:cs typeface="Space Grotesk" pitchFamily="34" charset="-120"/>
              </a:rPr>
              <a:t>5</a:t>
            </a:r>
            <a:endParaRPr lang="en-US" sz="3600" dirty="0"/>
          </a:p>
        </p:txBody>
      </p:sp>
      <p:sp>
        <p:nvSpPr>
          <p:cNvPr id="7" name="Text 5"/>
          <p:cNvSpPr/>
          <p:nvPr/>
        </p:nvSpPr>
        <p:spPr>
          <a:xfrm>
            <a:off x="1701800" y="2224980"/>
            <a:ext cx="9967722"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5F3EE"/>
                </a:solidFill>
                <a:latin typeface="IBM Plex Sans" pitchFamily="34" charset="0"/>
                <a:ea typeface="IBM Plex Sans" pitchFamily="34" charset="-122"/>
                <a:cs typeface="IBM Plex Sans" pitchFamily="34" charset="-120"/>
              </a:rPr>
              <a:t>Fit the workflow you find</a:t>
            </a:r>
            <a:endParaRPr lang="en-US" sz="2200" dirty="0"/>
          </a:p>
        </p:txBody>
      </p:sp>
      <p:sp>
        <p:nvSpPr>
          <p:cNvPr id="8" name="Text 6"/>
          <p:cNvSpPr/>
          <p:nvPr/>
        </p:nvSpPr>
        <p:spPr>
          <a:xfrm>
            <a:off x="1701800" y="2611041"/>
            <a:ext cx="996772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8D6"/>
                </a:solidFill>
                <a:latin typeface="IBM Plex Sans" pitchFamily="34" charset="0"/>
                <a:ea typeface="IBM Plex Sans" pitchFamily="34" charset="-122"/>
                <a:cs typeface="IBM Plex Sans" pitchFamily="34" charset="-120"/>
              </a:rPr>
              <a:t>Standard scanner, report in the patient record, minutes instead of days.</a:t>
            </a:r>
            <a:endParaRPr lang="en-US" sz="1400" dirty="0"/>
          </a:p>
        </p:txBody>
      </p:sp>
      <p:sp>
        <p:nvSpPr>
          <p:cNvPr id="9" name="Text 7"/>
          <p:cNvSpPr/>
          <p:nvPr/>
        </p:nvSpPr>
        <p:spPr>
          <a:xfrm>
            <a:off x="812800" y="3119041"/>
            <a:ext cx="685800" cy="66546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F2A65A"/>
                </a:solidFill>
                <a:latin typeface="Space Grotesk" pitchFamily="34" charset="0"/>
                <a:ea typeface="Space Grotesk" pitchFamily="34" charset="-122"/>
                <a:cs typeface="Space Grotesk" pitchFamily="34" charset="-120"/>
              </a:rPr>
              <a:t>6</a:t>
            </a:r>
            <a:endParaRPr lang="en-US" sz="3600" dirty="0"/>
          </a:p>
        </p:txBody>
      </p:sp>
      <p:sp>
        <p:nvSpPr>
          <p:cNvPr id="10" name="Text 8"/>
          <p:cNvSpPr/>
          <p:nvPr/>
        </p:nvSpPr>
        <p:spPr>
          <a:xfrm>
            <a:off x="1701800" y="3119041"/>
            <a:ext cx="9967722"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5F3EE"/>
                </a:solidFill>
                <a:latin typeface="IBM Plex Sans" pitchFamily="34" charset="0"/>
                <a:ea typeface="IBM Plex Sans" pitchFamily="34" charset="-122"/>
                <a:cs typeface="IBM Plex Sans" pitchFamily="34" charset="-120"/>
              </a:rPr>
              <a:t>Grants buy time, customers buy credibility</a:t>
            </a:r>
            <a:endParaRPr lang="en-US" sz="2200" dirty="0"/>
          </a:p>
        </p:txBody>
      </p:sp>
      <p:sp>
        <p:nvSpPr>
          <p:cNvPr id="11" name="Text 9"/>
          <p:cNvSpPr/>
          <p:nvPr/>
        </p:nvSpPr>
        <p:spPr>
          <a:xfrm>
            <a:off x="1701800" y="3505101"/>
            <a:ext cx="996772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FC8D6"/>
                </a:solidFill>
                <a:latin typeface="IBM Plex Sans" pitchFamily="34" charset="0"/>
                <a:ea typeface="IBM Plex Sans" pitchFamily="34" charset="-122"/>
                <a:cs typeface="IBM Plex Sans" pitchFamily="34" charset="-120"/>
              </a:rPr>
              <a:t>A letter of intent from a hospital moves an investor more than another paper.</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1">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1713260"/>
            <a:ext cx="10464800" cy="1625600"/>
          </a:xfrm>
          <a:prstGeom prst="rect">
            <a:avLst/>
          </a:prstGeom>
          <a:noFill/>
          <a:ln/>
        </p:spPr>
        <p:txBody>
          <a:bodyPr wrap="square" lIns="0" tIns="0" rIns="0" bIns="0" rtlCol="0" anchor="t">
            <a:normAutofit/>
          </a:bodyPr>
          <a:lstStyle/>
          <a:p>
            <a:pPr marL="0" indent="0" algn="l">
              <a:lnSpc>
                <a:spcPts val="6300"/>
              </a:lnSpc>
              <a:buNone/>
            </a:pPr>
            <a:r>
              <a:rPr lang="en-US" sz="6000" b="1" i="0" dirty="0">
                <a:solidFill>
                  <a:srgbClr val="F5F3EE"/>
                </a:solidFill>
                <a:latin typeface="Space Grotesk" pitchFamily="34" charset="0"/>
                <a:ea typeface="Space Grotesk" pitchFamily="34" charset="-122"/>
                <a:cs typeface="Space Grotesk" pitchFamily="34" charset="-120"/>
              </a:rPr>
              <a:t>The best model is the one that gets used.</a:t>
            </a:r>
            <a:endParaRPr lang="en-US" sz="6000" dirty="0"/>
          </a:p>
        </p:txBody>
      </p:sp>
      <p:sp>
        <p:nvSpPr>
          <p:cNvPr id="3" name="Shape 1"/>
          <p:cNvSpPr/>
          <p:nvPr/>
        </p:nvSpPr>
        <p:spPr>
          <a:xfrm>
            <a:off x="812800" y="3618260"/>
            <a:ext cx="762000" cy="38100"/>
          </a:xfrm>
          <a:prstGeom prst="rect">
            <a:avLst/>
          </a:prstGeom>
          <a:solidFill>
            <a:srgbClr val="F2A65A"/>
          </a:solidFill>
          <a:ln/>
        </p:spPr>
        <p:txBody>
          <a:bodyPr/>
          <a:lstStyle/>
          <a:p>
            <a:endParaRPr lang="en-NL"/>
          </a:p>
        </p:txBody>
      </p:sp>
      <p:sp>
        <p:nvSpPr>
          <p:cNvPr id="4" name="Text 2"/>
          <p:cNvSpPr/>
          <p:nvPr/>
        </p:nvSpPr>
        <p:spPr>
          <a:xfrm>
            <a:off x="812800" y="3961160"/>
            <a:ext cx="10883392" cy="416520"/>
          </a:xfrm>
          <a:prstGeom prst="rect">
            <a:avLst/>
          </a:prstGeom>
          <a:noFill/>
          <a:ln/>
        </p:spPr>
        <p:txBody>
          <a:bodyPr wrap="square" lIns="0" tIns="0" rIns="0" bIns="0" rtlCol="0" anchor="t">
            <a:normAutofit/>
          </a:bodyPr>
          <a:lstStyle/>
          <a:p>
            <a:pPr marL="0" indent="0" algn="l">
              <a:lnSpc>
                <a:spcPts val="3080"/>
              </a:lnSpc>
              <a:buNone/>
            </a:pPr>
            <a:r>
              <a:rPr lang="en-US" sz="2200" dirty="0">
                <a:solidFill>
                  <a:srgbClr val="BFC8D6"/>
                </a:solidFill>
                <a:latin typeface="IBM Plex Sans" pitchFamily="34" charset="0"/>
                <a:ea typeface="IBM Plex Sans" pitchFamily="34" charset="-122"/>
                <a:cs typeface="IBM Plex Sans" pitchFamily="34" charset="-120"/>
              </a:rPr>
              <a:t>Questions? Internships, thesis projects and collaborations welcome.</a:t>
            </a:r>
            <a:endParaRPr lang="en-US" sz="2200" dirty="0"/>
          </a:p>
        </p:txBody>
      </p:sp>
      <p:sp>
        <p:nvSpPr>
          <p:cNvPr id="5" name="Text 3"/>
          <p:cNvSpPr/>
          <p:nvPr/>
        </p:nvSpPr>
        <p:spPr>
          <a:xfrm>
            <a:off x="812800" y="465708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5F3EE"/>
                </a:solidFill>
                <a:latin typeface="IBM Plex Sans" pitchFamily="34" charset="0"/>
                <a:ea typeface="IBM Plex Sans" pitchFamily="34" charset="-122"/>
                <a:cs typeface="IBM Plex Sans" pitchFamily="34" charset="-120"/>
              </a:rPr>
              <a:t>· </a:t>
            </a:r>
            <a:r>
              <a:rPr lang="en-US" sz="1600" dirty="0" err="1">
                <a:solidFill>
                  <a:srgbClr val="F5F3EE"/>
                </a:solidFill>
                <a:latin typeface="IBM Plex Sans" pitchFamily="34" charset="0"/>
                <a:ea typeface="IBM Plex Sans" pitchFamily="34" charset="-122"/>
                <a:cs typeface="IBM Plex Sans" pitchFamily="34" charset="-120"/>
              </a:rPr>
              <a:t>dennis@atmoves.nl</a:t>
            </a:r>
            <a:r>
              <a:rPr lang="en-US" sz="1600" dirty="0">
                <a:solidFill>
                  <a:srgbClr val="F5F3EE"/>
                </a:solidFill>
                <a:latin typeface="IBM Plex Sans" pitchFamily="34" charset="0"/>
                <a:ea typeface="IBM Plex Sans" pitchFamily="34" charset="-122"/>
                <a:cs typeface="IBM Plex Sans" pitchFamily="34" charset="-120"/>
              </a:rPr>
              <a:t> ·</a:t>
            </a:r>
            <a:endParaRPr lang="en-US" sz="1600" dirty="0"/>
          </a:p>
        </p:txBody>
      </p:sp>
    </p:spTree>
  </p:cSld>
  <p:clrMapOvr>
    <a:masterClrMapping/>
  </p:clrMapOvr>
</p:sld>
</file>

<file path=ppt/theme/theme1.xml><?xml version="1.0" encoding="utf-8"?>
<a:theme xmlns:a="http://schemas.openxmlformats.org/drawingml/2006/main" name="From Pixels to Patients – Guest Lecture">
  <a:themeElements>
    <a:clrScheme name="From Pixels to Patients – Guest Lecture">
      <a:dk1>
        <a:srgbClr val="14213D"/>
      </a:dk1>
      <a:lt1>
        <a:srgbClr val="F5F3EE"/>
      </a:lt1>
      <a:dk2>
        <a:srgbClr val="4C5669"/>
      </a:dk2>
      <a:lt2>
        <a:srgbClr val="DFDEDC"/>
      </a:lt2>
      <a:accent1>
        <a:srgbClr val="F2A65A"/>
      </a:accent1>
      <a:accent2>
        <a:srgbClr val="B85C1E"/>
      </a:accent2>
      <a:accent3>
        <a:srgbClr val="F2C9A1"/>
      </a:accent3>
      <a:accent4>
        <a:srgbClr val="4A5568"/>
      </a:accent4>
      <a:accent5>
        <a:srgbClr val="BFC8D6"/>
      </a:accent5>
      <a:accent6>
        <a:srgbClr val="D9CFBE"/>
      </a:accent6>
      <a:hlink>
        <a:srgbClr val="0563C1"/>
      </a:hlink>
      <a:folHlink>
        <a:srgbClr val="954F72"/>
      </a:folHlink>
    </a:clrScheme>
    <a:fontScheme name="From Pixels to Patients – Guest Lecture">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909</TotalTime>
  <Words>3517</Words>
  <Application>Microsoft Macintosh PowerPoint</Application>
  <PresentationFormat>Widescreen</PresentationFormat>
  <Paragraphs>349</Paragraphs>
  <Slides>31</Slides>
  <Notes>31</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Calibri</vt:lpstr>
      <vt:lpstr>IBM Plex Sans</vt:lpstr>
      <vt:lpstr>Space Grotesk</vt:lpstr>
      <vt:lpstr>Wingdings</vt:lpstr>
      <vt:lpstr>From Pixels to Patients – Guest Lecture</vt:lpstr>
      <vt:lpstr>From pixels to patients</vt:lpstr>
      <vt:lpstr>“And If the algorithm has 94% accuracy, why isn't every hospital using it?”</vt:lpstr>
      <vt:lpstr>California SF Bay area- highly recommended-</vt:lpstr>
      <vt:lpstr>Not much hardcore ML today</vt:lpstr>
      <vt:lpstr>From origins of ML to today practice</vt:lpstr>
      <vt:lpstr>From origins of ML to today practice</vt:lpstr>
      <vt:lpstr>Imaging is where medical AI reaches the market first. Most products are incremental, not new categories.</vt:lpstr>
      <vt:lpstr>Bias – from origin of ML to today practice</vt:lpstr>
      <vt:lpstr>From origins of ML to today practice</vt:lpstr>
      <vt:lpstr>From origins of ML to today practice</vt:lpstr>
      <vt:lpstr>The reality check: a benchmark is not a bedside</vt:lpstr>
      <vt:lpstr>Progress but a long way to go</vt:lpstr>
      <vt:lpstr>Determine the need and attractiveness</vt:lpstr>
      <vt:lpstr>Total Joint Arthoplasty</vt:lpstr>
      <vt:lpstr>The care curb challenge</vt:lpstr>
      <vt:lpstr>Is this knee implant fixated or loose? Today it takes months to find out, and the answer is often wrong.</vt:lpstr>
      <vt:lpstr>Measure movement, don't guess from a picture</vt:lpstr>
      <vt:lpstr>Helping the CT scan a little</vt:lpstr>
      <vt:lpstr>The model is about 10% of the product.</vt:lpstr>
      <vt:lpstr>from paper to patient</vt:lpstr>
      <vt:lpstr>Regulation: your intended use decides everything</vt:lpstr>
      <vt:lpstr>Three kinds of evidence, three different audiences</vt:lpstr>
      <vt:lpstr>Adoption: Workflow beats accuracy</vt:lpstr>
      <vt:lpstr>Layman summary current status and open invite to contribute</vt:lpstr>
      <vt:lpstr>Who pays? The user, the buyer and the one who saves are three different parties.</vt:lpstr>
      <vt:lpstr>Eight years and € 3.5M from first grant to certified product</vt:lpstr>
      <vt:lpstr>The three conversations every spin-off has</vt:lpstr>
      <vt:lpstr>A medtech team wears many hats. </vt:lpstr>
      <vt:lpstr>PowerPoint Presentation</vt:lpstr>
      <vt:lpstr>PowerPoint Presentation</vt:lpstr>
      <vt:lpstr>The best model is the one that gets used.</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Pixels to Patients – Guest Lecture</dc:title>
  <dc:subject/>
  <dc:creator/>
  <cp:keywords/>
  <dc:description/>
  <cp:lastModifiedBy>Dennis Alexander Krap</cp:lastModifiedBy>
  <cp:revision>9</cp:revision>
  <dcterms:created xsi:type="dcterms:W3CDTF">2026-10-08T05:29:27Z</dcterms:created>
  <dcterms:modified xsi:type="dcterms:W3CDTF">2026-10-08T21:54:16Z</dcterms:modified>
  <cp:category/>
</cp:coreProperties>
</file>