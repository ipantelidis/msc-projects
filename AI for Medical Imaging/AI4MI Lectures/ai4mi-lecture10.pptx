
<file path=[Content_Types].xml><?xml version="1.0" encoding="utf-8"?>
<Types xmlns="http://schemas.openxmlformats.org/package/2006/content-types">
  <Default Extension="png" ContentType="image/png"/>
  <Default Extension="jpeg" ContentType="image/jpeg"/>
  <Default Extension="mov" ContentType="video/quicktime"/>
  <Default Extension="rels" ContentType="application/vnd.openxmlformats-package.relationships+xml"/>
  <Default Extension="xml" ContentType="application/xml"/>
  <Default Extension="fntdata" ContentType="application/x-fontdata"/>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1" r:id="rId1"/>
  </p:sldMasterIdLst>
  <p:notesMasterIdLst>
    <p:notesMasterId r:id="rId36"/>
  </p:notesMasterIdLst>
  <p:sldIdLst>
    <p:sldId id="256" r:id="rId2"/>
    <p:sldId id="257" r:id="rId3"/>
    <p:sldId id="259" r:id="rId4"/>
    <p:sldId id="258" r:id="rId5"/>
    <p:sldId id="288" r:id="rId6"/>
    <p:sldId id="260" r:id="rId7"/>
    <p:sldId id="280" r:id="rId8"/>
    <p:sldId id="261" r:id="rId9"/>
    <p:sldId id="262" r:id="rId10"/>
    <p:sldId id="263" r:id="rId11"/>
    <p:sldId id="271" r:id="rId12"/>
    <p:sldId id="272" r:id="rId13"/>
    <p:sldId id="268" r:id="rId14"/>
    <p:sldId id="283" r:id="rId15"/>
    <p:sldId id="282" r:id="rId16"/>
    <p:sldId id="285" r:id="rId17"/>
    <p:sldId id="286" r:id="rId18"/>
    <p:sldId id="287" r:id="rId19"/>
    <p:sldId id="269" r:id="rId20"/>
    <p:sldId id="273" r:id="rId21"/>
    <p:sldId id="270" r:id="rId22"/>
    <p:sldId id="264" r:id="rId23"/>
    <p:sldId id="265" r:id="rId24"/>
    <p:sldId id="266" r:id="rId25"/>
    <p:sldId id="289" r:id="rId26"/>
    <p:sldId id="290" r:id="rId27"/>
    <p:sldId id="267" r:id="rId28"/>
    <p:sldId id="276" r:id="rId29"/>
    <p:sldId id="277" r:id="rId30"/>
    <p:sldId id="278" r:id="rId31"/>
    <p:sldId id="291" r:id="rId32"/>
    <p:sldId id="279" r:id="rId33"/>
    <p:sldId id="274" r:id="rId34"/>
    <p:sldId id="275" r:id="rId35"/>
  </p:sldIdLst>
  <p:sldSz cx="12192000" cy="6858000"/>
  <p:notesSz cx="6858000" cy="9144000"/>
  <p:embeddedFontLst>
    <p:embeddedFont>
      <p:font typeface="LM Mono 10" panose="020B0604020202020204" charset="0"/>
      <p:regular r:id="rId37"/>
      <p:bold r:id="rId38"/>
      <p:italic r:id="rId39"/>
      <p:boldItalic r:id="rId40"/>
    </p:embeddedFont>
    <p:embeddedFont>
      <p:font typeface="Calibri" panose="020F0502020204030204" pitchFamily="34" charset="0"/>
      <p:regular r:id="rId41"/>
      <p:bold r:id="rId42"/>
      <p:italic r:id="rId43"/>
      <p:boldItalic r:id="rId44"/>
    </p:embeddedFont>
    <p:embeddedFont>
      <p:font typeface="Poppins" panose="020B0604020202020204" charset="0"/>
      <p:regular r:id="rId45"/>
      <p:bold r:id="rId46"/>
      <p:italic r:id="rId47"/>
      <p:boldItalic r:id="rId48"/>
    </p:embeddedFont>
    <p:embeddedFont>
      <p:font typeface="Cambria Math" panose="02040503050406030204" pitchFamily="18" charset="0"/>
      <p:regular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B0A4860-DA02-440A-96D3-9F6A2DD90529}">
  <a:tblStyle styleId="{6B0A4860-DA02-440A-96D3-9F6A2DD9052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6" d="100"/>
          <a:sy n="106" d="100"/>
        </p:scale>
        <p:origin x="132" y="5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8.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48" Type="http://schemas.openxmlformats.org/officeDocument/2006/relationships/font" Target="fonts/font12.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nl-NL" sz="1200" b="0" i="0" u="none" strike="noStrike" cap="none">
                <a:solidFill>
                  <a:schemeClr val="dk1"/>
                </a:solidFill>
                <a:latin typeface="Calibri"/>
                <a:ea typeface="Calibri"/>
                <a:cs typeface="Calibri"/>
                <a:sym typeface="Calibri"/>
              </a:rPr>
              <a:t>‹nr.›</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Google Shape;2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 name="Google Shape;2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 name="Google Shape;2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nl-NL"/>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about_slide: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 name="Google Shape;42;about_slide: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Calibri"/>
              <a:buChar char="-"/>
            </a:pPr>
            <a:r>
              <a:rPr lang="nl-NL"/>
              <a:t>Keep this to a minute. Say how you got from your bachelor and master to cardiac imaging; the students are deciding on thesis topics, so the route is more useful to them than the titles.</a:t>
            </a:r>
            <a:endParaRPr/>
          </a:p>
        </p:txBody>
      </p:sp>
      <p:sp>
        <p:nvSpPr>
          <p:cNvPr id="43" name="Google Shape;43;about_slide: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nl-NL"/>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s03_slide: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 name="Google Shape;58;s03_slide: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Calibri"/>
              <a:buChar char="-"/>
            </a:pPr>
            <a:r>
              <a:rPr lang="nl-NL"/>
              <a:t>One idea runs through the lecture: put what you already know about the data into the model instead of hoping it learns it from few labels. Each part is one example of that.</a:t>
            </a:r>
            <a:endParaRPr/>
          </a:p>
        </p:txBody>
      </p:sp>
      <p:sp>
        <p:nvSpPr>
          <p:cNvPr id="59" name="Google Shape;59;s03_slide: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nl-NL"/>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 name="Google Shape;5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Calibri"/>
              <a:buChar char="-"/>
            </a:pPr>
            <a:r>
              <a:rPr lang="nl-NL" sz="1200" b="0" i="0">
                <a:solidFill>
                  <a:schemeClr val="dk1"/>
                </a:solidFill>
                <a:latin typeface="Calibri"/>
                <a:ea typeface="Calibri"/>
                <a:cs typeface="Calibri"/>
                <a:sym typeface="Calibri"/>
              </a:rPr>
              <a:t>Medical image analysis has witnessed a growing adoption of AI-based techniques to support clinical decisions on diverse tasks, such as patient diagnosis, risk stratification, prognostic assessment and treatment planning.</a:t>
            </a:r>
            <a:endParaRPr/>
          </a:p>
          <a:p>
            <a:pPr marL="171450" lvl="0" indent="-171450" algn="l" rtl="0">
              <a:spcBef>
                <a:spcPts val="0"/>
              </a:spcBef>
              <a:spcAft>
                <a:spcPts val="0"/>
              </a:spcAft>
              <a:buClr>
                <a:schemeClr val="dk1"/>
              </a:buClr>
              <a:buSzPts val="1200"/>
              <a:buFont typeface="Calibri"/>
              <a:buChar char="-"/>
            </a:pPr>
            <a:r>
              <a:rPr lang="nl-NL" sz="1200" b="0" i="0">
                <a:solidFill>
                  <a:schemeClr val="dk1"/>
                </a:solidFill>
                <a:latin typeface="Calibri"/>
                <a:ea typeface="Calibri"/>
                <a:cs typeface="Calibri"/>
                <a:sym typeface="Calibri"/>
              </a:rPr>
              <a:t>Deep Neural networks are considered black-box models due to the lack of inherent interpretability and explainability provided by their highly complex non-linear nature. Consequently, their</a:t>
            </a:r>
            <a:r>
              <a:rPr lang="nl-NL"/>
              <a:t/>
            </a:r>
            <a:br>
              <a:rPr lang="nl-NL"/>
            </a:br>
            <a:r>
              <a:rPr lang="nl-NL" sz="1200" b="0" i="0">
                <a:solidFill>
                  <a:schemeClr val="dk1"/>
                </a:solidFill>
                <a:latin typeface="Calibri"/>
                <a:ea typeface="Calibri"/>
                <a:cs typeface="Calibri"/>
                <a:sym typeface="Calibri"/>
              </a:rPr>
              <a:t>insufficient transparency may affect their clinical adoption.</a:t>
            </a:r>
            <a:endParaRPr/>
          </a:p>
          <a:p>
            <a:pPr marL="171450" lvl="0" indent="-95250" algn="l" rtl="0">
              <a:spcBef>
                <a:spcPts val="0"/>
              </a:spcBef>
              <a:spcAft>
                <a:spcPts val="0"/>
              </a:spcAft>
              <a:buClr>
                <a:schemeClr val="dk1"/>
              </a:buClr>
              <a:buSzPts val="1200"/>
              <a:buFont typeface="Calibri"/>
              <a:buNone/>
            </a:pPr>
            <a:endParaRPr sz="1200" b="0" i="0">
              <a:solidFill>
                <a:schemeClr val="dk1"/>
              </a:solidFill>
              <a:latin typeface="Calibri"/>
              <a:ea typeface="Calibri"/>
              <a:cs typeface="Calibri"/>
              <a:sym typeface="Calibri"/>
            </a:endParaRPr>
          </a:p>
          <a:p>
            <a:pPr marL="171450" lvl="0" indent="-171450" algn="l" rtl="0">
              <a:spcBef>
                <a:spcPts val="0"/>
              </a:spcBef>
              <a:spcAft>
                <a:spcPts val="0"/>
              </a:spcAft>
              <a:buClr>
                <a:schemeClr val="dk1"/>
              </a:buClr>
              <a:buSzPts val="1200"/>
              <a:buFont typeface="Calibri"/>
              <a:buChar char="-"/>
            </a:pPr>
            <a:r>
              <a:rPr lang="nl-NL" sz="1200" b="0" i="0">
                <a:solidFill>
                  <a:schemeClr val="dk1"/>
                </a:solidFill>
                <a:latin typeface="Calibri"/>
                <a:ea typeface="Calibri"/>
                <a:cs typeface="Calibri"/>
                <a:sym typeface="Calibri"/>
              </a:rPr>
              <a:t>Hence, providing insights into decision-making understandable to clinicians is currently an area of intensive research. </a:t>
            </a:r>
            <a:endParaRPr/>
          </a:p>
          <a:p>
            <a:pPr marL="171450" lvl="0" indent="-171450" algn="l" rtl="0">
              <a:spcBef>
                <a:spcPts val="0"/>
              </a:spcBef>
              <a:spcAft>
                <a:spcPts val="0"/>
              </a:spcAft>
              <a:buClr>
                <a:schemeClr val="dk1"/>
              </a:buClr>
              <a:buSzPts val="1200"/>
              <a:buFont typeface="Calibri"/>
              <a:buChar char="-"/>
            </a:pPr>
            <a:r>
              <a:rPr lang="nl-NL" sz="1200" b="0" i="0">
                <a:solidFill>
                  <a:schemeClr val="dk1"/>
                </a:solidFill>
                <a:latin typeface="Calibri"/>
                <a:ea typeface="Calibri"/>
                <a:cs typeface="Calibri"/>
                <a:sym typeface="Calibri"/>
              </a:rPr>
              <a:t>Understanding how and why AI models make specific predictions is crucial to introduce trustworthiness into medical AI-driven applications. </a:t>
            </a:r>
            <a:endParaRPr/>
          </a:p>
        </p:txBody>
      </p:sp>
      <p:sp>
        <p:nvSpPr>
          <p:cNvPr id="51" name="Google Shape;51;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nl-NL"/>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s04_slide: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 name="Google Shape;65;s04_slide: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Calibri"/>
              <a:buChar char="-"/>
            </a:pPr>
            <a:r>
              <a:rPr lang="nl-NL"/>
              <a:t>Explain short-axis orientation and cine acquisition. Point at LV, RV and myocardium on the figure. Mention that through-plane resolution is much coarser than in-plane; this comes back when we talk about neural fields.</a:t>
            </a:r>
            <a:endParaRPr/>
          </a:p>
        </p:txBody>
      </p:sp>
      <p:sp>
        <p:nvSpPr>
          <p:cNvPr id="66" name="Google Shape;66;s04_slide: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nl-NL"/>
              <a:t>6</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s04_slide: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 name="Google Shape;65;s04_slide: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Calibri"/>
              <a:buChar char="-"/>
            </a:pPr>
            <a:r>
              <a:rPr lang="nl-NL"/>
              <a:t>Explain short-axis orientation and cine acquisition. Point at LV, RV and myocardium on the figure. Mention that through-plane resolution is much coarser than in-plane; this comes back when we talk about neural fields.</a:t>
            </a:r>
            <a:endParaRPr/>
          </a:p>
        </p:txBody>
      </p:sp>
      <p:sp>
        <p:nvSpPr>
          <p:cNvPr id="66" name="Google Shape;66;s04_slide: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nl-NL"/>
              <a:t>7</a:t>
            </a:fld>
            <a:endParaRPr/>
          </a:p>
        </p:txBody>
      </p:sp>
    </p:spTree>
    <p:extLst>
      <p:ext uri="{BB962C8B-B14F-4D97-AF65-F5344CB8AC3E}">
        <p14:creationId xmlns:p14="http://schemas.microsoft.com/office/powerpoint/2010/main" val="14018102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s05_slide: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 name="Google Shape;73;s05_slide: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Calibri"/>
              <a:buChar char="-"/>
            </a:pPr>
            <a:r>
              <a:rPr lang="nl-NL"/>
              <a:t>Why segmentation matters clinically: the numbers a cardiologist uses come from the masks. Ask the room how long they think one manual contouring session takes.</a:t>
            </a:r>
            <a:endParaRPr/>
          </a:p>
        </p:txBody>
      </p:sp>
      <p:sp>
        <p:nvSpPr>
          <p:cNvPr id="74" name="Google Shape;74;s05_slide: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nl-NL"/>
              <a:t>8</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s06_slide: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 name="Google Shape;81;s06_slide: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Calibri"/>
              <a:buChar char="-"/>
            </a:pPr>
            <a:r>
              <a:rPr lang="nl-NL"/>
              <a:t>Four challenges, each tied to something we know in advance about the data. Low data and texture are mostly an LGE story; motion is the cine story. ACDC has 100 training and 50 test patients. Variable resolution and slice spacing between scanners is a fifth challenge worth a sentence here: it comes back in the neural fields part. Paste the LGE and cine examples from your other presentation on this slide.</a:t>
            </a:r>
            <a:endParaRPr/>
          </a:p>
        </p:txBody>
      </p:sp>
      <p:sp>
        <p:nvSpPr>
          <p:cNvPr id="82" name="Google Shape;82;s06_slide: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nl-NL"/>
              <a:t>9</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s07_slide: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 name="Google Shape;88;s07_slide: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Calibri"/>
              <a:buChar char="-"/>
            </a:pPr>
            <a:r>
              <a:rPr lang="nl-NL"/>
              <a:t>This table is the map of the lecture. Read it row by row: what we know, what the default approach does with that knowledge (nothing), and what we can do instead. Come back to it at the end.</a:t>
            </a:r>
            <a:endParaRPr/>
          </a:p>
        </p:txBody>
      </p:sp>
      <p:sp>
        <p:nvSpPr>
          <p:cNvPr id="89" name="Google Shape;89;s07_slide: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nl-NL"/>
              <a:t>10</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s08_slide: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0" name="Google Shape;150;s08_slide: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Calibri"/>
              <a:buChar char="-"/>
            </a:pPr>
            <a:r>
              <a:rPr lang="nl-NL"/>
              <a:t>Set up the CyclePhase problem. TO CHECK: name the modalities and datasets from the paper here, and say why ED detection is needed for them.</a:t>
            </a:r>
            <a:endParaRPr/>
          </a:p>
        </p:txBody>
      </p:sp>
      <p:sp>
        <p:nvSpPr>
          <p:cNvPr id="151" name="Google Shape;151;s08_slide: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nl-NL"/>
              <a:t>11</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s09_slide: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 name="Google Shape;158;s09_slide: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Calibri"/>
              <a:buChar char="-"/>
            </a:pPr>
            <a:r>
              <a:rPr lang="nl-NL"/>
              <a:t>Key point: changing the output representation, not the backbone, encodes the periodicity. TO CHECK: loss terms and headline results against the paper, and add the main number with its baseline.</a:t>
            </a:r>
            <a:endParaRPr/>
          </a:p>
        </p:txBody>
      </p:sp>
      <p:sp>
        <p:nvSpPr>
          <p:cNvPr id="159" name="Google Shape;159;s09_slide: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nl-NL"/>
              <a:t>12</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s10_slide: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 name="Google Shape;127;s10_slide: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Calibri"/>
              <a:buChar char="-"/>
            </a:pPr>
            <a:r>
              <a:rPr lang="nl-NL"/>
              <a:t>Introduce neural fields from scratch; most students know NeRF by name. Connect resolution independence back to the anisotropic sampling of cardiac MRI. Spectral bias is the reason for Fourier features and SIREN.</a:t>
            </a:r>
            <a:endParaRPr/>
          </a:p>
        </p:txBody>
      </p:sp>
      <p:sp>
        <p:nvSpPr>
          <p:cNvPr id="128" name="Google Shape;128;s10_slide: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nl-NL"/>
              <a:t>13</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a:extLst>
            <a:ext uri="{FF2B5EF4-FFF2-40B4-BE49-F238E27FC236}">
              <a16:creationId xmlns:a16="http://schemas.microsoft.com/office/drawing/2014/main" id="{611A50A9-344B-0D1C-9B87-F174C991934B}"/>
            </a:ext>
          </a:extLst>
        </p:cNvPr>
        <p:cNvGrpSpPr/>
        <p:nvPr/>
      </p:nvGrpSpPr>
      <p:grpSpPr>
        <a:xfrm>
          <a:off x="0" y="0"/>
          <a:ext cx="0" cy="0"/>
          <a:chOff x="0" y="0"/>
          <a:chExt cx="0" cy="0"/>
        </a:xfrm>
      </p:grpSpPr>
      <p:sp>
        <p:nvSpPr>
          <p:cNvPr id="202" name="Google Shape;202;g39e35dcda1a_0_32:notes">
            <a:extLst>
              <a:ext uri="{FF2B5EF4-FFF2-40B4-BE49-F238E27FC236}">
                <a16:creationId xmlns:a16="http://schemas.microsoft.com/office/drawing/2014/main" id="{759CEA74-37CC-9026-BBA4-B9E28E44A3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39e35dcda1a_0_32:notes">
            <a:extLst>
              <a:ext uri="{FF2B5EF4-FFF2-40B4-BE49-F238E27FC236}">
                <a16:creationId xmlns:a16="http://schemas.microsoft.com/office/drawing/2014/main" id="{29CBE6CD-A86B-5302-D60D-4A2CAFCCBD2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340577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9e35dcda1a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39e35dcda1a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782626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s19_slide: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5" name="Google Shape;135;s19_slide: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Calibri"/>
              <a:buChar char="-"/>
            </a:pPr>
            <a:r>
              <a:rPr lang="nl-NL"/>
              <a:t>Back to the label problem from the start. Because image and mask come from one latent, each sample is a labelled pair. Show samples and, if available, the downstream segmentation result with and without synthetic data.</a:t>
            </a:r>
            <a:endParaRPr/>
          </a:p>
        </p:txBody>
      </p:sp>
      <p:sp>
        <p:nvSpPr>
          <p:cNvPr id="136" name="Google Shape;136;s19_slide: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nl-NL"/>
              <a:t>18</a:t>
            </a:fld>
            <a:endParaRPr/>
          </a:p>
        </p:txBody>
      </p:sp>
    </p:spTree>
    <p:extLst>
      <p:ext uri="{BB962C8B-B14F-4D97-AF65-F5344CB8AC3E}">
        <p14:creationId xmlns:p14="http://schemas.microsoft.com/office/powerpoint/2010/main" val="23486036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s19_slide: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5" name="Google Shape;135;s19_slide: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Calibri"/>
              <a:buChar char="-"/>
            </a:pPr>
            <a:r>
              <a:rPr lang="nl-NL"/>
              <a:t>Back to the label problem from the start. Because image and mask come from one latent, each sample is a labelled pair. Show samples and, if available, the downstream segmentation result with and without synthetic data.</a:t>
            </a:r>
            <a:endParaRPr/>
          </a:p>
        </p:txBody>
      </p:sp>
      <p:sp>
        <p:nvSpPr>
          <p:cNvPr id="136" name="Google Shape;136;s19_slide: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nl-NL"/>
              <a:t>19</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s11_slide: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s11_slide: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Calibri"/>
              <a:buChar char="-"/>
            </a:pPr>
            <a:r>
              <a:rPr lang="nl-NL"/>
              <a:t>The SPIE paper. Be open about the weak point: it motivates everything that follows. Permuting neurons gives the same function with different weights, so weight vectors are a poor space for a generative model.</a:t>
            </a:r>
            <a:endParaRPr/>
          </a:p>
        </p:txBody>
      </p:sp>
      <p:sp>
        <p:nvSpPr>
          <p:cNvPr id="167" name="Google Shape;167;s11_slide: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nl-NL"/>
              <a:t>20</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s20_slide: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 name="Google Shape;143;s20_slide: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Calibri"/>
              <a:buChar char="-"/>
            </a:pPr>
            <a:r>
              <a:rPr lang="nl-NL"/>
              <a:t>Ongoing work, so present it as an open question and let the students discuss. Keep the claims at the level of what you have observed.</a:t>
            </a:r>
            <a:endParaRPr/>
          </a:p>
        </p:txBody>
      </p:sp>
      <p:sp>
        <p:nvSpPr>
          <p:cNvPr id="144" name="Google Shape;144;s20_slide: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nl-NL"/>
              <a:t>21</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s12_slide: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 name="Google Shape;95;s12_slide: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Calibri"/>
              <a:buChar char="-"/>
            </a:pPr>
            <a:r>
              <a:rPr lang="nl-NL"/>
              <a:t>Live question: is a CNN rotation equivariant? Let them answer before showing the figure. Then: augmentation teaches the symmetry approximately and at a cost.</a:t>
            </a:r>
            <a:endParaRPr/>
          </a:p>
        </p:txBody>
      </p:sp>
      <p:sp>
        <p:nvSpPr>
          <p:cNvPr id="96" name="Google Shape;96;s12_slide: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nl-NL"/>
              <a:t>22</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s13_slide: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s13_slide: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Calibri"/>
              <a:buChar char="-"/>
            </a:pPr>
            <a:r>
              <a:rPr lang="nl-NL"/>
              <a:t>Go slowly here; this is the one formal definition in the lecture. Use the commutative diagram: both paths around the square give the same result.</a:t>
            </a:r>
            <a:endParaRPr/>
          </a:p>
        </p:txBody>
      </p:sp>
      <p:sp>
        <p:nvSpPr>
          <p:cNvPr id="104" name="Google Shape;104;s13_slide: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nl-NL"/>
              <a:t>23</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s13b_slide: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s13b_slide: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Calibri"/>
              <a:buChar char="-"/>
            </a:pPr>
            <a:r>
              <a:rPr lang="nl-NL"/>
              <a:t>Run the demo in three steps. 1: follow the patch around the wall; turned upright it never changes. 2: an ordinary filter has one direction and only finds part of the wall. 3: the same filter at eight angles covers the wall, and rotating the image moves the response at the marked point to the next orientation channel. This answers the objection that short-axis views are already in a standard orientation: the global pose is standardised, the local geometry is not.</a:t>
            </a:r>
            <a:endParaRPr/>
          </a:p>
        </p:txBody>
      </p:sp>
      <p:sp>
        <p:nvSpPr>
          <p:cNvPr id="112" name="Google Shape;112;s13b_slide: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nl-NL"/>
              <a:t>24</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s13b_slide: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s13b_slide: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Calibri"/>
              <a:buChar char="-"/>
            </a:pPr>
            <a:r>
              <a:rPr lang="nl-NL"/>
              <a:t>Run the demo in three steps. 1: follow the patch around the wall; turned upright it never changes. 2: an ordinary filter has one direction and only finds part of the wall. 3: the same filter at eight angles covers the wall, and rotating the image moves the response at the marked point to the next orientation channel. This answers the objection that short-axis views are already in a standard orientation: the global pose is standardised, the local geometry is not.</a:t>
            </a:r>
            <a:endParaRPr/>
          </a:p>
        </p:txBody>
      </p:sp>
      <p:sp>
        <p:nvSpPr>
          <p:cNvPr id="112" name="Google Shape;112;s13b_slide: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nl-NL"/>
              <a:t>25</a:t>
            </a:fld>
            <a:endParaRPr/>
          </a:p>
        </p:txBody>
      </p:sp>
    </p:spTree>
    <p:extLst>
      <p:ext uri="{BB962C8B-B14F-4D97-AF65-F5344CB8AC3E}">
        <p14:creationId xmlns:p14="http://schemas.microsoft.com/office/powerpoint/2010/main" val="10080080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s13b_slide: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s13b_slide: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Calibri"/>
              <a:buChar char="-"/>
            </a:pPr>
            <a:r>
              <a:rPr lang="nl-NL"/>
              <a:t>Run the demo in three steps. 1: follow the patch around the wall; turned upright it never changes. 2: an ordinary filter has one direction and only finds part of the wall. 3: the same filter at eight angles covers the wall, and rotating the image moves the response at the marked point to the next orientation channel. This answers the objection that short-axis views are already in a standard orientation: the global pose is standardised, the local geometry is not.</a:t>
            </a:r>
            <a:endParaRPr/>
          </a:p>
        </p:txBody>
      </p:sp>
      <p:sp>
        <p:nvSpPr>
          <p:cNvPr id="112" name="Google Shape;112;s13b_slide: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nl-NL"/>
              <a:t>26</a:t>
            </a:fld>
            <a:endParaRPr/>
          </a:p>
        </p:txBody>
      </p:sp>
    </p:spTree>
    <p:extLst>
      <p:ext uri="{BB962C8B-B14F-4D97-AF65-F5344CB8AC3E}">
        <p14:creationId xmlns:p14="http://schemas.microsoft.com/office/powerpoint/2010/main" val="16830603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s17_slide: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s17_slide: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Calibri"/>
              <a:buChar char="-"/>
            </a:pPr>
            <a:r>
              <a:rPr lang="nl-NL"/>
              <a:t>State these as expectations and show the evidence you have. If the data-efficiency curve is not final, say so and present it as the experiment that tests the claim.</a:t>
            </a:r>
            <a:endParaRPr/>
          </a:p>
        </p:txBody>
      </p:sp>
      <p:sp>
        <p:nvSpPr>
          <p:cNvPr id="120" name="Google Shape;120;s17_slide: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nl-NL"/>
              <a:t>27</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s14_slide: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 name="Google Shape;188;s14_slide: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Calibri"/>
              <a:buChar char="-"/>
            </a:pPr>
            <a:r>
              <a:rPr lang="nl-NL"/>
              <a:t>Ordinary convolution is the special case where the group is translations only. Group convolution repeats the same argument for rotations. The price is the extra orientation axis.</a:t>
            </a:r>
            <a:endParaRPr/>
          </a:p>
        </p:txBody>
      </p:sp>
      <p:sp>
        <p:nvSpPr>
          <p:cNvPr id="189" name="Google Shape;189;s14_slide: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nl-NL"/>
              <a:t>28</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s15_slide: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 name="Google Shape;196;s15_slide: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Calibri"/>
              <a:buChar char="-"/>
            </a:pPr>
            <a:r>
              <a:rPr lang="nl-NL"/>
              <a:t>Equivariant neural fields (Wessels et al.). Contrast with the previous approach: there the latent was a weight vector, here it is a set of points with poses that sit on the anatomy.</a:t>
            </a:r>
            <a:endParaRPr/>
          </a:p>
        </p:txBody>
      </p:sp>
      <p:sp>
        <p:nvSpPr>
          <p:cNvPr id="197" name="Google Shape;197;s15_slide: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nl-NL"/>
              <a:t>29</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s16_slide: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4" name="Google Shape;204;s16_slide: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Calibri"/>
              <a:buChar char="-"/>
            </a:pPr>
            <a:r>
              <a:rPr lang="nl-NL"/>
              <a:t>Walk through the architecture left to right. Explain why a signed distance field is used for the mask: boundaries are defined below pixel resolution. Decide how much unpublished detail to show.</a:t>
            </a:r>
            <a:endParaRPr/>
          </a:p>
        </p:txBody>
      </p:sp>
      <p:sp>
        <p:nvSpPr>
          <p:cNvPr id="205" name="Google Shape;205;s16_slide: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nl-NL"/>
              <a:t>30</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s18_slide: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s18_slide: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Calibri"/>
              <a:buChar char="-"/>
            </a:pPr>
            <a:r>
              <a:rPr lang="nl-NL"/>
              <a:t>Students remember the failures. Tell the debugging stories: adaptive pooling on odd dimensions and instance normalisation breaking equivariance, found only by measuring the equivariance error. Short-axis views are roughly standardised, so ask whether rotation is the symmetry that matters most.</a:t>
            </a:r>
            <a:endParaRPr/>
          </a:p>
        </p:txBody>
      </p:sp>
      <p:sp>
        <p:nvSpPr>
          <p:cNvPr id="213" name="Google Shape;213;s18_slide: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nl-NL"/>
              <a:t>32</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s21_slide: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s21_slide: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Calibri"/>
              <a:buChar char="-"/>
            </a:pPr>
            <a:r>
              <a:rPr lang="nl-NL"/>
              <a:t>Return to the table from the start. The method differs per row but the reasoning is the same. End on testing the prior: an inductive bias is a hypothesis about the data.</a:t>
            </a:r>
            <a:endParaRPr/>
          </a:p>
        </p:txBody>
      </p:sp>
      <p:sp>
        <p:nvSpPr>
          <p:cNvPr id="175" name="Google Shape;175;s21_slide: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nl-NL"/>
              <a:t>33</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s22_slide: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s22_slide: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Calibri"/>
              <a:buChar char="-"/>
            </a:pPr>
            <a:r>
              <a:rPr lang="nl-NL"/>
              <a:t>Add your own papers (CyclePhase at MIDL, the SPIE paper) with full references.</a:t>
            </a:r>
            <a:endParaRPr/>
          </a:p>
        </p:txBody>
      </p:sp>
      <p:sp>
        <p:nvSpPr>
          <p:cNvPr id="182" name="Google Shape;182;s22_slide: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nl-NL"/>
              <a:t>34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Poppi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
          <p:cNvSpPr txBox="1">
            <a:spLocks noGrp="1"/>
          </p:cNvSpPr>
          <p:nvPr>
            <p:ph type="body" idx="1"/>
          </p:nvPr>
        </p:nvSpPr>
        <p:spPr>
          <a:xfrm>
            <a:off x="838200" y="1825625"/>
            <a:ext cx="10515600" cy="385852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0"/>
        <p:cNvGrpSpPr/>
        <p:nvPr/>
      </p:nvGrpSpPr>
      <p:grpSpPr>
        <a:xfrm>
          <a:off x="0" y="0"/>
          <a:ext cx="0" cy="0"/>
          <a:chOff x="0" y="0"/>
          <a:chExt cx="0" cy="0"/>
        </a:xfrm>
      </p:grpSpPr>
      <p:sp>
        <p:nvSpPr>
          <p:cNvPr id="21" name="Google Shape;21;p4"/>
          <p:cNvSpPr/>
          <p:nvPr/>
        </p:nvSpPr>
        <p:spPr>
          <a:xfrm>
            <a:off x="1" y="6004193"/>
            <a:ext cx="12191999" cy="853807"/>
          </a:xfrm>
          <a:prstGeom prst="rect">
            <a:avLst/>
          </a:prstGeom>
          <a:solidFill>
            <a:srgbClr val="10123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2" name="Google Shape;22;p4"/>
          <p:cNvPicPr preferRelativeResize="0"/>
          <p:nvPr/>
        </p:nvPicPr>
        <p:blipFill rotWithShape="1">
          <a:blip r:embed="rId2">
            <a:alphaModFix/>
          </a:blip>
          <a:srcRect/>
          <a:stretch/>
        </p:blipFill>
        <p:spPr>
          <a:xfrm>
            <a:off x="1739050" y="6201296"/>
            <a:ext cx="1630728" cy="459600"/>
          </a:xfrm>
          <a:prstGeom prst="rect">
            <a:avLst/>
          </a:prstGeom>
          <a:noFill/>
          <a:ln>
            <a:noFill/>
          </a:ln>
        </p:spPr>
      </p:pic>
      <p:pic>
        <p:nvPicPr>
          <p:cNvPr id="23" name="Google Shape;23;p4"/>
          <p:cNvPicPr preferRelativeResize="0"/>
          <p:nvPr/>
        </p:nvPicPr>
        <p:blipFill rotWithShape="1">
          <a:blip r:embed="rId3">
            <a:alphaModFix/>
          </a:blip>
          <a:srcRect/>
          <a:stretch/>
        </p:blipFill>
        <p:spPr>
          <a:xfrm>
            <a:off x="1322936" y="6201296"/>
            <a:ext cx="232402" cy="461002"/>
          </a:xfrm>
          <a:prstGeom prst="rect">
            <a:avLst/>
          </a:prstGeom>
          <a:noFill/>
          <a:ln>
            <a:noFill/>
          </a:ln>
        </p:spPr>
      </p:pic>
      <p:pic>
        <p:nvPicPr>
          <p:cNvPr id="24" name="Google Shape;24;p4"/>
          <p:cNvPicPr preferRelativeResize="0"/>
          <p:nvPr/>
        </p:nvPicPr>
        <p:blipFill rotWithShape="1">
          <a:blip r:embed="rId4">
            <a:alphaModFix/>
          </a:blip>
          <a:srcRect/>
          <a:stretch/>
        </p:blipFill>
        <p:spPr>
          <a:xfrm>
            <a:off x="771182" y="6199319"/>
            <a:ext cx="367836" cy="455181"/>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600" y="593367"/>
            <a:ext cx="11360800" cy="763600"/>
          </a:xfrm>
          <a:prstGeom prst="rect">
            <a:avLst/>
          </a:prstGeom>
        </p:spPr>
        <p:txBody>
          <a:bodyPr spcFirstLastPara="1" wrap="square" lIns="68575" tIns="34275" rIns="68575" bIns="34275" anchor="ctr" anchorCtr="0">
            <a:normAutofit/>
          </a:bodyPr>
          <a:lstStyle>
            <a:lvl1pPr lvl="0" rtl="0">
              <a:spcBef>
                <a:spcPts val="0"/>
              </a:spcBef>
              <a:spcAft>
                <a:spcPts val="0"/>
              </a:spcAft>
              <a:buSzPts val="33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27" name="Google Shape;27;p6"/>
          <p:cNvSpPr txBox="1">
            <a:spLocks noGrp="1"/>
          </p:cNvSpPr>
          <p:nvPr>
            <p:ph type="body" idx="1"/>
          </p:nvPr>
        </p:nvSpPr>
        <p:spPr>
          <a:xfrm>
            <a:off x="415600" y="1536633"/>
            <a:ext cx="11360800" cy="4555200"/>
          </a:xfrm>
          <a:prstGeom prst="rect">
            <a:avLst/>
          </a:prstGeom>
        </p:spPr>
        <p:txBody>
          <a:bodyPr spcFirstLastPara="1" wrap="square" lIns="68575" tIns="34275" rIns="68575" bIns="34275" anchor="t" anchorCtr="0">
            <a:normAutofit/>
          </a:bodyPr>
          <a:lstStyle>
            <a:lvl1pPr marL="609585" lvl="0" indent="-482588" rtl="0">
              <a:spcBef>
                <a:spcPts val="1067"/>
              </a:spcBef>
              <a:spcAft>
                <a:spcPts val="0"/>
              </a:spcAft>
              <a:buSzPts val="2100"/>
              <a:buChar char="•"/>
              <a:defRPr/>
            </a:lvl1pPr>
            <a:lvl2pPr marL="1219170" lvl="1" indent="-457189" rtl="0">
              <a:spcBef>
                <a:spcPts val="533"/>
              </a:spcBef>
              <a:spcAft>
                <a:spcPts val="0"/>
              </a:spcAft>
              <a:buSzPts val="1800"/>
              <a:buChar char="•"/>
              <a:defRPr/>
            </a:lvl2pPr>
            <a:lvl3pPr marL="1828754" lvl="2" indent="-431789" rtl="0">
              <a:spcBef>
                <a:spcPts val="533"/>
              </a:spcBef>
              <a:spcAft>
                <a:spcPts val="0"/>
              </a:spcAft>
              <a:buSzPts val="1500"/>
              <a:buChar char="•"/>
              <a:defRPr/>
            </a:lvl3pPr>
            <a:lvl4pPr marL="2438339" lvl="3" indent="-423323" rtl="0">
              <a:spcBef>
                <a:spcPts val="533"/>
              </a:spcBef>
              <a:spcAft>
                <a:spcPts val="0"/>
              </a:spcAft>
              <a:buSzPts val="1400"/>
              <a:buChar char="•"/>
              <a:defRPr/>
            </a:lvl4pPr>
            <a:lvl5pPr marL="3047924" lvl="4" indent="-423323" rtl="0">
              <a:spcBef>
                <a:spcPts val="533"/>
              </a:spcBef>
              <a:spcAft>
                <a:spcPts val="0"/>
              </a:spcAft>
              <a:buSzPts val="1400"/>
              <a:buChar char="•"/>
              <a:defRPr/>
            </a:lvl5pPr>
            <a:lvl6pPr marL="3657509" lvl="5" indent="-423323" rtl="0">
              <a:spcBef>
                <a:spcPts val="533"/>
              </a:spcBef>
              <a:spcAft>
                <a:spcPts val="0"/>
              </a:spcAft>
              <a:buSzPts val="1400"/>
              <a:buChar char="•"/>
              <a:defRPr/>
            </a:lvl6pPr>
            <a:lvl7pPr marL="4267093" lvl="6" indent="-423323" rtl="0">
              <a:spcBef>
                <a:spcPts val="533"/>
              </a:spcBef>
              <a:spcAft>
                <a:spcPts val="0"/>
              </a:spcAft>
              <a:buSzPts val="1400"/>
              <a:buChar char="•"/>
              <a:defRPr/>
            </a:lvl7pPr>
            <a:lvl8pPr marL="4876678" lvl="7" indent="-423323" rtl="0">
              <a:spcBef>
                <a:spcPts val="533"/>
              </a:spcBef>
              <a:spcAft>
                <a:spcPts val="0"/>
              </a:spcAft>
              <a:buSzPts val="1400"/>
              <a:buChar char="•"/>
              <a:defRPr/>
            </a:lvl8pPr>
            <a:lvl9pPr marL="5486263" lvl="8" indent="-423323" rtl="0">
              <a:spcBef>
                <a:spcPts val="533"/>
              </a:spcBef>
              <a:spcAft>
                <a:spcPts val="0"/>
              </a:spcAft>
              <a:buSzPts val="1400"/>
              <a:buChar char="•"/>
              <a:defRPr/>
            </a:lvl9pPr>
          </a:lstStyle>
          <a:p>
            <a:endParaRPr/>
          </a:p>
        </p:txBody>
      </p:sp>
      <p:sp>
        <p:nvSpPr>
          <p:cNvPr id="28" name="Google Shape;28;p6"/>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GB" smtClean="0"/>
              <a:pPr/>
              <a:t>‹nr.›</a:t>
            </a:fld>
            <a:endParaRPr lang="en-GB"/>
          </a:p>
        </p:txBody>
      </p:sp>
    </p:spTree>
    <p:extLst>
      <p:ext uri="{BB962C8B-B14F-4D97-AF65-F5344CB8AC3E}">
        <p14:creationId xmlns:p14="http://schemas.microsoft.com/office/powerpoint/2010/main" val="7599776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1" i="0" u="none" strike="noStrike" cap="none">
                <a:solidFill>
                  <a:schemeClr val="dk1"/>
                </a:solidFill>
                <a:latin typeface="Poppins"/>
                <a:ea typeface="Poppins"/>
                <a:cs typeface="Poppins"/>
                <a:sym typeface="Poppi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385852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p:nvPr/>
        </p:nvSpPr>
        <p:spPr>
          <a:xfrm>
            <a:off x="1" y="6004193"/>
            <a:ext cx="12191999" cy="853807"/>
          </a:xfrm>
          <a:prstGeom prst="rect">
            <a:avLst/>
          </a:prstGeom>
          <a:solidFill>
            <a:srgbClr val="10123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13" name="Google Shape;13;p1"/>
          <p:cNvPicPr preferRelativeResize="0"/>
          <p:nvPr/>
        </p:nvPicPr>
        <p:blipFill rotWithShape="1">
          <a:blip r:embed="rId6">
            <a:alphaModFix/>
          </a:blip>
          <a:srcRect/>
          <a:stretch/>
        </p:blipFill>
        <p:spPr>
          <a:xfrm>
            <a:off x="1739050" y="6201296"/>
            <a:ext cx="1630728" cy="459600"/>
          </a:xfrm>
          <a:prstGeom prst="rect">
            <a:avLst/>
          </a:prstGeom>
          <a:noFill/>
          <a:ln>
            <a:noFill/>
          </a:ln>
        </p:spPr>
      </p:pic>
      <p:pic>
        <p:nvPicPr>
          <p:cNvPr id="14" name="Google Shape;14;p1"/>
          <p:cNvPicPr preferRelativeResize="0"/>
          <p:nvPr/>
        </p:nvPicPr>
        <p:blipFill rotWithShape="1">
          <a:blip r:embed="rId7">
            <a:alphaModFix/>
          </a:blip>
          <a:srcRect/>
          <a:stretch/>
        </p:blipFill>
        <p:spPr>
          <a:xfrm>
            <a:off x="1322936" y="6201296"/>
            <a:ext cx="232402" cy="461002"/>
          </a:xfrm>
          <a:prstGeom prst="rect">
            <a:avLst/>
          </a:prstGeom>
          <a:noFill/>
          <a:ln>
            <a:noFill/>
          </a:ln>
        </p:spPr>
      </p:pic>
      <p:pic>
        <p:nvPicPr>
          <p:cNvPr id="15" name="Google Shape;15;p1"/>
          <p:cNvPicPr preferRelativeResize="0"/>
          <p:nvPr/>
        </p:nvPicPr>
        <p:blipFill rotWithShape="1">
          <a:blip r:embed="rId8">
            <a:alphaModFix/>
          </a:blip>
          <a:srcRect/>
          <a:stretch/>
        </p:blipFill>
        <p:spPr>
          <a:xfrm>
            <a:off x="771182" y="6199319"/>
            <a:ext cx="367836" cy="45518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2.gif"/><Relationship Id="rId1" Type="http://schemas.openxmlformats.org/officeDocument/2006/relationships/slideLayout" Target="../slideLayouts/slideLayout2.xml"/><Relationship Id="rId4" Type="http://schemas.openxmlformats.org/officeDocument/2006/relationships/image" Target="../media/image14.gif"/></Relationships>
</file>

<file path=ppt/slides/_rels/slide6.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32.gif"/><Relationship Id="rId2" Type="http://schemas.openxmlformats.org/officeDocument/2006/relationships/image" Target="../media/image31.gif"/><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jpeg"/><Relationship Id="rId7"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 Id="rId9" Type="http://schemas.openxmlformats.org/officeDocument/2006/relationships/image" Target="../media/image39.png"/></Relationships>
</file>

<file path=ppt/slides/_rels/slide17.xml.rels><?xml version="1.0" encoding="UTF-8" standalone="yes"?>
<Relationships xmlns="http://schemas.openxmlformats.org/package/2006/relationships"><Relationship Id="rId8" Type="http://schemas.openxmlformats.org/officeDocument/2006/relationships/image" Target="../media/image42.png"/><Relationship Id="rId3" Type="http://schemas.microsoft.com/office/2007/relationships/media" Target="../media/media2.mov"/><Relationship Id="rId7" Type="http://schemas.openxmlformats.org/officeDocument/2006/relationships/image" Target="../media/image41.png"/><Relationship Id="rId2" Type="http://schemas.microsoft.com/office/2007/relationships/media" Target="../media/media1.mov"/><Relationship Id="rId1" Type="http://schemas.openxmlformats.org/officeDocument/2006/relationships/video" Target="NULL" TargetMode="External"/><Relationship Id="rId6" Type="http://schemas.openxmlformats.org/officeDocument/2006/relationships/image" Target="../media/image40.png"/><Relationship Id="rId5" Type="http://schemas.openxmlformats.org/officeDocument/2006/relationships/notesSlide" Target="../notesSlides/notesSlide14.xml"/><Relationship Id="rId4" Type="http://schemas.openxmlformats.org/officeDocument/2006/relationships/slideLayout" Target="../slideLayouts/slideLayout4.xml"/><Relationship Id="rId9" Type="http://schemas.openxmlformats.org/officeDocument/2006/relationships/image" Target="../media/image4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8.gif"/><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9.gif"/><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50.gif"/><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54.gi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
        <p:cNvGrpSpPr/>
        <p:nvPr/>
      </p:nvGrpSpPr>
      <p:grpSpPr>
        <a:xfrm>
          <a:off x="0" y="0"/>
          <a:ext cx="0" cy="0"/>
          <a:chOff x="0" y="0"/>
          <a:chExt cx="0" cy="0"/>
        </a:xfrm>
      </p:grpSpPr>
      <p:pic>
        <p:nvPicPr>
          <p:cNvPr id="30" name="Google Shape;30;p5"/>
          <p:cNvPicPr preferRelativeResize="0"/>
          <p:nvPr/>
        </p:nvPicPr>
        <p:blipFill rotWithShape="1">
          <a:blip r:embed="rId3">
            <a:alphaModFix/>
          </a:blip>
          <a:srcRect/>
          <a:stretch/>
        </p:blipFill>
        <p:spPr>
          <a:xfrm>
            <a:off x="436594" y="683046"/>
            <a:ext cx="11755406" cy="4712877"/>
          </a:xfrm>
          <a:prstGeom prst="rect">
            <a:avLst/>
          </a:prstGeom>
          <a:noFill/>
          <a:ln>
            <a:noFill/>
          </a:ln>
        </p:spPr>
      </p:pic>
      <p:pic>
        <p:nvPicPr>
          <p:cNvPr id="31" name="Google Shape;31;p5"/>
          <p:cNvPicPr preferRelativeResize="0"/>
          <p:nvPr/>
        </p:nvPicPr>
        <p:blipFill rotWithShape="1">
          <a:blip r:embed="rId4">
            <a:alphaModFix/>
          </a:blip>
          <a:srcRect/>
          <a:stretch/>
        </p:blipFill>
        <p:spPr>
          <a:xfrm>
            <a:off x="436594" y="683047"/>
            <a:ext cx="11755406" cy="4712877"/>
          </a:xfrm>
          <a:prstGeom prst="rect">
            <a:avLst/>
          </a:prstGeom>
          <a:noFill/>
          <a:ln>
            <a:noFill/>
          </a:ln>
        </p:spPr>
      </p:pic>
      <p:pic>
        <p:nvPicPr>
          <p:cNvPr id="32" name="Google Shape;32;p5"/>
          <p:cNvPicPr preferRelativeResize="0"/>
          <p:nvPr/>
        </p:nvPicPr>
        <p:blipFill rotWithShape="1">
          <a:blip r:embed="rId5">
            <a:alphaModFix/>
          </a:blip>
          <a:srcRect/>
          <a:stretch/>
        </p:blipFill>
        <p:spPr>
          <a:xfrm>
            <a:off x="436594" y="683046"/>
            <a:ext cx="11755406" cy="4712877"/>
          </a:xfrm>
          <a:prstGeom prst="rect">
            <a:avLst/>
          </a:prstGeom>
          <a:noFill/>
          <a:ln>
            <a:noFill/>
          </a:ln>
        </p:spPr>
      </p:pic>
      <p:pic>
        <p:nvPicPr>
          <p:cNvPr id="33" name="Google Shape;33;p5"/>
          <p:cNvPicPr preferRelativeResize="0"/>
          <p:nvPr/>
        </p:nvPicPr>
        <p:blipFill rotWithShape="1">
          <a:blip r:embed="rId6">
            <a:alphaModFix/>
          </a:blip>
          <a:srcRect/>
          <a:stretch/>
        </p:blipFill>
        <p:spPr>
          <a:xfrm>
            <a:off x="436594" y="683048"/>
            <a:ext cx="11755406" cy="4712877"/>
          </a:xfrm>
          <a:prstGeom prst="rect">
            <a:avLst/>
          </a:prstGeom>
          <a:noFill/>
          <a:ln>
            <a:noFill/>
          </a:ln>
        </p:spPr>
      </p:pic>
      <p:pic>
        <p:nvPicPr>
          <p:cNvPr id="34" name="Google Shape;34;p5"/>
          <p:cNvPicPr preferRelativeResize="0"/>
          <p:nvPr/>
        </p:nvPicPr>
        <p:blipFill rotWithShape="1">
          <a:blip r:embed="rId7">
            <a:alphaModFix/>
          </a:blip>
          <a:srcRect/>
          <a:stretch/>
        </p:blipFill>
        <p:spPr>
          <a:xfrm>
            <a:off x="436594" y="683047"/>
            <a:ext cx="11755406" cy="4712877"/>
          </a:xfrm>
          <a:prstGeom prst="rect">
            <a:avLst/>
          </a:prstGeom>
          <a:noFill/>
          <a:ln>
            <a:noFill/>
          </a:ln>
        </p:spPr>
      </p:pic>
      <p:pic>
        <p:nvPicPr>
          <p:cNvPr id="35" name="Google Shape;35;p5"/>
          <p:cNvPicPr preferRelativeResize="0"/>
          <p:nvPr/>
        </p:nvPicPr>
        <p:blipFill rotWithShape="1">
          <a:blip r:embed="rId8">
            <a:alphaModFix/>
          </a:blip>
          <a:srcRect/>
          <a:stretch/>
        </p:blipFill>
        <p:spPr>
          <a:xfrm>
            <a:off x="436594" y="683046"/>
            <a:ext cx="11755406" cy="4712877"/>
          </a:xfrm>
          <a:prstGeom prst="rect">
            <a:avLst/>
          </a:prstGeom>
          <a:noFill/>
          <a:ln>
            <a:noFill/>
          </a:ln>
        </p:spPr>
      </p:pic>
      <p:sp>
        <p:nvSpPr>
          <p:cNvPr id="36" name="Google Shape;36;p5"/>
          <p:cNvSpPr txBox="1">
            <a:spLocks noGrp="1"/>
          </p:cNvSpPr>
          <p:nvPr>
            <p:ph type="title" idx="4294967295"/>
          </p:nvPr>
        </p:nvSpPr>
        <p:spPr>
          <a:xfrm>
            <a:off x="771182" y="683046"/>
            <a:ext cx="5324818" cy="2586956"/>
          </a:xfrm>
          <a:prstGeom prst="rect">
            <a:avLst/>
          </a:prstGeom>
          <a:noFill/>
          <a:ln>
            <a:noFill/>
          </a:ln>
        </p:spPr>
        <p:txBody>
          <a:bodyPr spcFirstLastPara="1" wrap="square" lIns="91425" tIns="45700" rIns="91425" bIns="45700" anchor="b" anchorCtr="0">
            <a:noAutofit/>
          </a:bodyPr>
          <a:lstStyle/>
          <a:p>
            <a:pPr marL="0" lvl="0" indent="0" algn="l" rtl="0">
              <a:lnSpc>
                <a:spcPct val="120000"/>
              </a:lnSpc>
              <a:spcBef>
                <a:spcPts val="0"/>
              </a:spcBef>
              <a:spcAft>
                <a:spcPts val="0"/>
              </a:spcAft>
              <a:buClr>
                <a:srgbClr val="0000FF"/>
              </a:buClr>
              <a:buSzPts val="3400"/>
              <a:buFont typeface="Poppins"/>
              <a:buNone/>
            </a:pPr>
            <a:r>
              <a:rPr lang="nl-NL" sz="3400">
                <a:solidFill>
                  <a:srgbClr val="0000FF"/>
                </a:solidFill>
              </a:rPr>
              <a:t>Symmetry and structure in cardiac imaging</a:t>
            </a:r>
            <a:r>
              <a:rPr lang="nl-NL" sz="3400" b="1">
                <a:solidFill>
                  <a:srgbClr val="0000FF"/>
                </a:solidFill>
                <a:latin typeface="Poppins"/>
                <a:ea typeface="Poppins"/>
                <a:cs typeface="Poppins"/>
                <a:sym typeface="Poppins"/>
              </a:rPr>
              <a:t/>
            </a:r>
            <a:br>
              <a:rPr lang="nl-NL" sz="3400" b="1">
                <a:solidFill>
                  <a:srgbClr val="0000FF"/>
                </a:solidFill>
                <a:latin typeface="Poppins"/>
                <a:ea typeface="Poppins"/>
                <a:cs typeface="Poppins"/>
                <a:sym typeface="Poppins"/>
              </a:rPr>
            </a:br>
            <a:r>
              <a:rPr lang="nl-NL" sz="2200"/>
              <a:t>Guest lecture, MSc AI medical imaging course</a:t>
            </a:r>
            <a:br>
              <a:rPr lang="nl-NL" sz="2200"/>
            </a:br>
            <a:endParaRPr sz="2200" b="1"/>
          </a:p>
        </p:txBody>
      </p:sp>
      <p:sp>
        <p:nvSpPr>
          <p:cNvPr id="37" name="Google Shape;37;p5"/>
          <p:cNvSpPr txBox="1">
            <a:spLocks noGrp="1"/>
          </p:cNvSpPr>
          <p:nvPr>
            <p:ph type="body" idx="4294967295"/>
          </p:nvPr>
        </p:nvSpPr>
        <p:spPr>
          <a:xfrm>
            <a:off x="771182" y="3572758"/>
            <a:ext cx="5324818" cy="1797965"/>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0"/>
              </a:spcBef>
              <a:spcAft>
                <a:spcPts val="0"/>
              </a:spcAft>
              <a:buClr>
                <a:schemeClr val="dk1"/>
              </a:buClr>
              <a:buSzPts val="1800"/>
              <a:buNone/>
            </a:pPr>
            <a:endParaRPr sz="1800" b="0" i="0">
              <a:solidFill>
                <a:srgbClr val="000000"/>
              </a:solidFill>
              <a:latin typeface="Poppins"/>
              <a:ea typeface="Poppins"/>
              <a:cs typeface="Poppins"/>
              <a:sym typeface="Poppins"/>
            </a:endParaRPr>
          </a:p>
        </p:txBody>
      </p:sp>
      <p:sp>
        <p:nvSpPr>
          <p:cNvPr id="38" name="Google Shape;38;p5"/>
          <p:cNvSpPr txBox="1"/>
          <p:nvPr/>
        </p:nvSpPr>
        <p:spPr>
          <a:xfrm>
            <a:off x="9171432" y="-64008"/>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 name="Google Shape;39;p5"/>
          <p:cNvSpPr txBox="1"/>
          <p:nvPr/>
        </p:nvSpPr>
        <p:spPr>
          <a:xfrm>
            <a:off x="771182" y="4967926"/>
            <a:ext cx="5525334" cy="402796"/>
          </a:xfrm>
          <a:prstGeom prst="rect">
            <a:avLst/>
          </a:prstGeom>
          <a:noFill/>
          <a:ln>
            <a:noFill/>
          </a:ln>
        </p:spPr>
        <p:txBody>
          <a:bodyPr spcFirstLastPara="1" wrap="square" lIns="91425" tIns="45700" rIns="91425" bIns="45700" anchor="t" anchorCtr="0">
            <a:normAutofit lnSpcReduction="10000"/>
          </a:bodyPr>
          <a:lstStyle/>
          <a:p>
            <a:pPr marL="0" marR="0" lvl="0" indent="0" algn="l" rtl="0">
              <a:lnSpc>
                <a:spcPct val="150000"/>
              </a:lnSpc>
              <a:spcBef>
                <a:spcPts val="0"/>
              </a:spcBef>
              <a:spcAft>
                <a:spcPts val="0"/>
              </a:spcAft>
              <a:buClr>
                <a:srgbClr val="000000"/>
              </a:buClr>
              <a:buSzPts val="1400"/>
              <a:buFont typeface="Arial"/>
              <a:buNone/>
            </a:pPr>
            <a:r>
              <a:rPr lang="nl-NL" b="1">
                <a:latin typeface="Poppins"/>
                <a:ea typeface="Poppins"/>
                <a:cs typeface="Poppins"/>
                <a:sym typeface="Poppins"/>
              </a:rPr>
              <a:t>Soufiane Ben Haddou</a:t>
            </a:r>
            <a:endParaRPr sz="1400" b="1" u="none">
              <a:solidFill>
                <a:srgbClr val="000000"/>
              </a:solidFill>
              <a:latin typeface="Poppins"/>
              <a:ea typeface="Poppins"/>
              <a:cs typeface="Poppins"/>
              <a:sym typeface="Poppi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200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par>
                                <p:cTn id="8" presetID="10" presetClass="exit" presetSubtype="0" fill="hold" nodeType="withEffect">
                                  <p:stCondLst>
                                    <p:cond delay="2000"/>
                                  </p:stCondLst>
                                  <p:childTnLst>
                                    <p:animEffect transition="out" filter="fade">
                                      <p:cBhvr>
                                        <p:cTn id="9" dur="500"/>
                                        <p:tgtEl>
                                          <p:spTgt spid="33"/>
                                        </p:tgtEl>
                                      </p:cBhvr>
                                    </p:animEffect>
                                    <p:set>
                                      <p:cBhvr>
                                        <p:cTn id="10" dur="1" fill="hold">
                                          <p:stCondLst>
                                            <p:cond delay="500"/>
                                          </p:stCondLst>
                                        </p:cTn>
                                        <p:tgtEl>
                                          <p:spTgt spid="33"/>
                                        </p:tgtEl>
                                        <p:attrNameLst>
                                          <p:attrName>style.visibility</p:attrName>
                                        </p:attrNameLst>
                                      </p:cBhvr>
                                      <p:to>
                                        <p:strVal val="hidden"/>
                                      </p:to>
                                    </p:set>
                                  </p:childTnLst>
                                </p:cTn>
                              </p:par>
                            </p:childTnLst>
                          </p:cTn>
                        </p:par>
                        <p:par>
                          <p:cTn id="11" fill="hold">
                            <p:stCondLst>
                              <p:cond delay="500"/>
                            </p:stCondLst>
                            <p:childTnLst>
                              <p:par>
                                <p:cTn id="12" presetID="10" presetClass="entr" presetSubtype="0" fill="hold" nodeType="afterEffect">
                                  <p:stCondLst>
                                    <p:cond delay="2000"/>
                                  </p:stCondLst>
                                  <p:childTnLst>
                                    <p:set>
                                      <p:cBhvr>
                                        <p:cTn id="13" dur="1" fill="hold">
                                          <p:stCondLst>
                                            <p:cond delay="0"/>
                                          </p:stCondLst>
                                        </p:cTn>
                                        <p:tgtEl>
                                          <p:spTgt spid="35"/>
                                        </p:tgtEl>
                                        <p:attrNameLst>
                                          <p:attrName>style.visibility</p:attrName>
                                        </p:attrNameLst>
                                      </p:cBhvr>
                                      <p:to>
                                        <p:strVal val="visible"/>
                                      </p:to>
                                    </p:set>
                                    <p:animEffect transition="in" filter="fade">
                                      <p:cBhvr>
                                        <p:cTn id="14" dur="500"/>
                                        <p:tgtEl>
                                          <p:spTgt spid="35"/>
                                        </p:tgtEl>
                                      </p:cBhvr>
                                    </p:animEffect>
                                  </p:childTnLst>
                                </p:cTn>
                              </p:par>
                              <p:par>
                                <p:cTn id="15" presetID="10" presetClass="exit" presetSubtype="0" fill="hold" nodeType="withEffect">
                                  <p:stCondLst>
                                    <p:cond delay="2000"/>
                                  </p:stCondLst>
                                  <p:childTnLst>
                                    <p:animEffect transition="out" filter="fade">
                                      <p:cBhvr>
                                        <p:cTn id="16" dur="500"/>
                                        <p:tgtEl>
                                          <p:spTgt spid="34"/>
                                        </p:tgtEl>
                                      </p:cBhvr>
                                    </p:animEffect>
                                    <p:set>
                                      <p:cBhvr>
                                        <p:cTn id="17" dur="1" fill="hold">
                                          <p:stCondLst>
                                            <p:cond delay="500"/>
                                          </p:stCondLst>
                                        </p:cTn>
                                        <p:tgtEl>
                                          <p:spTgt spid="34"/>
                                        </p:tgtEl>
                                        <p:attrNameLst>
                                          <p:attrName>style.visibility</p:attrName>
                                        </p:attrNameLst>
                                      </p:cBhvr>
                                      <p:to>
                                        <p:strVal val="hidden"/>
                                      </p:to>
                                    </p:set>
                                  </p:childTnLst>
                                </p:cTn>
                              </p:par>
                            </p:childTnLst>
                          </p:cTn>
                        </p:par>
                        <p:par>
                          <p:cTn id="18" fill="hold">
                            <p:stCondLst>
                              <p:cond delay="1000"/>
                            </p:stCondLst>
                            <p:childTnLst>
                              <p:par>
                                <p:cTn id="19" presetID="10" presetClass="entr" presetSubtype="0" fill="hold" nodeType="afterEffect">
                                  <p:stCondLst>
                                    <p:cond delay="200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500"/>
                                        <p:tgtEl>
                                          <p:spTgt spid="30"/>
                                        </p:tgtEl>
                                      </p:cBhvr>
                                    </p:animEffect>
                                  </p:childTnLst>
                                </p:cTn>
                              </p:par>
                              <p:par>
                                <p:cTn id="22" presetID="10" presetClass="exit" presetSubtype="0" fill="hold" nodeType="withEffect">
                                  <p:stCondLst>
                                    <p:cond delay="2000"/>
                                  </p:stCondLst>
                                  <p:childTnLst>
                                    <p:animEffect transition="out" filter="fade">
                                      <p:cBhvr>
                                        <p:cTn id="23" dur="500"/>
                                        <p:tgtEl>
                                          <p:spTgt spid="35"/>
                                        </p:tgtEl>
                                      </p:cBhvr>
                                    </p:animEffect>
                                    <p:set>
                                      <p:cBhvr>
                                        <p:cTn id="24" dur="1" fill="hold">
                                          <p:stCondLst>
                                            <p:cond delay="500"/>
                                          </p:stCondLst>
                                        </p:cTn>
                                        <p:tgtEl>
                                          <p:spTgt spid="35"/>
                                        </p:tgtEl>
                                        <p:attrNameLst>
                                          <p:attrName>style.visibility</p:attrName>
                                        </p:attrNameLst>
                                      </p:cBhvr>
                                      <p:to>
                                        <p:strVal val="hidden"/>
                                      </p:to>
                                    </p:set>
                                  </p:childTnLst>
                                </p:cTn>
                              </p:par>
                            </p:childTnLst>
                          </p:cTn>
                        </p:par>
                        <p:par>
                          <p:cTn id="25" fill="hold">
                            <p:stCondLst>
                              <p:cond delay="1500"/>
                            </p:stCondLst>
                            <p:childTnLst>
                              <p:par>
                                <p:cTn id="26" presetID="10" presetClass="entr" presetSubtype="0" fill="hold" nodeType="afterEffect">
                                  <p:stCondLst>
                                    <p:cond delay="2000"/>
                                  </p:stCondLst>
                                  <p:childTnLst>
                                    <p:set>
                                      <p:cBhvr>
                                        <p:cTn id="27" dur="1" fill="hold">
                                          <p:stCondLst>
                                            <p:cond delay="0"/>
                                          </p:stCondLst>
                                        </p:cTn>
                                        <p:tgtEl>
                                          <p:spTgt spid="31"/>
                                        </p:tgtEl>
                                        <p:attrNameLst>
                                          <p:attrName>style.visibility</p:attrName>
                                        </p:attrNameLst>
                                      </p:cBhvr>
                                      <p:to>
                                        <p:strVal val="visible"/>
                                      </p:to>
                                    </p:set>
                                    <p:animEffect transition="in" filter="fade">
                                      <p:cBhvr>
                                        <p:cTn id="28" dur="500"/>
                                        <p:tgtEl>
                                          <p:spTgt spid="31"/>
                                        </p:tgtEl>
                                      </p:cBhvr>
                                    </p:animEffect>
                                  </p:childTnLst>
                                </p:cTn>
                              </p:par>
                              <p:par>
                                <p:cTn id="29" presetID="10" presetClass="exit" presetSubtype="0" fill="hold" nodeType="withEffect">
                                  <p:stCondLst>
                                    <p:cond delay="2000"/>
                                  </p:stCondLst>
                                  <p:childTnLst>
                                    <p:animEffect transition="out" filter="fade">
                                      <p:cBhvr>
                                        <p:cTn id="30" dur="500"/>
                                        <p:tgtEl>
                                          <p:spTgt spid="30"/>
                                        </p:tgtEl>
                                      </p:cBhvr>
                                    </p:animEffect>
                                    <p:set>
                                      <p:cBhvr>
                                        <p:cTn id="31" dur="1" fill="hold">
                                          <p:stCondLst>
                                            <p:cond delay="500"/>
                                          </p:stCondLst>
                                        </p:cTn>
                                        <p:tgtEl>
                                          <p:spTgt spid="30"/>
                                        </p:tgtEl>
                                        <p:attrNameLst>
                                          <p:attrName>style.visibility</p:attrName>
                                        </p:attrNameLst>
                                      </p:cBhvr>
                                      <p:to>
                                        <p:strVal val="hidden"/>
                                      </p:to>
                                    </p:set>
                                  </p:childTnLst>
                                </p:cTn>
                              </p:par>
                            </p:childTnLst>
                          </p:cTn>
                        </p:par>
                        <p:par>
                          <p:cTn id="32" fill="hold">
                            <p:stCondLst>
                              <p:cond delay="2000"/>
                            </p:stCondLst>
                            <p:childTnLst>
                              <p:par>
                                <p:cTn id="33" presetID="10" presetClass="entr" presetSubtype="0" fill="hold" nodeType="afterEffect">
                                  <p:stCondLst>
                                    <p:cond delay="200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500"/>
                                        <p:tgtEl>
                                          <p:spTgt spid="32"/>
                                        </p:tgtEl>
                                      </p:cBhvr>
                                    </p:animEffect>
                                  </p:childTnLst>
                                </p:cTn>
                              </p:par>
                              <p:par>
                                <p:cTn id="36" presetID="10" presetClass="exit" presetSubtype="0" fill="hold" nodeType="withEffect">
                                  <p:stCondLst>
                                    <p:cond delay="2000"/>
                                  </p:stCondLst>
                                  <p:childTnLst>
                                    <p:animEffect transition="out" filter="fade">
                                      <p:cBhvr>
                                        <p:cTn id="37" dur="500"/>
                                        <p:tgtEl>
                                          <p:spTgt spid="31"/>
                                        </p:tgtEl>
                                      </p:cBhvr>
                                    </p:animEffect>
                                    <p:set>
                                      <p:cBhvr>
                                        <p:cTn id="38" dur="1" fill="hold">
                                          <p:stCondLst>
                                            <p:cond delay="500"/>
                                          </p:stCondLst>
                                        </p:cTn>
                                        <p:tgtEl>
                                          <p:spTgt spid="3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6"/>
          <p:cNvSpPr txBox="1">
            <a:spLocks noGrp="1"/>
          </p:cNvSpPr>
          <p:nvPr>
            <p:ph type="title" idx="4294967295"/>
          </p:nvPr>
        </p:nvSpPr>
        <p:spPr>
          <a:xfrm>
            <a:off x="771180" y="456439"/>
            <a:ext cx="10652700" cy="6219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rgbClr val="0000FF"/>
              </a:buClr>
              <a:buSzPts val="3400"/>
              <a:buFont typeface="Poppins"/>
              <a:buNone/>
            </a:pPr>
            <a:r>
              <a:rPr lang="nl-NL" sz="3400">
                <a:solidFill>
                  <a:srgbClr val="0000FF"/>
                </a:solidFill>
              </a:rPr>
              <a:t>About me</a:t>
            </a:r>
            <a:endParaRPr sz="3400" b="1">
              <a:latin typeface="Poppins"/>
              <a:ea typeface="Poppins"/>
              <a:cs typeface="Poppins"/>
              <a:sym typeface="Poppins"/>
            </a:endParaRPr>
          </a:p>
        </p:txBody>
      </p:sp>
      <p:sp>
        <p:nvSpPr>
          <p:cNvPr id="46" name="Google Shape;46;p6"/>
          <p:cNvSpPr txBox="1"/>
          <p:nvPr/>
        </p:nvSpPr>
        <p:spPr>
          <a:xfrm>
            <a:off x="771180" y="1417320"/>
            <a:ext cx="5669400" cy="4206300"/>
          </a:xfrm>
          <a:prstGeom prst="rect">
            <a:avLst/>
          </a:prstGeom>
          <a:noFill/>
          <a:ln>
            <a:noFill/>
          </a:ln>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Clr>
                <a:srgbClr val="1F2938"/>
              </a:buClr>
              <a:buSzPts val="1800"/>
              <a:buFont typeface="Poppins"/>
              <a:buChar char="●"/>
            </a:pPr>
            <a:r>
              <a:rPr lang="nl-NL" sz="1800">
                <a:solidFill>
                  <a:srgbClr val="1F2938"/>
                </a:solidFill>
                <a:latin typeface="Poppins"/>
                <a:ea typeface="Poppins"/>
                <a:cs typeface="Poppins"/>
                <a:sym typeface="Poppins"/>
              </a:rPr>
              <a:t>PhD candidate, third year, Amsterdam UMC</a:t>
            </a:r>
            <a:endParaRPr sz="1800">
              <a:solidFill>
                <a:srgbClr val="1F2938"/>
              </a:solidFill>
              <a:latin typeface="Poppins"/>
              <a:ea typeface="Poppins"/>
              <a:cs typeface="Poppins"/>
              <a:sym typeface="Poppins"/>
            </a:endParaRPr>
          </a:p>
          <a:p>
            <a:pPr marL="457200" lvl="0" indent="-342900" algn="l" rtl="0">
              <a:lnSpc>
                <a:spcPct val="150000"/>
              </a:lnSpc>
              <a:spcBef>
                <a:spcPts val="0"/>
              </a:spcBef>
              <a:spcAft>
                <a:spcPts val="0"/>
              </a:spcAft>
              <a:buClr>
                <a:srgbClr val="1F2938"/>
              </a:buClr>
              <a:buSzPts val="1800"/>
              <a:buFont typeface="Poppins"/>
              <a:buChar char="●"/>
            </a:pPr>
            <a:r>
              <a:rPr lang="nl-NL" sz="1800">
                <a:solidFill>
                  <a:srgbClr val="1F2938"/>
                </a:solidFill>
                <a:latin typeface="Poppins"/>
                <a:ea typeface="Poppins"/>
                <a:cs typeface="Poppins"/>
                <a:sym typeface="Poppins"/>
              </a:rPr>
              <a:t>Research: SE(2)-equivariant neural fields for cardiac MRI reconstruction, segmentation and synthesis</a:t>
            </a:r>
            <a:endParaRPr sz="1800">
              <a:solidFill>
                <a:srgbClr val="1F2938"/>
              </a:solidFill>
              <a:latin typeface="Poppins"/>
              <a:ea typeface="Poppins"/>
              <a:cs typeface="Poppins"/>
              <a:sym typeface="Poppins"/>
            </a:endParaRPr>
          </a:p>
          <a:p>
            <a:pPr marL="457200" lvl="0" indent="-342900" algn="l" rtl="0">
              <a:lnSpc>
                <a:spcPct val="150000"/>
              </a:lnSpc>
              <a:spcBef>
                <a:spcPts val="0"/>
              </a:spcBef>
              <a:spcAft>
                <a:spcPts val="0"/>
              </a:spcAft>
              <a:buClr>
                <a:srgbClr val="1F2938"/>
              </a:buClr>
              <a:buSzPts val="1800"/>
              <a:buFont typeface="Poppins"/>
              <a:buChar char="●"/>
            </a:pPr>
            <a:r>
              <a:rPr lang="nl-NL" sz="1800">
                <a:solidFill>
                  <a:srgbClr val="1F2938"/>
                </a:solidFill>
                <a:latin typeface="Poppins"/>
                <a:ea typeface="Poppins"/>
                <a:cs typeface="Poppins"/>
                <a:sym typeface="Poppins"/>
              </a:rPr>
              <a:t>MSc: AI, UvA, 2023</a:t>
            </a:r>
            <a:endParaRPr sz="1800">
              <a:solidFill>
                <a:srgbClr val="1F2938"/>
              </a:solidFill>
              <a:latin typeface="Poppins"/>
              <a:ea typeface="Poppins"/>
              <a:cs typeface="Poppins"/>
              <a:sym typeface="Poppins"/>
            </a:endParaRPr>
          </a:p>
          <a:p>
            <a:pPr marL="457200" lvl="0" indent="-342900" algn="l" rtl="0">
              <a:lnSpc>
                <a:spcPct val="150000"/>
              </a:lnSpc>
              <a:spcBef>
                <a:spcPts val="0"/>
              </a:spcBef>
              <a:spcAft>
                <a:spcPts val="0"/>
              </a:spcAft>
              <a:buClr>
                <a:srgbClr val="1F2938"/>
              </a:buClr>
              <a:buSzPts val="1800"/>
              <a:buFont typeface="Poppins"/>
              <a:buChar char="●"/>
            </a:pPr>
            <a:r>
              <a:rPr lang="nl-NL" sz="1800">
                <a:solidFill>
                  <a:srgbClr val="1F2938"/>
                </a:solidFill>
                <a:latin typeface="Poppins"/>
                <a:ea typeface="Poppins"/>
                <a:cs typeface="Poppins"/>
                <a:sym typeface="Poppins"/>
              </a:rPr>
              <a:t>BSc: AI, UvA, 2021</a:t>
            </a:r>
            <a:endParaRPr sz="1800">
              <a:solidFill>
                <a:srgbClr val="1F2938"/>
              </a:solidFill>
              <a:latin typeface="Poppins"/>
              <a:ea typeface="Poppins"/>
              <a:cs typeface="Poppins"/>
              <a:sym typeface="Poppins"/>
            </a:endParaRPr>
          </a:p>
        </p:txBody>
      </p:sp>
      <p:pic>
        <p:nvPicPr>
          <p:cNvPr id="47" name="Google Shape;47;p6"/>
          <p:cNvPicPr preferRelativeResize="0"/>
          <p:nvPr/>
        </p:nvPicPr>
        <p:blipFill>
          <a:blip r:embed="rId3">
            <a:alphaModFix/>
          </a:blip>
          <a:stretch>
            <a:fillRect/>
          </a:stretch>
        </p:blipFill>
        <p:spPr>
          <a:xfrm>
            <a:off x="7743243" y="1480195"/>
            <a:ext cx="2435880" cy="2435880"/>
          </a:xfrm>
          <a:prstGeom prst="rect">
            <a:avLst/>
          </a:prstGeom>
          <a:solidFill>
            <a:srgbClr val="F1F3F4"/>
          </a:solid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8"/>
          <p:cNvSpPr txBox="1">
            <a:spLocks noGrp="1"/>
          </p:cNvSpPr>
          <p:nvPr>
            <p:ph type="title" idx="4294967295"/>
          </p:nvPr>
        </p:nvSpPr>
        <p:spPr>
          <a:xfrm>
            <a:off x="771180" y="456439"/>
            <a:ext cx="10652700" cy="6219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rgbClr val="0000FF"/>
              </a:buClr>
              <a:buSzPts val="3400"/>
              <a:buFont typeface="Poppins"/>
              <a:buNone/>
            </a:pPr>
            <a:r>
              <a:rPr lang="nl-NL" sz="3400">
                <a:solidFill>
                  <a:srgbClr val="0000FF"/>
                </a:solidFill>
              </a:rPr>
              <a:t>Outline</a:t>
            </a:r>
            <a:endParaRPr sz="3400" b="1">
              <a:latin typeface="Poppins"/>
              <a:ea typeface="Poppins"/>
              <a:cs typeface="Poppins"/>
              <a:sym typeface="Poppins"/>
            </a:endParaRPr>
          </a:p>
        </p:txBody>
      </p:sp>
      <p:sp>
        <p:nvSpPr>
          <p:cNvPr id="62" name="Google Shape;62;p8"/>
          <p:cNvSpPr txBox="1"/>
          <p:nvPr/>
        </p:nvSpPr>
        <p:spPr>
          <a:xfrm>
            <a:off x="771180" y="1417320"/>
            <a:ext cx="5637000" cy="30000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rgbClr val="1F2938"/>
              </a:buClr>
              <a:buSzPts val="1800"/>
              <a:buFont typeface="Poppins"/>
              <a:buChar char="●"/>
            </a:pPr>
            <a:r>
              <a:rPr lang="nl-NL" sz="1800" b="1" dirty="0" err="1">
                <a:solidFill>
                  <a:srgbClr val="1F2938"/>
                </a:solidFill>
                <a:latin typeface="Poppins"/>
                <a:ea typeface="Poppins"/>
                <a:cs typeface="Poppins"/>
                <a:sym typeface="Poppins"/>
              </a:rPr>
              <a:t>Challenges</a:t>
            </a:r>
            <a:r>
              <a:rPr lang="nl-NL" sz="1800" b="1" dirty="0">
                <a:solidFill>
                  <a:srgbClr val="1F2938"/>
                </a:solidFill>
                <a:latin typeface="Poppins"/>
                <a:ea typeface="Poppins"/>
                <a:cs typeface="Poppins"/>
                <a:sym typeface="Poppins"/>
              </a:rPr>
              <a:t>:</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what</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makes</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cardiac</a:t>
            </a:r>
            <a:r>
              <a:rPr lang="nl-NL" sz="1800" dirty="0">
                <a:solidFill>
                  <a:srgbClr val="1F2938"/>
                </a:solidFill>
                <a:latin typeface="Poppins"/>
                <a:ea typeface="Poppins"/>
                <a:cs typeface="Poppins"/>
                <a:sym typeface="Poppins"/>
              </a:rPr>
              <a:t> MRI hard </a:t>
            </a:r>
            <a:r>
              <a:rPr lang="nl-NL" sz="1800" dirty="0" err="1">
                <a:solidFill>
                  <a:srgbClr val="1F2938"/>
                </a:solidFill>
                <a:latin typeface="Poppins"/>
                <a:ea typeface="Poppins"/>
                <a:cs typeface="Poppins"/>
                <a:sym typeface="Poppins"/>
              </a:rPr>
              <a:t>for</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deep</a:t>
            </a:r>
            <a:r>
              <a:rPr lang="nl-NL" sz="1800" dirty="0">
                <a:solidFill>
                  <a:srgbClr val="1F2938"/>
                </a:solidFill>
                <a:latin typeface="Poppins"/>
                <a:ea typeface="Poppins"/>
                <a:cs typeface="Poppins"/>
                <a:sym typeface="Poppins"/>
              </a:rPr>
              <a:t> </a:t>
            </a:r>
            <a:r>
              <a:rPr lang="nl-NL" sz="1800" dirty="0" err="1" smtClean="0">
                <a:solidFill>
                  <a:srgbClr val="1F2938"/>
                </a:solidFill>
                <a:latin typeface="Poppins"/>
                <a:ea typeface="Poppins"/>
                <a:cs typeface="Poppins"/>
                <a:sym typeface="Poppins"/>
              </a:rPr>
              <a:t>learning</a:t>
            </a:r>
            <a:endParaRPr lang="nl-NL" sz="1800" dirty="0" smtClean="0">
              <a:solidFill>
                <a:srgbClr val="1F2938"/>
              </a:solidFill>
              <a:latin typeface="Poppins"/>
              <a:ea typeface="Poppins"/>
              <a:cs typeface="Poppins"/>
              <a:sym typeface="Poppins"/>
            </a:endParaRPr>
          </a:p>
          <a:p>
            <a:pPr marL="457200" indent="-342900">
              <a:buClr>
                <a:srgbClr val="1F2938"/>
              </a:buClr>
              <a:buSzPts val="1800"/>
              <a:buFont typeface="Poppins"/>
              <a:buChar char="●"/>
            </a:pPr>
            <a:r>
              <a:rPr lang="en-GB" sz="1800" b="1" dirty="0">
                <a:solidFill>
                  <a:srgbClr val="1F2938"/>
                </a:solidFill>
                <a:latin typeface="Poppins"/>
                <a:ea typeface="Poppins"/>
                <a:cs typeface="Poppins"/>
                <a:sym typeface="Poppins"/>
              </a:rPr>
              <a:t>Other projects:</a:t>
            </a:r>
            <a:r>
              <a:rPr lang="en-GB" sz="1800" dirty="0">
                <a:solidFill>
                  <a:srgbClr val="1F2938"/>
                </a:solidFill>
                <a:latin typeface="Poppins"/>
                <a:ea typeface="Poppins"/>
                <a:cs typeface="Poppins"/>
                <a:sym typeface="Poppins"/>
              </a:rPr>
              <a:t> cardiac motion and strain, shape from neural </a:t>
            </a:r>
            <a:r>
              <a:rPr lang="en-GB" sz="1800" dirty="0" smtClean="0">
                <a:solidFill>
                  <a:srgbClr val="1F2938"/>
                </a:solidFill>
                <a:latin typeface="Poppins"/>
                <a:ea typeface="Poppins"/>
                <a:cs typeface="Poppins"/>
                <a:sym typeface="Poppins"/>
              </a:rPr>
              <a:t>fields</a:t>
            </a:r>
          </a:p>
          <a:p>
            <a:pPr marL="457200" indent="-342900">
              <a:buClr>
                <a:srgbClr val="1F2938"/>
              </a:buClr>
              <a:buSzPts val="1800"/>
              <a:buFont typeface="Poppins"/>
              <a:buChar char="●"/>
            </a:pPr>
            <a:r>
              <a:rPr lang="en-GB" sz="1800" b="1" dirty="0">
                <a:solidFill>
                  <a:srgbClr val="1F2938"/>
                </a:solidFill>
                <a:latin typeface="Poppins"/>
                <a:ea typeface="Poppins"/>
                <a:cs typeface="Poppins"/>
                <a:sym typeface="Poppins"/>
              </a:rPr>
              <a:t>My direction:</a:t>
            </a:r>
            <a:r>
              <a:rPr lang="en-GB" sz="1800" dirty="0">
                <a:solidFill>
                  <a:srgbClr val="1F2938"/>
                </a:solidFill>
                <a:latin typeface="Poppins"/>
                <a:ea typeface="Poppins"/>
                <a:cs typeface="Poppins"/>
                <a:sym typeface="Poppins"/>
              </a:rPr>
              <a:t> </a:t>
            </a:r>
            <a:r>
              <a:rPr lang="en-GB" sz="1800" dirty="0" err="1">
                <a:solidFill>
                  <a:srgbClr val="1F2938"/>
                </a:solidFill>
                <a:latin typeface="Poppins"/>
                <a:ea typeface="Poppins"/>
                <a:cs typeface="Poppins"/>
                <a:sym typeface="Poppins"/>
              </a:rPr>
              <a:t>equivariant</a:t>
            </a:r>
            <a:r>
              <a:rPr lang="en-GB" sz="1800" dirty="0">
                <a:solidFill>
                  <a:srgbClr val="1F2938"/>
                </a:solidFill>
                <a:latin typeface="Poppins"/>
                <a:ea typeface="Poppins"/>
                <a:cs typeface="Poppins"/>
                <a:sym typeface="Poppins"/>
              </a:rPr>
              <a:t> neural fields, and generating images with </a:t>
            </a:r>
            <a:r>
              <a:rPr lang="en-GB" sz="1800" dirty="0" smtClean="0">
                <a:solidFill>
                  <a:srgbClr val="1F2938"/>
                </a:solidFill>
                <a:latin typeface="Poppins"/>
                <a:ea typeface="Poppins"/>
                <a:cs typeface="Poppins"/>
                <a:sym typeface="Poppins"/>
              </a:rPr>
              <a:t>masks</a:t>
            </a:r>
            <a:endParaRPr sz="1800"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b="1" dirty="0" err="1">
                <a:solidFill>
                  <a:srgbClr val="1F2938"/>
                </a:solidFill>
                <a:latin typeface="Poppins"/>
                <a:ea typeface="Poppins"/>
                <a:cs typeface="Poppins"/>
                <a:sym typeface="Poppins"/>
              </a:rPr>
              <a:t>Equivariance</a:t>
            </a:r>
            <a:r>
              <a:rPr lang="nl-NL" sz="1800" b="1" dirty="0">
                <a:solidFill>
                  <a:srgbClr val="1F2938"/>
                </a:solidFill>
                <a:latin typeface="Poppins"/>
                <a:ea typeface="Poppins"/>
                <a:cs typeface="Poppins"/>
                <a:sym typeface="Poppins"/>
              </a:rPr>
              <a:t>:</a:t>
            </a:r>
            <a:r>
              <a:rPr lang="nl-NL" sz="1800" dirty="0">
                <a:solidFill>
                  <a:srgbClr val="1F2938"/>
                </a:solidFill>
                <a:latin typeface="Poppins"/>
                <a:ea typeface="Poppins"/>
                <a:cs typeface="Poppins"/>
                <a:sym typeface="Poppins"/>
              </a:rPr>
              <a:t> building </a:t>
            </a:r>
            <a:r>
              <a:rPr lang="nl-NL" sz="1800" dirty="0" err="1">
                <a:solidFill>
                  <a:srgbClr val="1F2938"/>
                </a:solidFill>
                <a:latin typeface="Poppins"/>
                <a:ea typeface="Poppins"/>
                <a:cs typeface="Poppins"/>
                <a:sym typeface="Poppins"/>
              </a:rPr>
              <a:t>rotation</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and</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translation</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into</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the</a:t>
            </a:r>
            <a:r>
              <a:rPr lang="nl-NL" sz="1800" dirty="0">
                <a:solidFill>
                  <a:srgbClr val="1F2938"/>
                </a:solidFill>
                <a:latin typeface="Poppins"/>
                <a:ea typeface="Poppins"/>
                <a:cs typeface="Poppins"/>
                <a:sym typeface="Poppins"/>
              </a:rPr>
              <a:t> </a:t>
            </a:r>
            <a:r>
              <a:rPr lang="nl-NL" sz="1800" dirty="0" err="1" smtClean="0">
                <a:solidFill>
                  <a:srgbClr val="1F2938"/>
                </a:solidFill>
                <a:latin typeface="Poppins"/>
                <a:ea typeface="Poppins"/>
                <a:cs typeface="Poppins"/>
                <a:sym typeface="Poppins"/>
              </a:rPr>
              <a:t>network</a:t>
            </a:r>
            <a:endParaRPr sz="1800" dirty="0">
              <a:solidFill>
                <a:srgbClr val="1F2938"/>
              </a:solidFill>
              <a:latin typeface="Poppins"/>
              <a:ea typeface="Poppins"/>
              <a:cs typeface="Poppins"/>
              <a:sym typeface="Poppi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7"/>
          <p:cNvSpPr txBox="1">
            <a:spLocks noGrp="1"/>
          </p:cNvSpPr>
          <p:nvPr>
            <p:ph type="title" idx="4294967295"/>
          </p:nvPr>
        </p:nvSpPr>
        <p:spPr>
          <a:xfrm>
            <a:off x="771180" y="456439"/>
            <a:ext cx="9657333" cy="621916"/>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rgbClr val="0000FF"/>
              </a:buClr>
              <a:buSzPts val="3400"/>
              <a:buFont typeface="Poppins"/>
              <a:buNone/>
            </a:pPr>
            <a:r>
              <a:rPr lang="nl-NL" sz="3400">
                <a:solidFill>
                  <a:srgbClr val="0000FF"/>
                </a:solidFill>
              </a:rPr>
              <a:t>Heart Anatomy</a:t>
            </a:r>
            <a:endParaRPr sz="3400" b="1">
              <a:latin typeface="Poppins"/>
              <a:ea typeface="Poppins"/>
              <a:cs typeface="Poppins"/>
              <a:sym typeface="Poppins"/>
            </a:endParaRPr>
          </a:p>
        </p:txBody>
      </p:sp>
      <p:sp>
        <p:nvSpPr>
          <p:cNvPr id="54" name="Google Shape;54;p7" descr="https://images.nagwa.com/figures/explainers/937160464196/6.svg"/>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55" name="Google Shape;55;p7"/>
          <p:cNvPicPr preferRelativeResize="0"/>
          <p:nvPr/>
        </p:nvPicPr>
        <p:blipFill rotWithShape="1">
          <a:blip r:embed="rId3">
            <a:alphaModFix/>
          </a:blip>
          <a:srcRect/>
          <a:stretch/>
        </p:blipFill>
        <p:spPr>
          <a:xfrm>
            <a:off x="2172676" y="1250030"/>
            <a:ext cx="7028821" cy="395989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8" descr="Cardiac magnetic resonance imaging - Wikipedia">
            <a:extLst>
              <a:ext uri="{FF2B5EF4-FFF2-40B4-BE49-F238E27FC236}">
                <a16:creationId xmlns:a16="http://schemas.microsoft.com/office/drawing/2014/main" id="{A3AA9757-CEF3-A9AF-E974-DC18B930DE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3775712" y="1948331"/>
            <a:ext cx="931920" cy="8429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5" name="Picture 13" descr="Cardiac magnetic resonance imaging - Wikipedia">
            <a:extLst>
              <a:ext uri="{FF2B5EF4-FFF2-40B4-BE49-F238E27FC236}">
                <a16:creationId xmlns:a16="http://schemas.microsoft.com/office/drawing/2014/main" id="{B812F726-9F9A-E777-6F9F-6F5BB5CDC0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0190" y="3026884"/>
            <a:ext cx="842964" cy="8429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6" name="Picture 19" descr="Transthoracic Echocardiography: Beginner's Guide with Emphasis on Blind  Spots as Identified with CT and MRI | RadioGraphics">
            <a:extLst>
              <a:ext uri="{FF2B5EF4-FFF2-40B4-BE49-F238E27FC236}">
                <a16:creationId xmlns:a16="http://schemas.microsoft.com/office/drawing/2014/main" id="{BE85ECD2-0E40-82EB-3AF7-7841DF0F98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16440" y="1708040"/>
            <a:ext cx="2571384" cy="2525099"/>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Connector 4">
            <a:extLst>
              <a:ext uri="{FF2B5EF4-FFF2-40B4-BE49-F238E27FC236}">
                <a16:creationId xmlns:a16="http://schemas.microsoft.com/office/drawing/2014/main" id="{0CA43E99-8486-0755-9C0A-CFDAEC814EE2}"/>
              </a:ext>
            </a:extLst>
          </p:cNvPr>
          <p:cNvCxnSpPr>
            <a:cxnSpLocks/>
          </p:cNvCxnSpPr>
          <p:nvPr/>
        </p:nvCxnSpPr>
        <p:spPr>
          <a:xfrm flipH="1">
            <a:off x="4821140" y="2076319"/>
            <a:ext cx="990599" cy="165539"/>
          </a:xfrm>
          <a:prstGeom prst="line">
            <a:avLst/>
          </a:prstGeom>
          <a:ln w="34925" cap="rnd">
            <a:gradFill>
              <a:gsLst>
                <a:gs pos="0">
                  <a:srgbClr val="402D59"/>
                </a:gs>
                <a:gs pos="29000">
                  <a:srgbClr val="402D59"/>
                </a:gs>
                <a:gs pos="37000">
                  <a:srgbClr val="635681"/>
                </a:gs>
                <a:gs pos="100000">
                  <a:srgbClr val="8E7FA2"/>
                </a:gs>
              </a:gsLst>
              <a:lin ang="5400000" scaled="1"/>
            </a:gradFill>
            <a:prstDash val="sysDot"/>
            <a:tailEnd type="arrow" w="med" len="sm"/>
          </a:ln>
        </p:spPr>
        <p:style>
          <a:lnRef idx="1">
            <a:schemeClr val="accent1"/>
          </a:lnRef>
          <a:fillRef idx="0">
            <a:schemeClr val="accent1"/>
          </a:fillRef>
          <a:effectRef idx="0">
            <a:schemeClr val="accent1"/>
          </a:effectRef>
          <a:fontRef idx="minor">
            <a:schemeClr val="tx1"/>
          </a:fontRef>
        </p:style>
      </p:cxnSp>
      <p:cxnSp>
        <p:nvCxnSpPr>
          <p:cNvPr id="8" name="Straight Connector 12">
            <a:extLst>
              <a:ext uri="{FF2B5EF4-FFF2-40B4-BE49-F238E27FC236}">
                <a16:creationId xmlns:a16="http://schemas.microsoft.com/office/drawing/2014/main" id="{A92F9E69-93F4-CC43-9182-F59352B793BC}"/>
              </a:ext>
            </a:extLst>
          </p:cNvPr>
          <p:cNvCxnSpPr>
            <a:cxnSpLocks/>
          </p:cNvCxnSpPr>
          <p:nvPr/>
        </p:nvCxnSpPr>
        <p:spPr>
          <a:xfrm flipH="1" flipV="1">
            <a:off x="4841786" y="3437259"/>
            <a:ext cx="911606" cy="117764"/>
          </a:xfrm>
          <a:prstGeom prst="line">
            <a:avLst/>
          </a:prstGeom>
          <a:ln w="34925" cap="rnd">
            <a:gradFill>
              <a:gsLst>
                <a:gs pos="0">
                  <a:srgbClr val="417E53"/>
                </a:gs>
                <a:gs pos="29000">
                  <a:srgbClr val="417E53"/>
                </a:gs>
                <a:gs pos="37000">
                  <a:srgbClr val="417E53"/>
                </a:gs>
                <a:gs pos="100000">
                  <a:schemeClr val="accent6">
                    <a:lumMod val="40000"/>
                    <a:lumOff val="60000"/>
                  </a:schemeClr>
                </a:gs>
              </a:gsLst>
              <a:lin ang="5400000" scaled="1"/>
            </a:gradFill>
            <a:prstDash val="sysDot"/>
            <a:tailEnd type="arrow" w="med"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764140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9"/>
          <p:cNvSpPr txBox="1">
            <a:spLocks noGrp="1"/>
          </p:cNvSpPr>
          <p:nvPr>
            <p:ph type="title" idx="4294967295"/>
          </p:nvPr>
        </p:nvSpPr>
        <p:spPr>
          <a:xfrm>
            <a:off x="771180" y="456439"/>
            <a:ext cx="10652700" cy="6219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rgbClr val="0000FF"/>
              </a:buClr>
              <a:buSzPts val="3400"/>
              <a:buFont typeface="Poppins"/>
              <a:buNone/>
            </a:pPr>
            <a:r>
              <a:rPr lang="nl-NL" sz="3400">
                <a:solidFill>
                  <a:srgbClr val="0000FF"/>
                </a:solidFill>
              </a:rPr>
              <a:t>Cardiac MRI: slices of a beating heart</a:t>
            </a:r>
            <a:endParaRPr sz="3400" b="1">
              <a:latin typeface="Poppins"/>
              <a:ea typeface="Poppins"/>
              <a:cs typeface="Poppins"/>
              <a:sym typeface="Poppins"/>
            </a:endParaRPr>
          </a:p>
        </p:txBody>
      </p:sp>
      <p:sp>
        <p:nvSpPr>
          <p:cNvPr id="69" name="Google Shape;69;p9"/>
          <p:cNvSpPr txBox="1"/>
          <p:nvPr/>
        </p:nvSpPr>
        <p:spPr>
          <a:xfrm>
            <a:off x="771180" y="1417320"/>
            <a:ext cx="5669400" cy="42063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rgbClr val="1F2938"/>
              </a:buClr>
              <a:buSzPts val="1800"/>
              <a:buFont typeface="Poppins"/>
              <a:buChar char="●"/>
            </a:pPr>
            <a:r>
              <a:rPr lang="nl-NL" sz="1800" dirty="0">
                <a:solidFill>
                  <a:srgbClr val="1F2938"/>
                </a:solidFill>
                <a:latin typeface="Poppins"/>
                <a:ea typeface="Poppins"/>
                <a:cs typeface="Poppins"/>
                <a:sym typeface="Poppins"/>
              </a:rPr>
              <a:t>Cine MRI: a stack of short-</a:t>
            </a:r>
            <a:r>
              <a:rPr lang="nl-NL" sz="1800" dirty="0" err="1">
                <a:solidFill>
                  <a:srgbClr val="1F2938"/>
                </a:solidFill>
                <a:latin typeface="Poppins"/>
                <a:ea typeface="Poppins"/>
                <a:cs typeface="Poppins"/>
                <a:sym typeface="Poppins"/>
              </a:rPr>
              <a:t>axis</a:t>
            </a:r>
            <a:r>
              <a:rPr lang="nl-NL" sz="1800" dirty="0">
                <a:solidFill>
                  <a:srgbClr val="1F2938"/>
                </a:solidFill>
                <a:latin typeface="Poppins"/>
                <a:ea typeface="Poppins"/>
                <a:cs typeface="Poppins"/>
                <a:sym typeface="Poppins"/>
              </a:rPr>
              <a:t> slices, </a:t>
            </a:r>
            <a:r>
              <a:rPr lang="nl-NL" sz="1800" dirty="0" err="1">
                <a:solidFill>
                  <a:srgbClr val="1F2938"/>
                </a:solidFill>
                <a:latin typeface="Poppins"/>
                <a:ea typeface="Poppins"/>
                <a:cs typeface="Poppins"/>
                <a:sym typeface="Poppins"/>
              </a:rPr>
              <a:t>each</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imaged</a:t>
            </a:r>
            <a:r>
              <a:rPr lang="nl-NL" sz="1800" dirty="0">
                <a:solidFill>
                  <a:srgbClr val="1F2938"/>
                </a:solidFill>
                <a:latin typeface="Poppins"/>
                <a:ea typeface="Poppins"/>
                <a:cs typeface="Poppins"/>
                <a:sym typeface="Poppins"/>
              </a:rPr>
              <a:t> over </a:t>
            </a:r>
            <a:r>
              <a:rPr lang="nl-NL" sz="1800" dirty="0" err="1">
                <a:solidFill>
                  <a:srgbClr val="1F2938"/>
                </a:solidFill>
                <a:latin typeface="Poppins"/>
                <a:ea typeface="Poppins"/>
                <a:cs typeface="Poppins"/>
                <a:sym typeface="Poppins"/>
              </a:rPr>
              <a:t>the</a:t>
            </a:r>
            <a:r>
              <a:rPr lang="nl-NL" sz="1800" dirty="0">
                <a:solidFill>
                  <a:srgbClr val="1F2938"/>
                </a:solidFill>
                <a:latin typeface="Poppins"/>
                <a:ea typeface="Poppins"/>
                <a:cs typeface="Poppins"/>
                <a:sym typeface="Poppins"/>
              </a:rPr>
              <a:t> full </a:t>
            </a:r>
            <a:r>
              <a:rPr lang="nl-NL" sz="1800" dirty="0" err="1">
                <a:solidFill>
                  <a:srgbClr val="1F2938"/>
                </a:solidFill>
                <a:latin typeface="Poppins"/>
                <a:ea typeface="Poppins"/>
                <a:cs typeface="Poppins"/>
                <a:sym typeface="Poppins"/>
              </a:rPr>
              <a:t>cardiac</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cycle</a:t>
            </a:r>
            <a:endParaRPr sz="1800"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dirty="0" err="1">
                <a:solidFill>
                  <a:srgbClr val="1F2938"/>
                </a:solidFill>
                <a:latin typeface="Poppins"/>
                <a:ea typeface="Poppins"/>
                <a:cs typeface="Poppins"/>
                <a:sym typeface="Poppins"/>
              </a:rPr>
              <a:t>Left</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ventricle</a:t>
            </a:r>
            <a:r>
              <a:rPr lang="nl-NL" sz="1800" dirty="0">
                <a:solidFill>
                  <a:srgbClr val="1F2938"/>
                </a:solidFill>
                <a:latin typeface="Poppins"/>
                <a:ea typeface="Poppins"/>
                <a:cs typeface="Poppins"/>
                <a:sym typeface="Poppins"/>
              </a:rPr>
              <a:t>, right </a:t>
            </a:r>
            <a:r>
              <a:rPr lang="nl-NL" sz="1800" dirty="0" err="1">
                <a:solidFill>
                  <a:srgbClr val="1F2938"/>
                </a:solidFill>
                <a:latin typeface="Poppins"/>
                <a:ea typeface="Poppins"/>
                <a:cs typeface="Poppins"/>
                <a:sym typeface="Poppins"/>
              </a:rPr>
              <a:t>ventricle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and</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myocardium</a:t>
            </a:r>
            <a:r>
              <a:rPr lang="nl-NL" sz="1800" dirty="0">
                <a:solidFill>
                  <a:srgbClr val="1F2938"/>
                </a:solidFill>
                <a:latin typeface="Poppins"/>
                <a:ea typeface="Poppins"/>
                <a:cs typeface="Poppins"/>
                <a:sym typeface="Poppins"/>
              </a:rPr>
              <a:t> are </a:t>
            </a:r>
            <a:r>
              <a:rPr lang="nl-NL" sz="1800" dirty="0" err="1">
                <a:solidFill>
                  <a:srgbClr val="1F2938"/>
                </a:solidFill>
                <a:latin typeface="Poppins"/>
                <a:ea typeface="Poppins"/>
                <a:cs typeface="Poppins"/>
                <a:sym typeface="Poppins"/>
              </a:rPr>
              <a:t>visible</a:t>
            </a:r>
            <a:r>
              <a:rPr lang="nl-NL" sz="1800" dirty="0">
                <a:solidFill>
                  <a:srgbClr val="1F2938"/>
                </a:solidFill>
                <a:latin typeface="Poppins"/>
                <a:ea typeface="Poppins"/>
                <a:cs typeface="Poppins"/>
                <a:sym typeface="Poppins"/>
              </a:rPr>
              <a:t> in </a:t>
            </a:r>
            <a:r>
              <a:rPr lang="nl-NL" sz="1800" dirty="0" err="1">
                <a:solidFill>
                  <a:srgbClr val="1F2938"/>
                </a:solidFill>
                <a:latin typeface="Poppins"/>
                <a:ea typeface="Poppins"/>
                <a:cs typeface="Poppins"/>
                <a:sym typeface="Poppins"/>
              </a:rPr>
              <a:t>each</a:t>
            </a:r>
            <a:r>
              <a:rPr lang="nl-NL" sz="1800" dirty="0">
                <a:solidFill>
                  <a:srgbClr val="1F2938"/>
                </a:solidFill>
                <a:latin typeface="Poppins"/>
                <a:ea typeface="Poppins"/>
                <a:cs typeface="Poppins"/>
                <a:sym typeface="Poppins"/>
              </a:rPr>
              <a:t> slice</a:t>
            </a:r>
            <a:endParaRPr sz="1800"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dirty="0">
                <a:solidFill>
                  <a:srgbClr val="1F2938"/>
                </a:solidFill>
                <a:latin typeface="Poppins"/>
                <a:ea typeface="Poppins"/>
                <a:cs typeface="Poppins"/>
                <a:sym typeface="Poppins"/>
              </a:rPr>
              <a:t>Slices are </a:t>
            </a:r>
            <a:r>
              <a:rPr lang="nl-NL" sz="1800" dirty="0" err="1">
                <a:solidFill>
                  <a:srgbClr val="1F2938"/>
                </a:solidFill>
                <a:latin typeface="Poppins"/>
                <a:ea typeface="Poppins"/>
                <a:cs typeface="Poppins"/>
                <a:sym typeface="Poppins"/>
              </a:rPr>
              <a:t>several</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millimetres</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thick</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much</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coarser</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than</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the</a:t>
            </a:r>
            <a:r>
              <a:rPr lang="nl-NL" sz="1800" dirty="0">
                <a:solidFill>
                  <a:srgbClr val="1F2938"/>
                </a:solidFill>
                <a:latin typeface="Poppins"/>
                <a:ea typeface="Poppins"/>
                <a:cs typeface="Poppins"/>
                <a:sym typeface="Poppins"/>
              </a:rPr>
              <a:t> in-</a:t>
            </a:r>
            <a:r>
              <a:rPr lang="nl-NL" sz="1800" dirty="0" err="1">
                <a:solidFill>
                  <a:srgbClr val="1F2938"/>
                </a:solidFill>
                <a:latin typeface="Poppins"/>
                <a:ea typeface="Poppins"/>
                <a:cs typeface="Poppins"/>
                <a:sym typeface="Poppins"/>
              </a:rPr>
              <a:t>plane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resolution</a:t>
            </a:r>
            <a:endParaRPr sz="1800"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dirty="0">
                <a:solidFill>
                  <a:srgbClr val="1F2938"/>
                </a:solidFill>
                <a:latin typeface="Poppins"/>
                <a:ea typeface="Poppins"/>
                <a:cs typeface="Poppins"/>
                <a:sym typeface="Poppins"/>
              </a:rPr>
              <a:t>Late gadolinium </a:t>
            </a:r>
            <a:r>
              <a:rPr lang="nl-NL" sz="1800" dirty="0" err="1">
                <a:solidFill>
                  <a:srgbClr val="1F2938"/>
                </a:solidFill>
                <a:latin typeface="Poppins"/>
                <a:ea typeface="Poppins"/>
                <a:cs typeface="Poppins"/>
                <a:sym typeface="Poppins"/>
              </a:rPr>
              <a:t>enhancement</a:t>
            </a:r>
            <a:r>
              <a:rPr lang="nl-NL" sz="1800" dirty="0">
                <a:solidFill>
                  <a:srgbClr val="1F2938"/>
                </a:solidFill>
                <a:latin typeface="Poppins"/>
                <a:ea typeface="Poppins"/>
                <a:cs typeface="Poppins"/>
                <a:sym typeface="Poppins"/>
              </a:rPr>
              <a:t> (LGE) </a:t>
            </a:r>
            <a:r>
              <a:rPr lang="nl-NL" sz="1800" dirty="0" err="1">
                <a:solidFill>
                  <a:srgbClr val="1F2938"/>
                </a:solidFill>
                <a:latin typeface="Poppins"/>
                <a:ea typeface="Poppins"/>
                <a:cs typeface="Poppins"/>
                <a:sym typeface="Poppins"/>
              </a:rPr>
              <a:t>adds</a:t>
            </a:r>
            <a:r>
              <a:rPr lang="nl-NL" sz="1800" dirty="0">
                <a:solidFill>
                  <a:srgbClr val="1F2938"/>
                </a:solidFill>
                <a:latin typeface="Poppins"/>
                <a:ea typeface="Poppins"/>
                <a:cs typeface="Poppins"/>
                <a:sym typeface="Poppins"/>
              </a:rPr>
              <a:t> contrast </a:t>
            </a:r>
            <a:r>
              <a:rPr lang="nl-NL" sz="1800" dirty="0" err="1">
                <a:solidFill>
                  <a:srgbClr val="1F2938"/>
                </a:solidFill>
                <a:latin typeface="Poppins"/>
                <a:ea typeface="Poppins"/>
                <a:cs typeface="Poppins"/>
                <a:sym typeface="Poppins"/>
              </a:rPr>
              <a:t>for</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scar</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and</a:t>
            </a:r>
            <a:r>
              <a:rPr lang="nl-NL" sz="1800" dirty="0">
                <a:solidFill>
                  <a:srgbClr val="1F2938"/>
                </a:solidFill>
                <a:latin typeface="Poppins"/>
                <a:ea typeface="Poppins"/>
                <a:cs typeface="Poppins"/>
                <a:sym typeface="Poppins"/>
              </a:rPr>
              <a:t> fibrosis</a:t>
            </a:r>
            <a:endParaRPr sz="1800" dirty="0">
              <a:solidFill>
                <a:srgbClr val="1F2938"/>
              </a:solidFill>
              <a:latin typeface="Poppins"/>
              <a:ea typeface="Poppins"/>
              <a:cs typeface="Poppins"/>
              <a:sym typeface="Poppins"/>
            </a:endParaRPr>
          </a:p>
        </p:txBody>
      </p:sp>
      <p:grpSp>
        <p:nvGrpSpPr>
          <p:cNvPr id="5" name="Group 9">
            <a:extLst>
              <a:ext uri="{FF2B5EF4-FFF2-40B4-BE49-F238E27FC236}">
                <a16:creationId xmlns:a16="http://schemas.microsoft.com/office/drawing/2014/main" id="{165561EB-0577-BAAA-E66D-0DC90531DBCE}"/>
              </a:ext>
            </a:extLst>
          </p:cNvPr>
          <p:cNvGrpSpPr/>
          <p:nvPr/>
        </p:nvGrpSpPr>
        <p:grpSpPr>
          <a:xfrm>
            <a:off x="6766560" y="1417320"/>
            <a:ext cx="4657320" cy="4023300"/>
            <a:chOff x="9102258" y="2158244"/>
            <a:chExt cx="2492895" cy="2477910"/>
          </a:xfrm>
        </p:grpSpPr>
        <p:pic>
          <p:nvPicPr>
            <p:cNvPr id="6" name="Picture 20">
              <a:extLst>
                <a:ext uri="{FF2B5EF4-FFF2-40B4-BE49-F238E27FC236}">
                  <a16:creationId xmlns:a16="http://schemas.microsoft.com/office/drawing/2014/main" id="{80E31717-C2AC-C2FE-C44F-4B46632D9E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7243" y="2158244"/>
              <a:ext cx="2477910" cy="2477910"/>
            </a:xfrm>
            <a:prstGeom prst="rect">
              <a:avLst/>
            </a:prstGeom>
            <a:ln>
              <a:solidFill>
                <a:schemeClr val="bg2">
                  <a:lumMod val="60000"/>
                  <a:lumOff val="40000"/>
                </a:schemeClr>
              </a:solidFill>
            </a:ln>
          </p:spPr>
        </p:pic>
        <p:sp>
          <p:nvSpPr>
            <p:cNvPr id="7" name="Rectangle 21">
              <a:extLst>
                <a:ext uri="{FF2B5EF4-FFF2-40B4-BE49-F238E27FC236}">
                  <a16:creationId xmlns:a16="http://schemas.microsoft.com/office/drawing/2014/main" id="{ED24868E-28B5-F52C-FAE6-7E3190032740}"/>
                </a:ext>
              </a:extLst>
            </p:cNvPr>
            <p:cNvSpPr/>
            <p:nvPr/>
          </p:nvSpPr>
          <p:spPr>
            <a:xfrm>
              <a:off x="9102258" y="2158244"/>
              <a:ext cx="2492894" cy="2477910"/>
            </a:xfrm>
            <a:prstGeom prst="rect">
              <a:avLst/>
            </a:prstGeom>
            <a:noFill/>
            <a:ln w="3810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bg2">
                    <a:lumMod val="40000"/>
                    <a:lumOff val="60000"/>
                  </a:schemeClr>
                </a:solidFill>
              </a:endParaRPr>
            </a:p>
          </p:txBody>
        </p:sp>
      </p:grpSp>
      <p:sp>
        <p:nvSpPr>
          <p:cNvPr id="8" name="Google Shape;69;p9"/>
          <p:cNvSpPr txBox="1"/>
          <p:nvPr/>
        </p:nvSpPr>
        <p:spPr>
          <a:xfrm>
            <a:off x="6542912" y="5440620"/>
            <a:ext cx="1843065" cy="544702"/>
          </a:xfrm>
          <a:prstGeom prst="rect">
            <a:avLst/>
          </a:prstGeom>
          <a:noFill/>
          <a:ln>
            <a:noFill/>
          </a:ln>
        </p:spPr>
        <p:txBody>
          <a:bodyPr spcFirstLastPara="1" wrap="square" lIns="91425" tIns="91425" rIns="91425" bIns="91425" anchor="t" anchorCtr="0">
            <a:noAutofit/>
          </a:bodyPr>
          <a:lstStyle/>
          <a:p>
            <a:pPr marL="114300" lvl="0" algn="l" rtl="0">
              <a:spcBef>
                <a:spcPts val="0"/>
              </a:spcBef>
              <a:spcAft>
                <a:spcPts val="0"/>
              </a:spcAft>
              <a:buClr>
                <a:srgbClr val="1F2938"/>
              </a:buClr>
              <a:buSzPts val="1800"/>
            </a:pPr>
            <a:r>
              <a:rPr lang="en-US" sz="1800" dirty="0" smtClean="0">
                <a:solidFill>
                  <a:srgbClr val="1F2938"/>
                </a:solidFill>
                <a:latin typeface="Poppins"/>
                <a:ea typeface="Poppins"/>
                <a:cs typeface="Poppins"/>
                <a:sym typeface="Poppins"/>
              </a:rPr>
              <a:t>Cine MRI</a:t>
            </a:r>
            <a:endParaRPr sz="1800" dirty="0">
              <a:solidFill>
                <a:srgbClr val="1F2938"/>
              </a:solidFill>
              <a:latin typeface="Poppins"/>
              <a:ea typeface="Poppins"/>
              <a:cs typeface="Poppins"/>
              <a:sym typeface="Poppi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9"/>
          <p:cNvSpPr txBox="1">
            <a:spLocks noGrp="1"/>
          </p:cNvSpPr>
          <p:nvPr>
            <p:ph type="title" idx="4294967295"/>
          </p:nvPr>
        </p:nvSpPr>
        <p:spPr>
          <a:xfrm>
            <a:off x="771180" y="456439"/>
            <a:ext cx="10652700" cy="6219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rgbClr val="0000FF"/>
              </a:buClr>
              <a:buSzPts val="3400"/>
              <a:buFont typeface="Poppins"/>
              <a:buNone/>
            </a:pPr>
            <a:r>
              <a:rPr lang="nl-NL" sz="3400">
                <a:solidFill>
                  <a:srgbClr val="0000FF"/>
                </a:solidFill>
              </a:rPr>
              <a:t>Cardiac MRI: slices of a beating heart</a:t>
            </a:r>
            <a:endParaRPr sz="3400" b="1">
              <a:latin typeface="Poppins"/>
              <a:ea typeface="Poppins"/>
              <a:cs typeface="Poppins"/>
              <a:sym typeface="Poppins"/>
            </a:endParaRPr>
          </a:p>
        </p:txBody>
      </p:sp>
      <p:sp>
        <p:nvSpPr>
          <p:cNvPr id="69" name="Google Shape;69;p9"/>
          <p:cNvSpPr txBox="1"/>
          <p:nvPr/>
        </p:nvSpPr>
        <p:spPr>
          <a:xfrm>
            <a:off x="771180" y="1417320"/>
            <a:ext cx="5669400" cy="42063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rgbClr val="1F2938"/>
              </a:buClr>
              <a:buSzPts val="1800"/>
              <a:buFont typeface="Poppins"/>
              <a:buChar char="●"/>
            </a:pPr>
            <a:r>
              <a:rPr lang="nl-NL" sz="1800">
                <a:solidFill>
                  <a:srgbClr val="1F2938"/>
                </a:solidFill>
                <a:latin typeface="Poppins"/>
                <a:ea typeface="Poppins"/>
                <a:cs typeface="Poppins"/>
                <a:sym typeface="Poppins"/>
              </a:rPr>
              <a:t>Cine MRI: a stack of short-axis slices, each imaged over the full cardiac cycle</a:t>
            </a:r>
            <a:endParaRPr sz="180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a:solidFill>
                  <a:srgbClr val="1F2938"/>
                </a:solidFill>
                <a:latin typeface="Poppins"/>
                <a:ea typeface="Poppins"/>
                <a:cs typeface="Poppins"/>
                <a:sym typeface="Poppins"/>
              </a:rPr>
              <a:t>Left ventricle, right ventricle and myocardium are visible in each slice</a:t>
            </a:r>
            <a:endParaRPr sz="180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a:solidFill>
                  <a:srgbClr val="1F2938"/>
                </a:solidFill>
                <a:latin typeface="Poppins"/>
                <a:ea typeface="Poppins"/>
                <a:cs typeface="Poppins"/>
                <a:sym typeface="Poppins"/>
              </a:rPr>
              <a:t>Slices are several millimetres thick, much coarser than the in-plane resolution</a:t>
            </a:r>
            <a:endParaRPr sz="180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a:solidFill>
                  <a:srgbClr val="1F2938"/>
                </a:solidFill>
                <a:latin typeface="Poppins"/>
                <a:ea typeface="Poppins"/>
                <a:cs typeface="Poppins"/>
                <a:sym typeface="Poppins"/>
              </a:rPr>
              <a:t>Late gadolinium enhancement (LGE) adds contrast for scar and fibrosis</a:t>
            </a:r>
            <a:endParaRPr sz="1800">
              <a:solidFill>
                <a:srgbClr val="1F2938"/>
              </a:solidFill>
              <a:latin typeface="Poppins"/>
              <a:ea typeface="Poppins"/>
              <a:cs typeface="Poppins"/>
              <a:sym typeface="Poppins"/>
            </a:endParaRPr>
          </a:p>
        </p:txBody>
      </p:sp>
      <p:pic>
        <p:nvPicPr>
          <p:cNvPr id="1026" name="Picture 2" descr="Extensive late gadolinium enhancement on cardiovascular magnetic resonance  predicts adverse outcomes and lack of improvement in LV function after  steroid therapy in cardiac sarcoidosis | Hear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0580" y="1417320"/>
            <a:ext cx="3884520" cy="3902815"/>
          </a:xfrm>
          <a:prstGeom prst="rect">
            <a:avLst/>
          </a:prstGeom>
          <a:noFill/>
          <a:extLst>
            <a:ext uri="{909E8E84-426E-40DD-AFC4-6F175D3DCCD1}">
              <a14:hiddenFill xmlns:a14="http://schemas.microsoft.com/office/drawing/2010/main">
                <a:solidFill>
                  <a:srgbClr val="FFFFFF"/>
                </a:solidFill>
              </a14:hiddenFill>
            </a:ext>
          </a:extLst>
        </p:spPr>
      </p:pic>
      <p:sp>
        <p:nvSpPr>
          <p:cNvPr id="9" name="Google Shape;69;p9"/>
          <p:cNvSpPr txBox="1"/>
          <p:nvPr/>
        </p:nvSpPr>
        <p:spPr>
          <a:xfrm>
            <a:off x="6542912" y="5440620"/>
            <a:ext cx="1843065" cy="544702"/>
          </a:xfrm>
          <a:prstGeom prst="rect">
            <a:avLst/>
          </a:prstGeom>
          <a:noFill/>
          <a:ln>
            <a:noFill/>
          </a:ln>
        </p:spPr>
        <p:txBody>
          <a:bodyPr spcFirstLastPara="1" wrap="square" lIns="91425" tIns="91425" rIns="91425" bIns="91425" anchor="t" anchorCtr="0">
            <a:noAutofit/>
          </a:bodyPr>
          <a:lstStyle/>
          <a:p>
            <a:pPr marL="114300" lvl="0" algn="l" rtl="0">
              <a:spcBef>
                <a:spcPts val="0"/>
              </a:spcBef>
              <a:spcAft>
                <a:spcPts val="0"/>
              </a:spcAft>
              <a:buClr>
                <a:srgbClr val="1F2938"/>
              </a:buClr>
              <a:buSzPts val="1800"/>
            </a:pPr>
            <a:r>
              <a:rPr lang="en-US" sz="1800" dirty="0" smtClean="0">
                <a:solidFill>
                  <a:srgbClr val="1F2938"/>
                </a:solidFill>
                <a:latin typeface="Poppins"/>
                <a:ea typeface="Poppins"/>
                <a:cs typeface="Poppins"/>
                <a:sym typeface="Poppins"/>
              </a:rPr>
              <a:t>LGE MRI</a:t>
            </a:r>
            <a:endParaRPr sz="1800" dirty="0">
              <a:solidFill>
                <a:srgbClr val="1F2938"/>
              </a:solidFill>
              <a:latin typeface="Poppins"/>
              <a:ea typeface="Poppins"/>
              <a:cs typeface="Poppins"/>
              <a:sym typeface="Poppins"/>
            </a:endParaRPr>
          </a:p>
        </p:txBody>
      </p:sp>
    </p:spTree>
    <p:extLst>
      <p:ext uri="{BB962C8B-B14F-4D97-AF65-F5344CB8AC3E}">
        <p14:creationId xmlns:p14="http://schemas.microsoft.com/office/powerpoint/2010/main" val="3688572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0"/>
          <p:cNvSpPr txBox="1">
            <a:spLocks noGrp="1"/>
          </p:cNvSpPr>
          <p:nvPr>
            <p:ph type="title" idx="4294967295"/>
          </p:nvPr>
        </p:nvSpPr>
        <p:spPr>
          <a:xfrm>
            <a:off x="771180" y="456439"/>
            <a:ext cx="10652700" cy="6219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rgbClr val="0000FF"/>
              </a:buClr>
              <a:buSzPts val="3400"/>
              <a:buFont typeface="Poppins"/>
              <a:buNone/>
            </a:pPr>
            <a:r>
              <a:rPr lang="nl-NL" sz="3400">
                <a:solidFill>
                  <a:srgbClr val="0000FF"/>
                </a:solidFill>
              </a:rPr>
              <a:t>From images to clinical numbers</a:t>
            </a:r>
            <a:endParaRPr sz="3400" b="1">
              <a:latin typeface="Poppins"/>
              <a:ea typeface="Poppins"/>
              <a:cs typeface="Poppins"/>
              <a:sym typeface="Poppins"/>
            </a:endParaRPr>
          </a:p>
        </p:txBody>
      </p:sp>
      <p:sp>
        <p:nvSpPr>
          <p:cNvPr id="77" name="Google Shape;77;p10"/>
          <p:cNvSpPr txBox="1"/>
          <p:nvPr/>
        </p:nvSpPr>
        <p:spPr>
          <a:xfrm>
            <a:off x="771180" y="1417320"/>
            <a:ext cx="5669400" cy="42063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rgbClr val="1F2938"/>
              </a:buClr>
              <a:buSzPts val="1800"/>
              <a:buFont typeface="Poppins"/>
              <a:buChar char="●"/>
            </a:pPr>
            <a:r>
              <a:rPr lang="nl-NL" sz="1800" dirty="0">
                <a:solidFill>
                  <a:srgbClr val="1F2938"/>
                </a:solidFill>
                <a:latin typeface="Poppins"/>
                <a:ea typeface="Poppins"/>
                <a:cs typeface="Poppins"/>
                <a:sym typeface="Poppins"/>
              </a:rPr>
              <a:t>Segment LV </a:t>
            </a:r>
            <a:r>
              <a:rPr lang="nl-NL" sz="1800" dirty="0" err="1">
                <a:solidFill>
                  <a:srgbClr val="1F2938"/>
                </a:solidFill>
                <a:latin typeface="Poppins"/>
                <a:ea typeface="Poppins"/>
                <a:cs typeface="Poppins"/>
                <a:sym typeface="Poppins"/>
              </a:rPr>
              <a:t>cavity</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myocardium</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and</a:t>
            </a:r>
            <a:r>
              <a:rPr lang="nl-NL" sz="1800" dirty="0">
                <a:solidFill>
                  <a:srgbClr val="1F2938"/>
                </a:solidFill>
                <a:latin typeface="Poppins"/>
                <a:ea typeface="Poppins"/>
                <a:cs typeface="Poppins"/>
                <a:sym typeface="Poppins"/>
              </a:rPr>
              <a:t> RV at end-diastole </a:t>
            </a:r>
            <a:r>
              <a:rPr lang="nl-NL" sz="1800" dirty="0" err="1">
                <a:solidFill>
                  <a:srgbClr val="1F2938"/>
                </a:solidFill>
                <a:latin typeface="Poppins"/>
                <a:ea typeface="Poppins"/>
                <a:cs typeface="Poppins"/>
                <a:sym typeface="Poppins"/>
              </a:rPr>
              <a:t>and</a:t>
            </a:r>
            <a:r>
              <a:rPr lang="nl-NL" sz="1800" dirty="0">
                <a:solidFill>
                  <a:srgbClr val="1F2938"/>
                </a:solidFill>
                <a:latin typeface="Poppins"/>
                <a:ea typeface="Poppins"/>
                <a:cs typeface="Poppins"/>
                <a:sym typeface="Poppins"/>
              </a:rPr>
              <a:t> end-systole</a:t>
            </a:r>
            <a:endParaRPr sz="1800"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b="1" dirty="0">
                <a:solidFill>
                  <a:srgbClr val="1F2938"/>
                </a:solidFill>
                <a:latin typeface="Poppins"/>
                <a:ea typeface="Poppins"/>
                <a:cs typeface="Poppins"/>
                <a:sym typeface="Poppins"/>
              </a:rPr>
              <a:t>The volumes </a:t>
            </a:r>
            <a:r>
              <a:rPr lang="nl-NL" sz="1800" b="1" dirty="0" err="1">
                <a:solidFill>
                  <a:srgbClr val="1F2938"/>
                </a:solidFill>
                <a:latin typeface="Poppins"/>
                <a:ea typeface="Poppins"/>
                <a:cs typeface="Poppins"/>
                <a:sym typeface="Poppins"/>
              </a:rPr>
              <a:t>give</a:t>
            </a:r>
            <a:r>
              <a:rPr lang="nl-NL" sz="1800" b="1" dirty="0">
                <a:solidFill>
                  <a:srgbClr val="1F2938"/>
                </a:solidFill>
                <a:latin typeface="Poppins"/>
                <a:ea typeface="Poppins"/>
                <a:cs typeface="Poppins"/>
                <a:sym typeface="Poppins"/>
              </a:rPr>
              <a:t> </a:t>
            </a:r>
            <a:r>
              <a:rPr lang="nl-NL" sz="1800" b="1" dirty="0" err="1">
                <a:solidFill>
                  <a:srgbClr val="1F2938"/>
                </a:solidFill>
                <a:latin typeface="Poppins"/>
                <a:ea typeface="Poppins"/>
                <a:cs typeface="Poppins"/>
                <a:sym typeface="Poppins"/>
              </a:rPr>
              <a:t>ejection</a:t>
            </a:r>
            <a:r>
              <a:rPr lang="nl-NL" sz="1800" b="1" dirty="0">
                <a:solidFill>
                  <a:srgbClr val="1F2938"/>
                </a:solidFill>
                <a:latin typeface="Poppins"/>
                <a:ea typeface="Poppins"/>
                <a:cs typeface="Poppins"/>
                <a:sym typeface="Poppins"/>
              </a:rPr>
              <a:t> </a:t>
            </a:r>
            <a:r>
              <a:rPr lang="nl-NL" sz="1800" b="1" dirty="0" err="1">
                <a:solidFill>
                  <a:srgbClr val="1F2938"/>
                </a:solidFill>
                <a:latin typeface="Poppins"/>
                <a:ea typeface="Poppins"/>
                <a:cs typeface="Poppins"/>
                <a:sym typeface="Poppins"/>
              </a:rPr>
              <a:t>fraction</a:t>
            </a:r>
            <a:r>
              <a:rPr lang="nl-NL" sz="1800" b="1" dirty="0">
                <a:solidFill>
                  <a:srgbClr val="1F2938"/>
                </a:solidFill>
                <a:latin typeface="Poppins"/>
                <a:ea typeface="Poppins"/>
                <a:cs typeface="Poppins"/>
                <a:sym typeface="Poppins"/>
              </a:rPr>
              <a:t>, </a:t>
            </a:r>
            <a:r>
              <a:rPr lang="nl-NL" sz="1800" b="1" dirty="0" err="1">
                <a:solidFill>
                  <a:srgbClr val="1F2938"/>
                </a:solidFill>
                <a:latin typeface="Poppins"/>
                <a:ea typeface="Poppins"/>
                <a:cs typeface="Poppins"/>
                <a:sym typeface="Poppins"/>
              </a:rPr>
              <a:t>the</a:t>
            </a:r>
            <a:r>
              <a:rPr lang="nl-NL" sz="1800" b="1" dirty="0">
                <a:solidFill>
                  <a:srgbClr val="1F2938"/>
                </a:solidFill>
                <a:latin typeface="Poppins"/>
                <a:ea typeface="Poppins"/>
                <a:cs typeface="Poppins"/>
                <a:sym typeface="Poppins"/>
              </a:rPr>
              <a:t> </a:t>
            </a:r>
            <a:r>
              <a:rPr lang="nl-NL" sz="1800" b="1" dirty="0" err="1">
                <a:solidFill>
                  <a:srgbClr val="1F2938"/>
                </a:solidFill>
                <a:latin typeface="Poppins"/>
                <a:ea typeface="Poppins"/>
                <a:cs typeface="Poppins"/>
                <a:sym typeface="Poppins"/>
              </a:rPr>
              <a:t>main</a:t>
            </a:r>
            <a:r>
              <a:rPr lang="nl-NL" sz="1800" b="1" dirty="0">
                <a:solidFill>
                  <a:srgbClr val="1F2938"/>
                </a:solidFill>
                <a:latin typeface="Poppins"/>
                <a:ea typeface="Poppins"/>
                <a:cs typeface="Poppins"/>
                <a:sym typeface="Poppins"/>
              </a:rPr>
              <a:t> </a:t>
            </a:r>
            <a:r>
              <a:rPr lang="nl-NL" sz="1800" b="1" dirty="0" err="1">
                <a:solidFill>
                  <a:srgbClr val="1F2938"/>
                </a:solidFill>
                <a:latin typeface="Poppins"/>
                <a:ea typeface="Poppins"/>
                <a:cs typeface="Poppins"/>
                <a:sym typeface="Poppins"/>
              </a:rPr>
              <a:t>measure</a:t>
            </a:r>
            <a:r>
              <a:rPr lang="nl-NL" sz="1800" b="1" dirty="0">
                <a:solidFill>
                  <a:srgbClr val="1F2938"/>
                </a:solidFill>
                <a:latin typeface="Poppins"/>
                <a:ea typeface="Poppins"/>
                <a:cs typeface="Poppins"/>
                <a:sym typeface="Poppins"/>
              </a:rPr>
              <a:t> of pump </a:t>
            </a:r>
            <a:r>
              <a:rPr lang="nl-NL" sz="1800" b="1" dirty="0" err="1">
                <a:solidFill>
                  <a:srgbClr val="1F2938"/>
                </a:solidFill>
                <a:latin typeface="Poppins"/>
                <a:ea typeface="Poppins"/>
                <a:cs typeface="Poppins"/>
                <a:sym typeface="Poppins"/>
              </a:rPr>
              <a:t>function</a:t>
            </a:r>
            <a:endParaRPr sz="1800" b="1"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b="1" dirty="0" err="1">
                <a:solidFill>
                  <a:srgbClr val="1F2938"/>
                </a:solidFill>
                <a:latin typeface="Poppins"/>
                <a:ea typeface="Poppins"/>
                <a:cs typeface="Poppins"/>
                <a:sym typeface="Poppins"/>
              </a:rPr>
              <a:t>Myocardial</a:t>
            </a:r>
            <a:r>
              <a:rPr lang="nl-NL" sz="1800" b="1" dirty="0">
                <a:solidFill>
                  <a:srgbClr val="1F2938"/>
                </a:solidFill>
                <a:latin typeface="Poppins"/>
                <a:ea typeface="Poppins"/>
                <a:cs typeface="Poppins"/>
                <a:sym typeface="Poppins"/>
              </a:rPr>
              <a:t> </a:t>
            </a:r>
            <a:r>
              <a:rPr lang="nl-NL" sz="1800" b="1" dirty="0" err="1">
                <a:solidFill>
                  <a:srgbClr val="1F2938"/>
                </a:solidFill>
                <a:latin typeface="Poppins"/>
                <a:ea typeface="Poppins"/>
                <a:cs typeface="Poppins"/>
                <a:sym typeface="Poppins"/>
              </a:rPr>
              <a:t>mass</a:t>
            </a:r>
            <a:r>
              <a:rPr lang="nl-NL" sz="1800" b="1" dirty="0">
                <a:solidFill>
                  <a:srgbClr val="1F2938"/>
                </a:solidFill>
                <a:latin typeface="Poppins"/>
                <a:ea typeface="Poppins"/>
                <a:cs typeface="Poppins"/>
                <a:sym typeface="Poppins"/>
              </a:rPr>
              <a:t> </a:t>
            </a:r>
            <a:r>
              <a:rPr lang="nl-NL" sz="1800" b="1" dirty="0" err="1">
                <a:solidFill>
                  <a:srgbClr val="1F2938"/>
                </a:solidFill>
                <a:latin typeface="Poppins"/>
                <a:ea typeface="Poppins"/>
                <a:cs typeface="Poppins"/>
                <a:sym typeface="Poppins"/>
              </a:rPr>
              <a:t>and</a:t>
            </a:r>
            <a:r>
              <a:rPr lang="nl-NL" sz="1800" b="1" dirty="0">
                <a:solidFill>
                  <a:srgbClr val="1F2938"/>
                </a:solidFill>
                <a:latin typeface="Poppins"/>
                <a:ea typeface="Poppins"/>
                <a:cs typeface="Poppins"/>
                <a:sym typeface="Poppins"/>
              </a:rPr>
              <a:t> </a:t>
            </a:r>
            <a:r>
              <a:rPr lang="nl-NL" sz="1800" b="1" dirty="0" err="1">
                <a:solidFill>
                  <a:srgbClr val="1F2938"/>
                </a:solidFill>
                <a:latin typeface="Poppins"/>
                <a:ea typeface="Poppins"/>
                <a:cs typeface="Poppins"/>
                <a:sym typeface="Poppins"/>
              </a:rPr>
              <a:t>wall</a:t>
            </a:r>
            <a:r>
              <a:rPr lang="nl-NL" sz="1800" b="1" dirty="0">
                <a:solidFill>
                  <a:srgbClr val="1F2938"/>
                </a:solidFill>
                <a:latin typeface="Poppins"/>
                <a:ea typeface="Poppins"/>
                <a:cs typeface="Poppins"/>
                <a:sym typeface="Poppins"/>
              </a:rPr>
              <a:t> </a:t>
            </a:r>
            <a:r>
              <a:rPr lang="nl-NL" sz="1800" b="1" dirty="0" err="1">
                <a:solidFill>
                  <a:srgbClr val="1F2938"/>
                </a:solidFill>
                <a:latin typeface="Poppins"/>
                <a:ea typeface="Poppins"/>
                <a:cs typeface="Poppins"/>
                <a:sym typeface="Poppins"/>
              </a:rPr>
              <a:t>thickness</a:t>
            </a:r>
            <a:r>
              <a:rPr lang="nl-NL" sz="1800" b="1"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come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from</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the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same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masks</a:t>
            </a:r>
            <a:endParaRPr sz="1800"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b="1" dirty="0" err="1">
                <a:solidFill>
                  <a:srgbClr val="1F2938"/>
                </a:solidFill>
                <a:latin typeface="Poppins"/>
                <a:ea typeface="Poppins"/>
                <a:cs typeface="Poppins"/>
                <a:sym typeface="Poppins"/>
              </a:rPr>
              <a:t>Quantifying</a:t>
            </a:r>
            <a:r>
              <a:rPr lang="nl-NL" sz="1800" b="1" dirty="0">
                <a:solidFill>
                  <a:srgbClr val="1F2938"/>
                </a:solidFill>
                <a:latin typeface="Poppins"/>
                <a:ea typeface="Poppins"/>
                <a:cs typeface="Poppins"/>
                <a:sym typeface="Poppins"/>
              </a:rPr>
              <a:t> fibrosis </a:t>
            </a:r>
            <a:r>
              <a:rPr lang="nl-NL" sz="1800" dirty="0">
                <a:solidFill>
                  <a:srgbClr val="1F2938"/>
                </a:solidFill>
                <a:latin typeface="Poppins"/>
                <a:ea typeface="Poppins"/>
                <a:cs typeface="Poppins"/>
                <a:sym typeface="Poppins"/>
              </a:rPr>
              <a:t>on LGE </a:t>
            </a:r>
            <a:r>
              <a:rPr lang="nl-NL" sz="1800" dirty="0" err="1">
                <a:solidFill>
                  <a:srgbClr val="1F2938"/>
                </a:solidFill>
                <a:latin typeface="Poppins"/>
                <a:ea typeface="Poppins"/>
                <a:cs typeface="Poppins"/>
                <a:sym typeface="Poppins"/>
              </a:rPr>
              <a:t>needs</a:t>
            </a:r>
            <a:r>
              <a:rPr lang="nl-NL" sz="1800" dirty="0">
                <a:solidFill>
                  <a:srgbClr val="1F2938"/>
                </a:solidFill>
                <a:latin typeface="Poppins"/>
                <a:ea typeface="Poppins"/>
                <a:cs typeface="Poppins"/>
                <a:sym typeface="Poppins"/>
              </a:rPr>
              <a:t> a </a:t>
            </a:r>
            <a:r>
              <a:rPr lang="nl-NL" sz="1800" dirty="0" err="1">
                <a:solidFill>
                  <a:srgbClr val="1F2938"/>
                </a:solidFill>
                <a:latin typeface="Poppins"/>
                <a:ea typeface="Poppins"/>
                <a:cs typeface="Poppins"/>
                <a:sym typeface="Poppins"/>
              </a:rPr>
              <a:t>myocardium</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mask</a:t>
            </a:r>
            <a:r>
              <a:rPr lang="nl-NL" sz="1800" dirty="0">
                <a:solidFill>
                  <a:srgbClr val="1F2938"/>
                </a:solidFill>
                <a:latin typeface="Poppins"/>
                <a:ea typeface="Poppins"/>
                <a:cs typeface="Poppins"/>
                <a:sym typeface="Poppins"/>
              </a:rPr>
              <a:t> first</a:t>
            </a:r>
            <a:endParaRPr sz="1800"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b="1" dirty="0">
                <a:solidFill>
                  <a:srgbClr val="1F2938"/>
                </a:solidFill>
                <a:latin typeface="Poppins"/>
                <a:ea typeface="Poppins"/>
                <a:cs typeface="Poppins"/>
                <a:sym typeface="Poppins"/>
              </a:rPr>
              <a:t>Manual </a:t>
            </a:r>
            <a:r>
              <a:rPr lang="nl-NL" sz="1800" b="1" dirty="0" err="1">
                <a:solidFill>
                  <a:srgbClr val="1F2938"/>
                </a:solidFill>
                <a:latin typeface="Poppins"/>
                <a:ea typeface="Poppins"/>
                <a:cs typeface="Poppins"/>
                <a:sym typeface="Poppins"/>
              </a:rPr>
              <a:t>contouring</a:t>
            </a:r>
            <a:r>
              <a:rPr lang="nl-NL" sz="1800" b="1" dirty="0">
                <a:solidFill>
                  <a:srgbClr val="1F2938"/>
                </a:solidFill>
                <a:latin typeface="Poppins"/>
                <a:ea typeface="Poppins"/>
                <a:cs typeface="Poppins"/>
                <a:sym typeface="Poppins"/>
              </a:rPr>
              <a:t> is slow </a:t>
            </a:r>
            <a:r>
              <a:rPr lang="nl-NL" sz="1800" b="1" dirty="0" err="1">
                <a:solidFill>
                  <a:srgbClr val="1F2938"/>
                </a:solidFill>
                <a:latin typeface="Poppins"/>
                <a:ea typeface="Poppins"/>
                <a:cs typeface="Poppins"/>
                <a:sym typeface="Poppins"/>
              </a:rPr>
              <a:t>and</a:t>
            </a:r>
            <a:r>
              <a:rPr lang="nl-NL" sz="1800" b="1" dirty="0">
                <a:solidFill>
                  <a:srgbClr val="1F2938"/>
                </a:solidFill>
                <a:latin typeface="Poppins"/>
                <a:ea typeface="Poppins"/>
                <a:cs typeface="Poppins"/>
                <a:sym typeface="Poppins"/>
              </a:rPr>
              <a:t> </a:t>
            </a:r>
            <a:r>
              <a:rPr lang="nl-NL" sz="1800" b="1" dirty="0" err="1">
                <a:solidFill>
                  <a:srgbClr val="1F2938"/>
                </a:solidFill>
                <a:latin typeface="Poppins"/>
                <a:ea typeface="Poppins"/>
                <a:cs typeface="Poppins"/>
                <a:sym typeface="Poppins"/>
              </a:rPr>
              <a:t>differs</a:t>
            </a:r>
            <a:r>
              <a:rPr lang="nl-NL" sz="1800" b="1" dirty="0">
                <a:solidFill>
                  <a:srgbClr val="1F2938"/>
                </a:solidFill>
                <a:latin typeface="Poppins"/>
                <a:ea typeface="Poppins"/>
                <a:cs typeface="Poppins"/>
                <a:sym typeface="Poppins"/>
              </a:rPr>
              <a:t> </a:t>
            </a:r>
            <a:r>
              <a:rPr lang="nl-NL" sz="1800" b="1" dirty="0" err="1">
                <a:solidFill>
                  <a:srgbClr val="1F2938"/>
                </a:solidFill>
                <a:latin typeface="Poppins"/>
                <a:ea typeface="Poppins"/>
                <a:cs typeface="Poppins"/>
                <a:sym typeface="Poppins"/>
              </a:rPr>
              <a:t>between</a:t>
            </a:r>
            <a:r>
              <a:rPr lang="nl-NL" sz="1800" b="1" dirty="0">
                <a:solidFill>
                  <a:srgbClr val="1F2938"/>
                </a:solidFill>
                <a:latin typeface="Poppins"/>
                <a:ea typeface="Poppins"/>
                <a:cs typeface="Poppins"/>
                <a:sym typeface="Poppins"/>
              </a:rPr>
              <a:t> </a:t>
            </a:r>
            <a:r>
              <a:rPr lang="nl-NL" sz="1800" b="1" dirty="0" err="1">
                <a:solidFill>
                  <a:srgbClr val="1F2938"/>
                </a:solidFill>
                <a:latin typeface="Poppins"/>
                <a:ea typeface="Poppins"/>
                <a:cs typeface="Poppins"/>
                <a:sym typeface="Poppins"/>
              </a:rPr>
              <a:t>observers</a:t>
            </a:r>
            <a:endParaRPr sz="1800" b="1" dirty="0">
              <a:solidFill>
                <a:srgbClr val="1F2938"/>
              </a:solidFill>
              <a:latin typeface="Poppins"/>
              <a:ea typeface="Poppins"/>
              <a:cs typeface="Poppins"/>
              <a:sym typeface="Poppins"/>
            </a:endParaRPr>
          </a:p>
        </p:txBody>
      </p:sp>
      <p:pic>
        <p:nvPicPr>
          <p:cNvPr id="6" name="Google Shape;158;p33"/>
          <p:cNvPicPr preferRelativeResize="0"/>
          <p:nvPr/>
        </p:nvPicPr>
        <p:blipFill rotWithShape="1">
          <a:blip r:embed="rId3">
            <a:alphaModFix/>
          </a:blip>
          <a:srcRect/>
          <a:stretch/>
        </p:blipFill>
        <p:spPr>
          <a:xfrm>
            <a:off x="9815050" y="1675525"/>
            <a:ext cx="1927325" cy="2426800"/>
          </a:xfrm>
          <a:prstGeom prst="rect">
            <a:avLst/>
          </a:prstGeom>
          <a:noFill/>
          <a:ln>
            <a:noFill/>
          </a:ln>
        </p:spPr>
      </p:pic>
      <p:pic>
        <p:nvPicPr>
          <p:cNvPr id="7" name="Google Shape;159;p33"/>
          <p:cNvPicPr preferRelativeResize="0"/>
          <p:nvPr/>
        </p:nvPicPr>
        <p:blipFill rotWithShape="1">
          <a:blip r:embed="rId4">
            <a:alphaModFix/>
          </a:blip>
          <a:srcRect/>
          <a:stretch/>
        </p:blipFill>
        <p:spPr>
          <a:xfrm>
            <a:off x="6899239" y="1516550"/>
            <a:ext cx="2457151" cy="2585775"/>
          </a:xfrm>
          <a:prstGeom prst="rect">
            <a:avLst/>
          </a:prstGeom>
          <a:noFill/>
          <a:ln>
            <a:noFill/>
          </a:ln>
        </p:spPr>
      </p:pic>
      <p:sp>
        <p:nvSpPr>
          <p:cNvPr id="8" name="Google Shape;160;p33"/>
          <p:cNvSpPr txBox="1"/>
          <p:nvPr/>
        </p:nvSpPr>
        <p:spPr>
          <a:xfrm>
            <a:off x="7339570" y="4213200"/>
            <a:ext cx="32700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2"/>
                </a:solidFill>
                <a:latin typeface="Arial"/>
                <a:ea typeface="Arial"/>
                <a:cs typeface="Arial"/>
                <a:sym typeface="Arial"/>
              </a:rPr>
              <a:t>LGE mesh</a:t>
            </a:r>
            <a:endParaRPr sz="1800" b="0" i="0" u="none" strike="noStrike" cap="none">
              <a:solidFill>
                <a:schemeClr val="dk2"/>
              </a:solidFill>
              <a:latin typeface="Arial"/>
              <a:ea typeface="Arial"/>
              <a:cs typeface="Arial"/>
              <a:sym typeface="Arial"/>
            </a:endParaRPr>
          </a:p>
        </p:txBody>
      </p:sp>
      <p:sp>
        <p:nvSpPr>
          <p:cNvPr id="9" name="Google Shape;161;p33"/>
          <p:cNvSpPr txBox="1"/>
          <p:nvPr/>
        </p:nvSpPr>
        <p:spPr>
          <a:xfrm>
            <a:off x="9815050" y="4213200"/>
            <a:ext cx="29919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dirty="0">
                <a:solidFill>
                  <a:schemeClr val="dk2"/>
                </a:solidFill>
                <a:latin typeface="Arial"/>
                <a:ea typeface="Arial"/>
                <a:cs typeface="Arial"/>
                <a:sym typeface="Arial"/>
              </a:rPr>
              <a:t>Fibrosis </a:t>
            </a:r>
            <a:r>
              <a:rPr lang="en" sz="1800" b="0" i="0" u="none" strike="noStrike" cap="none" dirty="0" smtClean="0">
                <a:solidFill>
                  <a:schemeClr val="dk2"/>
                </a:solidFill>
                <a:latin typeface="Arial"/>
                <a:ea typeface="Arial"/>
                <a:cs typeface="Arial"/>
                <a:sym typeface="Arial"/>
              </a:rPr>
              <a:t>mesh</a:t>
            </a:r>
            <a:endParaRPr sz="1800" b="0" i="0" u="none" strike="noStrike" cap="none" dirty="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1"/>
          <p:cNvSpPr txBox="1">
            <a:spLocks noGrp="1"/>
          </p:cNvSpPr>
          <p:nvPr>
            <p:ph type="title" idx="4294967295"/>
          </p:nvPr>
        </p:nvSpPr>
        <p:spPr>
          <a:xfrm>
            <a:off x="771180" y="456439"/>
            <a:ext cx="10652700" cy="6219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rgbClr val="0000FF"/>
              </a:buClr>
              <a:buSzPts val="3400"/>
              <a:buFont typeface="Poppins"/>
              <a:buNone/>
            </a:pPr>
            <a:r>
              <a:rPr lang="nl-NL" sz="3400">
                <a:solidFill>
                  <a:srgbClr val="0000FF"/>
                </a:solidFill>
              </a:rPr>
              <a:t>Challenges in cardiac imaging</a:t>
            </a:r>
            <a:endParaRPr sz="3400" b="1">
              <a:latin typeface="Poppins"/>
              <a:ea typeface="Poppins"/>
              <a:cs typeface="Poppins"/>
              <a:sym typeface="Poppins"/>
            </a:endParaRPr>
          </a:p>
        </p:txBody>
      </p:sp>
      <p:sp>
        <p:nvSpPr>
          <p:cNvPr id="85" name="Google Shape;85;p11"/>
          <p:cNvSpPr txBox="1"/>
          <p:nvPr/>
        </p:nvSpPr>
        <p:spPr>
          <a:xfrm>
            <a:off x="771180" y="1417320"/>
            <a:ext cx="5637000" cy="30000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rgbClr val="1F2938"/>
              </a:buClr>
              <a:buSzPts val="1800"/>
              <a:buFont typeface="Poppins"/>
              <a:buChar char="●"/>
            </a:pPr>
            <a:r>
              <a:rPr lang="nl-NL" sz="1800" dirty="0">
                <a:solidFill>
                  <a:srgbClr val="1F2938"/>
                </a:solidFill>
                <a:latin typeface="Poppins"/>
                <a:ea typeface="Poppins"/>
                <a:cs typeface="Poppins"/>
                <a:sym typeface="Poppins"/>
              </a:rPr>
              <a:t>Low data: </a:t>
            </a:r>
            <a:r>
              <a:rPr lang="nl-NL" sz="1800" dirty="0" err="1">
                <a:solidFill>
                  <a:srgbClr val="1F2938"/>
                </a:solidFill>
                <a:latin typeface="Poppins"/>
                <a:ea typeface="Poppins"/>
                <a:cs typeface="Poppins"/>
                <a:sym typeface="Poppins"/>
              </a:rPr>
              <a:t>every</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mask</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costs</a:t>
            </a:r>
            <a:r>
              <a:rPr lang="nl-NL" sz="1800" dirty="0">
                <a:solidFill>
                  <a:srgbClr val="1F2938"/>
                </a:solidFill>
                <a:latin typeface="Poppins"/>
                <a:ea typeface="Poppins"/>
                <a:cs typeface="Poppins"/>
                <a:sym typeface="Poppins"/>
              </a:rPr>
              <a:t> expert time. ACDC has 150 </a:t>
            </a:r>
            <a:r>
              <a:rPr lang="nl-NL" sz="1800" dirty="0" err="1">
                <a:solidFill>
                  <a:srgbClr val="1F2938"/>
                </a:solidFill>
                <a:latin typeface="Poppins"/>
                <a:ea typeface="Poppins"/>
                <a:cs typeface="Poppins"/>
                <a:sym typeface="Poppins"/>
              </a:rPr>
              <a:t>patients</a:t>
            </a:r>
            <a:r>
              <a:rPr lang="nl-NL" sz="1800" dirty="0">
                <a:solidFill>
                  <a:srgbClr val="1F2938"/>
                </a:solidFill>
                <a:latin typeface="Poppins"/>
                <a:ea typeface="Poppins"/>
                <a:cs typeface="Poppins"/>
                <a:sym typeface="Poppins"/>
              </a:rPr>
              <a:t>; LGE </a:t>
            </a:r>
            <a:r>
              <a:rPr lang="nl-NL" sz="1800" dirty="0" err="1">
                <a:solidFill>
                  <a:srgbClr val="1F2938"/>
                </a:solidFill>
                <a:latin typeface="Poppins"/>
                <a:ea typeface="Poppins"/>
                <a:cs typeface="Poppins"/>
                <a:sym typeface="Poppins"/>
              </a:rPr>
              <a:t>scar</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annotations</a:t>
            </a:r>
            <a:r>
              <a:rPr lang="nl-NL" sz="1800" dirty="0">
                <a:solidFill>
                  <a:srgbClr val="1F2938"/>
                </a:solidFill>
                <a:latin typeface="Poppins"/>
                <a:ea typeface="Poppins"/>
                <a:cs typeface="Poppins"/>
                <a:sym typeface="Poppins"/>
              </a:rPr>
              <a:t> are </a:t>
            </a:r>
            <a:r>
              <a:rPr lang="nl-NL" sz="1800" dirty="0" err="1">
                <a:solidFill>
                  <a:srgbClr val="1F2938"/>
                </a:solidFill>
                <a:latin typeface="Poppins"/>
                <a:ea typeface="Poppins"/>
                <a:cs typeface="Poppins"/>
                <a:sym typeface="Poppins"/>
              </a:rPr>
              <a:t>scarcer</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and</a:t>
            </a:r>
            <a:r>
              <a:rPr lang="nl-NL" sz="1800" dirty="0">
                <a:solidFill>
                  <a:srgbClr val="1F2938"/>
                </a:solidFill>
                <a:latin typeface="Poppins"/>
                <a:ea typeface="Poppins"/>
                <a:cs typeface="Poppins"/>
                <a:sym typeface="Poppins"/>
              </a:rPr>
              <a:t> harder </a:t>
            </a:r>
            <a:r>
              <a:rPr lang="nl-NL" sz="1800" dirty="0" err="1">
                <a:solidFill>
                  <a:srgbClr val="1F2938"/>
                </a:solidFill>
                <a:latin typeface="Poppins"/>
                <a:ea typeface="Poppins"/>
                <a:cs typeface="Poppins"/>
                <a:sym typeface="Poppins"/>
              </a:rPr>
              <a:t>to</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agree</a:t>
            </a:r>
            <a:r>
              <a:rPr lang="nl-NL" sz="1800" dirty="0">
                <a:solidFill>
                  <a:srgbClr val="1F2938"/>
                </a:solidFill>
                <a:latin typeface="Poppins"/>
                <a:ea typeface="Poppins"/>
                <a:cs typeface="Poppins"/>
                <a:sym typeface="Poppins"/>
              </a:rPr>
              <a:t> on</a:t>
            </a:r>
            <a:endParaRPr sz="1800"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dirty="0" err="1">
                <a:solidFill>
                  <a:srgbClr val="1F2938"/>
                </a:solidFill>
                <a:latin typeface="Poppins"/>
                <a:ea typeface="Poppins"/>
                <a:cs typeface="Poppins"/>
                <a:sym typeface="Poppins"/>
              </a:rPr>
              <a:t>Arbitrary</a:t>
            </a:r>
            <a:r>
              <a:rPr lang="nl-NL" sz="1800" dirty="0">
                <a:solidFill>
                  <a:srgbClr val="1F2938"/>
                </a:solidFill>
                <a:latin typeface="Poppins"/>
                <a:ea typeface="Poppins"/>
                <a:cs typeface="Poppins"/>
                <a:sym typeface="Poppins"/>
              </a:rPr>
              <a:t> pose: </a:t>
            </a:r>
            <a:r>
              <a:rPr lang="nl-NL" sz="1800" dirty="0" err="1">
                <a:solidFill>
                  <a:srgbClr val="1F2938"/>
                </a:solidFill>
                <a:latin typeface="Poppins"/>
                <a:ea typeface="Poppins"/>
                <a:cs typeface="Poppins"/>
                <a:sym typeface="Poppins"/>
              </a:rPr>
              <a:t>the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heart</a:t>
            </a:r>
            <a:r>
              <a:rPr lang="nl-NL" sz="1800" dirty="0">
                <a:solidFill>
                  <a:srgbClr val="1F2938"/>
                </a:solidFill>
                <a:latin typeface="Poppins"/>
                <a:ea typeface="Poppins"/>
                <a:cs typeface="Poppins"/>
                <a:sym typeface="Poppins"/>
              </a:rPr>
              <a:t> sits at a different </a:t>
            </a:r>
            <a:r>
              <a:rPr lang="nl-NL" sz="1800" dirty="0" err="1">
                <a:solidFill>
                  <a:srgbClr val="1F2938"/>
                </a:solidFill>
                <a:latin typeface="Poppins"/>
                <a:ea typeface="Poppins"/>
                <a:cs typeface="Poppins"/>
                <a:sym typeface="Poppins"/>
              </a:rPr>
              <a:t>position</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and</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angle</a:t>
            </a:r>
            <a:r>
              <a:rPr lang="nl-NL" sz="1800" dirty="0">
                <a:solidFill>
                  <a:srgbClr val="1F2938"/>
                </a:solidFill>
                <a:latin typeface="Poppins"/>
                <a:ea typeface="Poppins"/>
                <a:cs typeface="Poppins"/>
                <a:sym typeface="Poppins"/>
              </a:rPr>
              <a:t> in </a:t>
            </a:r>
            <a:r>
              <a:rPr lang="nl-NL" sz="1800" dirty="0" err="1">
                <a:solidFill>
                  <a:srgbClr val="1F2938"/>
                </a:solidFill>
                <a:latin typeface="Poppins"/>
                <a:ea typeface="Poppins"/>
                <a:cs typeface="Poppins"/>
                <a:sym typeface="Poppins"/>
              </a:rPr>
              <a:t>every</a:t>
            </a:r>
            <a:r>
              <a:rPr lang="nl-NL" sz="1800" dirty="0">
                <a:solidFill>
                  <a:srgbClr val="1F2938"/>
                </a:solidFill>
                <a:latin typeface="Poppins"/>
                <a:ea typeface="Poppins"/>
                <a:cs typeface="Poppins"/>
                <a:sym typeface="Poppins"/>
              </a:rPr>
              <a:t> scan</a:t>
            </a:r>
            <a:endParaRPr sz="1800"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dirty="0" err="1">
                <a:solidFill>
                  <a:srgbClr val="1F2938"/>
                </a:solidFill>
                <a:latin typeface="Poppins"/>
                <a:ea typeface="Poppins"/>
                <a:cs typeface="Poppins"/>
                <a:sym typeface="Poppins"/>
              </a:rPr>
              <a:t>Texture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scar</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and</a:t>
            </a:r>
            <a:r>
              <a:rPr lang="nl-NL" sz="1800" dirty="0">
                <a:solidFill>
                  <a:srgbClr val="1F2938"/>
                </a:solidFill>
                <a:latin typeface="Poppins"/>
                <a:ea typeface="Poppins"/>
                <a:cs typeface="Poppins"/>
                <a:sym typeface="Poppins"/>
              </a:rPr>
              <a:t> fibrosis in LGE are small, diffuse </a:t>
            </a:r>
            <a:r>
              <a:rPr lang="nl-NL" sz="1800" dirty="0" err="1">
                <a:solidFill>
                  <a:srgbClr val="1F2938"/>
                </a:solidFill>
                <a:latin typeface="Poppins"/>
                <a:ea typeface="Poppins"/>
                <a:cs typeface="Poppins"/>
                <a:sym typeface="Poppins"/>
              </a:rPr>
              <a:t>intensity</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patterns</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that</a:t>
            </a:r>
            <a:r>
              <a:rPr lang="nl-NL" sz="1800" dirty="0">
                <a:solidFill>
                  <a:srgbClr val="1F2938"/>
                </a:solidFill>
                <a:latin typeface="Poppins"/>
                <a:ea typeface="Poppins"/>
                <a:cs typeface="Poppins"/>
                <a:sym typeface="Poppins"/>
              </a:rPr>
              <a:t> are easy </a:t>
            </a:r>
            <a:r>
              <a:rPr lang="nl-NL" sz="1800" dirty="0" err="1">
                <a:solidFill>
                  <a:srgbClr val="1F2938"/>
                </a:solidFill>
                <a:latin typeface="Poppins"/>
                <a:ea typeface="Poppins"/>
                <a:cs typeface="Poppins"/>
                <a:sym typeface="Poppins"/>
              </a:rPr>
              <a:t>to</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blur</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away</a:t>
            </a:r>
            <a:endParaRPr sz="1800"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dirty="0">
                <a:solidFill>
                  <a:srgbClr val="1F2938"/>
                </a:solidFill>
                <a:latin typeface="Poppins"/>
                <a:ea typeface="Poppins"/>
                <a:cs typeface="Poppins"/>
                <a:sym typeface="Poppins"/>
              </a:rPr>
              <a:t>Motion: cine MRI is a </a:t>
            </a:r>
            <a:r>
              <a:rPr lang="nl-NL" sz="1800" dirty="0" err="1">
                <a:solidFill>
                  <a:srgbClr val="1F2938"/>
                </a:solidFill>
                <a:latin typeface="Poppins"/>
                <a:ea typeface="Poppins"/>
                <a:cs typeface="Poppins"/>
                <a:sym typeface="Poppins"/>
              </a:rPr>
              <a:t>moving</a:t>
            </a:r>
            <a:r>
              <a:rPr lang="nl-NL" sz="1800" dirty="0">
                <a:solidFill>
                  <a:srgbClr val="1F2938"/>
                </a:solidFill>
                <a:latin typeface="Poppins"/>
                <a:ea typeface="Poppins"/>
                <a:cs typeface="Poppins"/>
                <a:sym typeface="Poppins"/>
              </a:rPr>
              <a:t> image. Frames are samples of </a:t>
            </a:r>
            <a:r>
              <a:rPr lang="nl-NL" sz="1800" dirty="0" err="1">
                <a:solidFill>
                  <a:srgbClr val="1F2938"/>
                </a:solidFill>
                <a:latin typeface="Poppins"/>
                <a:ea typeface="Poppins"/>
                <a:cs typeface="Poppins"/>
                <a:sym typeface="Poppins"/>
              </a:rPr>
              <a:t>one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repeating</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cycle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not</a:t>
            </a:r>
            <a:r>
              <a:rPr lang="nl-NL" sz="1800" dirty="0">
                <a:solidFill>
                  <a:srgbClr val="1F2938"/>
                </a:solidFill>
                <a:latin typeface="Poppins"/>
                <a:ea typeface="Poppins"/>
                <a:cs typeface="Poppins"/>
                <a:sym typeface="Poppins"/>
              </a:rPr>
              <a:t> independent images</a:t>
            </a:r>
            <a:endParaRPr sz="1800" dirty="0">
              <a:solidFill>
                <a:srgbClr val="1F2938"/>
              </a:solidFill>
              <a:latin typeface="Poppins"/>
              <a:ea typeface="Poppins"/>
              <a:cs typeface="Poppins"/>
              <a:sym typeface="Poppins"/>
            </a:endParaRPr>
          </a:p>
        </p:txBody>
      </p:sp>
      <p:pic>
        <p:nvPicPr>
          <p:cNvPr id="2050" name="Picture 2" descr="PDF] Late gadolinium enhancement confined to the right ventricular  insertion points in hypertrophic cardiomyopathy: an intermediate stage  phenotype? | Semantic Schola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42225" y="1417320"/>
            <a:ext cx="3235325" cy="32474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2"/>
          <p:cNvSpPr txBox="1">
            <a:spLocks noGrp="1"/>
          </p:cNvSpPr>
          <p:nvPr>
            <p:ph type="title" idx="4294967295"/>
          </p:nvPr>
        </p:nvSpPr>
        <p:spPr>
          <a:xfrm>
            <a:off x="771180" y="456439"/>
            <a:ext cx="10652700" cy="6219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rgbClr val="0000FF"/>
              </a:buClr>
              <a:buSzPts val="3400"/>
              <a:buFont typeface="Poppins"/>
              <a:buNone/>
            </a:pPr>
            <a:r>
              <a:rPr lang="nl-NL" sz="3400">
                <a:solidFill>
                  <a:srgbClr val="0000FF"/>
                </a:solidFill>
              </a:rPr>
              <a:t>We know more than the network does</a:t>
            </a:r>
            <a:endParaRPr sz="3400" b="1">
              <a:latin typeface="Poppins"/>
              <a:ea typeface="Poppins"/>
              <a:cs typeface="Poppins"/>
              <a:sym typeface="Poppins"/>
            </a:endParaRPr>
          </a:p>
        </p:txBody>
      </p:sp>
      <p:graphicFrame>
        <p:nvGraphicFramePr>
          <p:cNvPr id="92" name="Google Shape;92;p12"/>
          <p:cNvGraphicFramePr/>
          <p:nvPr/>
        </p:nvGraphicFramePr>
        <p:xfrm>
          <a:off x="771180" y="1417320"/>
          <a:ext cx="10652775" cy="3429000"/>
        </p:xfrm>
        <a:graphic>
          <a:graphicData uri="http://schemas.openxmlformats.org/drawingml/2006/table">
            <a:tbl>
              <a:tblPr>
                <a:noFill/>
                <a:tableStyleId>{6B0A4860-DA02-440A-96D3-9F6A2DD90529}</a:tableStyleId>
              </a:tblPr>
              <a:tblGrid>
                <a:gridCol w="3550925">
                  <a:extLst>
                    <a:ext uri="{9D8B030D-6E8A-4147-A177-3AD203B41FA5}">
                      <a16:colId xmlns:a16="http://schemas.microsoft.com/office/drawing/2014/main" val="20000"/>
                    </a:ext>
                  </a:extLst>
                </a:gridCol>
                <a:gridCol w="3550925">
                  <a:extLst>
                    <a:ext uri="{9D8B030D-6E8A-4147-A177-3AD203B41FA5}">
                      <a16:colId xmlns:a16="http://schemas.microsoft.com/office/drawing/2014/main" val="20001"/>
                    </a:ext>
                  </a:extLst>
                </a:gridCol>
                <a:gridCol w="3550925">
                  <a:extLst>
                    <a:ext uri="{9D8B030D-6E8A-4147-A177-3AD203B41FA5}">
                      <a16:colId xmlns:a16="http://schemas.microsoft.com/office/drawing/2014/main" val="20002"/>
                    </a:ext>
                  </a:extLst>
                </a:gridCol>
              </a:tblGrid>
              <a:tr h="685800">
                <a:tc>
                  <a:txBody>
                    <a:bodyPr/>
                    <a:lstStyle/>
                    <a:p>
                      <a:pPr marL="0" lvl="0" indent="0" algn="l" rtl="0">
                        <a:spcBef>
                          <a:spcPts val="0"/>
                        </a:spcBef>
                        <a:spcAft>
                          <a:spcPts val="0"/>
                        </a:spcAft>
                        <a:buNone/>
                      </a:pPr>
                      <a:r>
                        <a:rPr lang="nl-NL" sz="1600" b="1">
                          <a:solidFill>
                            <a:srgbClr val="1F2938"/>
                          </a:solidFill>
                          <a:latin typeface="Poppins"/>
                          <a:ea typeface="Poppins"/>
                          <a:cs typeface="Poppins"/>
                          <a:sym typeface="Poppins"/>
                        </a:rPr>
                        <a:t>What we know</a:t>
                      </a:r>
                      <a:endParaRPr sz="1600" b="1">
                        <a:solidFill>
                          <a:srgbClr val="1F2938"/>
                        </a:solidFill>
                        <a:latin typeface="Poppins"/>
                        <a:ea typeface="Poppins"/>
                        <a:cs typeface="Poppins"/>
                        <a:sym typeface="Poppins"/>
                      </a:endParaRPr>
                    </a:p>
                  </a:txBody>
                  <a:tcPr marL="91425" marR="91425" marT="91425" marB="91425"/>
                </a:tc>
                <a:tc>
                  <a:txBody>
                    <a:bodyPr/>
                    <a:lstStyle/>
                    <a:p>
                      <a:pPr marL="0" lvl="0" indent="0" algn="l" rtl="0">
                        <a:spcBef>
                          <a:spcPts val="0"/>
                        </a:spcBef>
                        <a:spcAft>
                          <a:spcPts val="0"/>
                        </a:spcAft>
                        <a:buNone/>
                      </a:pPr>
                      <a:r>
                        <a:rPr lang="nl-NL" sz="1600" b="1">
                          <a:solidFill>
                            <a:srgbClr val="1F2938"/>
                          </a:solidFill>
                          <a:latin typeface="Poppins"/>
                          <a:ea typeface="Poppins"/>
                          <a:cs typeface="Poppins"/>
                          <a:sym typeface="Poppins"/>
                        </a:rPr>
                        <a:t>Standard approach</a:t>
                      </a:r>
                      <a:endParaRPr sz="1600" b="1">
                        <a:solidFill>
                          <a:srgbClr val="1F2938"/>
                        </a:solidFill>
                        <a:latin typeface="Poppins"/>
                        <a:ea typeface="Poppins"/>
                        <a:cs typeface="Poppins"/>
                        <a:sym typeface="Poppins"/>
                      </a:endParaRPr>
                    </a:p>
                  </a:txBody>
                  <a:tcPr marL="91425" marR="91425" marT="91425" marB="91425"/>
                </a:tc>
                <a:tc>
                  <a:txBody>
                    <a:bodyPr/>
                    <a:lstStyle/>
                    <a:p>
                      <a:pPr marL="0" lvl="0" indent="0" algn="l" rtl="0">
                        <a:spcBef>
                          <a:spcPts val="0"/>
                        </a:spcBef>
                        <a:spcAft>
                          <a:spcPts val="0"/>
                        </a:spcAft>
                        <a:buNone/>
                      </a:pPr>
                      <a:r>
                        <a:rPr lang="nl-NL" sz="1600" b="1">
                          <a:solidFill>
                            <a:srgbClr val="1F2938"/>
                          </a:solidFill>
                          <a:latin typeface="Poppins"/>
                          <a:ea typeface="Poppins"/>
                          <a:cs typeface="Poppins"/>
                          <a:sym typeface="Poppins"/>
                        </a:rPr>
                        <a:t>Building it in</a:t>
                      </a:r>
                      <a:endParaRPr sz="1600" b="1">
                        <a:solidFill>
                          <a:srgbClr val="1F2938"/>
                        </a:solidFill>
                        <a:latin typeface="Poppins"/>
                        <a:ea typeface="Poppins"/>
                        <a:cs typeface="Poppins"/>
                        <a:sym typeface="Poppins"/>
                      </a:endParaRPr>
                    </a:p>
                  </a:txBody>
                  <a:tcPr marL="91425" marR="91425" marT="91425" marB="91425"/>
                </a:tc>
                <a:extLst>
                  <a:ext uri="{0D108BD9-81ED-4DB2-BD59-A6C34878D82A}">
                    <a16:rowId xmlns:a16="http://schemas.microsoft.com/office/drawing/2014/main" val="10000"/>
                  </a:ext>
                </a:extLst>
              </a:tr>
              <a:tr h="685800">
                <a:tc>
                  <a:txBody>
                    <a:bodyPr/>
                    <a:lstStyle/>
                    <a:p>
                      <a:pPr marL="0" lvl="0" indent="0" algn="l" rtl="0">
                        <a:spcBef>
                          <a:spcPts val="0"/>
                        </a:spcBef>
                        <a:spcAft>
                          <a:spcPts val="0"/>
                        </a:spcAft>
                        <a:buNone/>
                      </a:pPr>
                      <a:r>
                        <a:rPr lang="nl-NL" sz="1600" b="1">
                          <a:solidFill>
                            <a:srgbClr val="1F2938"/>
                          </a:solidFill>
                          <a:latin typeface="Poppins"/>
                          <a:ea typeface="Poppins"/>
                          <a:cs typeface="Poppins"/>
                          <a:sym typeface="Poppins"/>
                        </a:rPr>
                        <a:t>The heartbeat is periodic</a:t>
                      </a:r>
                      <a:endParaRPr sz="1600" b="1">
                        <a:solidFill>
                          <a:srgbClr val="1F2938"/>
                        </a:solidFill>
                        <a:latin typeface="Poppins"/>
                        <a:ea typeface="Poppins"/>
                        <a:cs typeface="Poppins"/>
                        <a:sym typeface="Poppins"/>
                      </a:endParaRPr>
                    </a:p>
                  </a:txBody>
                  <a:tcPr marL="91425" marR="91425" marT="91425" marB="91425"/>
                </a:tc>
                <a:tc>
                  <a:txBody>
                    <a:bodyPr/>
                    <a:lstStyle/>
                    <a:p>
                      <a:pPr marL="0" lvl="0" indent="0" algn="l" rtl="0">
                        <a:spcBef>
                          <a:spcPts val="0"/>
                        </a:spcBef>
                        <a:spcAft>
                          <a:spcPts val="0"/>
                        </a:spcAft>
                        <a:buNone/>
                      </a:pPr>
                      <a:r>
                        <a:rPr lang="nl-NL" sz="1600" dirty="0" err="1">
                          <a:solidFill>
                            <a:srgbClr val="1F2938"/>
                          </a:solidFill>
                          <a:latin typeface="Poppins"/>
                          <a:ea typeface="Poppins"/>
                          <a:cs typeface="Poppins"/>
                          <a:sym typeface="Poppins"/>
                        </a:rPr>
                        <a:t>Classify</a:t>
                      </a:r>
                      <a:r>
                        <a:rPr lang="nl-NL" sz="1600" dirty="0">
                          <a:solidFill>
                            <a:srgbClr val="1F2938"/>
                          </a:solidFill>
                          <a:latin typeface="Poppins"/>
                          <a:ea typeface="Poppins"/>
                          <a:cs typeface="Poppins"/>
                          <a:sym typeface="Poppins"/>
                        </a:rPr>
                        <a:t> </a:t>
                      </a:r>
                      <a:r>
                        <a:rPr lang="nl-NL" sz="1600" dirty="0" err="1">
                          <a:solidFill>
                            <a:srgbClr val="1F2938"/>
                          </a:solidFill>
                          <a:latin typeface="Poppins"/>
                          <a:ea typeface="Poppins"/>
                          <a:cs typeface="Poppins"/>
                          <a:sym typeface="Poppins"/>
                        </a:rPr>
                        <a:t>each</a:t>
                      </a:r>
                      <a:r>
                        <a:rPr lang="nl-NL" sz="1600" dirty="0">
                          <a:solidFill>
                            <a:srgbClr val="1F2938"/>
                          </a:solidFill>
                          <a:latin typeface="Poppins"/>
                          <a:ea typeface="Poppins"/>
                          <a:cs typeface="Poppins"/>
                          <a:sym typeface="Poppins"/>
                        </a:rPr>
                        <a:t> frame </a:t>
                      </a:r>
                      <a:r>
                        <a:rPr lang="nl-NL" sz="1600" dirty="0" err="1">
                          <a:solidFill>
                            <a:srgbClr val="1F2938"/>
                          </a:solidFill>
                          <a:latin typeface="Poppins"/>
                          <a:ea typeface="Poppins"/>
                          <a:cs typeface="Poppins"/>
                          <a:sym typeface="Poppins"/>
                        </a:rPr>
                        <a:t>separately</a:t>
                      </a:r>
                      <a:endParaRPr sz="1600" dirty="0">
                        <a:solidFill>
                          <a:srgbClr val="1F2938"/>
                        </a:solidFill>
                        <a:latin typeface="Poppins"/>
                        <a:ea typeface="Poppins"/>
                        <a:cs typeface="Poppins"/>
                        <a:sym typeface="Poppins"/>
                      </a:endParaRPr>
                    </a:p>
                  </a:txBody>
                  <a:tcPr marL="91425" marR="91425" marT="91425" marB="91425"/>
                </a:tc>
                <a:tc>
                  <a:txBody>
                    <a:bodyPr/>
                    <a:lstStyle/>
                    <a:p>
                      <a:pPr marL="0" lvl="0" indent="0" algn="l" rtl="0">
                        <a:spcBef>
                          <a:spcPts val="0"/>
                        </a:spcBef>
                        <a:spcAft>
                          <a:spcPts val="0"/>
                        </a:spcAft>
                        <a:buNone/>
                      </a:pPr>
                      <a:r>
                        <a:rPr lang="nl-NL" sz="1600">
                          <a:solidFill>
                            <a:srgbClr val="1F2938"/>
                          </a:solidFill>
                          <a:latin typeface="Poppins"/>
                          <a:ea typeface="Poppins"/>
                          <a:cs typeface="Poppins"/>
                          <a:sym typeface="Poppins"/>
                        </a:rPr>
                        <a:t>Phase on a circle (CyclePhase)</a:t>
                      </a:r>
                      <a:endParaRPr sz="1600">
                        <a:solidFill>
                          <a:srgbClr val="1F2938"/>
                        </a:solidFill>
                        <a:latin typeface="Poppins"/>
                        <a:ea typeface="Poppins"/>
                        <a:cs typeface="Poppins"/>
                        <a:sym typeface="Poppins"/>
                      </a:endParaRPr>
                    </a:p>
                  </a:txBody>
                  <a:tcPr marL="91425" marR="91425" marT="91425" marB="91425"/>
                </a:tc>
                <a:extLst>
                  <a:ext uri="{0D108BD9-81ED-4DB2-BD59-A6C34878D82A}">
                    <a16:rowId xmlns:a16="http://schemas.microsoft.com/office/drawing/2014/main" val="10001"/>
                  </a:ext>
                </a:extLst>
              </a:tr>
              <a:tr h="685800">
                <a:tc>
                  <a:txBody>
                    <a:bodyPr/>
                    <a:lstStyle/>
                    <a:p>
                      <a:pPr marL="0" lvl="0" indent="0" algn="l" rtl="0">
                        <a:spcBef>
                          <a:spcPts val="0"/>
                        </a:spcBef>
                        <a:spcAft>
                          <a:spcPts val="0"/>
                        </a:spcAft>
                        <a:buNone/>
                      </a:pPr>
                      <a:r>
                        <a:rPr lang="nl-NL" sz="1600" b="1" dirty="0" err="1">
                          <a:solidFill>
                            <a:srgbClr val="1F2938"/>
                          </a:solidFill>
                          <a:latin typeface="Poppins"/>
                          <a:ea typeface="Poppins"/>
                          <a:cs typeface="Poppins"/>
                          <a:sym typeface="Poppins"/>
                        </a:rPr>
                        <a:t>Anatomy</a:t>
                      </a:r>
                      <a:r>
                        <a:rPr lang="nl-NL" sz="1600" b="1" dirty="0">
                          <a:solidFill>
                            <a:srgbClr val="1F2938"/>
                          </a:solidFill>
                          <a:latin typeface="Poppins"/>
                          <a:ea typeface="Poppins"/>
                          <a:cs typeface="Poppins"/>
                          <a:sym typeface="Poppins"/>
                        </a:rPr>
                        <a:t> is </a:t>
                      </a:r>
                      <a:r>
                        <a:rPr lang="nl-NL" sz="1600" b="1" dirty="0" err="1">
                          <a:solidFill>
                            <a:srgbClr val="1F2938"/>
                          </a:solidFill>
                          <a:latin typeface="Poppins"/>
                          <a:ea typeface="Poppins"/>
                          <a:cs typeface="Poppins"/>
                          <a:sym typeface="Poppins"/>
                        </a:rPr>
                        <a:t>continuous</a:t>
                      </a:r>
                      <a:endParaRPr sz="1600" b="1" dirty="0">
                        <a:solidFill>
                          <a:srgbClr val="1F2938"/>
                        </a:solidFill>
                        <a:latin typeface="Poppins"/>
                        <a:ea typeface="Poppins"/>
                        <a:cs typeface="Poppins"/>
                        <a:sym typeface="Poppins"/>
                      </a:endParaRPr>
                    </a:p>
                  </a:txBody>
                  <a:tcPr marL="91425" marR="91425" marT="91425" marB="91425"/>
                </a:tc>
                <a:tc>
                  <a:txBody>
                    <a:bodyPr/>
                    <a:lstStyle/>
                    <a:p>
                      <a:pPr marL="0" lvl="0" indent="0" algn="l" rtl="0">
                        <a:spcBef>
                          <a:spcPts val="0"/>
                        </a:spcBef>
                        <a:spcAft>
                          <a:spcPts val="0"/>
                        </a:spcAft>
                        <a:buNone/>
                      </a:pPr>
                      <a:r>
                        <a:rPr lang="nl-NL" sz="1600" dirty="0" err="1">
                          <a:solidFill>
                            <a:srgbClr val="1F2938"/>
                          </a:solidFill>
                          <a:latin typeface="Poppins"/>
                          <a:ea typeface="Poppins"/>
                          <a:cs typeface="Poppins"/>
                          <a:sym typeface="Poppins"/>
                        </a:rPr>
                        <a:t>Fixed</a:t>
                      </a:r>
                      <a:r>
                        <a:rPr lang="nl-NL" sz="1600" dirty="0">
                          <a:solidFill>
                            <a:srgbClr val="1F2938"/>
                          </a:solidFill>
                          <a:latin typeface="Poppins"/>
                          <a:ea typeface="Poppins"/>
                          <a:cs typeface="Poppins"/>
                          <a:sym typeface="Poppins"/>
                        </a:rPr>
                        <a:t> pixel </a:t>
                      </a:r>
                      <a:r>
                        <a:rPr lang="nl-NL" sz="1600" dirty="0" err="1">
                          <a:solidFill>
                            <a:srgbClr val="1F2938"/>
                          </a:solidFill>
                          <a:latin typeface="Poppins"/>
                          <a:ea typeface="Poppins"/>
                          <a:cs typeface="Poppins"/>
                          <a:sym typeface="Poppins"/>
                        </a:rPr>
                        <a:t>grid</a:t>
                      </a:r>
                      <a:endParaRPr sz="1600" dirty="0">
                        <a:solidFill>
                          <a:srgbClr val="1F2938"/>
                        </a:solidFill>
                        <a:latin typeface="Poppins"/>
                        <a:ea typeface="Poppins"/>
                        <a:cs typeface="Poppins"/>
                        <a:sym typeface="Poppins"/>
                      </a:endParaRPr>
                    </a:p>
                  </a:txBody>
                  <a:tcPr marL="91425" marR="91425" marT="91425" marB="91425"/>
                </a:tc>
                <a:tc>
                  <a:txBody>
                    <a:bodyPr/>
                    <a:lstStyle/>
                    <a:p>
                      <a:pPr marL="0" lvl="0" indent="0" algn="l" rtl="0">
                        <a:spcBef>
                          <a:spcPts val="0"/>
                        </a:spcBef>
                        <a:spcAft>
                          <a:spcPts val="0"/>
                        </a:spcAft>
                        <a:buNone/>
                      </a:pPr>
                      <a:r>
                        <a:rPr lang="nl-NL" sz="1600">
                          <a:solidFill>
                            <a:srgbClr val="1F2938"/>
                          </a:solidFill>
                          <a:latin typeface="Poppins"/>
                          <a:ea typeface="Poppins"/>
                          <a:cs typeface="Poppins"/>
                          <a:sym typeface="Poppins"/>
                        </a:rPr>
                        <a:t>Neural fields</a:t>
                      </a:r>
                      <a:endParaRPr sz="1600">
                        <a:solidFill>
                          <a:srgbClr val="1F2938"/>
                        </a:solidFill>
                        <a:latin typeface="Poppins"/>
                        <a:ea typeface="Poppins"/>
                        <a:cs typeface="Poppins"/>
                        <a:sym typeface="Poppins"/>
                      </a:endParaRPr>
                    </a:p>
                  </a:txBody>
                  <a:tcPr marL="91425" marR="91425" marT="91425" marB="91425"/>
                </a:tc>
                <a:extLst>
                  <a:ext uri="{0D108BD9-81ED-4DB2-BD59-A6C34878D82A}">
                    <a16:rowId xmlns:a16="http://schemas.microsoft.com/office/drawing/2014/main" val="10002"/>
                  </a:ext>
                </a:extLst>
              </a:tr>
              <a:tr h="685800">
                <a:tc>
                  <a:txBody>
                    <a:bodyPr/>
                    <a:lstStyle/>
                    <a:p>
                      <a:pPr marL="0" lvl="0" indent="0" algn="l" rtl="0">
                        <a:spcBef>
                          <a:spcPts val="0"/>
                        </a:spcBef>
                        <a:spcAft>
                          <a:spcPts val="0"/>
                        </a:spcAft>
                        <a:buNone/>
                      </a:pPr>
                      <a:r>
                        <a:rPr lang="nl-NL" sz="1600" b="1">
                          <a:solidFill>
                            <a:srgbClr val="1F2938"/>
                          </a:solidFill>
                          <a:latin typeface="Poppins"/>
                          <a:ea typeface="Poppins"/>
                          <a:cs typeface="Poppins"/>
                          <a:sym typeface="Poppins"/>
                        </a:rPr>
                        <a:t>Pose is arbitrary</a:t>
                      </a:r>
                      <a:endParaRPr sz="1600" b="1">
                        <a:solidFill>
                          <a:srgbClr val="1F2938"/>
                        </a:solidFill>
                        <a:latin typeface="Poppins"/>
                        <a:ea typeface="Poppins"/>
                        <a:cs typeface="Poppins"/>
                        <a:sym typeface="Poppins"/>
                      </a:endParaRPr>
                    </a:p>
                  </a:txBody>
                  <a:tcPr marL="91425" marR="91425" marT="91425" marB="91425"/>
                </a:tc>
                <a:tc>
                  <a:txBody>
                    <a:bodyPr/>
                    <a:lstStyle/>
                    <a:p>
                      <a:pPr marL="0" lvl="0" indent="0" algn="l" rtl="0">
                        <a:spcBef>
                          <a:spcPts val="0"/>
                        </a:spcBef>
                        <a:spcAft>
                          <a:spcPts val="0"/>
                        </a:spcAft>
                        <a:buNone/>
                      </a:pPr>
                      <a:r>
                        <a:rPr lang="nl-NL" sz="1600" dirty="0" err="1">
                          <a:solidFill>
                            <a:srgbClr val="1F2938"/>
                          </a:solidFill>
                          <a:latin typeface="Poppins"/>
                          <a:ea typeface="Poppins"/>
                          <a:cs typeface="Poppins"/>
                          <a:sym typeface="Poppins"/>
                        </a:rPr>
                        <a:t>Rotation</a:t>
                      </a:r>
                      <a:r>
                        <a:rPr lang="nl-NL" sz="1600" dirty="0">
                          <a:solidFill>
                            <a:srgbClr val="1F2938"/>
                          </a:solidFill>
                          <a:latin typeface="Poppins"/>
                          <a:ea typeface="Poppins"/>
                          <a:cs typeface="Poppins"/>
                          <a:sym typeface="Poppins"/>
                        </a:rPr>
                        <a:t> </a:t>
                      </a:r>
                      <a:r>
                        <a:rPr lang="nl-NL" sz="1600" dirty="0" err="1">
                          <a:solidFill>
                            <a:srgbClr val="1F2938"/>
                          </a:solidFill>
                          <a:latin typeface="Poppins"/>
                          <a:ea typeface="Poppins"/>
                          <a:cs typeface="Poppins"/>
                          <a:sym typeface="Poppins"/>
                        </a:rPr>
                        <a:t>augmentation</a:t>
                      </a:r>
                      <a:endParaRPr sz="1600" dirty="0">
                        <a:solidFill>
                          <a:srgbClr val="1F2938"/>
                        </a:solidFill>
                        <a:latin typeface="Poppins"/>
                        <a:ea typeface="Poppins"/>
                        <a:cs typeface="Poppins"/>
                        <a:sym typeface="Poppins"/>
                      </a:endParaRPr>
                    </a:p>
                  </a:txBody>
                  <a:tcPr marL="91425" marR="91425" marT="91425" marB="91425"/>
                </a:tc>
                <a:tc>
                  <a:txBody>
                    <a:bodyPr/>
                    <a:lstStyle/>
                    <a:p>
                      <a:pPr marL="0" lvl="0" indent="0" algn="l" rtl="0">
                        <a:spcBef>
                          <a:spcPts val="0"/>
                        </a:spcBef>
                        <a:spcAft>
                          <a:spcPts val="0"/>
                        </a:spcAft>
                        <a:buNone/>
                      </a:pPr>
                      <a:r>
                        <a:rPr lang="nl-NL" sz="1600">
                          <a:solidFill>
                            <a:srgbClr val="1F2938"/>
                          </a:solidFill>
                          <a:latin typeface="Poppins"/>
                          <a:ea typeface="Poppins"/>
                          <a:cs typeface="Poppins"/>
                          <a:sym typeface="Poppins"/>
                        </a:rPr>
                        <a:t>SE(2)-equivariant networks</a:t>
                      </a:r>
                      <a:endParaRPr sz="1600">
                        <a:solidFill>
                          <a:srgbClr val="1F2938"/>
                        </a:solidFill>
                        <a:latin typeface="Poppins"/>
                        <a:ea typeface="Poppins"/>
                        <a:cs typeface="Poppins"/>
                        <a:sym typeface="Poppins"/>
                      </a:endParaRPr>
                    </a:p>
                  </a:txBody>
                  <a:tcPr marL="91425" marR="91425" marT="91425" marB="91425"/>
                </a:tc>
                <a:extLst>
                  <a:ext uri="{0D108BD9-81ED-4DB2-BD59-A6C34878D82A}">
                    <a16:rowId xmlns:a16="http://schemas.microsoft.com/office/drawing/2014/main" val="10003"/>
                  </a:ext>
                </a:extLst>
              </a:tr>
              <a:tr h="685800">
                <a:tc>
                  <a:txBody>
                    <a:bodyPr/>
                    <a:lstStyle/>
                    <a:p>
                      <a:pPr marL="0" lvl="0" indent="0" algn="l" rtl="0">
                        <a:spcBef>
                          <a:spcPts val="0"/>
                        </a:spcBef>
                        <a:spcAft>
                          <a:spcPts val="0"/>
                        </a:spcAft>
                        <a:buNone/>
                      </a:pPr>
                      <a:r>
                        <a:rPr lang="nl-NL" sz="1600" b="1">
                          <a:solidFill>
                            <a:srgbClr val="1F2938"/>
                          </a:solidFill>
                          <a:latin typeface="Poppins"/>
                          <a:ea typeface="Poppins"/>
                          <a:cs typeface="Poppins"/>
                          <a:sym typeface="Poppins"/>
                        </a:rPr>
                        <a:t>Image and mask belong together</a:t>
                      </a:r>
                      <a:endParaRPr sz="1600" b="1">
                        <a:solidFill>
                          <a:srgbClr val="1F2938"/>
                        </a:solidFill>
                        <a:latin typeface="Poppins"/>
                        <a:ea typeface="Poppins"/>
                        <a:cs typeface="Poppins"/>
                        <a:sym typeface="Poppins"/>
                      </a:endParaRPr>
                    </a:p>
                  </a:txBody>
                  <a:tcPr marL="91425" marR="91425" marT="91425" marB="91425"/>
                </a:tc>
                <a:tc>
                  <a:txBody>
                    <a:bodyPr/>
                    <a:lstStyle/>
                    <a:p>
                      <a:pPr marL="0" lvl="0" indent="0" algn="l" rtl="0">
                        <a:spcBef>
                          <a:spcPts val="0"/>
                        </a:spcBef>
                        <a:spcAft>
                          <a:spcPts val="0"/>
                        </a:spcAft>
                        <a:buNone/>
                      </a:pPr>
                      <a:r>
                        <a:rPr lang="nl-NL" sz="1600" dirty="0">
                          <a:solidFill>
                            <a:srgbClr val="1F2938"/>
                          </a:solidFill>
                          <a:latin typeface="Poppins"/>
                          <a:ea typeface="Poppins"/>
                          <a:cs typeface="Poppins"/>
                          <a:sym typeface="Poppins"/>
                        </a:rPr>
                        <a:t>Label </a:t>
                      </a:r>
                      <a:r>
                        <a:rPr lang="nl-NL" sz="1600" dirty="0" err="1">
                          <a:solidFill>
                            <a:srgbClr val="1F2938"/>
                          </a:solidFill>
                          <a:latin typeface="Poppins"/>
                          <a:ea typeface="Poppins"/>
                          <a:cs typeface="Poppins"/>
                          <a:sym typeface="Poppins"/>
                        </a:rPr>
                        <a:t>every</a:t>
                      </a:r>
                      <a:r>
                        <a:rPr lang="nl-NL" sz="1600" dirty="0">
                          <a:solidFill>
                            <a:srgbClr val="1F2938"/>
                          </a:solidFill>
                          <a:latin typeface="Poppins"/>
                          <a:ea typeface="Poppins"/>
                          <a:cs typeface="Poppins"/>
                          <a:sym typeface="Poppins"/>
                        </a:rPr>
                        <a:t> image </a:t>
                      </a:r>
                      <a:r>
                        <a:rPr lang="nl-NL" sz="1600" dirty="0" err="1">
                          <a:solidFill>
                            <a:srgbClr val="1F2938"/>
                          </a:solidFill>
                          <a:latin typeface="Poppins"/>
                          <a:ea typeface="Poppins"/>
                          <a:cs typeface="Poppins"/>
                          <a:sym typeface="Poppins"/>
                        </a:rPr>
                        <a:t>by</a:t>
                      </a:r>
                      <a:r>
                        <a:rPr lang="nl-NL" sz="1600" dirty="0">
                          <a:solidFill>
                            <a:srgbClr val="1F2938"/>
                          </a:solidFill>
                          <a:latin typeface="Poppins"/>
                          <a:ea typeface="Poppins"/>
                          <a:cs typeface="Poppins"/>
                          <a:sym typeface="Poppins"/>
                        </a:rPr>
                        <a:t> hand</a:t>
                      </a:r>
                      <a:endParaRPr sz="1600" dirty="0">
                        <a:solidFill>
                          <a:srgbClr val="1F2938"/>
                        </a:solidFill>
                        <a:latin typeface="Poppins"/>
                        <a:ea typeface="Poppins"/>
                        <a:cs typeface="Poppins"/>
                        <a:sym typeface="Poppins"/>
                      </a:endParaRPr>
                    </a:p>
                  </a:txBody>
                  <a:tcPr marL="91425" marR="91425" marT="91425" marB="91425"/>
                </a:tc>
                <a:tc>
                  <a:txBody>
                    <a:bodyPr/>
                    <a:lstStyle/>
                    <a:p>
                      <a:pPr marL="0" lvl="0" indent="0" algn="l" rtl="0">
                        <a:spcBef>
                          <a:spcPts val="0"/>
                        </a:spcBef>
                        <a:spcAft>
                          <a:spcPts val="0"/>
                        </a:spcAft>
                        <a:buNone/>
                      </a:pPr>
                      <a:r>
                        <a:rPr lang="nl-NL" sz="1600" dirty="0" err="1">
                          <a:solidFill>
                            <a:srgbClr val="1F2938"/>
                          </a:solidFill>
                          <a:latin typeface="Poppins"/>
                          <a:ea typeface="Poppins"/>
                          <a:cs typeface="Poppins"/>
                          <a:sym typeface="Poppins"/>
                        </a:rPr>
                        <a:t>Generate</a:t>
                      </a:r>
                      <a:r>
                        <a:rPr lang="nl-NL" sz="1600" dirty="0">
                          <a:solidFill>
                            <a:srgbClr val="1F2938"/>
                          </a:solidFill>
                          <a:latin typeface="Poppins"/>
                          <a:ea typeface="Poppins"/>
                          <a:cs typeface="Poppins"/>
                          <a:sym typeface="Poppins"/>
                        </a:rPr>
                        <a:t> </a:t>
                      </a:r>
                      <a:r>
                        <a:rPr lang="nl-NL" sz="1600" dirty="0" err="1">
                          <a:solidFill>
                            <a:srgbClr val="1F2938"/>
                          </a:solidFill>
                          <a:latin typeface="Poppins"/>
                          <a:ea typeface="Poppins"/>
                          <a:cs typeface="Poppins"/>
                          <a:sym typeface="Poppins"/>
                        </a:rPr>
                        <a:t>both</a:t>
                      </a:r>
                      <a:r>
                        <a:rPr lang="nl-NL" sz="1600" dirty="0">
                          <a:solidFill>
                            <a:srgbClr val="1F2938"/>
                          </a:solidFill>
                          <a:latin typeface="Poppins"/>
                          <a:ea typeface="Poppins"/>
                          <a:cs typeface="Poppins"/>
                          <a:sym typeface="Poppins"/>
                        </a:rPr>
                        <a:t> </a:t>
                      </a:r>
                      <a:r>
                        <a:rPr lang="nl-NL" sz="1600" dirty="0" err="1">
                          <a:solidFill>
                            <a:srgbClr val="1F2938"/>
                          </a:solidFill>
                          <a:latin typeface="Poppins"/>
                          <a:ea typeface="Poppins"/>
                          <a:cs typeface="Poppins"/>
                          <a:sym typeface="Poppins"/>
                        </a:rPr>
                        <a:t>from</a:t>
                      </a:r>
                      <a:r>
                        <a:rPr lang="nl-NL" sz="1600" dirty="0">
                          <a:solidFill>
                            <a:srgbClr val="1F2938"/>
                          </a:solidFill>
                          <a:latin typeface="Poppins"/>
                          <a:ea typeface="Poppins"/>
                          <a:cs typeface="Poppins"/>
                          <a:sym typeface="Poppins"/>
                        </a:rPr>
                        <a:t> </a:t>
                      </a:r>
                      <a:r>
                        <a:rPr lang="nl-NL" sz="1600" dirty="0" err="1">
                          <a:solidFill>
                            <a:srgbClr val="1F2938"/>
                          </a:solidFill>
                          <a:latin typeface="Poppins"/>
                          <a:ea typeface="Poppins"/>
                          <a:cs typeface="Poppins"/>
                          <a:sym typeface="Poppins"/>
                        </a:rPr>
                        <a:t>one</a:t>
                      </a:r>
                      <a:r>
                        <a:rPr lang="nl-NL" sz="1600" dirty="0">
                          <a:solidFill>
                            <a:srgbClr val="1F2938"/>
                          </a:solidFill>
                          <a:latin typeface="Poppins"/>
                          <a:ea typeface="Poppins"/>
                          <a:cs typeface="Poppins"/>
                          <a:sym typeface="Poppins"/>
                        </a:rPr>
                        <a:t> latent</a:t>
                      </a:r>
                      <a:endParaRPr sz="1600" dirty="0">
                        <a:solidFill>
                          <a:srgbClr val="1F2938"/>
                        </a:solidFill>
                        <a:latin typeface="Poppins"/>
                        <a:ea typeface="Poppins"/>
                        <a:cs typeface="Poppins"/>
                        <a:sym typeface="Poppins"/>
                      </a:endParaRPr>
                    </a:p>
                  </a:txBody>
                  <a:tcPr marL="91425" marR="91425" marT="91425" marB="91425"/>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0"/>
          <p:cNvSpPr txBox="1">
            <a:spLocks noGrp="1"/>
          </p:cNvSpPr>
          <p:nvPr>
            <p:ph type="title" idx="4294967295"/>
          </p:nvPr>
        </p:nvSpPr>
        <p:spPr>
          <a:xfrm>
            <a:off x="771180" y="456439"/>
            <a:ext cx="10652700" cy="6219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rgbClr val="0000FF"/>
              </a:buClr>
              <a:buSzPts val="3400"/>
              <a:buFont typeface="Poppins"/>
              <a:buNone/>
            </a:pPr>
            <a:r>
              <a:rPr lang="nl-NL" sz="3400">
                <a:solidFill>
                  <a:srgbClr val="0000FF"/>
                </a:solidFill>
              </a:rPr>
              <a:t>Finding end-diastole in a sequence</a:t>
            </a:r>
            <a:endParaRPr sz="3400" b="1">
              <a:latin typeface="Poppins"/>
              <a:ea typeface="Poppins"/>
              <a:cs typeface="Poppins"/>
              <a:sym typeface="Poppins"/>
            </a:endParaRPr>
          </a:p>
        </p:txBody>
      </p:sp>
      <p:sp>
        <p:nvSpPr>
          <p:cNvPr id="154" name="Google Shape;154;p20"/>
          <p:cNvSpPr txBox="1"/>
          <p:nvPr/>
        </p:nvSpPr>
        <p:spPr>
          <a:xfrm>
            <a:off x="771180" y="1417320"/>
            <a:ext cx="3737320" cy="42063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rgbClr val="1F2938"/>
              </a:buClr>
              <a:buSzPts val="1800"/>
              <a:buFont typeface="Poppins"/>
              <a:buChar char="●"/>
            </a:pPr>
            <a:r>
              <a:rPr lang="nl-NL" sz="1800" dirty="0" err="1">
                <a:solidFill>
                  <a:srgbClr val="1F2938"/>
                </a:solidFill>
                <a:latin typeface="Poppins"/>
                <a:ea typeface="Poppins"/>
                <a:cs typeface="Poppins"/>
                <a:sym typeface="Poppins"/>
              </a:rPr>
              <a:t>Many</a:t>
            </a:r>
            <a:r>
              <a:rPr lang="nl-NL" sz="1800" dirty="0">
                <a:solidFill>
                  <a:srgbClr val="1F2938"/>
                </a:solidFill>
                <a:latin typeface="Poppins"/>
                <a:ea typeface="Poppins"/>
                <a:cs typeface="Poppins"/>
                <a:sym typeface="Poppins"/>
              </a:rPr>
              <a:t> analyses start </a:t>
            </a:r>
            <a:r>
              <a:rPr lang="nl-NL" sz="1800" dirty="0" err="1">
                <a:solidFill>
                  <a:srgbClr val="1F2938"/>
                </a:solidFill>
                <a:latin typeface="Poppins"/>
                <a:ea typeface="Poppins"/>
                <a:cs typeface="Poppins"/>
                <a:sym typeface="Poppins"/>
              </a:rPr>
              <a:t>from</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the</a:t>
            </a:r>
            <a:r>
              <a:rPr lang="nl-NL" sz="1800" dirty="0">
                <a:solidFill>
                  <a:srgbClr val="1F2938"/>
                </a:solidFill>
                <a:latin typeface="Poppins"/>
                <a:ea typeface="Poppins"/>
                <a:cs typeface="Poppins"/>
                <a:sym typeface="Poppins"/>
              </a:rPr>
              <a:t> end-</a:t>
            </a:r>
            <a:r>
              <a:rPr lang="nl-NL" sz="1800" dirty="0" err="1">
                <a:solidFill>
                  <a:srgbClr val="1F2938"/>
                </a:solidFill>
                <a:latin typeface="Poppins"/>
                <a:ea typeface="Poppins"/>
                <a:cs typeface="Poppins"/>
                <a:sym typeface="Poppins"/>
              </a:rPr>
              <a:t>diastolic</a:t>
            </a:r>
            <a:r>
              <a:rPr lang="nl-NL" sz="1800" dirty="0">
                <a:solidFill>
                  <a:srgbClr val="1F2938"/>
                </a:solidFill>
                <a:latin typeface="Poppins"/>
                <a:ea typeface="Poppins"/>
                <a:cs typeface="Poppins"/>
                <a:sym typeface="Poppins"/>
              </a:rPr>
              <a:t> (ED) frame of </a:t>
            </a:r>
            <a:r>
              <a:rPr lang="nl-NL" sz="1800" dirty="0" err="1">
                <a:solidFill>
                  <a:srgbClr val="1F2938"/>
                </a:solidFill>
                <a:latin typeface="Poppins"/>
                <a:ea typeface="Poppins"/>
                <a:cs typeface="Poppins"/>
                <a:sym typeface="Poppins"/>
              </a:rPr>
              <a:t>an</a:t>
            </a:r>
            <a:r>
              <a:rPr lang="nl-NL" sz="1800" dirty="0">
                <a:solidFill>
                  <a:srgbClr val="1F2938"/>
                </a:solidFill>
                <a:latin typeface="Poppins"/>
                <a:ea typeface="Poppins"/>
                <a:cs typeface="Poppins"/>
                <a:sym typeface="Poppins"/>
              </a:rPr>
              <a:t> image </a:t>
            </a:r>
            <a:r>
              <a:rPr lang="nl-NL" sz="1800" dirty="0" err="1">
                <a:solidFill>
                  <a:srgbClr val="1F2938"/>
                </a:solidFill>
                <a:latin typeface="Poppins"/>
                <a:ea typeface="Poppins"/>
                <a:cs typeface="Poppins"/>
                <a:sym typeface="Poppins"/>
              </a:rPr>
              <a:t>sequence</a:t>
            </a:r>
            <a:endParaRPr sz="1800"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dirty="0" err="1">
                <a:solidFill>
                  <a:srgbClr val="1F2938"/>
                </a:solidFill>
                <a:latin typeface="Poppins"/>
                <a:ea typeface="Poppins"/>
                <a:cs typeface="Poppins"/>
                <a:sym typeface="Poppins"/>
              </a:rPr>
              <a:t>Usual</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formulation</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classify</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each</a:t>
            </a:r>
            <a:r>
              <a:rPr lang="nl-NL" sz="1800" dirty="0">
                <a:solidFill>
                  <a:srgbClr val="1F2938"/>
                </a:solidFill>
                <a:latin typeface="Poppins"/>
                <a:ea typeface="Poppins"/>
                <a:cs typeface="Poppins"/>
                <a:sym typeface="Poppins"/>
              </a:rPr>
              <a:t> frame as ED or </a:t>
            </a:r>
            <a:r>
              <a:rPr lang="nl-NL" sz="1800" dirty="0" err="1">
                <a:solidFill>
                  <a:srgbClr val="1F2938"/>
                </a:solidFill>
                <a:latin typeface="Poppins"/>
                <a:ea typeface="Poppins"/>
                <a:cs typeface="Poppins"/>
                <a:sym typeface="Poppins"/>
              </a:rPr>
              <a:t>not</a:t>
            </a:r>
            <a:r>
              <a:rPr lang="nl-NL" sz="1800" dirty="0">
                <a:solidFill>
                  <a:srgbClr val="1F2938"/>
                </a:solidFill>
                <a:latin typeface="Poppins"/>
                <a:ea typeface="Poppins"/>
                <a:cs typeface="Poppins"/>
                <a:sym typeface="Poppins"/>
              </a:rPr>
              <a:t> ED</a:t>
            </a:r>
            <a:endParaRPr sz="1800"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dirty="0" err="1">
                <a:solidFill>
                  <a:srgbClr val="1F2938"/>
                </a:solidFill>
                <a:latin typeface="Poppins"/>
                <a:ea typeface="Poppins"/>
                <a:cs typeface="Poppins"/>
                <a:sym typeface="Poppins"/>
              </a:rPr>
              <a:t>That</a:t>
            </a:r>
            <a:r>
              <a:rPr lang="nl-NL" sz="1800" dirty="0">
                <a:solidFill>
                  <a:srgbClr val="1F2938"/>
                </a:solidFill>
                <a:latin typeface="Poppins"/>
                <a:ea typeface="Poppins"/>
                <a:cs typeface="Poppins"/>
                <a:sym typeface="Poppins"/>
              </a:rPr>
              <a:t> target is </a:t>
            </a:r>
            <a:r>
              <a:rPr lang="nl-NL" sz="1800" dirty="0" err="1">
                <a:solidFill>
                  <a:srgbClr val="1F2938"/>
                </a:solidFill>
                <a:latin typeface="Poppins"/>
                <a:ea typeface="Poppins"/>
                <a:cs typeface="Poppins"/>
                <a:sym typeface="Poppins"/>
              </a:rPr>
              <a:t>sparse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only</a:t>
            </a:r>
            <a:r>
              <a:rPr lang="nl-NL" sz="1800" dirty="0">
                <a:solidFill>
                  <a:srgbClr val="1F2938"/>
                </a:solidFill>
                <a:latin typeface="Poppins"/>
                <a:ea typeface="Poppins"/>
                <a:cs typeface="Poppins"/>
                <a:sym typeface="Poppins"/>
              </a:rPr>
              <a:t> a few frames per </a:t>
            </a:r>
            <a:r>
              <a:rPr lang="nl-NL" sz="1800" dirty="0" err="1">
                <a:solidFill>
                  <a:srgbClr val="1F2938"/>
                </a:solidFill>
                <a:latin typeface="Poppins"/>
                <a:ea typeface="Poppins"/>
                <a:cs typeface="Poppins"/>
                <a:sym typeface="Poppins"/>
              </a:rPr>
              <a:t>sequence</a:t>
            </a:r>
            <a:r>
              <a:rPr lang="nl-NL" sz="1800" dirty="0">
                <a:solidFill>
                  <a:srgbClr val="1F2938"/>
                </a:solidFill>
                <a:latin typeface="Poppins"/>
                <a:ea typeface="Poppins"/>
                <a:cs typeface="Poppins"/>
                <a:sym typeface="Poppins"/>
              </a:rPr>
              <a:t> are </a:t>
            </a:r>
            <a:r>
              <a:rPr lang="nl-NL" sz="1800" dirty="0" err="1">
                <a:solidFill>
                  <a:srgbClr val="1F2938"/>
                </a:solidFill>
                <a:latin typeface="Poppins"/>
                <a:ea typeface="Poppins"/>
                <a:cs typeface="Poppins"/>
                <a:sym typeface="Poppins"/>
              </a:rPr>
              <a:t>positive</a:t>
            </a:r>
            <a:endParaRPr sz="1800"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dirty="0">
                <a:solidFill>
                  <a:srgbClr val="1F2938"/>
                </a:solidFill>
                <a:latin typeface="Poppins"/>
                <a:ea typeface="Poppins"/>
                <a:cs typeface="Poppins"/>
                <a:sym typeface="Poppins"/>
              </a:rPr>
              <a:t>It </a:t>
            </a:r>
            <a:r>
              <a:rPr lang="nl-NL" sz="1800" dirty="0" err="1">
                <a:solidFill>
                  <a:srgbClr val="1F2938"/>
                </a:solidFill>
                <a:latin typeface="Poppins"/>
                <a:ea typeface="Poppins"/>
                <a:cs typeface="Poppins"/>
                <a:sym typeface="Poppins"/>
              </a:rPr>
              <a:t>ignores</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that</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every</a:t>
            </a:r>
            <a:r>
              <a:rPr lang="nl-NL" sz="1800" dirty="0">
                <a:solidFill>
                  <a:srgbClr val="1F2938"/>
                </a:solidFill>
                <a:latin typeface="Poppins"/>
                <a:ea typeface="Poppins"/>
                <a:cs typeface="Poppins"/>
                <a:sym typeface="Poppins"/>
              </a:rPr>
              <a:t> frame in </a:t>
            </a:r>
            <a:r>
              <a:rPr lang="nl-NL" sz="1800" dirty="0" err="1">
                <a:solidFill>
                  <a:srgbClr val="1F2938"/>
                </a:solidFill>
                <a:latin typeface="Poppins"/>
                <a:ea typeface="Poppins"/>
                <a:cs typeface="Poppins"/>
                <a:sym typeface="Poppins"/>
              </a:rPr>
              <a:t>between</a:t>
            </a:r>
            <a:r>
              <a:rPr lang="nl-NL" sz="1800" dirty="0">
                <a:solidFill>
                  <a:srgbClr val="1F2938"/>
                </a:solidFill>
                <a:latin typeface="Poppins"/>
                <a:ea typeface="Poppins"/>
                <a:cs typeface="Poppins"/>
                <a:sym typeface="Poppins"/>
              </a:rPr>
              <a:t> has a </a:t>
            </a:r>
            <a:r>
              <a:rPr lang="nl-NL" sz="1800" dirty="0" err="1">
                <a:solidFill>
                  <a:srgbClr val="1F2938"/>
                </a:solidFill>
                <a:latin typeface="Poppins"/>
                <a:ea typeface="Poppins"/>
                <a:cs typeface="Poppins"/>
                <a:sym typeface="Poppins"/>
              </a:rPr>
              <a:t>position</a:t>
            </a:r>
            <a:r>
              <a:rPr lang="nl-NL" sz="1800" dirty="0">
                <a:solidFill>
                  <a:srgbClr val="1F2938"/>
                </a:solidFill>
                <a:latin typeface="Poppins"/>
                <a:ea typeface="Poppins"/>
                <a:cs typeface="Poppins"/>
                <a:sym typeface="Poppins"/>
              </a:rPr>
              <a:t> in </a:t>
            </a:r>
            <a:r>
              <a:rPr lang="nl-NL" sz="1800" dirty="0" err="1">
                <a:solidFill>
                  <a:srgbClr val="1F2938"/>
                </a:solidFill>
                <a:latin typeface="Poppins"/>
                <a:ea typeface="Poppins"/>
                <a:cs typeface="Poppins"/>
                <a:sym typeface="Poppins"/>
              </a:rPr>
              <a:t>the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cycle</a:t>
            </a:r>
            <a:endParaRPr sz="1800" dirty="0">
              <a:solidFill>
                <a:srgbClr val="1F2938"/>
              </a:solidFill>
              <a:latin typeface="Poppins"/>
              <a:ea typeface="Poppins"/>
              <a:cs typeface="Poppins"/>
              <a:sym typeface="Poppins"/>
            </a:endParaRPr>
          </a:p>
        </p:txBody>
      </p:sp>
      <p:pic>
        <p:nvPicPr>
          <p:cNvPr id="2" name="Afbeelding 1"/>
          <p:cNvPicPr>
            <a:picLocks noChangeAspect="1"/>
          </p:cNvPicPr>
          <p:nvPr/>
        </p:nvPicPr>
        <p:blipFill>
          <a:blip r:embed="rId3"/>
          <a:stretch>
            <a:fillRect/>
          </a:stretch>
        </p:blipFill>
        <p:spPr>
          <a:xfrm>
            <a:off x="4929228" y="1061149"/>
            <a:ext cx="7262772" cy="491864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1"/>
          <p:cNvSpPr txBox="1">
            <a:spLocks noGrp="1"/>
          </p:cNvSpPr>
          <p:nvPr>
            <p:ph type="title" idx="4294967295"/>
          </p:nvPr>
        </p:nvSpPr>
        <p:spPr>
          <a:xfrm>
            <a:off x="771180" y="456439"/>
            <a:ext cx="10652700" cy="6219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rgbClr val="0000FF"/>
              </a:buClr>
              <a:buSzPts val="3400"/>
              <a:buFont typeface="Poppins"/>
              <a:buNone/>
            </a:pPr>
            <a:r>
              <a:rPr lang="nl-NL" sz="3400">
                <a:solidFill>
                  <a:srgbClr val="0000FF"/>
                </a:solidFill>
              </a:rPr>
              <a:t>CyclePhase: put the phase on a circle</a:t>
            </a:r>
            <a:endParaRPr sz="3400" b="1">
              <a:latin typeface="Poppins"/>
              <a:ea typeface="Poppins"/>
              <a:cs typeface="Poppins"/>
              <a:sym typeface="Poppins"/>
            </a:endParaRPr>
          </a:p>
        </p:txBody>
      </p:sp>
      <p:sp>
        <p:nvSpPr>
          <p:cNvPr id="162" name="Google Shape;162;p21"/>
          <p:cNvSpPr txBox="1"/>
          <p:nvPr/>
        </p:nvSpPr>
        <p:spPr>
          <a:xfrm>
            <a:off x="771180" y="1417320"/>
            <a:ext cx="4158048" cy="42063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rgbClr val="1F2938"/>
              </a:buClr>
              <a:buSzPts val="1800"/>
              <a:buFont typeface="Poppins"/>
              <a:buChar char="●"/>
            </a:pPr>
            <a:r>
              <a:rPr lang="nl-NL" sz="1800" dirty="0" err="1">
                <a:solidFill>
                  <a:srgbClr val="1F2938"/>
                </a:solidFill>
                <a:latin typeface="Poppins"/>
                <a:ea typeface="Poppins"/>
                <a:cs typeface="Poppins"/>
                <a:sym typeface="Poppins"/>
              </a:rPr>
              <a:t>Represent</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cardiac</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phase</a:t>
            </a:r>
            <a:r>
              <a:rPr lang="nl-NL" sz="1800" dirty="0">
                <a:solidFill>
                  <a:srgbClr val="1F2938"/>
                </a:solidFill>
                <a:latin typeface="Poppins"/>
                <a:ea typeface="Poppins"/>
                <a:cs typeface="Poppins"/>
                <a:sym typeface="Poppins"/>
              </a:rPr>
              <a:t> as a point </a:t>
            </a:r>
            <a:r>
              <a:rPr lang="nl-NL" sz="1800" b="1" dirty="0">
                <a:solidFill>
                  <a:srgbClr val="1F2938"/>
                </a:solidFill>
                <a:latin typeface="Poppins"/>
                <a:ea typeface="Poppins"/>
                <a:cs typeface="Poppins"/>
                <a:sym typeface="Poppins"/>
              </a:rPr>
              <a:t>(</a:t>
            </a:r>
            <a:r>
              <a:rPr lang="nl-NL" sz="1800" b="1" dirty="0" err="1">
                <a:solidFill>
                  <a:srgbClr val="1F2938"/>
                </a:solidFill>
                <a:latin typeface="Poppins"/>
                <a:ea typeface="Poppins"/>
                <a:cs typeface="Poppins"/>
                <a:sym typeface="Poppins"/>
              </a:rPr>
              <a:t>cos</a:t>
            </a:r>
            <a:r>
              <a:rPr lang="nl-NL" sz="1800" b="1" dirty="0">
                <a:solidFill>
                  <a:srgbClr val="1F2938"/>
                </a:solidFill>
                <a:latin typeface="Poppins"/>
                <a:ea typeface="Poppins"/>
                <a:cs typeface="Poppins"/>
                <a:sym typeface="Poppins"/>
              </a:rPr>
              <a:t> φ, </a:t>
            </a:r>
            <a:r>
              <a:rPr lang="nl-NL" sz="1800" b="1" dirty="0" err="1">
                <a:solidFill>
                  <a:srgbClr val="1F2938"/>
                </a:solidFill>
                <a:latin typeface="Poppins"/>
                <a:ea typeface="Poppins"/>
                <a:cs typeface="Poppins"/>
                <a:sym typeface="Poppins"/>
              </a:rPr>
              <a:t>sin</a:t>
            </a:r>
            <a:r>
              <a:rPr lang="nl-NL" sz="1800" b="1" dirty="0">
                <a:solidFill>
                  <a:srgbClr val="1F2938"/>
                </a:solidFill>
                <a:latin typeface="Poppins"/>
                <a:ea typeface="Poppins"/>
                <a:cs typeface="Poppins"/>
                <a:sym typeface="Poppins"/>
              </a:rPr>
              <a:t> φ) </a:t>
            </a:r>
            <a:r>
              <a:rPr lang="nl-NL" sz="1800" dirty="0">
                <a:solidFill>
                  <a:srgbClr val="1F2938"/>
                </a:solidFill>
                <a:latin typeface="Poppins"/>
                <a:ea typeface="Poppins"/>
                <a:cs typeface="Poppins"/>
                <a:sym typeface="Poppins"/>
              </a:rPr>
              <a:t>on </a:t>
            </a:r>
            <a:r>
              <a:rPr lang="nl-NL" sz="1800" dirty="0" err="1">
                <a:solidFill>
                  <a:srgbClr val="1F2938"/>
                </a:solidFill>
                <a:latin typeface="Poppins"/>
                <a:ea typeface="Poppins"/>
                <a:cs typeface="Poppins"/>
                <a:sym typeface="Poppins"/>
              </a:rPr>
              <a:t>the</a:t>
            </a:r>
            <a:r>
              <a:rPr lang="nl-NL" sz="1800" dirty="0">
                <a:solidFill>
                  <a:srgbClr val="1F2938"/>
                </a:solidFill>
                <a:latin typeface="Poppins"/>
                <a:ea typeface="Poppins"/>
                <a:cs typeface="Poppins"/>
                <a:sym typeface="Poppins"/>
              </a:rPr>
              <a:t> unit </a:t>
            </a:r>
            <a:r>
              <a:rPr lang="nl-NL" sz="1800" dirty="0" err="1">
                <a:solidFill>
                  <a:srgbClr val="1F2938"/>
                </a:solidFill>
                <a:latin typeface="Poppins"/>
                <a:ea typeface="Poppins"/>
                <a:cs typeface="Poppins"/>
                <a:sym typeface="Poppins"/>
              </a:rPr>
              <a:t>circle</a:t>
            </a:r>
            <a:endParaRPr sz="1800"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dirty="0">
                <a:solidFill>
                  <a:srgbClr val="1F2938"/>
                </a:solidFill>
                <a:latin typeface="Poppins"/>
                <a:ea typeface="Poppins"/>
                <a:cs typeface="Poppins"/>
                <a:sym typeface="Poppins"/>
              </a:rPr>
              <a:t>Frame-</a:t>
            </a:r>
            <a:r>
              <a:rPr lang="nl-NL" sz="1800" dirty="0" err="1">
                <a:solidFill>
                  <a:srgbClr val="1F2938"/>
                </a:solidFill>
                <a:latin typeface="Poppins"/>
                <a:ea typeface="Poppins"/>
                <a:cs typeface="Poppins"/>
                <a:sym typeface="Poppins"/>
              </a:rPr>
              <a:t>wise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ResNet</a:t>
            </a:r>
            <a:r>
              <a:rPr lang="nl-NL" sz="1800" dirty="0">
                <a:solidFill>
                  <a:srgbClr val="1F2938"/>
                </a:solidFill>
                <a:latin typeface="Poppins"/>
                <a:ea typeface="Poppins"/>
                <a:cs typeface="Poppins"/>
                <a:sym typeface="Poppins"/>
              </a:rPr>
              <a:t> encoder </a:t>
            </a:r>
            <a:r>
              <a:rPr lang="nl-NL" sz="1800" dirty="0" err="1">
                <a:solidFill>
                  <a:srgbClr val="1F2938"/>
                </a:solidFill>
                <a:latin typeface="Poppins"/>
                <a:ea typeface="Poppins"/>
                <a:cs typeface="Poppins"/>
                <a:sym typeface="Poppins"/>
              </a:rPr>
              <a:t>followed</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by</a:t>
            </a:r>
            <a:r>
              <a:rPr lang="nl-NL" sz="1800" dirty="0">
                <a:solidFill>
                  <a:srgbClr val="1F2938"/>
                </a:solidFill>
                <a:latin typeface="Poppins"/>
                <a:ea typeface="Poppins"/>
                <a:cs typeface="Poppins"/>
                <a:sym typeface="Poppins"/>
              </a:rPr>
              <a:t> a </a:t>
            </a:r>
            <a:r>
              <a:rPr lang="nl-NL" sz="1800" dirty="0" err="1">
                <a:solidFill>
                  <a:srgbClr val="1F2938"/>
                </a:solidFill>
                <a:latin typeface="Poppins"/>
                <a:ea typeface="Poppins"/>
                <a:cs typeface="Poppins"/>
                <a:sym typeface="Poppins"/>
              </a:rPr>
              <a:t>recurrent</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temporal</a:t>
            </a:r>
            <a:r>
              <a:rPr lang="nl-NL" sz="1800" dirty="0">
                <a:solidFill>
                  <a:srgbClr val="1F2938"/>
                </a:solidFill>
                <a:latin typeface="Poppins"/>
                <a:ea typeface="Poppins"/>
                <a:cs typeface="Poppins"/>
                <a:sym typeface="Poppins"/>
              </a:rPr>
              <a:t> decoder</a:t>
            </a:r>
            <a:endParaRPr sz="1800"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dirty="0">
                <a:solidFill>
                  <a:srgbClr val="1F2938"/>
                </a:solidFill>
                <a:latin typeface="Poppins"/>
                <a:ea typeface="Poppins"/>
                <a:cs typeface="Poppins"/>
                <a:sym typeface="Poppins"/>
              </a:rPr>
              <a:t>Multi-</a:t>
            </a:r>
            <a:r>
              <a:rPr lang="nl-NL" sz="1800" dirty="0" err="1">
                <a:solidFill>
                  <a:srgbClr val="1F2938"/>
                </a:solidFill>
                <a:latin typeface="Poppins"/>
                <a:ea typeface="Poppins"/>
                <a:cs typeface="Poppins"/>
                <a:sym typeface="Poppins"/>
              </a:rPr>
              <a:t>objective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loss</a:t>
            </a:r>
            <a:r>
              <a:rPr lang="nl-NL" sz="1800" dirty="0">
                <a:solidFill>
                  <a:srgbClr val="1F2938"/>
                </a:solidFill>
                <a:latin typeface="Poppins"/>
                <a:ea typeface="Poppins"/>
                <a:cs typeface="Poppins"/>
                <a:sym typeface="Poppins"/>
              </a:rPr>
              <a:t>: ED </a:t>
            </a:r>
            <a:r>
              <a:rPr lang="nl-NL" sz="1800" dirty="0" err="1">
                <a:solidFill>
                  <a:srgbClr val="1F2938"/>
                </a:solidFill>
                <a:latin typeface="Poppins"/>
                <a:ea typeface="Poppins"/>
                <a:cs typeface="Poppins"/>
                <a:sym typeface="Poppins"/>
              </a:rPr>
              <a:t>classification</a:t>
            </a:r>
            <a:r>
              <a:rPr lang="nl-NL" sz="1800" dirty="0">
                <a:solidFill>
                  <a:srgbClr val="1F2938"/>
                </a:solidFill>
                <a:latin typeface="Poppins"/>
                <a:ea typeface="Poppins"/>
                <a:cs typeface="Poppins"/>
                <a:sym typeface="Poppins"/>
              </a:rPr>
              <a:t> plus </a:t>
            </a:r>
            <a:r>
              <a:rPr lang="nl-NL" sz="1800" dirty="0" err="1">
                <a:solidFill>
                  <a:srgbClr val="1F2938"/>
                </a:solidFill>
                <a:latin typeface="Poppins"/>
                <a:ea typeface="Poppins"/>
                <a:cs typeface="Poppins"/>
                <a:sym typeface="Poppins"/>
              </a:rPr>
              <a:t>phase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regression</a:t>
            </a:r>
            <a:r>
              <a:rPr lang="nl-NL" sz="1800" dirty="0">
                <a:solidFill>
                  <a:srgbClr val="1F2938"/>
                </a:solidFill>
                <a:latin typeface="Poppins"/>
                <a:ea typeface="Poppins"/>
                <a:cs typeface="Poppins"/>
                <a:sym typeface="Poppins"/>
              </a:rPr>
              <a:t> on </a:t>
            </a:r>
            <a:r>
              <a:rPr lang="nl-NL" sz="1800" dirty="0" err="1">
                <a:solidFill>
                  <a:srgbClr val="1F2938"/>
                </a:solidFill>
                <a:latin typeface="Poppins"/>
                <a:ea typeface="Poppins"/>
                <a:cs typeface="Poppins"/>
                <a:sym typeface="Poppins"/>
              </a:rPr>
              <a:t>the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circle</a:t>
            </a:r>
            <a:endParaRPr sz="1800"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dirty="0">
                <a:solidFill>
                  <a:srgbClr val="1F2938"/>
                </a:solidFill>
                <a:latin typeface="Poppins"/>
                <a:ea typeface="Poppins"/>
                <a:cs typeface="Poppins"/>
                <a:sym typeface="Poppins"/>
              </a:rPr>
              <a:t>Every frame </a:t>
            </a:r>
            <a:r>
              <a:rPr lang="nl-NL" sz="1800" dirty="0" err="1">
                <a:solidFill>
                  <a:srgbClr val="1F2938"/>
                </a:solidFill>
                <a:latin typeface="Poppins"/>
                <a:ea typeface="Poppins"/>
                <a:cs typeface="Poppins"/>
                <a:sym typeface="Poppins"/>
              </a:rPr>
              <a:t>carries</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supervision</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and</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the</a:t>
            </a:r>
            <a:r>
              <a:rPr lang="nl-NL" sz="1800" dirty="0">
                <a:solidFill>
                  <a:srgbClr val="1F2938"/>
                </a:solidFill>
                <a:latin typeface="Poppins"/>
                <a:ea typeface="Poppins"/>
                <a:cs typeface="Poppins"/>
                <a:sym typeface="Poppins"/>
              </a:rPr>
              <a:t> output is </a:t>
            </a:r>
            <a:r>
              <a:rPr lang="nl-NL" sz="1800" dirty="0" err="1">
                <a:solidFill>
                  <a:srgbClr val="1F2938"/>
                </a:solidFill>
                <a:latin typeface="Poppins"/>
                <a:ea typeface="Poppins"/>
                <a:cs typeface="Poppins"/>
                <a:sym typeface="Poppins"/>
              </a:rPr>
              <a:t>periodic</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by</a:t>
            </a:r>
            <a:r>
              <a:rPr lang="nl-NL" sz="1800" dirty="0">
                <a:solidFill>
                  <a:srgbClr val="1F2938"/>
                </a:solidFill>
                <a:latin typeface="Poppins"/>
                <a:ea typeface="Poppins"/>
                <a:cs typeface="Poppins"/>
                <a:sym typeface="Poppins"/>
              </a:rPr>
              <a:t> </a:t>
            </a:r>
            <a:r>
              <a:rPr lang="nl-NL" sz="1800" dirty="0" err="1" smtClean="0">
                <a:solidFill>
                  <a:srgbClr val="1F2938"/>
                </a:solidFill>
                <a:latin typeface="Poppins"/>
                <a:ea typeface="Poppins"/>
                <a:cs typeface="Poppins"/>
                <a:sym typeface="Poppins"/>
              </a:rPr>
              <a:t>construction</a:t>
            </a:r>
            <a:endParaRPr sz="1800" dirty="0">
              <a:solidFill>
                <a:srgbClr val="1F2938"/>
              </a:solidFill>
              <a:latin typeface="Poppins"/>
              <a:ea typeface="Poppins"/>
              <a:cs typeface="Poppins"/>
              <a:sym typeface="Poppins"/>
            </a:endParaRPr>
          </a:p>
        </p:txBody>
      </p:sp>
      <p:sp>
        <p:nvSpPr>
          <p:cNvPr id="163" name="Google Shape;163;p21"/>
          <p:cNvSpPr/>
          <p:nvPr/>
        </p:nvSpPr>
        <p:spPr>
          <a:xfrm>
            <a:off x="6766560" y="1417320"/>
            <a:ext cx="4657500" cy="4023300"/>
          </a:xfrm>
          <a:prstGeom prst="roundRect">
            <a:avLst>
              <a:gd name="adj" fmla="val 16667"/>
            </a:avLst>
          </a:prstGeom>
          <a:solidFill>
            <a:srgbClr val="F1F3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nl-NL">
                <a:solidFill>
                  <a:srgbClr val="5E636E"/>
                </a:solidFill>
                <a:latin typeface="Poppins"/>
                <a:ea typeface="Poppins"/>
                <a:cs typeface="Poppins"/>
                <a:sym typeface="Poppins"/>
              </a:rPr>
              <a:t>Add figure: phase latents on the unit circle (MIDL paper)</a:t>
            </a:r>
            <a:endParaRPr>
              <a:solidFill>
                <a:srgbClr val="5E636E"/>
              </a:solidFill>
              <a:latin typeface="Poppins"/>
              <a:ea typeface="Poppins"/>
              <a:cs typeface="Poppins"/>
              <a:sym typeface="Poppins"/>
            </a:endParaRPr>
          </a:p>
        </p:txBody>
      </p:sp>
      <p:pic>
        <p:nvPicPr>
          <p:cNvPr id="5" name="Afbeelding 4"/>
          <p:cNvPicPr>
            <a:picLocks noChangeAspect="1"/>
          </p:cNvPicPr>
          <p:nvPr/>
        </p:nvPicPr>
        <p:blipFill>
          <a:blip r:embed="rId3"/>
          <a:stretch>
            <a:fillRect/>
          </a:stretch>
        </p:blipFill>
        <p:spPr>
          <a:xfrm>
            <a:off x="4929228" y="1061149"/>
            <a:ext cx="7262772" cy="491864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7"/>
          <p:cNvSpPr txBox="1">
            <a:spLocks noGrp="1"/>
          </p:cNvSpPr>
          <p:nvPr>
            <p:ph type="title" idx="4294967295"/>
          </p:nvPr>
        </p:nvSpPr>
        <p:spPr>
          <a:xfrm>
            <a:off x="771180" y="456439"/>
            <a:ext cx="10652700" cy="6219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rgbClr val="0000FF"/>
              </a:buClr>
              <a:buSzPts val="3400"/>
              <a:buFont typeface="Poppins"/>
              <a:buNone/>
            </a:pPr>
            <a:r>
              <a:rPr lang="nl-NL" sz="3400" dirty="0">
                <a:solidFill>
                  <a:srgbClr val="0000FF"/>
                </a:solidFill>
              </a:rPr>
              <a:t>An image as a </a:t>
            </a:r>
            <a:r>
              <a:rPr lang="nl-NL" sz="3400" dirty="0" err="1">
                <a:solidFill>
                  <a:srgbClr val="0000FF"/>
                </a:solidFill>
              </a:rPr>
              <a:t>function</a:t>
            </a:r>
            <a:r>
              <a:rPr lang="nl-NL" sz="3400" dirty="0">
                <a:solidFill>
                  <a:srgbClr val="0000FF"/>
                </a:solidFill>
              </a:rPr>
              <a:t>, </a:t>
            </a:r>
            <a:r>
              <a:rPr lang="nl-NL" sz="3400" dirty="0" err="1">
                <a:solidFill>
                  <a:srgbClr val="0000FF"/>
                </a:solidFill>
              </a:rPr>
              <a:t>not</a:t>
            </a:r>
            <a:r>
              <a:rPr lang="nl-NL" sz="3400" dirty="0">
                <a:solidFill>
                  <a:srgbClr val="0000FF"/>
                </a:solidFill>
              </a:rPr>
              <a:t> a </a:t>
            </a:r>
            <a:r>
              <a:rPr lang="nl-NL" sz="3400" dirty="0" err="1">
                <a:solidFill>
                  <a:srgbClr val="0000FF"/>
                </a:solidFill>
              </a:rPr>
              <a:t>grid</a:t>
            </a:r>
            <a:endParaRPr sz="3400" b="1" dirty="0">
              <a:latin typeface="Poppins"/>
              <a:ea typeface="Poppins"/>
              <a:cs typeface="Poppins"/>
              <a:sym typeface="Poppins"/>
            </a:endParaRPr>
          </a:p>
        </p:txBody>
      </p:sp>
      <p:sp>
        <p:nvSpPr>
          <p:cNvPr id="131" name="Google Shape;131;p17"/>
          <p:cNvSpPr txBox="1"/>
          <p:nvPr/>
        </p:nvSpPr>
        <p:spPr>
          <a:xfrm>
            <a:off x="771180" y="1417320"/>
            <a:ext cx="5669400" cy="42063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rgbClr val="1F2938"/>
              </a:buClr>
              <a:buSzPts val="1800"/>
              <a:buFont typeface="Poppins"/>
              <a:buChar char="●"/>
            </a:pPr>
            <a:r>
              <a:rPr lang="nl-NL" sz="1800">
                <a:solidFill>
                  <a:srgbClr val="1F2938"/>
                </a:solidFill>
                <a:latin typeface="Poppins"/>
                <a:ea typeface="Poppins"/>
                <a:cs typeface="Poppins"/>
                <a:sym typeface="Poppins"/>
              </a:rPr>
              <a:t>A neural field is a network f(x, y) that returns the intensity at any coordinate</a:t>
            </a:r>
            <a:endParaRPr sz="180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a:solidFill>
                  <a:srgbClr val="1F2938"/>
                </a:solidFill>
                <a:latin typeface="Poppins"/>
                <a:ea typeface="Poppins"/>
                <a:cs typeface="Poppins"/>
                <a:sym typeface="Poppins"/>
              </a:rPr>
              <a:t>Resolution is a choice at query time, not a property of the model</a:t>
            </a:r>
            <a:endParaRPr sz="180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a:solidFill>
                  <a:srgbClr val="1F2938"/>
                </a:solidFill>
                <a:latin typeface="Poppins"/>
                <a:ea typeface="Poppins"/>
                <a:cs typeface="Poppins"/>
                <a:sym typeface="Poppins"/>
              </a:rPr>
              <a:t>The same field can output intensity and a segmentation at each point</a:t>
            </a:r>
            <a:endParaRPr sz="180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a:solidFill>
                  <a:srgbClr val="1F2938"/>
                </a:solidFill>
                <a:latin typeface="Poppins"/>
                <a:ea typeface="Poppins"/>
                <a:cs typeface="Poppins"/>
                <a:sym typeface="Poppins"/>
              </a:rPr>
              <a:t>Fourier features or sine activations are needed to capture fine detail</a:t>
            </a:r>
            <a:endParaRPr sz="1800">
              <a:solidFill>
                <a:srgbClr val="1F2938"/>
              </a:solidFill>
              <a:latin typeface="Poppins"/>
              <a:ea typeface="Poppins"/>
              <a:cs typeface="Poppins"/>
              <a:sym typeface="Poppins"/>
            </a:endParaRPr>
          </a:p>
        </p:txBody>
      </p:sp>
      <p:pic>
        <p:nvPicPr>
          <p:cNvPr id="2" name="Afbeelding 1"/>
          <p:cNvPicPr>
            <a:picLocks noChangeAspect="1"/>
          </p:cNvPicPr>
          <p:nvPr/>
        </p:nvPicPr>
        <p:blipFill>
          <a:blip r:embed="rId3"/>
          <a:stretch>
            <a:fillRect/>
          </a:stretch>
        </p:blipFill>
        <p:spPr>
          <a:xfrm>
            <a:off x="6824169" y="1417320"/>
            <a:ext cx="4263966" cy="3391661"/>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Google Shape;130;p17"/>
          <p:cNvSpPr txBox="1">
            <a:spLocks noGrp="1"/>
          </p:cNvSpPr>
          <p:nvPr>
            <p:ph type="title" idx="4294967295"/>
          </p:nvPr>
        </p:nvSpPr>
        <p:spPr>
          <a:xfrm>
            <a:off x="771180" y="456439"/>
            <a:ext cx="10652700" cy="6219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rgbClr val="0000FF"/>
              </a:buClr>
              <a:buSzPts val="3400"/>
              <a:buFont typeface="Poppins"/>
              <a:buNone/>
            </a:pPr>
            <a:r>
              <a:rPr lang="nl-NL" sz="3400" dirty="0" err="1" smtClean="0">
                <a:solidFill>
                  <a:srgbClr val="0000FF"/>
                </a:solidFill>
              </a:rPr>
              <a:t>Example</a:t>
            </a:r>
            <a:r>
              <a:rPr lang="nl-NL" sz="3400" dirty="0" smtClean="0">
                <a:solidFill>
                  <a:srgbClr val="0000FF"/>
                </a:solidFill>
              </a:rPr>
              <a:t> (Bras, et al. 2026)</a:t>
            </a:r>
            <a:endParaRPr sz="3400" b="1" dirty="0">
              <a:latin typeface="Poppins"/>
              <a:ea typeface="Poppins"/>
              <a:cs typeface="Poppins"/>
              <a:sym typeface="Poppins"/>
            </a:endParaRPr>
          </a:p>
        </p:txBody>
      </p:sp>
      <p:pic>
        <p:nvPicPr>
          <p:cNvPr id="11" name="Picture 2">
            <a:extLst>
              <a:ext uri="{FF2B5EF4-FFF2-40B4-BE49-F238E27FC236}">
                <a16:creationId xmlns:a16="http://schemas.microsoft.com/office/drawing/2014/main" id="{B5C58EEF-B6C5-E4C7-9439-7037BCCCB0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1142" y="1862910"/>
            <a:ext cx="2126596" cy="2160896"/>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a:extLst>
              <a:ext uri="{FF2B5EF4-FFF2-40B4-BE49-F238E27FC236}">
                <a16:creationId xmlns:a16="http://schemas.microsoft.com/office/drawing/2014/main" id="{69F5CF73-0B23-A132-9C8D-C9EE6A635C3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9170"/>
          <a:stretch>
            <a:fillRect/>
          </a:stretch>
        </p:blipFill>
        <p:spPr bwMode="auto">
          <a:xfrm>
            <a:off x="7379124" y="2767993"/>
            <a:ext cx="2371721" cy="695928"/>
          </a:xfrm>
          <a:prstGeom prst="rect">
            <a:avLst/>
          </a:prstGeom>
          <a:noFill/>
          <a:extLst>
            <a:ext uri="{909E8E84-426E-40DD-AFC4-6F175D3DCCD1}">
              <a14:hiddenFill xmlns:a14="http://schemas.microsoft.com/office/drawing/2010/main">
                <a:solidFill>
                  <a:srgbClr val="FFFFFF"/>
                </a:solidFill>
              </a14:hiddenFill>
            </a:ext>
          </a:extLst>
        </p:spPr>
      </p:pic>
      <p:grpSp>
        <p:nvGrpSpPr>
          <p:cNvPr id="22" name="Group 5">
            <a:extLst>
              <a:ext uri="{FF2B5EF4-FFF2-40B4-BE49-F238E27FC236}">
                <a16:creationId xmlns:a16="http://schemas.microsoft.com/office/drawing/2014/main" id="{FAF80479-668F-1384-29C7-707612FD66F2}"/>
              </a:ext>
            </a:extLst>
          </p:cNvPr>
          <p:cNvGrpSpPr/>
          <p:nvPr/>
        </p:nvGrpSpPr>
        <p:grpSpPr>
          <a:xfrm>
            <a:off x="2952558" y="1837473"/>
            <a:ext cx="1781003" cy="2531529"/>
            <a:chOff x="1636075" y="2108674"/>
            <a:chExt cx="2374670" cy="3375372"/>
          </a:xfrm>
        </p:grpSpPr>
        <p:sp>
          <p:nvSpPr>
            <p:cNvPr id="23" name="Rectangle 6">
              <a:extLst>
                <a:ext uri="{FF2B5EF4-FFF2-40B4-BE49-F238E27FC236}">
                  <a16:creationId xmlns:a16="http://schemas.microsoft.com/office/drawing/2014/main" id="{C9EB9A96-4906-2CE7-12FF-37B51B90B0F3}"/>
                </a:ext>
              </a:extLst>
            </p:cNvPr>
            <p:cNvSpPr/>
            <p:nvPr/>
          </p:nvSpPr>
          <p:spPr>
            <a:xfrm>
              <a:off x="1740567" y="2108674"/>
              <a:ext cx="2270178" cy="29151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50" dirty="0"/>
            </a:p>
          </p:txBody>
        </p:sp>
        <p:pic>
          <p:nvPicPr>
            <p:cNvPr id="24" name="Picture 16">
              <a:extLst>
                <a:ext uri="{FF2B5EF4-FFF2-40B4-BE49-F238E27FC236}">
                  <a16:creationId xmlns:a16="http://schemas.microsoft.com/office/drawing/2014/main" id="{C467730A-2C05-8D7A-1C6D-A10DDB31F7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6075" y="2142592"/>
              <a:ext cx="2270178" cy="3341454"/>
            </a:xfrm>
            <a:prstGeom prst="rect">
              <a:avLst/>
            </a:prstGeom>
            <a:noFill/>
            <a:extLst>
              <a:ext uri="{909E8E84-426E-40DD-AFC4-6F175D3DCCD1}">
                <a14:hiddenFill xmlns:a14="http://schemas.microsoft.com/office/drawing/2010/main">
                  <a:solidFill>
                    <a:srgbClr val="FFFFFF"/>
                  </a:solidFill>
                </a14:hiddenFill>
              </a:ext>
            </a:extLst>
          </p:spPr>
        </p:pic>
      </p:grpSp>
      <p:pic>
        <p:nvPicPr>
          <p:cNvPr id="25" name="Picture 12">
            <a:extLst>
              <a:ext uri="{FF2B5EF4-FFF2-40B4-BE49-F238E27FC236}">
                <a16:creationId xmlns:a16="http://schemas.microsoft.com/office/drawing/2014/main" id="{0A3C4063-A71F-9A41-BACD-04040C811F5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2872" b="87772"/>
          <a:stretch>
            <a:fillRect/>
          </a:stretch>
        </p:blipFill>
        <p:spPr bwMode="auto">
          <a:xfrm>
            <a:off x="5104127" y="1862911"/>
            <a:ext cx="2423688" cy="267351"/>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4">
            <a:extLst>
              <a:ext uri="{FF2B5EF4-FFF2-40B4-BE49-F238E27FC236}">
                <a16:creationId xmlns:a16="http://schemas.microsoft.com/office/drawing/2014/main" id="{1E5A51F9-18AD-E7C2-EA9D-DDD425248BE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45223" y="2379769"/>
            <a:ext cx="132998" cy="395749"/>
          </a:xfrm>
          <a:prstGeom prst="rect">
            <a:avLst/>
          </a:prstGeom>
          <a:noFill/>
          <a:extLst>
            <a:ext uri="{909E8E84-426E-40DD-AFC4-6F175D3DCCD1}">
              <a14:hiddenFill xmlns:a14="http://schemas.microsoft.com/office/drawing/2010/main">
                <a:solidFill>
                  <a:srgbClr val="FFFFFF"/>
                </a:solidFill>
              </a14:hiddenFill>
            </a:ext>
          </a:extLst>
        </p:spPr>
      </p:pic>
      <p:grpSp>
        <p:nvGrpSpPr>
          <p:cNvPr id="27" name="Agrupar 7">
            <a:extLst>
              <a:ext uri="{FF2B5EF4-FFF2-40B4-BE49-F238E27FC236}">
                <a16:creationId xmlns:a16="http://schemas.microsoft.com/office/drawing/2014/main" id="{7B9428B5-B8C2-9641-98F2-265FDB03592D}"/>
              </a:ext>
            </a:extLst>
          </p:cNvPr>
          <p:cNvGrpSpPr/>
          <p:nvPr/>
        </p:nvGrpSpPr>
        <p:grpSpPr>
          <a:xfrm>
            <a:off x="7181353" y="2341911"/>
            <a:ext cx="970079" cy="415205"/>
            <a:chOff x="7728578" y="2625184"/>
            <a:chExt cx="1293439" cy="553606"/>
          </a:xfrm>
        </p:grpSpPr>
        <p:pic>
          <p:nvPicPr>
            <p:cNvPr id="28" name="Picture 24">
              <a:extLst>
                <a:ext uri="{FF2B5EF4-FFF2-40B4-BE49-F238E27FC236}">
                  <a16:creationId xmlns:a16="http://schemas.microsoft.com/office/drawing/2014/main" id="{E6616DCD-DB60-DED9-A1D5-A621FDE3E28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60662" y="2651125"/>
              <a:ext cx="177330" cy="527665"/>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6">
              <a:extLst>
                <a:ext uri="{FF2B5EF4-FFF2-40B4-BE49-F238E27FC236}">
                  <a16:creationId xmlns:a16="http://schemas.microsoft.com/office/drawing/2014/main" id="{3C2C5BAC-F054-94D3-5CB9-CA564F393E3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28578" y="2625184"/>
              <a:ext cx="1293439" cy="517375"/>
            </a:xfrm>
            <a:prstGeom prst="rect">
              <a:avLst/>
            </a:prstGeom>
            <a:noFill/>
            <a:extLst>
              <a:ext uri="{909E8E84-426E-40DD-AFC4-6F175D3DCCD1}">
                <a14:hiddenFill xmlns:a14="http://schemas.microsoft.com/office/drawing/2010/main">
                  <a:solidFill>
                    <a:srgbClr val="FFFFFF"/>
                  </a:solidFill>
                </a14:hiddenFill>
              </a:ext>
            </a:extLst>
          </p:spPr>
        </p:pic>
      </p:grpSp>
      <p:pic>
        <p:nvPicPr>
          <p:cNvPr id="30" name="Picture 28">
            <a:extLst>
              <a:ext uri="{FF2B5EF4-FFF2-40B4-BE49-F238E27FC236}">
                <a16:creationId xmlns:a16="http://schemas.microsoft.com/office/drawing/2014/main" id="{F89184C6-49AB-56C9-F98F-859F26D677A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82011" y="4005759"/>
            <a:ext cx="2208540" cy="507964"/>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a:extLst>
              <a:ext uri="{FF2B5EF4-FFF2-40B4-BE49-F238E27FC236}">
                <a16:creationId xmlns:a16="http://schemas.microsoft.com/office/drawing/2014/main" id="{CF7122C6-B109-EFF7-B5A3-4FCE7A9B9A6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57477" y="2739423"/>
            <a:ext cx="686058" cy="468310"/>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a:extLst>
              <a:ext uri="{FF2B5EF4-FFF2-40B4-BE49-F238E27FC236}">
                <a16:creationId xmlns:a16="http://schemas.microsoft.com/office/drawing/2014/main" id="{6B743B6D-A568-124D-37AC-281C03CB3965}"/>
              </a:ext>
            </a:extLst>
          </p:cNvPr>
          <p:cNvPicPr>
            <a:picLocks noChangeAspect="1"/>
          </p:cNvPicPr>
          <p:nvPr/>
        </p:nvPicPr>
        <p:blipFill>
          <a:blip r:embed="rId10"/>
          <a:stretch>
            <a:fillRect/>
          </a:stretch>
        </p:blipFill>
        <p:spPr>
          <a:xfrm>
            <a:off x="5216608" y="2114810"/>
            <a:ext cx="2023889" cy="1869196"/>
          </a:xfrm>
          <a:prstGeom prst="rect">
            <a:avLst/>
          </a:prstGeom>
        </p:spPr>
      </p:pic>
    </p:spTree>
    <p:extLst>
      <p:ext uri="{BB962C8B-B14F-4D97-AF65-F5344CB8AC3E}">
        <p14:creationId xmlns:p14="http://schemas.microsoft.com/office/powerpoint/2010/main" val="4276376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500"/>
                                        <p:tgtEl>
                                          <p:spTgt spid="31"/>
                                        </p:tgtEl>
                                      </p:cBhvr>
                                    </p:animEffect>
                                  </p:childTnLst>
                                </p:cTn>
                              </p:par>
                              <p:par>
                                <p:cTn id="18" presetID="10" presetClass="entr" presetSubtype="0" fill="hold" nodeType="withEffect">
                                  <p:stCondLst>
                                    <p:cond delay="0"/>
                                  </p:stCondLst>
                                  <p:childTnLst>
                                    <p:set>
                                      <p:cBhvr>
                                        <p:cTn id="19" dur="1" fill="hold">
                                          <p:stCondLst>
                                            <p:cond delay="0"/>
                                          </p:stCondLst>
                                        </p:cTn>
                                        <p:tgtEl>
                                          <p:spTgt spid="32"/>
                                        </p:tgtEl>
                                        <p:attrNameLst>
                                          <p:attrName>style.visibility</p:attrName>
                                        </p:attrNameLst>
                                      </p:cBhvr>
                                      <p:to>
                                        <p:strVal val="visible"/>
                                      </p:to>
                                    </p:set>
                                    <p:animEffect transition="in" filter="fade">
                                      <p:cBhvr>
                                        <p:cTn id="20" dur="500"/>
                                        <p:tgtEl>
                                          <p:spTgt spid="32"/>
                                        </p:tgtEl>
                                      </p:cBhvr>
                                    </p:animEffect>
                                  </p:childTnLst>
                                </p:cTn>
                              </p:par>
                              <p:par>
                                <p:cTn id="21" presetID="10" presetClass="entr" presetSubtype="0" fill="hold" nodeType="with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500"/>
                                        <p:tgtEl>
                                          <p:spTgt spid="2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500"/>
                                        <p:tgtEl>
                                          <p:spTgt spid="26"/>
                                        </p:tgtEl>
                                      </p:cBhvr>
                                    </p:animEffect>
                                  </p:childTnLst>
                                </p:cTn>
                              </p:par>
                              <p:par>
                                <p:cTn id="29" presetID="10" presetClass="entr" presetSubtype="0" fill="hold" nodeType="with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500"/>
                                        <p:tgtEl>
                                          <p:spTgt spid="27"/>
                                        </p:tgtEl>
                                      </p:cBhvr>
                                    </p:animEffect>
                                  </p:childTnLst>
                                </p:cTn>
                              </p:par>
                              <p:par>
                                <p:cTn id="32" presetID="10" presetClass="entr" presetSubtype="0" fill="hold" nodeType="with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500"/>
                                        <p:tgtEl>
                                          <p:spTgt spid="3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4">
            <a:extLst>
              <a:ext uri="{FF2B5EF4-FFF2-40B4-BE49-F238E27FC236}">
                <a16:creationId xmlns:a16="http://schemas.microsoft.com/office/drawing/2014/main" id="{71A9DD3A-6435-8D3B-8A04-83EEF84AFA36}"/>
              </a:ext>
            </a:extLst>
          </p:cNvPr>
          <p:cNvPicPr>
            <a:picLocks noChangeAspect="1"/>
          </p:cNvPicPr>
          <p:nvPr/>
        </p:nvPicPr>
        <p:blipFill>
          <a:blip r:embed="rId2"/>
          <a:srcRect l="22799" t="16916" r="23114" b="18842"/>
          <a:stretch>
            <a:fillRect/>
          </a:stretch>
        </p:blipFill>
        <p:spPr>
          <a:xfrm>
            <a:off x="6972145" y="1685617"/>
            <a:ext cx="3592463" cy="3200257"/>
          </a:xfrm>
          <a:prstGeom prst="rect">
            <a:avLst/>
          </a:prstGeom>
        </p:spPr>
      </p:pic>
      <p:pic>
        <p:nvPicPr>
          <p:cNvPr id="14" name="Picture 6">
            <a:extLst>
              <a:ext uri="{FF2B5EF4-FFF2-40B4-BE49-F238E27FC236}">
                <a16:creationId xmlns:a16="http://schemas.microsoft.com/office/drawing/2014/main" id="{2502DA82-7BA6-B31F-43D6-BEB12A0A1CB5}"/>
              </a:ext>
            </a:extLst>
          </p:cNvPr>
          <p:cNvPicPr>
            <a:picLocks noChangeAspect="1"/>
          </p:cNvPicPr>
          <p:nvPr/>
        </p:nvPicPr>
        <p:blipFill>
          <a:blip r:embed="rId3"/>
          <a:srcRect l="22472" t="18842" r="21667" b="18842"/>
          <a:stretch>
            <a:fillRect/>
          </a:stretch>
        </p:blipFill>
        <p:spPr>
          <a:xfrm>
            <a:off x="1445462" y="1685618"/>
            <a:ext cx="3825038" cy="3200257"/>
          </a:xfrm>
          <a:prstGeom prst="rect">
            <a:avLst/>
          </a:prstGeom>
        </p:spPr>
      </p:pic>
      <p:pic>
        <p:nvPicPr>
          <p:cNvPr id="15" name="Picture 6">
            <a:extLst>
              <a:ext uri="{FF2B5EF4-FFF2-40B4-BE49-F238E27FC236}">
                <a16:creationId xmlns:a16="http://schemas.microsoft.com/office/drawing/2014/main" id="{130C69AB-6E24-BA1B-ABB5-44C9492EF43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8495" r="59519"/>
          <a:stretch>
            <a:fillRect/>
          </a:stretch>
        </p:blipFill>
        <p:spPr bwMode="auto">
          <a:xfrm>
            <a:off x="5755229" y="3265099"/>
            <a:ext cx="732186" cy="542926"/>
          </a:xfrm>
          <a:prstGeom prst="rect">
            <a:avLst/>
          </a:prstGeom>
          <a:noFill/>
          <a:extLst>
            <a:ext uri="{909E8E84-426E-40DD-AFC4-6F175D3DCCD1}">
              <a14:hiddenFill xmlns:a14="http://schemas.microsoft.com/office/drawing/2010/main">
                <a:solidFill>
                  <a:srgbClr val="FFFFFF"/>
                </a:solidFill>
              </a14:hiddenFill>
            </a:ext>
          </a:extLst>
        </p:spPr>
      </p:pic>
      <p:sp>
        <p:nvSpPr>
          <p:cNvPr id="16" name="Content Placeholder 2">
            <a:extLst>
              <a:ext uri="{FF2B5EF4-FFF2-40B4-BE49-F238E27FC236}">
                <a16:creationId xmlns:a16="http://schemas.microsoft.com/office/drawing/2014/main" id="{E310AE8F-2C13-AC9B-9A34-450AEB27A07F}"/>
              </a:ext>
            </a:extLst>
          </p:cNvPr>
          <p:cNvSpPr txBox="1">
            <a:spLocks/>
          </p:cNvSpPr>
          <p:nvPr/>
        </p:nvSpPr>
        <p:spPr>
          <a:xfrm>
            <a:off x="5844047" y="2978061"/>
            <a:ext cx="413659" cy="498666"/>
          </a:xfrm>
          <a:prstGeom prst="rect">
            <a:avLst/>
          </a:prstGeom>
        </p:spPr>
        <p:txBody>
          <a:bodyPr vert="horz" lIns="68580" tIns="34290" rIns="68580" bIns="3429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oppins" pitchFamily="2" charset="77"/>
                <a:ea typeface="+mn-ea"/>
                <a:cs typeface="Poppins" pitchFamily="2" charset="77"/>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pitchFamily="2" charset="77"/>
                <a:ea typeface="+mn-ea"/>
                <a:cs typeface="Poppins" pitchFamily="2" charset="77"/>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oppins" pitchFamily="2" charset="77"/>
                <a:ea typeface="+mn-ea"/>
                <a:cs typeface="Poppins" pitchFamily="2" charset="77"/>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pitchFamily="2" charset="77"/>
                <a:ea typeface="+mn-ea"/>
                <a:cs typeface="Poppins" pitchFamily="2" charset="77"/>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pitchFamily="2" charset="77"/>
                <a:ea typeface="+mn-ea"/>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fontAlgn="base">
              <a:lnSpc>
                <a:spcPct val="150000"/>
              </a:lnSpc>
              <a:spcAft>
                <a:spcPts val="900"/>
              </a:spcAft>
              <a:buNone/>
            </a:pPr>
            <a:r>
              <a:rPr lang="en-GB" sz="2100" b="1" dirty="0">
                <a:solidFill>
                  <a:srgbClr val="FF5364"/>
                </a:solidFill>
              </a:rPr>
              <a:t>?</a:t>
            </a:r>
          </a:p>
        </p:txBody>
      </p:sp>
      <p:sp>
        <p:nvSpPr>
          <p:cNvPr id="17" name="Content Placeholder 2">
            <a:extLst>
              <a:ext uri="{FF2B5EF4-FFF2-40B4-BE49-F238E27FC236}">
                <a16:creationId xmlns:a16="http://schemas.microsoft.com/office/drawing/2014/main" id="{62CC01E8-11FB-986E-1C1C-F5D9CA08FEF1}"/>
              </a:ext>
            </a:extLst>
          </p:cNvPr>
          <p:cNvSpPr txBox="1">
            <a:spLocks/>
          </p:cNvSpPr>
          <p:nvPr/>
        </p:nvSpPr>
        <p:spPr>
          <a:xfrm>
            <a:off x="2382269" y="1219180"/>
            <a:ext cx="2337349" cy="466437"/>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oppins" pitchFamily="2" charset="77"/>
                <a:ea typeface="+mn-ea"/>
                <a:cs typeface="Poppins" pitchFamily="2" charset="77"/>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pitchFamily="2" charset="77"/>
                <a:ea typeface="+mn-ea"/>
                <a:cs typeface="Poppins" pitchFamily="2" charset="77"/>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oppins" pitchFamily="2" charset="77"/>
                <a:ea typeface="+mn-ea"/>
                <a:cs typeface="Poppins" pitchFamily="2" charset="77"/>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pitchFamily="2" charset="77"/>
                <a:ea typeface="+mn-ea"/>
                <a:cs typeface="Poppins" pitchFamily="2" charset="77"/>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pitchFamily="2" charset="77"/>
                <a:ea typeface="+mn-ea"/>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base">
              <a:lnSpc>
                <a:spcPct val="100000"/>
              </a:lnSpc>
              <a:spcBef>
                <a:spcPts val="0"/>
              </a:spcBef>
              <a:buNone/>
            </a:pPr>
            <a:r>
              <a:rPr lang="en-GB" sz="1125" b="1" dirty="0"/>
              <a:t>Low-resolution, anisotropic </a:t>
            </a:r>
          </a:p>
          <a:p>
            <a:pPr marL="0" indent="0" algn="ctr" fontAlgn="base">
              <a:lnSpc>
                <a:spcPct val="100000"/>
              </a:lnSpc>
              <a:spcBef>
                <a:spcPts val="0"/>
              </a:spcBef>
              <a:buNone/>
            </a:pPr>
            <a:r>
              <a:rPr lang="en-GB" sz="1125" b="1" dirty="0"/>
              <a:t>cardiac shapes</a:t>
            </a:r>
          </a:p>
        </p:txBody>
      </p:sp>
      <p:sp>
        <p:nvSpPr>
          <p:cNvPr id="18" name="Content Placeholder 2">
            <a:extLst>
              <a:ext uri="{FF2B5EF4-FFF2-40B4-BE49-F238E27FC236}">
                <a16:creationId xmlns:a16="http://schemas.microsoft.com/office/drawing/2014/main" id="{929EC5B4-4146-A493-9016-9ED839432C00}"/>
              </a:ext>
            </a:extLst>
          </p:cNvPr>
          <p:cNvSpPr txBox="1">
            <a:spLocks/>
          </p:cNvSpPr>
          <p:nvPr/>
        </p:nvSpPr>
        <p:spPr>
          <a:xfrm>
            <a:off x="7910414" y="1219179"/>
            <a:ext cx="2088318" cy="466437"/>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oppins" pitchFamily="2" charset="77"/>
                <a:ea typeface="+mn-ea"/>
                <a:cs typeface="Poppins" pitchFamily="2" charset="77"/>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pitchFamily="2" charset="77"/>
                <a:ea typeface="+mn-ea"/>
                <a:cs typeface="Poppins" pitchFamily="2" charset="77"/>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oppins" pitchFamily="2" charset="77"/>
                <a:ea typeface="+mn-ea"/>
                <a:cs typeface="Poppins" pitchFamily="2" charset="77"/>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pitchFamily="2" charset="77"/>
                <a:ea typeface="+mn-ea"/>
                <a:cs typeface="Poppins" pitchFamily="2" charset="77"/>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pitchFamily="2" charset="77"/>
                <a:ea typeface="+mn-ea"/>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base">
              <a:lnSpc>
                <a:spcPct val="100000"/>
              </a:lnSpc>
              <a:spcBef>
                <a:spcPts val="0"/>
              </a:spcBef>
              <a:buNone/>
            </a:pPr>
            <a:r>
              <a:rPr lang="en-GB" sz="1125" b="1" dirty="0"/>
              <a:t>H</a:t>
            </a:r>
            <a:r>
              <a:rPr lang="en-GB" sz="1125" b="1" dirty="0" err="1"/>
              <a:t>igh</a:t>
            </a:r>
            <a:r>
              <a:rPr lang="en-GB" sz="1125" b="1" dirty="0"/>
              <a:t>-resolution, nearly isotropic cardiac shapes</a:t>
            </a:r>
          </a:p>
          <a:p>
            <a:pPr marL="0" indent="0" algn="ctr" fontAlgn="base">
              <a:lnSpc>
                <a:spcPct val="100000"/>
              </a:lnSpc>
              <a:spcBef>
                <a:spcPts val="0"/>
              </a:spcBef>
              <a:buNone/>
            </a:pPr>
            <a:endParaRPr lang="en-GB" sz="1200" b="1" dirty="0"/>
          </a:p>
        </p:txBody>
      </p:sp>
      <p:sp>
        <p:nvSpPr>
          <p:cNvPr id="19" name="Rectangle: Rounded Corners 9">
            <a:extLst>
              <a:ext uri="{FF2B5EF4-FFF2-40B4-BE49-F238E27FC236}">
                <a16:creationId xmlns:a16="http://schemas.microsoft.com/office/drawing/2014/main" id="{555ACC10-635A-DBBA-8681-22E4A7C57209}"/>
              </a:ext>
            </a:extLst>
          </p:cNvPr>
          <p:cNvSpPr/>
          <p:nvPr/>
        </p:nvSpPr>
        <p:spPr>
          <a:xfrm>
            <a:off x="8024547" y="5065832"/>
            <a:ext cx="1974185" cy="537301"/>
          </a:xfrm>
          <a:prstGeom prst="roundRect">
            <a:avLst/>
          </a:prstGeom>
          <a:solidFill>
            <a:srgbClr val="E4D9E9"/>
          </a:solidFill>
          <a:ln w="28575">
            <a:solidFill>
              <a:srgbClr val="9B77A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125" dirty="0"/>
          </a:p>
        </p:txBody>
      </p:sp>
      <p:sp>
        <p:nvSpPr>
          <p:cNvPr id="20" name="Content Placeholder 2">
            <a:extLst>
              <a:ext uri="{FF2B5EF4-FFF2-40B4-BE49-F238E27FC236}">
                <a16:creationId xmlns:a16="http://schemas.microsoft.com/office/drawing/2014/main" id="{E43F7CD3-4F47-4F7F-7551-94B5625BAE78}"/>
              </a:ext>
            </a:extLst>
          </p:cNvPr>
          <p:cNvSpPr txBox="1">
            <a:spLocks/>
          </p:cNvSpPr>
          <p:nvPr/>
        </p:nvSpPr>
        <p:spPr>
          <a:xfrm>
            <a:off x="7967480" y="5136696"/>
            <a:ext cx="1974185" cy="466437"/>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oppins" pitchFamily="2" charset="77"/>
                <a:ea typeface="+mn-ea"/>
                <a:cs typeface="Poppins" pitchFamily="2" charset="77"/>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pitchFamily="2" charset="77"/>
                <a:ea typeface="+mn-ea"/>
                <a:cs typeface="Poppins" pitchFamily="2" charset="77"/>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oppins" pitchFamily="2" charset="77"/>
                <a:ea typeface="+mn-ea"/>
                <a:cs typeface="Poppins" pitchFamily="2" charset="77"/>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pitchFamily="2" charset="77"/>
                <a:ea typeface="+mn-ea"/>
                <a:cs typeface="Poppins" pitchFamily="2" charset="77"/>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pitchFamily="2" charset="77"/>
                <a:ea typeface="+mn-ea"/>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base">
              <a:lnSpc>
                <a:spcPct val="100000"/>
              </a:lnSpc>
              <a:spcBef>
                <a:spcPts val="0"/>
              </a:spcBef>
              <a:buNone/>
            </a:pPr>
            <a:r>
              <a:rPr lang="en-GB" sz="1125" b="1" dirty="0"/>
              <a:t>O</a:t>
            </a:r>
            <a:r>
              <a:rPr lang="en-GB" sz="1125" b="1" dirty="0" err="1"/>
              <a:t>ptimal</a:t>
            </a:r>
            <a:r>
              <a:rPr lang="en-GB" sz="1125" b="1" dirty="0"/>
              <a:t> representation of </a:t>
            </a:r>
            <a:r>
              <a:rPr lang="en-GB" sz="1125" b="1" dirty="0" err="1"/>
              <a:t>tru</a:t>
            </a:r>
            <a:r>
              <a:rPr lang="en-GB" sz="1125" b="1" dirty="0"/>
              <a:t>e cardiac anatomy</a:t>
            </a:r>
          </a:p>
        </p:txBody>
      </p:sp>
      <p:sp>
        <p:nvSpPr>
          <p:cNvPr id="21" name="Google Shape;130;p17"/>
          <p:cNvSpPr txBox="1">
            <a:spLocks noGrp="1"/>
          </p:cNvSpPr>
          <p:nvPr>
            <p:ph type="title" idx="4294967295"/>
          </p:nvPr>
        </p:nvSpPr>
        <p:spPr>
          <a:xfrm>
            <a:off x="771180" y="456439"/>
            <a:ext cx="10652700" cy="6219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rgbClr val="0000FF"/>
              </a:buClr>
              <a:buSzPts val="3400"/>
              <a:buFont typeface="Poppins"/>
              <a:buNone/>
            </a:pPr>
            <a:r>
              <a:rPr lang="nl-NL" sz="3400" dirty="0" err="1" smtClean="0">
                <a:solidFill>
                  <a:srgbClr val="0000FF"/>
                </a:solidFill>
              </a:rPr>
              <a:t>Example</a:t>
            </a:r>
            <a:r>
              <a:rPr lang="nl-NL" sz="3400" dirty="0" smtClean="0">
                <a:solidFill>
                  <a:srgbClr val="0000FF"/>
                </a:solidFill>
              </a:rPr>
              <a:t> (Bras, et al. 2026)</a:t>
            </a:r>
            <a:endParaRPr sz="3400" b="1" dirty="0">
              <a:latin typeface="Poppins"/>
              <a:ea typeface="Poppins"/>
              <a:cs typeface="Poppins"/>
              <a:sym typeface="Poppins"/>
            </a:endParaRPr>
          </a:p>
        </p:txBody>
      </p:sp>
    </p:spTree>
    <p:extLst>
      <p:ext uri="{BB962C8B-B14F-4D97-AF65-F5344CB8AC3E}">
        <p14:creationId xmlns:p14="http://schemas.microsoft.com/office/powerpoint/2010/main" val="1991346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500"/>
                                        <p:tgtEl>
                                          <p:spTgt spid="19"/>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animBg="1"/>
      <p:bldP spid="2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4">
          <a:extLst>
            <a:ext uri="{FF2B5EF4-FFF2-40B4-BE49-F238E27FC236}">
              <a16:creationId xmlns:a16="http://schemas.microsoft.com/office/drawing/2014/main" id="{ACB3ACF5-0936-86AA-33B6-714C4BA51E33}"/>
            </a:ext>
          </a:extLst>
        </p:cNvPr>
        <p:cNvGrpSpPr/>
        <p:nvPr/>
      </p:nvGrpSpPr>
      <p:grpSpPr>
        <a:xfrm>
          <a:off x="0" y="0"/>
          <a:ext cx="0" cy="0"/>
          <a:chOff x="0" y="0"/>
          <a:chExt cx="0" cy="0"/>
        </a:xfrm>
      </p:grpSpPr>
      <p:sp>
        <p:nvSpPr>
          <p:cNvPr id="205" name="Google Shape;205;p25">
            <a:extLst>
              <a:ext uri="{FF2B5EF4-FFF2-40B4-BE49-F238E27FC236}">
                <a16:creationId xmlns:a16="http://schemas.microsoft.com/office/drawing/2014/main" id="{2A185FE7-F3EF-CA98-568A-B80F609CA106}"/>
              </a:ext>
            </a:extLst>
          </p:cNvPr>
          <p:cNvSpPr txBox="1">
            <a:spLocks noGrp="1"/>
          </p:cNvSpPr>
          <p:nvPr>
            <p:ph type="title"/>
          </p:nvPr>
        </p:nvSpPr>
        <p:spPr>
          <a:xfrm>
            <a:off x="305323" y="832480"/>
            <a:ext cx="11360800" cy="763600"/>
          </a:xfrm>
          <a:prstGeom prst="rect">
            <a:avLst/>
          </a:prstGeom>
        </p:spPr>
        <p:txBody>
          <a:bodyPr spcFirstLastPara="1" wrap="square" lIns="91433" tIns="45700" rIns="91433" bIns="45700" anchor="ctr" anchorCtr="0">
            <a:normAutofit/>
          </a:bodyPr>
          <a:lstStyle/>
          <a:p>
            <a:r>
              <a:rPr lang="en-GB" dirty="0"/>
              <a:t>INR for motion assessment </a:t>
            </a:r>
            <a:endParaRPr dirty="0"/>
          </a:p>
        </p:txBody>
      </p:sp>
      <p:sp>
        <p:nvSpPr>
          <p:cNvPr id="29" name="Oval 28">
            <a:extLst>
              <a:ext uri="{FF2B5EF4-FFF2-40B4-BE49-F238E27FC236}">
                <a16:creationId xmlns:a16="http://schemas.microsoft.com/office/drawing/2014/main" id="{1481FEAF-4D79-AAD5-6BE0-5123F5CE3BA1}"/>
              </a:ext>
            </a:extLst>
          </p:cNvPr>
          <p:cNvSpPr/>
          <p:nvPr/>
        </p:nvSpPr>
        <p:spPr>
          <a:xfrm>
            <a:off x="1017286" y="3402966"/>
            <a:ext cx="492335" cy="469557"/>
          </a:xfrm>
          <a:prstGeom prst="ellipse">
            <a:avLst/>
          </a:prstGeom>
          <a:solidFill>
            <a:srgbClr val="D8A0BC"/>
          </a:solidFill>
          <a:ln w="12700">
            <a:solidFill>
              <a:schemeClr val="tx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N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NL" sz="1400" dirty="0">
                <a:solidFill>
                  <a:schemeClr val="tx1"/>
                </a:solidFill>
              </a:rPr>
              <a:t>X</a:t>
            </a:r>
            <a:r>
              <a:rPr lang="nl-NL" sz="900" dirty="0">
                <a:solidFill>
                  <a:schemeClr val="tx1"/>
                </a:solidFill>
              </a:rPr>
              <a:t>1</a:t>
            </a:r>
            <a:endParaRPr lang="nl-NL" sz="1100" dirty="0">
              <a:solidFill>
                <a:schemeClr val="tx1"/>
              </a:solidFill>
            </a:endParaRPr>
          </a:p>
        </p:txBody>
      </p:sp>
      <p:sp>
        <p:nvSpPr>
          <p:cNvPr id="30" name="Oval 29">
            <a:extLst>
              <a:ext uri="{FF2B5EF4-FFF2-40B4-BE49-F238E27FC236}">
                <a16:creationId xmlns:a16="http://schemas.microsoft.com/office/drawing/2014/main" id="{F22241F3-7EB2-191C-A0E7-1E089216B83C}"/>
              </a:ext>
            </a:extLst>
          </p:cNvPr>
          <p:cNvSpPr/>
          <p:nvPr/>
        </p:nvSpPr>
        <p:spPr>
          <a:xfrm>
            <a:off x="1738618" y="3166824"/>
            <a:ext cx="492335" cy="469557"/>
          </a:xfrm>
          <a:prstGeom prst="ellipse">
            <a:avLst/>
          </a:prstGeom>
          <a:solidFill>
            <a:srgbClr val="D8A0BC"/>
          </a:solidFill>
          <a:ln w="12700">
            <a:solidFill>
              <a:schemeClr val="tx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N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NL" sz="1400">
                <a:solidFill>
                  <a:schemeClr val="tx1"/>
                </a:solidFill>
              </a:rPr>
              <a:t>X</a:t>
            </a:r>
            <a:r>
              <a:rPr lang="nl-NL" sz="900">
                <a:solidFill>
                  <a:schemeClr val="tx1"/>
                </a:solidFill>
              </a:rPr>
              <a:t>2</a:t>
            </a:r>
            <a:endParaRPr lang="nl-NL" sz="1100">
              <a:solidFill>
                <a:schemeClr val="tx1"/>
              </a:solidFill>
            </a:endParaRPr>
          </a:p>
        </p:txBody>
      </p:sp>
      <p:sp>
        <p:nvSpPr>
          <p:cNvPr id="31" name="Oval 30">
            <a:extLst>
              <a:ext uri="{FF2B5EF4-FFF2-40B4-BE49-F238E27FC236}">
                <a16:creationId xmlns:a16="http://schemas.microsoft.com/office/drawing/2014/main" id="{B60F8401-02C2-E42E-AE4B-EE3A8927E92F}"/>
              </a:ext>
            </a:extLst>
          </p:cNvPr>
          <p:cNvSpPr/>
          <p:nvPr/>
        </p:nvSpPr>
        <p:spPr>
          <a:xfrm>
            <a:off x="1599513" y="3874764"/>
            <a:ext cx="501195" cy="469557"/>
          </a:xfrm>
          <a:prstGeom prst="ellipse">
            <a:avLst/>
          </a:prstGeom>
          <a:solidFill>
            <a:srgbClr val="D8A0BC"/>
          </a:solidFill>
          <a:ln w="12700">
            <a:solidFill>
              <a:schemeClr val="tx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N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NL" sz="1100" dirty="0">
                <a:solidFill>
                  <a:schemeClr val="tx1"/>
                </a:solidFill>
              </a:rPr>
              <a:t>X</a:t>
            </a:r>
            <a:r>
              <a:rPr lang="nl-NL" sz="700" dirty="0">
                <a:solidFill>
                  <a:schemeClr val="tx1"/>
                </a:solidFill>
              </a:rPr>
              <a:t>50</a:t>
            </a:r>
            <a:endParaRPr lang="nl-NL" sz="1000" dirty="0">
              <a:solidFill>
                <a:schemeClr val="tx1"/>
              </a:solidFill>
            </a:endParaRPr>
          </a:p>
        </p:txBody>
      </p:sp>
      <p:sp>
        <p:nvSpPr>
          <p:cNvPr id="32" name="Freeform: Shape 12">
            <a:extLst>
              <a:ext uri="{FF2B5EF4-FFF2-40B4-BE49-F238E27FC236}">
                <a16:creationId xmlns:a16="http://schemas.microsoft.com/office/drawing/2014/main" id="{BB5EB4F5-13B1-02BD-4EF8-0EC483DCB48B}"/>
              </a:ext>
            </a:extLst>
          </p:cNvPr>
          <p:cNvSpPr/>
          <p:nvPr/>
        </p:nvSpPr>
        <p:spPr>
          <a:xfrm>
            <a:off x="1564978" y="3097563"/>
            <a:ext cx="60959" cy="360413"/>
          </a:xfrm>
          <a:custGeom>
            <a:avLst/>
            <a:gdLst>
              <a:gd name="connsiteX0" fmla="*/ 52810 w 61602"/>
              <a:gd name="connsiteY0" fmla="*/ 0 h 290147"/>
              <a:gd name="connsiteX1" fmla="*/ 56 w 61602"/>
              <a:gd name="connsiteY1" fmla="*/ 123093 h 290147"/>
              <a:gd name="connsiteX2" fmla="*/ 61602 w 61602"/>
              <a:gd name="connsiteY2" fmla="*/ 290147 h 290147"/>
            </a:gdLst>
            <a:ahLst/>
            <a:cxnLst>
              <a:cxn ang="0">
                <a:pos x="connsiteX0" y="connsiteY0"/>
              </a:cxn>
              <a:cxn ang="0">
                <a:pos x="connsiteX1" y="connsiteY1"/>
              </a:cxn>
              <a:cxn ang="0">
                <a:pos x="connsiteX2" y="connsiteY2"/>
              </a:cxn>
            </a:cxnLst>
            <a:rect l="l" t="t" r="r" b="b"/>
            <a:pathLst>
              <a:path w="61602" h="290147">
                <a:moveTo>
                  <a:pt x="52810" y="0"/>
                </a:moveTo>
                <a:cubicBezTo>
                  <a:pt x="25700" y="37367"/>
                  <a:pt x="-1409" y="74735"/>
                  <a:pt x="56" y="123093"/>
                </a:cubicBezTo>
                <a:cubicBezTo>
                  <a:pt x="1521" y="171451"/>
                  <a:pt x="13244" y="241789"/>
                  <a:pt x="61602" y="290147"/>
                </a:cubicBezTo>
              </a:path>
            </a:pathLst>
          </a:custGeom>
          <a:noFill/>
          <a:ln w="12700">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N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NL"/>
          </a:p>
        </p:txBody>
      </p:sp>
      <p:sp>
        <p:nvSpPr>
          <p:cNvPr id="33" name="Freeform: Shape 36">
            <a:extLst>
              <a:ext uri="{FF2B5EF4-FFF2-40B4-BE49-F238E27FC236}">
                <a16:creationId xmlns:a16="http://schemas.microsoft.com/office/drawing/2014/main" id="{120EB137-E660-C1B9-0C63-310E57312EC6}"/>
              </a:ext>
            </a:extLst>
          </p:cNvPr>
          <p:cNvSpPr/>
          <p:nvPr/>
        </p:nvSpPr>
        <p:spPr>
          <a:xfrm>
            <a:off x="2279861" y="4204353"/>
            <a:ext cx="327819" cy="518747"/>
          </a:xfrm>
          <a:custGeom>
            <a:avLst/>
            <a:gdLst>
              <a:gd name="connsiteX0" fmla="*/ 55258 w 327819"/>
              <a:gd name="connsiteY0" fmla="*/ 0 h 518746"/>
              <a:gd name="connsiteX1" fmla="*/ 20089 w 327819"/>
              <a:gd name="connsiteY1" fmla="*/ 281354 h 518746"/>
              <a:gd name="connsiteX2" fmla="*/ 327819 w 327819"/>
              <a:gd name="connsiteY2" fmla="*/ 518746 h 518746"/>
            </a:gdLst>
            <a:ahLst/>
            <a:cxnLst>
              <a:cxn ang="0">
                <a:pos x="connsiteX0" y="connsiteY0"/>
              </a:cxn>
              <a:cxn ang="0">
                <a:pos x="connsiteX1" y="connsiteY1"/>
              </a:cxn>
              <a:cxn ang="0">
                <a:pos x="connsiteX2" y="connsiteY2"/>
              </a:cxn>
            </a:cxnLst>
            <a:rect l="l" t="t" r="r" b="b"/>
            <a:pathLst>
              <a:path w="327819" h="518746">
                <a:moveTo>
                  <a:pt x="55258" y="0"/>
                </a:moveTo>
                <a:cubicBezTo>
                  <a:pt x="14960" y="97448"/>
                  <a:pt x="-25338" y="194896"/>
                  <a:pt x="20089" y="281354"/>
                </a:cubicBezTo>
                <a:cubicBezTo>
                  <a:pt x="65516" y="367812"/>
                  <a:pt x="196667" y="443279"/>
                  <a:pt x="327819" y="518746"/>
                </a:cubicBezTo>
              </a:path>
            </a:pathLst>
          </a:custGeom>
          <a:noFill/>
          <a:ln>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N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NL"/>
          </a:p>
        </p:txBody>
      </p:sp>
      <p:pic>
        <p:nvPicPr>
          <p:cNvPr id="34" name="Picture 33" descr="A diagram of a brain&#10;&#10;Description automatically generated">
            <a:extLst>
              <a:ext uri="{FF2B5EF4-FFF2-40B4-BE49-F238E27FC236}">
                <a16:creationId xmlns:a16="http://schemas.microsoft.com/office/drawing/2014/main" id="{411F0AA6-F1B1-801F-D43D-8B67724AF19B}"/>
              </a:ext>
            </a:extLst>
          </p:cNvPr>
          <p:cNvPicPr>
            <a:picLocks noChangeAspect="1"/>
          </p:cNvPicPr>
          <p:nvPr/>
        </p:nvPicPr>
        <p:blipFill>
          <a:blip r:embed="rId3"/>
          <a:srcRect l="45496" t="3191" r="33846" b="52795"/>
          <a:stretch/>
        </p:blipFill>
        <p:spPr>
          <a:xfrm>
            <a:off x="5985723" y="4071207"/>
            <a:ext cx="1514007" cy="1347819"/>
          </a:xfrm>
          <a:prstGeom prst="rect">
            <a:avLst/>
          </a:prstGeom>
        </p:spPr>
      </p:pic>
      <p:pic>
        <p:nvPicPr>
          <p:cNvPr id="35" name="Picture 34" descr="A diagram of a brain&#10;&#10;Description automatically generated">
            <a:extLst>
              <a:ext uri="{FF2B5EF4-FFF2-40B4-BE49-F238E27FC236}">
                <a16:creationId xmlns:a16="http://schemas.microsoft.com/office/drawing/2014/main" id="{35BFC168-0184-B6E8-D2C4-A4D5F828A37F}"/>
              </a:ext>
            </a:extLst>
          </p:cNvPr>
          <p:cNvPicPr>
            <a:picLocks noChangeAspect="1"/>
          </p:cNvPicPr>
          <p:nvPr/>
        </p:nvPicPr>
        <p:blipFill>
          <a:blip r:embed="rId3"/>
          <a:srcRect l="-473" t="-968" r="53581" b="34127"/>
          <a:stretch>
            <a:fillRect/>
          </a:stretch>
        </p:blipFill>
        <p:spPr>
          <a:xfrm>
            <a:off x="2657698" y="3872879"/>
            <a:ext cx="3436735" cy="2046767"/>
          </a:xfrm>
          <a:prstGeom prst="rect">
            <a:avLst/>
          </a:prstGeom>
          <a:ln>
            <a:noFill/>
          </a:ln>
        </p:spPr>
      </p:pic>
      <p:cxnSp>
        <p:nvCxnSpPr>
          <p:cNvPr id="36" name="Straight Arrow Connector 35">
            <a:extLst>
              <a:ext uri="{FF2B5EF4-FFF2-40B4-BE49-F238E27FC236}">
                <a16:creationId xmlns:a16="http://schemas.microsoft.com/office/drawing/2014/main" id="{0FD5D22B-30C0-6532-35C3-02BADF847C11}"/>
              </a:ext>
            </a:extLst>
          </p:cNvPr>
          <p:cNvCxnSpPr/>
          <p:nvPr/>
        </p:nvCxnSpPr>
        <p:spPr>
          <a:xfrm>
            <a:off x="10150752" y="3171020"/>
            <a:ext cx="14329" cy="773805"/>
          </a:xfrm>
          <a:prstGeom prst="straightConnector1">
            <a:avLst/>
          </a:prstGeom>
          <a:ln w="28575">
            <a:solidFill>
              <a:schemeClr val="bg1">
                <a:lumMod val="8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7" name="TextBox 47">
            <a:extLst>
              <a:ext uri="{FF2B5EF4-FFF2-40B4-BE49-F238E27FC236}">
                <a16:creationId xmlns:a16="http://schemas.microsoft.com/office/drawing/2014/main" id="{B15B54DA-BE69-92EF-EE41-3A197CF318B8}"/>
              </a:ext>
            </a:extLst>
          </p:cNvPr>
          <p:cNvSpPr txBox="1"/>
          <p:nvPr/>
        </p:nvSpPr>
        <p:spPr>
          <a:xfrm>
            <a:off x="6830232" y="3098108"/>
            <a:ext cx="2620939"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i="1">
                <a:cs typeface="Calibri"/>
              </a:rPr>
              <a:t>Image similarity loss</a:t>
            </a:r>
            <a:endParaRPr lang="en-US" i="1">
              <a:ea typeface="Calibri"/>
              <a:cs typeface="Calibri"/>
            </a:endParaRPr>
          </a:p>
        </p:txBody>
      </p:sp>
      <p:cxnSp>
        <p:nvCxnSpPr>
          <p:cNvPr id="38" name="Straight Arrow Connector 37">
            <a:extLst>
              <a:ext uri="{FF2B5EF4-FFF2-40B4-BE49-F238E27FC236}">
                <a16:creationId xmlns:a16="http://schemas.microsoft.com/office/drawing/2014/main" id="{709C0839-85CA-EEA1-15C5-23C45B661B32}"/>
              </a:ext>
            </a:extLst>
          </p:cNvPr>
          <p:cNvCxnSpPr/>
          <p:nvPr/>
        </p:nvCxnSpPr>
        <p:spPr>
          <a:xfrm flipV="1">
            <a:off x="3824396" y="3457977"/>
            <a:ext cx="6337709" cy="28479"/>
          </a:xfrm>
          <a:prstGeom prst="straightConnector1">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C02EAF06-8823-97D6-D13A-366F86C081A7}"/>
              </a:ext>
            </a:extLst>
          </p:cNvPr>
          <p:cNvCxnSpPr/>
          <p:nvPr/>
        </p:nvCxnSpPr>
        <p:spPr>
          <a:xfrm>
            <a:off x="3847065" y="3478562"/>
            <a:ext cx="14329" cy="243605"/>
          </a:xfrm>
          <a:prstGeom prst="straightConnector1">
            <a:avLst/>
          </a:prstGeom>
          <a:ln w="28575">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B4AA85D9-7E48-BEB1-A804-D772DC9F30D3}"/>
              </a:ext>
            </a:extLst>
          </p:cNvPr>
          <p:cNvPicPr>
            <a:picLocks noChangeAspect="1"/>
          </p:cNvPicPr>
          <p:nvPr/>
        </p:nvPicPr>
        <p:blipFill>
          <a:blip r:embed="rId4"/>
          <a:stretch>
            <a:fillRect/>
          </a:stretch>
        </p:blipFill>
        <p:spPr>
          <a:xfrm>
            <a:off x="279619" y="2189429"/>
            <a:ext cx="493911" cy="490083"/>
          </a:xfrm>
          <a:prstGeom prst="rect">
            <a:avLst/>
          </a:prstGeom>
          <a:ln w="28575">
            <a:solidFill>
              <a:schemeClr val="accent2">
                <a:lumMod val="60000"/>
                <a:lumOff val="40000"/>
              </a:schemeClr>
            </a:solidFill>
          </a:ln>
        </p:spPr>
      </p:pic>
      <p:pic>
        <p:nvPicPr>
          <p:cNvPr id="16" name="Picture 15">
            <a:extLst>
              <a:ext uri="{FF2B5EF4-FFF2-40B4-BE49-F238E27FC236}">
                <a16:creationId xmlns:a16="http://schemas.microsoft.com/office/drawing/2014/main" id="{7EDE1AD4-44B6-1C41-EFCE-69A355A25C84}"/>
              </a:ext>
            </a:extLst>
          </p:cNvPr>
          <p:cNvPicPr>
            <a:picLocks noChangeAspect="1"/>
          </p:cNvPicPr>
          <p:nvPr/>
        </p:nvPicPr>
        <p:blipFill>
          <a:blip r:embed="rId5"/>
          <a:stretch>
            <a:fillRect/>
          </a:stretch>
        </p:blipFill>
        <p:spPr>
          <a:xfrm>
            <a:off x="746660" y="2191103"/>
            <a:ext cx="484427" cy="490083"/>
          </a:xfrm>
          <a:prstGeom prst="rect">
            <a:avLst/>
          </a:prstGeom>
          <a:ln w="28575">
            <a:solidFill>
              <a:schemeClr val="accent2">
                <a:lumMod val="60000"/>
                <a:lumOff val="40000"/>
              </a:schemeClr>
            </a:solidFill>
          </a:ln>
        </p:spPr>
      </p:pic>
      <p:pic>
        <p:nvPicPr>
          <p:cNvPr id="17" name="Picture 16">
            <a:extLst>
              <a:ext uri="{FF2B5EF4-FFF2-40B4-BE49-F238E27FC236}">
                <a16:creationId xmlns:a16="http://schemas.microsoft.com/office/drawing/2014/main" id="{6231353A-4F7E-E9DE-C2DB-B478D1157DC5}"/>
              </a:ext>
            </a:extLst>
          </p:cNvPr>
          <p:cNvPicPr>
            <a:picLocks noChangeAspect="1"/>
          </p:cNvPicPr>
          <p:nvPr/>
        </p:nvPicPr>
        <p:blipFill>
          <a:blip r:embed="rId6"/>
          <a:stretch>
            <a:fillRect/>
          </a:stretch>
        </p:blipFill>
        <p:spPr>
          <a:xfrm>
            <a:off x="1237650" y="2188007"/>
            <a:ext cx="486733" cy="484824"/>
          </a:xfrm>
          <a:prstGeom prst="rect">
            <a:avLst/>
          </a:prstGeom>
          <a:ln w="28575">
            <a:solidFill>
              <a:schemeClr val="accent2">
                <a:lumMod val="60000"/>
                <a:lumOff val="40000"/>
              </a:schemeClr>
            </a:solidFill>
          </a:ln>
        </p:spPr>
      </p:pic>
      <p:pic>
        <p:nvPicPr>
          <p:cNvPr id="18" name="Picture 17">
            <a:extLst>
              <a:ext uri="{FF2B5EF4-FFF2-40B4-BE49-F238E27FC236}">
                <a16:creationId xmlns:a16="http://schemas.microsoft.com/office/drawing/2014/main" id="{773F121B-E8D4-6BAD-5DB0-36E2E5B34919}"/>
              </a:ext>
            </a:extLst>
          </p:cNvPr>
          <p:cNvPicPr>
            <a:picLocks noChangeAspect="1"/>
          </p:cNvPicPr>
          <p:nvPr/>
        </p:nvPicPr>
        <p:blipFill>
          <a:blip r:embed="rId7"/>
          <a:stretch>
            <a:fillRect/>
          </a:stretch>
        </p:blipFill>
        <p:spPr>
          <a:xfrm>
            <a:off x="1755966" y="2181793"/>
            <a:ext cx="493911" cy="493911"/>
          </a:xfrm>
          <a:prstGeom prst="rect">
            <a:avLst/>
          </a:prstGeom>
          <a:ln w="28575">
            <a:solidFill>
              <a:schemeClr val="accent2">
                <a:lumMod val="60000"/>
                <a:lumOff val="40000"/>
              </a:schemeClr>
            </a:solidFill>
          </a:ln>
        </p:spPr>
      </p:pic>
      <p:pic>
        <p:nvPicPr>
          <p:cNvPr id="19" name="Picture 18">
            <a:extLst>
              <a:ext uri="{FF2B5EF4-FFF2-40B4-BE49-F238E27FC236}">
                <a16:creationId xmlns:a16="http://schemas.microsoft.com/office/drawing/2014/main" id="{473F82CD-F98E-456D-B24E-7CCA58D64528}"/>
              </a:ext>
            </a:extLst>
          </p:cNvPr>
          <p:cNvPicPr>
            <a:picLocks noChangeAspect="1"/>
          </p:cNvPicPr>
          <p:nvPr/>
        </p:nvPicPr>
        <p:blipFill>
          <a:blip r:embed="rId8"/>
          <a:stretch>
            <a:fillRect/>
          </a:stretch>
        </p:blipFill>
        <p:spPr>
          <a:xfrm>
            <a:off x="2252024" y="2183328"/>
            <a:ext cx="506417" cy="502491"/>
          </a:xfrm>
          <a:prstGeom prst="rect">
            <a:avLst/>
          </a:prstGeom>
          <a:ln w="28575">
            <a:solidFill>
              <a:schemeClr val="accent2">
                <a:lumMod val="60000"/>
                <a:lumOff val="40000"/>
              </a:schemeClr>
            </a:solidFill>
          </a:ln>
        </p:spPr>
      </p:pic>
      <p:pic>
        <p:nvPicPr>
          <p:cNvPr id="20" name="Picture 19" descr="A close up of a person&amp;#39;s face&#10;&#10;AI-generated content may be incorrect.">
            <a:extLst>
              <a:ext uri="{FF2B5EF4-FFF2-40B4-BE49-F238E27FC236}">
                <a16:creationId xmlns:a16="http://schemas.microsoft.com/office/drawing/2014/main" id="{9C1DFE50-E701-7674-2C17-F90E0EFE1C8D}"/>
              </a:ext>
            </a:extLst>
          </p:cNvPr>
          <p:cNvPicPr>
            <a:picLocks noChangeAspect="1"/>
          </p:cNvPicPr>
          <p:nvPr/>
        </p:nvPicPr>
        <p:blipFill>
          <a:blip r:embed="rId4"/>
          <a:stretch>
            <a:fillRect/>
          </a:stretch>
        </p:blipFill>
        <p:spPr>
          <a:xfrm>
            <a:off x="9042619" y="2145128"/>
            <a:ext cx="493911" cy="490083"/>
          </a:xfrm>
          <a:prstGeom prst="rect">
            <a:avLst/>
          </a:prstGeom>
          <a:ln w="28575">
            <a:solidFill>
              <a:schemeClr val="accent2">
                <a:lumMod val="60000"/>
                <a:lumOff val="40000"/>
              </a:schemeClr>
            </a:solidFill>
          </a:ln>
        </p:spPr>
      </p:pic>
      <p:pic>
        <p:nvPicPr>
          <p:cNvPr id="21" name="Picture 20">
            <a:extLst>
              <a:ext uri="{FF2B5EF4-FFF2-40B4-BE49-F238E27FC236}">
                <a16:creationId xmlns:a16="http://schemas.microsoft.com/office/drawing/2014/main" id="{1C91ED8A-61F2-B472-8F13-6716A2ADC828}"/>
              </a:ext>
            </a:extLst>
          </p:cNvPr>
          <p:cNvPicPr>
            <a:picLocks noChangeAspect="1"/>
          </p:cNvPicPr>
          <p:nvPr/>
        </p:nvPicPr>
        <p:blipFill>
          <a:blip r:embed="rId5"/>
          <a:stretch>
            <a:fillRect/>
          </a:stretch>
        </p:blipFill>
        <p:spPr>
          <a:xfrm>
            <a:off x="9509659" y="2146800"/>
            <a:ext cx="484427" cy="490083"/>
          </a:xfrm>
          <a:prstGeom prst="rect">
            <a:avLst/>
          </a:prstGeom>
          <a:ln w="28575">
            <a:solidFill>
              <a:schemeClr val="accent2">
                <a:lumMod val="60000"/>
                <a:lumOff val="40000"/>
              </a:schemeClr>
            </a:solidFill>
          </a:ln>
        </p:spPr>
      </p:pic>
      <p:pic>
        <p:nvPicPr>
          <p:cNvPr id="22" name="Picture 21">
            <a:extLst>
              <a:ext uri="{FF2B5EF4-FFF2-40B4-BE49-F238E27FC236}">
                <a16:creationId xmlns:a16="http://schemas.microsoft.com/office/drawing/2014/main" id="{60B33CD8-068D-A2CE-2A87-51AA30BC75CC}"/>
              </a:ext>
            </a:extLst>
          </p:cNvPr>
          <p:cNvPicPr>
            <a:picLocks noChangeAspect="1"/>
          </p:cNvPicPr>
          <p:nvPr/>
        </p:nvPicPr>
        <p:blipFill>
          <a:blip r:embed="rId6"/>
          <a:stretch>
            <a:fillRect/>
          </a:stretch>
        </p:blipFill>
        <p:spPr>
          <a:xfrm>
            <a:off x="10000648" y="2143705"/>
            <a:ext cx="486733" cy="484824"/>
          </a:xfrm>
          <a:prstGeom prst="rect">
            <a:avLst/>
          </a:prstGeom>
          <a:ln w="28575">
            <a:solidFill>
              <a:schemeClr val="accent2">
                <a:lumMod val="60000"/>
                <a:lumOff val="40000"/>
              </a:schemeClr>
            </a:solidFill>
          </a:ln>
        </p:spPr>
      </p:pic>
      <p:pic>
        <p:nvPicPr>
          <p:cNvPr id="23" name="Picture 22" descr="A close up of a ball&#10;&#10;AI-generated content may be incorrect.">
            <a:extLst>
              <a:ext uri="{FF2B5EF4-FFF2-40B4-BE49-F238E27FC236}">
                <a16:creationId xmlns:a16="http://schemas.microsoft.com/office/drawing/2014/main" id="{7A4EECBD-E4D6-C689-F0D1-2ED7C04AC1C3}"/>
              </a:ext>
            </a:extLst>
          </p:cNvPr>
          <p:cNvPicPr>
            <a:picLocks noChangeAspect="1"/>
          </p:cNvPicPr>
          <p:nvPr/>
        </p:nvPicPr>
        <p:blipFill>
          <a:blip r:embed="rId7"/>
          <a:stretch>
            <a:fillRect/>
          </a:stretch>
        </p:blipFill>
        <p:spPr>
          <a:xfrm>
            <a:off x="10518965" y="2137490"/>
            <a:ext cx="493911" cy="493911"/>
          </a:xfrm>
          <a:prstGeom prst="rect">
            <a:avLst/>
          </a:prstGeom>
          <a:ln w="28575">
            <a:solidFill>
              <a:schemeClr val="accent2">
                <a:lumMod val="60000"/>
                <a:lumOff val="40000"/>
              </a:schemeClr>
            </a:solidFill>
          </a:ln>
        </p:spPr>
      </p:pic>
      <p:pic>
        <p:nvPicPr>
          <p:cNvPr id="24" name="Picture 23">
            <a:extLst>
              <a:ext uri="{FF2B5EF4-FFF2-40B4-BE49-F238E27FC236}">
                <a16:creationId xmlns:a16="http://schemas.microsoft.com/office/drawing/2014/main" id="{5AC506F2-47D7-1C07-8561-5C510B9A0B0D}"/>
              </a:ext>
            </a:extLst>
          </p:cNvPr>
          <p:cNvPicPr>
            <a:picLocks noChangeAspect="1"/>
          </p:cNvPicPr>
          <p:nvPr/>
        </p:nvPicPr>
        <p:blipFill>
          <a:blip r:embed="rId8"/>
          <a:stretch>
            <a:fillRect/>
          </a:stretch>
        </p:blipFill>
        <p:spPr>
          <a:xfrm>
            <a:off x="11015022" y="2139025"/>
            <a:ext cx="506417" cy="502491"/>
          </a:xfrm>
          <a:prstGeom prst="rect">
            <a:avLst/>
          </a:prstGeom>
          <a:ln w="28575">
            <a:solidFill>
              <a:schemeClr val="accent2">
                <a:lumMod val="60000"/>
                <a:lumOff val="40000"/>
              </a:schemeClr>
            </a:solidFill>
          </a:ln>
        </p:spPr>
      </p:pic>
      <p:sp>
        <p:nvSpPr>
          <p:cNvPr id="45" name="TextBox 5">
            <a:extLst>
              <a:ext uri="{FF2B5EF4-FFF2-40B4-BE49-F238E27FC236}">
                <a16:creationId xmlns:a16="http://schemas.microsoft.com/office/drawing/2014/main" id="{CD67F543-F7A2-9F9C-58DC-7B650EED10B5}"/>
              </a:ext>
            </a:extLst>
          </p:cNvPr>
          <p:cNvSpPr txBox="1"/>
          <p:nvPr/>
        </p:nvSpPr>
        <p:spPr>
          <a:xfrm>
            <a:off x="9262444" y="1685938"/>
            <a:ext cx="2186603" cy="369332"/>
          </a:xfrm>
          <a:prstGeom prst="rect">
            <a:avLst/>
          </a:prstGeom>
          <a:noFill/>
          <a:ln>
            <a:noFill/>
          </a:ln>
        </p:spPr>
        <p:txBody>
          <a:bodyPr wrap="square" lIns="91440" tIns="45720" rIns="91440" bIns="45720" rtlCol="0" anchor="t">
            <a:spAutoFit/>
          </a:bodyPr>
          <a:ls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nl-NL" dirty="0">
                <a:latin typeface="LM Mono 10"/>
                <a:ea typeface="Cambria Math"/>
              </a:rPr>
              <a:t>4D cine volume</a:t>
            </a:r>
            <a:endParaRPr lang="en-NL">
              <a:latin typeface="LM Mono 10" panose="00000509000000000000" pitchFamily="49" charset="0"/>
              <a:ea typeface="Cambria Math" panose="02040503050406030204" pitchFamily="18" charset="0"/>
            </a:endParaRPr>
          </a:p>
        </p:txBody>
      </p:sp>
      <p:sp>
        <p:nvSpPr>
          <p:cNvPr id="48" name="TextBox 5">
            <a:extLst>
              <a:ext uri="{FF2B5EF4-FFF2-40B4-BE49-F238E27FC236}">
                <a16:creationId xmlns:a16="http://schemas.microsoft.com/office/drawing/2014/main" id="{64A82A46-E1DB-8E02-2990-32F4628B54E0}"/>
              </a:ext>
            </a:extLst>
          </p:cNvPr>
          <p:cNvSpPr txBox="1"/>
          <p:nvPr/>
        </p:nvSpPr>
        <p:spPr>
          <a:xfrm>
            <a:off x="350871" y="1752543"/>
            <a:ext cx="2186603" cy="369332"/>
          </a:xfrm>
          <a:prstGeom prst="rect">
            <a:avLst/>
          </a:prstGeom>
          <a:noFill/>
          <a:ln>
            <a:noFill/>
          </a:ln>
        </p:spPr>
        <p:txBody>
          <a:bodyPr wrap="square" lIns="91440" tIns="45720" rIns="91440" bIns="45720" rtlCol="0" anchor="t">
            <a:spAutoFit/>
          </a:bodyPr>
          <a:ls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nl-NL" dirty="0">
                <a:latin typeface="LM Mono 10"/>
                <a:ea typeface="Cambria Math"/>
              </a:rPr>
              <a:t>4D cine volume</a:t>
            </a:r>
            <a:endParaRPr lang="en-NL">
              <a:latin typeface="LM Mono 10" panose="00000509000000000000" pitchFamily="49" charset="0"/>
              <a:ea typeface="Cambria Math" panose="02040503050406030204" pitchFamily="18" charset="0"/>
            </a:endParaRPr>
          </a:p>
        </p:txBody>
      </p:sp>
      <p:sp>
        <p:nvSpPr>
          <p:cNvPr id="2" name="Google Shape;200;p24">
            <a:extLst>
              <a:ext uri="{FF2B5EF4-FFF2-40B4-BE49-F238E27FC236}">
                <a16:creationId xmlns:a16="http://schemas.microsoft.com/office/drawing/2014/main" id="{E0853C15-2E2C-F3BA-1B34-50CCE39E085E}"/>
              </a:ext>
            </a:extLst>
          </p:cNvPr>
          <p:cNvSpPr txBox="1"/>
          <p:nvPr/>
        </p:nvSpPr>
        <p:spPr>
          <a:xfrm>
            <a:off x="230778" y="4513745"/>
            <a:ext cx="1573015" cy="1231066"/>
          </a:xfrm>
          <a:prstGeom prst="rect">
            <a:avLst/>
          </a:prstGeom>
          <a:solidFill>
            <a:srgbClr val="EAD1DC"/>
          </a:solidFill>
          <a:ln>
            <a:noFill/>
          </a:ln>
        </p:spPr>
        <p:txBody>
          <a:bodyPr spcFirstLastPara="1" wrap="square" lIns="121900" tIns="121900" rIns="121900" bIns="121900" anchor="t" anchorCtr="0">
            <a:spAutoFit/>
          </a:bodyPr>
          <a:lstStyle/>
          <a:p>
            <a:r>
              <a:rPr lang="en-GB" sz="1600" dirty="0">
                <a:solidFill>
                  <a:schemeClr val="dk1"/>
                </a:solidFill>
                <a:latin typeface="Poppins"/>
                <a:ea typeface="Poppins"/>
                <a:cs typeface="Poppins"/>
                <a:sym typeface="Poppins"/>
              </a:rPr>
              <a:t>Coordinates</a:t>
            </a:r>
            <a:r>
              <a:rPr lang="en-GB" sz="1600" b="1" u="sng" dirty="0">
                <a:solidFill>
                  <a:schemeClr val="dk1"/>
                </a:solidFill>
                <a:latin typeface="Poppins"/>
                <a:ea typeface="Poppins"/>
                <a:cs typeface="Poppins"/>
                <a:sym typeface="Poppins"/>
              </a:rPr>
              <a:t> and time</a:t>
            </a:r>
            <a:r>
              <a:rPr lang="en-GB" sz="1600" b="1" dirty="0">
                <a:solidFill>
                  <a:schemeClr val="dk1"/>
                </a:solidFill>
                <a:latin typeface="Poppins"/>
                <a:ea typeface="Poppins"/>
                <a:cs typeface="Poppins"/>
                <a:sym typeface="Poppins"/>
              </a:rPr>
              <a:t> </a:t>
            </a:r>
            <a:r>
              <a:rPr lang="en-GB" sz="1600" dirty="0">
                <a:solidFill>
                  <a:schemeClr val="dk1"/>
                </a:solidFill>
                <a:latin typeface="Poppins"/>
                <a:ea typeface="Poppins"/>
                <a:cs typeface="Poppins"/>
                <a:sym typeface="Poppins"/>
              </a:rPr>
              <a:t>are input to the network</a:t>
            </a:r>
            <a:endParaRPr sz="1600" u="sng" dirty="0">
              <a:solidFill>
                <a:schemeClr val="dk1"/>
              </a:solidFill>
              <a:latin typeface="Poppins"/>
              <a:ea typeface="Poppins"/>
              <a:cs typeface="Poppins"/>
              <a:sym typeface="Poppins"/>
            </a:endParaRPr>
          </a:p>
        </p:txBody>
      </p:sp>
      <p:sp>
        <p:nvSpPr>
          <p:cNvPr id="6" name="Oval 5">
            <a:extLst>
              <a:ext uri="{FF2B5EF4-FFF2-40B4-BE49-F238E27FC236}">
                <a16:creationId xmlns:a16="http://schemas.microsoft.com/office/drawing/2014/main" id="{36F4A836-6988-1908-6EF8-5B070AE07BEC}"/>
              </a:ext>
            </a:extLst>
          </p:cNvPr>
          <p:cNvSpPr/>
          <p:nvPr/>
        </p:nvSpPr>
        <p:spPr>
          <a:xfrm>
            <a:off x="1340552" y="3654083"/>
            <a:ext cx="414736" cy="335688"/>
          </a:xfrm>
          <a:prstGeom prst="ellipse">
            <a:avLst/>
          </a:prstGeom>
          <a:solidFill>
            <a:schemeClr val="accent2">
              <a:lumMod val="40000"/>
              <a:lumOff val="60000"/>
            </a:schemeClr>
          </a:solidFill>
          <a:ln w="9525">
            <a:solidFill>
              <a:schemeClr val="tx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N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77">
              <a:buClrTx/>
            </a:pPr>
            <a:r>
              <a:rPr lang="nl-NL" sz="1200">
                <a:solidFill>
                  <a:prstClr val="black"/>
                </a:solidFill>
                <a:latin typeface="Aptos" panose="020B0004020202020204"/>
              </a:rPr>
              <a:t>t</a:t>
            </a:r>
            <a:r>
              <a:rPr lang="nl-NL" sz="800">
                <a:solidFill>
                  <a:prstClr val="black"/>
                </a:solidFill>
                <a:latin typeface="Aptos" panose="020B0004020202020204"/>
              </a:rPr>
              <a:t>1</a:t>
            </a:r>
          </a:p>
        </p:txBody>
      </p:sp>
      <p:sp>
        <p:nvSpPr>
          <p:cNvPr id="7" name="Oval 6">
            <a:extLst>
              <a:ext uri="{FF2B5EF4-FFF2-40B4-BE49-F238E27FC236}">
                <a16:creationId xmlns:a16="http://schemas.microsoft.com/office/drawing/2014/main" id="{A3BCAEA8-7862-43FC-8031-EE7C7596AF8D}"/>
              </a:ext>
            </a:extLst>
          </p:cNvPr>
          <p:cNvSpPr/>
          <p:nvPr/>
        </p:nvSpPr>
        <p:spPr>
          <a:xfrm>
            <a:off x="2042308" y="3422165"/>
            <a:ext cx="490801" cy="352064"/>
          </a:xfrm>
          <a:prstGeom prst="ellipse">
            <a:avLst/>
          </a:prstGeom>
          <a:solidFill>
            <a:schemeClr val="accent2">
              <a:lumMod val="40000"/>
              <a:lumOff val="60000"/>
            </a:schemeClr>
          </a:solidFill>
          <a:ln w="9525">
            <a:solidFill>
              <a:schemeClr val="tx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N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77">
              <a:buClrTx/>
            </a:pPr>
            <a:r>
              <a:rPr lang="nl-NL" sz="1200" dirty="0">
                <a:solidFill>
                  <a:prstClr val="black"/>
                </a:solidFill>
                <a:latin typeface="Aptos" panose="020B0004020202020204"/>
              </a:rPr>
              <a:t>t</a:t>
            </a:r>
            <a:r>
              <a:rPr lang="nl-NL" sz="800" dirty="0">
                <a:solidFill>
                  <a:prstClr val="black"/>
                </a:solidFill>
                <a:latin typeface="Aptos" panose="020B0004020202020204"/>
              </a:rPr>
              <a:t>19</a:t>
            </a:r>
          </a:p>
        </p:txBody>
      </p:sp>
      <p:sp>
        <p:nvSpPr>
          <p:cNvPr id="8" name="Oval 7">
            <a:extLst>
              <a:ext uri="{FF2B5EF4-FFF2-40B4-BE49-F238E27FC236}">
                <a16:creationId xmlns:a16="http://schemas.microsoft.com/office/drawing/2014/main" id="{953FB5F5-C99A-BA44-4598-B2223ACCA10D}"/>
              </a:ext>
            </a:extLst>
          </p:cNvPr>
          <p:cNvSpPr/>
          <p:nvPr/>
        </p:nvSpPr>
        <p:spPr>
          <a:xfrm>
            <a:off x="1927495" y="4109543"/>
            <a:ext cx="432175" cy="327500"/>
          </a:xfrm>
          <a:prstGeom prst="ellipse">
            <a:avLst/>
          </a:prstGeom>
          <a:solidFill>
            <a:schemeClr val="accent2">
              <a:lumMod val="40000"/>
              <a:lumOff val="60000"/>
            </a:schemeClr>
          </a:solidFill>
          <a:ln w="9525">
            <a:solidFill>
              <a:schemeClr val="tx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N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77">
              <a:buClrTx/>
            </a:pPr>
            <a:r>
              <a:rPr lang="nl-NL" sz="1200">
                <a:solidFill>
                  <a:prstClr val="black"/>
                </a:solidFill>
                <a:latin typeface="Aptos" panose="020B0004020202020204"/>
              </a:rPr>
              <a:t>t</a:t>
            </a:r>
            <a:r>
              <a:rPr lang="nl-NL" sz="800">
                <a:solidFill>
                  <a:prstClr val="black"/>
                </a:solidFill>
                <a:latin typeface="Aptos" panose="020B0004020202020204"/>
              </a:rPr>
              <a:t>7</a:t>
            </a:r>
            <a:endParaRPr lang="en-US">
              <a:solidFill>
                <a:prstClr val="white"/>
              </a:solidFill>
              <a:latin typeface="Aptos" panose="020B0004020202020204"/>
            </a:endParaRPr>
          </a:p>
        </p:txBody>
      </p:sp>
      <p:pic>
        <p:nvPicPr>
          <p:cNvPr id="9" name="Picture 8" descr="A close-up of a person&amp;#39;s body&#10;&#10;AI-generated content may be incorrect.">
            <a:extLst>
              <a:ext uri="{FF2B5EF4-FFF2-40B4-BE49-F238E27FC236}">
                <a16:creationId xmlns:a16="http://schemas.microsoft.com/office/drawing/2014/main" id="{2EF2500D-82A4-F9F0-3837-F7D3C33658D2}"/>
              </a:ext>
            </a:extLst>
          </p:cNvPr>
          <p:cNvPicPr>
            <a:picLocks noChangeAspect="1"/>
          </p:cNvPicPr>
          <p:nvPr/>
        </p:nvPicPr>
        <p:blipFill>
          <a:blip r:embed="rId9"/>
          <a:stretch>
            <a:fillRect/>
          </a:stretch>
        </p:blipFill>
        <p:spPr>
          <a:xfrm>
            <a:off x="8035337" y="4109543"/>
            <a:ext cx="1115391" cy="1123965"/>
          </a:xfrm>
          <a:prstGeom prst="rect">
            <a:avLst/>
          </a:prstGeom>
          <a:solidFill>
            <a:srgbClr val="D8A0BC"/>
          </a:solidFill>
          <a:ln w="38100">
            <a:solidFill>
              <a:srgbClr val="D8A0BC"/>
            </a:solidFill>
          </a:ln>
        </p:spPr>
      </p:pic>
      <p:sp>
        <p:nvSpPr>
          <p:cNvPr id="10" name="TextBox 9">
            <a:extLst>
              <a:ext uri="{FF2B5EF4-FFF2-40B4-BE49-F238E27FC236}">
                <a16:creationId xmlns:a16="http://schemas.microsoft.com/office/drawing/2014/main" id="{5498B19C-1B2E-2F6A-AEEB-38375681CD56}"/>
              </a:ext>
            </a:extLst>
          </p:cNvPr>
          <p:cNvSpPr txBox="1"/>
          <p:nvPr/>
        </p:nvSpPr>
        <p:spPr>
          <a:xfrm>
            <a:off x="7575016" y="4422645"/>
            <a:ext cx="39872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defTabSz="914377">
              <a:buClrTx/>
            </a:pPr>
            <a:r>
              <a:rPr lang="en-GB" sz="2800" b="1" kern="1200" dirty="0">
                <a:solidFill>
                  <a:srgbClr val="A02B93">
                    <a:lumMod val="60000"/>
                    <a:lumOff val="40000"/>
                  </a:srgbClr>
                </a:solidFill>
                <a:latin typeface="Aptos" panose="020B0004020202020204"/>
                <a:ea typeface="+mn-ea"/>
                <a:cs typeface="+mn-cs"/>
              </a:rPr>
              <a:t>+</a:t>
            </a:r>
          </a:p>
        </p:txBody>
      </p:sp>
      <p:sp>
        <p:nvSpPr>
          <p:cNvPr id="11" name="TextBox 5">
            <a:extLst>
              <a:ext uri="{FF2B5EF4-FFF2-40B4-BE49-F238E27FC236}">
                <a16:creationId xmlns:a16="http://schemas.microsoft.com/office/drawing/2014/main" id="{91EEFDE3-7993-F648-38A4-73E14C4CC6A7}"/>
              </a:ext>
            </a:extLst>
          </p:cNvPr>
          <p:cNvSpPr txBox="1"/>
          <p:nvPr/>
        </p:nvSpPr>
        <p:spPr>
          <a:xfrm>
            <a:off x="7499729" y="5304742"/>
            <a:ext cx="2186603" cy="369332"/>
          </a:xfrm>
          <a:prstGeom prst="rect">
            <a:avLst/>
          </a:prstGeom>
          <a:noFill/>
          <a:ln>
            <a:noFill/>
          </a:ln>
        </p:spPr>
        <p:txBody>
          <a:bodyPr wrap="square" lIns="91440" tIns="45720" rIns="91440" bIns="45720" rtlCol="0" anchor="t">
            <a:spAutoFit/>
          </a:bodyPr>
          <a:ls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nl-NL" dirty="0" err="1">
                <a:latin typeface="LM Mono 10"/>
                <a:ea typeface="Cambria Math"/>
              </a:rPr>
              <a:t>Fixed</a:t>
            </a:r>
            <a:r>
              <a:rPr lang="nl-NL" dirty="0">
                <a:latin typeface="LM Mono 10"/>
                <a:ea typeface="Cambria Math"/>
              </a:rPr>
              <a:t> image</a:t>
            </a:r>
            <a:endParaRPr lang="en-NL">
              <a:latin typeface="LM Mono 10" panose="00000509000000000000" pitchFamily="49" charset="0"/>
              <a:ea typeface="Cambria Math" panose="02040503050406030204" pitchFamily="18" charset="0"/>
            </a:endParaRPr>
          </a:p>
        </p:txBody>
      </p:sp>
      <p:pic>
        <p:nvPicPr>
          <p:cNvPr id="3" name="Picture 2">
            <a:extLst>
              <a:ext uri="{FF2B5EF4-FFF2-40B4-BE49-F238E27FC236}">
                <a16:creationId xmlns:a16="http://schemas.microsoft.com/office/drawing/2014/main" id="{FABB1D7A-734A-E5EA-89C2-3867AF2A82E7}"/>
              </a:ext>
            </a:extLst>
          </p:cNvPr>
          <p:cNvPicPr>
            <a:picLocks noChangeAspect="1"/>
          </p:cNvPicPr>
          <p:nvPr/>
        </p:nvPicPr>
        <p:blipFill>
          <a:blip r:embed="rId4"/>
          <a:stretch>
            <a:fillRect/>
          </a:stretch>
        </p:blipFill>
        <p:spPr>
          <a:xfrm>
            <a:off x="9533331" y="4465904"/>
            <a:ext cx="493911" cy="490083"/>
          </a:xfrm>
          <a:prstGeom prst="rect">
            <a:avLst/>
          </a:prstGeom>
          <a:ln w="28575">
            <a:solidFill>
              <a:schemeClr val="accent2">
                <a:lumMod val="60000"/>
                <a:lumOff val="40000"/>
              </a:schemeClr>
            </a:solidFill>
          </a:ln>
        </p:spPr>
      </p:pic>
      <p:pic>
        <p:nvPicPr>
          <p:cNvPr id="4" name="Picture 3">
            <a:extLst>
              <a:ext uri="{FF2B5EF4-FFF2-40B4-BE49-F238E27FC236}">
                <a16:creationId xmlns:a16="http://schemas.microsoft.com/office/drawing/2014/main" id="{2BD3204D-52F3-C276-DF3C-4259715C1694}"/>
              </a:ext>
            </a:extLst>
          </p:cNvPr>
          <p:cNvPicPr>
            <a:picLocks noChangeAspect="1"/>
          </p:cNvPicPr>
          <p:nvPr/>
        </p:nvPicPr>
        <p:blipFill>
          <a:blip r:embed="rId5"/>
          <a:stretch>
            <a:fillRect/>
          </a:stretch>
        </p:blipFill>
        <p:spPr>
          <a:xfrm>
            <a:off x="10000372" y="4467579"/>
            <a:ext cx="484427" cy="490083"/>
          </a:xfrm>
          <a:prstGeom prst="rect">
            <a:avLst/>
          </a:prstGeom>
          <a:ln w="28575">
            <a:solidFill>
              <a:schemeClr val="accent2">
                <a:lumMod val="60000"/>
                <a:lumOff val="40000"/>
              </a:schemeClr>
            </a:solidFill>
          </a:ln>
        </p:spPr>
      </p:pic>
      <p:pic>
        <p:nvPicPr>
          <p:cNvPr id="5" name="Picture 4">
            <a:extLst>
              <a:ext uri="{FF2B5EF4-FFF2-40B4-BE49-F238E27FC236}">
                <a16:creationId xmlns:a16="http://schemas.microsoft.com/office/drawing/2014/main" id="{C1285BA3-5AE7-88CA-24DC-853185BC546A}"/>
              </a:ext>
            </a:extLst>
          </p:cNvPr>
          <p:cNvPicPr>
            <a:picLocks noChangeAspect="1"/>
          </p:cNvPicPr>
          <p:nvPr/>
        </p:nvPicPr>
        <p:blipFill>
          <a:blip r:embed="rId6"/>
          <a:stretch>
            <a:fillRect/>
          </a:stretch>
        </p:blipFill>
        <p:spPr>
          <a:xfrm>
            <a:off x="10491360" y="4464481"/>
            <a:ext cx="486733" cy="484824"/>
          </a:xfrm>
          <a:prstGeom prst="rect">
            <a:avLst/>
          </a:prstGeom>
          <a:ln w="28575">
            <a:solidFill>
              <a:schemeClr val="accent2">
                <a:lumMod val="60000"/>
                <a:lumOff val="40000"/>
              </a:schemeClr>
            </a:solidFill>
          </a:ln>
        </p:spPr>
      </p:pic>
      <p:pic>
        <p:nvPicPr>
          <p:cNvPr id="12" name="Picture 11" descr="A close up of a ball&#10;&#10;AI-generated content may be incorrect.">
            <a:extLst>
              <a:ext uri="{FF2B5EF4-FFF2-40B4-BE49-F238E27FC236}">
                <a16:creationId xmlns:a16="http://schemas.microsoft.com/office/drawing/2014/main" id="{1B69363E-D9A2-AAA7-AA8A-712A32DF83C2}"/>
              </a:ext>
            </a:extLst>
          </p:cNvPr>
          <p:cNvPicPr>
            <a:picLocks noChangeAspect="1"/>
          </p:cNvPicPr>
          <p:nvPr/>
        </p:nvPicPr>
        <p:blipFill>
          <a:blip r:embed="rId7"/>
          <a:stretch>
            <a:fillRect/>
          </a:stretch>
        </p:blipFill>
        <p:spPr>
          <a:xfrm>
            <a:off x="11009678" y="4458267"/>
            <a:ext cx="493911" cy="493911"/>
          </a:xfrm>
          <a:prstGeom prst="rect">
            <a:avLst/>
          </a:prstGeom>
          <a:ln w="28575">
            <a:solidFill>
              <a:schemeClr val="accent2">
                <a:lumMod val="60000"/>
                <a:lumOff val="40000"/>
              </a:schemeClr>
            </a:solidFill>
          </a:ln>
        </p:spPr>
      </p:pic>
      <p:pic>
        <p:nvPicPr>
          <p:cNvPr id="13" name="Picture 12">
            <a:extLst>
              <a:ext uri="{FF2B5EF4-FFF2-40B4-BE49-F238E27FC236}">
                <a16:creationId xmlns:a16="http://schemas.microsoft.com/office/drawing/2014/main" id="{3A4B646F-C12A-4166-CF0A-29346C6C43DB}"/>
              </a:ext>
            </a:extLst>
          </p:cNvPr>
          <p:cNvPicPr>
            <a:picLocks noChangeAspect="1"/>
          </p:cNvPicPr>
          <p:nvPr/>
        </p:nvPicPr>
        <p:blipFill>
          <a:blip r:embed="rId8"/>
          <a:stretch>
            <a:fillRect/>
          </a:stretch>
        </p:blipFill>
        <p:spPr>
          <a:xfrm>
            <a:off x="11505736" y="4459803"/>
            <a:ext cx="506417" cy="502491"/>
          </a:xfrm>
          <a:prstGeom prst="rect">
            <a:avLst/>
          </a:prstGeom>
          <a:ln w="28575">
            <a:solidFill>
              <a:schemeClr val="accent2">
                <a:lumMod val="60000"/>
                <a:lumOff val="40000"/>
              </a:schemeClr>
            </a:solidFill>
          </a:ln>
        </p:spPr>
      </p:pic>
      <p:cxnSp>
        <p:nvCxnSpPr>
          <p:cNvPr id="14" name="Straight Arrow Connector 13">
            <a:extLst>
              <a:ext uri="{FF2B5EF4-FFF2-40B4-BE49-F238E27FC236}">
                <a16:creationId xmlns:a16="http://schemas.microsoft.com/office/drawing/2014/main" id="{7D8ACC26-EB41-B5F9-5189-6A99202D2A46}"/>
              </a:ext>
            </a:extLst>
          </p:cNvPr>
          <p:cNvCxnSpPr>
            <a:cxnSpLocks/>
          </p:cNvCxnSpPr>
          <p:nvPr/>
        </p:nvCxnSpPr>
        <p:spPr>
          <a:xfrm>
            <a:off x="9212327" y="4768107"/>
            <a:ext cx="249415" cy="415"/>
          </a:xfrm>
          <a:prstGeom prst="straightConnector1">
            <a:avLst/>
          </a:prstGeom>
          <a:ln w="28575">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5">
            <a:extLst>
              <a:ext uri="{FF2B5EF4-FFF2-40B4-BE49-F238E27FC236}">
                <a16:creationId xmlns:a16="http://schemas.microsoft.com/office/drawing/2014/main" id="{985DC933-42B2-2997-A1C5-97B7ED3996D0}"/>
              </a:ext>
            </a:extLst>
          </p:cNvPr>
          <p:cNvSpPr txBox="1"/>
          <p:nvPr/>
        </p:nvSpPr>
        <p:spPr>
          <a:xfrm>
            <a:off x="9780285" y="5058348"/>
            <a:ext cx="2186603" cy="369332"/>
          </a:xfrm>
          <a:prstGeom prst="rect">
            <a:avLst/>
          </a:prstGeom>
          <a:noFill/>
          <a:ln>
            <a:noFill/>
          </a:ln>
        </p:spPr>
        <p:txBody>
          <a:bodyPr wrap="square" lIns="91440" tIns="45720" rIns="91440" bIns="45720" rtlCol="0" anchor="t">
            <a:spAutoFit/>
          </a:bodyPr>
          <a:ls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nl-NL" dirty="0" err="1">
                <a:latin typeface="LM Mono 10"/>
                <a:ea typeface="Cambria Math"/>
              </a:rPr>
              <a:t>Warped</a:t>
            </a:r>
            <a:r>
              <a:rPr lang="nl-NL" dirty="0">
                <a:latin typeface="LM Mono 10"/>
                <a:ea typeface="Cambria Math"/>
              </a:rPr>
              <a:t> </a:t>
            </a:r>
            <a:r>
              <a:rPr lang="nl-NL" dirty="0" err="1">
                <a:latin typeface="LM Mono 10"/>
                <a:ea typeface="Cambria Math"/>
              </a:rPr>
              <a:t>sequence</a:t>
            </a:r>
            <a:endParaRPr lang="en-NL">
              <a:latin typeface="LM Mono 10" panose="00000509000000000000" pitchFamily="49" charset="0"/>
              <a:ea typeface="Cambria Math" panose="02040503050406030204" pitchFamily="18" charset="0"/>
            </a:endParaRPr>
          </a:p>
        </p:txBody>
      </p:sp>
      <p:sp>
        <p:nvSpPr>
          <p:cNvPr id="43" name="Google Shape;169;p22"/>
          <p:cNvSpPr txBox="1">
            <a:spLocks/>
          </p:cNvSpPr>
          <p:nvPr/>
        </p:nvSpPr>
        <p:spPr>
          <a:xfrm>
            <a:off x="230778" y="148300"/>
            <a:ext cx="10652700" cy="6219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4400"/>
              <a:buFont typeface="Poppins"/>
              <a:buNone/>
              <a:defRPr sz="4400" b="1" i="0" u="none" strike="noStrike" cap="none" spc="0">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9pPr>
          </a:lstStyle>
          <a:p>
            <a:pPr>
              <a:lnSpc>
                <a:spcPct val="120000"/>
              </a:lnSpc>
              <a:buClr>
                <a:srgbClr val="0000FF"/>
              </a:buClr>
              <a:buSzPts val="3400"/>
            </a:pPr>
            <a:r>
              <a:rPr lang="nl-NL" sz="3400" smtClean="0">
                <a:solidFill>
                  <a:srgbClr val="0000FF"/>
                </a:solidFill>
              </a:rPr>
              <a:t>Example (Alvarez, et al. 2026)</a:t>
            </a:r>
            <a:endParaRPr lang="nl-NL" sz="3400" dirty="0"/>
          </a:p>
        </p:txBody>
      </p:sp>
    </p:spTree>
    <p:extLst>
      <p:ext uri="{BB962C8B-B14F-4D97-AF65-F5344CB8AC3E}">
        <p14:creationId xmlns:p14="http://schemas.microsoft.com/office/powerpoint/2010/main" val="26258639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31"/>
          <p:cNvSpPr txBox="1">
            <a:spLocks noGrp="1"/>
          </p:cNvSpPr>
          <p:nvPr>
            <p:ph type="title"/>
          </p:nvPr>
        </p:nvSpPr>
        <p:spPr>
          <a:xfrm>
            <a:off x="36397" y="132735"/>
            <a:ext cx="11360800" cy="763600"/>
          </a:xfrm>
          <a:prstGeom prst="rect">
            <a:avLst/>
          </a:prstGeom>
        </p:spPr>
        <p:txBody>
          <a:bodyPr spcFirstLastPara="1" wrap="square" lIns="91433" tIns="45700" rIns="91433" bIns="45700" anchor="ctr" anchorCtr="0">
            <a:normAutofit/>
          </a:bodyPr>
          <a:lstStyle/>
          <a:p>
            <a:r>
              <a:rPr lang="en-GB" dirty="0"/>
              <a:t>Displacement for controls and CRT</a:t>
            </a:r>
            <a:endParaRPr dirty="0"/>
          </a:p>
        </p:txBody>
      </p:sp>
      <p:sp>
        <p:nvSpPr>
          <p:cNvPr id="2" name="TextBox 8">
            <a:extLst>
              <a:ext uri="{FF2B5EF4-FFF2-40B4-BE49-F238E27FC236}">
                <a16:creationId xmlns:a16="http://schemas.microsoft.com/office/drawing/2014/main" id="{A496BCBF-3E6B-FFD2-6D27-61F7BFB362D8}"/>
              </a:ext>
            </a:extLst>
          </p:cNvPr>
          <p:cNvSpPr txBox="1"/>
          <p:nvPr/>
        </p:nvSpPr>
        <p:spPr>
          <a:xfrm>
            <a:off x="1697262" y="3954978"/>
            <a:ext cx="5100407" cy="492443"/>
          </a:xfrm>
          <a:prstGeom prst="rect">
            <a:avLst/>
          </a:prstGeom>
          <a:noFill/>
        </p:spPr>
        <p:txBody>
          <a:bodyPr rot="0" spcFirstLastPara="0" vert="horz" wrap="square" lIns="121920" tIns="60960" rIns="121920" bIns="60960" numCol="1" spcCol="0" rtlCol="0" fromWordArt="0" anchor="t" anchorCtr="0" forceAA="0" compatLnSpc="1">
            <a:prstTxWarp prst="textNoShape">
              <a:avLst/>
            </a:prstTxWarp>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2400" i="1" dirty="0"/>
              <a:t>CRTD subject</a:t>
            </a:r>
            <a:endParaRPr lang="en-US" sz="2400" dirty="0"/>
          </a:p>
        </p:txBody>
      </p:sp>
      <p:sp>
        <p:nvSpPr>
          <p:cNvPr id="3" name="TextBox 8">
            <a:extLst>
              <a:ext uri="{FF2B5EF4-FFF2-40B4-BE49-F238E27FC236}">
                <a16:creationId xmlns:a16="http://schemas.microsoft.com/office/drawing/2014/main" id="{F05BFF35-FBE9-9E14-FCC4-4FC69176E95D}"/>
              </a:ext>
            </a:extLst>
          </p:cNvPr>
          <p:cNvSpPr txBox="1"/>
          <p:nvPr/>
        </p:nvSpPr>
        <p:spPr>
          <a:xfrm>
            <a:off x="1508190" y="969036"/>
            <a:ext cx="5100407" cy="492443"/>
          </a:xfrm>
          <a:prstGeom prst="rect">
            <a:avLst/>
          </a:prstGeom>
          <a:noFill/>
        </p:spPr>
        <p:txBody>
          <a:bodyPr rot="0" spcFirstLastPara="0" vert="horz" wrap="square" lIns="121920" tIns="60960" rIns="121920" bIns="60960" numCol="1" spcCol="0" rtlCol="0" fromWordArt="0" anchor="t" anchorCtr="0" forceAA="0" compatLnSpc="1">
            <a:prstTxWarp prst="textNoShape">
              <a:avLst/>
            </a:prstTxWarp>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2400" i="1" dirty="0"/>
              <a:t>Control subject</a:t>
            </a:r>
            <a:endParaRPr lang="en-US" sz="2400" dirty="0"/>
          </a:p>
        </p:txBody>
      </p:sp>
      <p:pic>
        <p:nvPicPr>
          <p:cNvPr id="4" name="Screen Recording 2025-10-20 at 21.29.05">
            <a:hlinkClick r:id="" action="ppaction://media"/>
            <a:extLst>
              <a:ext uri="{FF2B5EF4-FFF2-40B4-BE49-F238E27FC236}">
                <a16:creationId xmlns:a16="http://schemas.microsoft.com/office/drawing/2014/main" id="{7CA50F0A-2C9A-43B9-A128-912271764DBF}"/>
              </a:ext>
            </a:extLst>
          </p:cNvPr>
          <p:cNvPicPr>
            <a:picLocks noChangeAspect="1"/>
          </p:cNvPicPr>
          <p:nvPr>
            <a:videoFile r:link="rId1"/>
            <p:extLst>
              <p:ext uri="{DAA4B4D4-6D71-4841-9C94-3DE7FCFB9230}">
                <p14:media xmlns:p14="http://schemas.microsoft.com/office/powerpoint/2010/main" r:embed="rId2">
                  <p14:trim end="22970.2616"/>
                </p14:media>
              </p:ext>
            </p:extLst>
          </p:nvPr>
        </p:nvPicPr>
        <p:blipFill>
          <a:blip r:embed="rId6"/>
          <a:stretch>
            <a:fillRect/>
          </a:stretch>
        </p:blipFill>
        <p:spPr>
          <a:xfrm>
            <a:off x="1206970" y="4428547"/>
            <a:ext cx="3219492" cy="2418651"/>
          </a:xfrm>
          <a:prstGeom prst="rect">
            <a:avLst/>
          </a:prstGeom>
        </p:spPr>
      </p:pic>
      <p:pic>
        <p:nvPicPr>
          <p:cNvPr id="5" name="Screen Recording 2025-10-20 at 21.28.39">
            <a:hlinkClick r:id="" action="ppaction://media"/>
            <a:extLst>
              <a:ext uri="{FF2B5EF4-FFF2-40B4-BE49-F238E27FC236}">
                <a16:creationId xmlns:a16="http://schemas.microsoft.com/office/drawing/2014/main" id="{79A0E625-FEC8-F504-C6E9-2645FF26E6D6}"/>
              </a:ext>
            </a:extLst>
          </p:cNvPr>
          <p:cNvPicPr>
            <a:picLocks noChangeAspect="1"/>
          </p:cNvPicPr>
          <p:nvPr>
            <a:videoFile r:link="rId1"/>
            <p:extLst>
              <p:ext uri="{DAA4B4D4-6D71-4841-9C94-3DE7FCFB9230}">
                <p14:media xmlns:p14="http://schemas.microsoft.com/office/powerpoint/2010/main" r:embed="rId3">
                  <p14:trim st="3142.3473" end="3176.4037"/>
                </p14:media>
              </p:ext>
            </p:extLst>
          </p:nvPr>
        </p:nvPicPr>
        <p:blipFill>
          <a:blip r:embed="rId7"/>
          <a:stretch>
            <a:fillRect/>
          </a:stretch>
        </p:blipFill>
        <p:spPr>
          <a:xfrm>
            <a:off x="1110595" y="1459200"/>
            <a:ext cx="3549620" cy="2506433"/>
          </a:xfrm>
          <a:prstGeom prst="rect">
            <a:avLst/>
          </a:prstGeom>
        </p:spPr>
      </p:pic>
      <p:pic>
        <p:nvPicPr>
          <p:cNvPr id="8" name="Picture 7">
            <a:extLst>
              <a:ext uri="{FF2B5EF4-FFF2-40B4-BE49-F238E27FC236}">
                <a16:creationId xmlns:a16="http://schemas.microsoft.com/office/drawing/2014/main" id="{27AC5327-62ED-E0A5-FB02-A0A9589291D3}"/>
              </a:ext>
            </a:extLst>
          </p:cNvPr>
          <p:cNvPicPr>
            <a:picLocks noChangeAspect="1"/>
          </p:cNvPicPr>
          <p:nvPr/>
        </p:nvPicPr>
        <p:blipFill>
          <a:blip r:embed="rId8"/>
          <a:stretch>
            <a:fillRect/>
          </a:stretch>
        </p:blipFill>
        <p:spPr>
          <a:xfrm>
            <a:off x="6096001" y="1533715"/>
            <a:ext cx="5254945" cy="1865885"/>
          </a:xfrm>
          <a:prstGeom prst="rect">
            <a:avLst/>
          </a:prstGeom>
        </p:spPr>
      </p:pic>
      <p:pic>
        <p:nvPicPr>
          <p:cNvPr id="9" name="Picture 8">
            <a:extLst>
              <a:ext uri="{FF2B5EF4-FFF2-40B4-BE49-F238E27FC236}">
                <a16:creationId xmlns:a16="http://schemas.microsoft.com/office/drawing/2014/main" id="{4151633C-EB57-D8E1-1D96-06964F2AE414}"/>
              </a:ext>
            </a:extLst>
          </p:cNvPr>
          <p:cNvPicPr>
            <a:picLocks noChangeAspect="1"/>
          </p:cNvPicPr>
          <p:nvPr/>
        </p:nvPicPr>
        <p:blipFill>
          <a:blip r:embed="rId9"/>
          <a:stretch>
            <a:fillRect/>
          </a:stretch>
        </p:blipFill>
        <p:spPr>
          <a:xfrm>
            <a:off x="6164920" y="4755741"/>
            <a:ext cx="5029113" cy="1781128"/>
          </a:xfrm>
          <a:prstGeom prst="rect">
            <a:avLst/>
          </a:prstGeom>
        </p:spPr>
      </p:pic>
      <p:grpSp>
        <p:nvGrpSpPr>
          <p:cNvPr id="14" name="Group 13">
            <a:extLst>
              <a:ext uri="{FF2B5EF4-FFF2-40B4-BE49-F238E27FC236}">
                <a16:creationId xmlns:a16="http://schemas.microsoft.com/office/drawing/2014/main" id="{CBCFCC54-269F-DDD7-4FDE-DDA127824C09}"/>
              </a:ext>
            </a:extLst>
          </p:cNvPr>
          <p:cNvGrpSpPr/>
          <p:nvPr/>
        </p:nvGrpSpPr>
        <p:grpSpPr>
          <a:xfrm>
            <a:off x="6164919" y="3655854"/>
            <a:ext cx="5058757" cy="410135"/>
            <a:chOff x="2268638" y="3179620"/>
            <a:chExt cx="3794068" cy="307601"/>
          </a:xfrm>
        </p:grpSpPr>
        <p:sp>
          <p:nvSpPr>
            <p:cNvPr id="10" name="Rectangle 9">
              <a:extLst>
                <a:ext uri="{FF2B5EF4-FFF2-40B4-BE49-F238E27FC236}">
                  <a16:creationId xmlns:a16="http://schemas.microsoft.com/office/drawing/2014/main" id="{AAA00C8A-6A22-8036-28A2-C167AE16250F}"/>
                </a:ext>
              </a:extLst>
            </p:cNvPr>
            <p:cNvSpPr/>
            <p:nvPr/>
          </p:nvSpPr>
          <p:spPr>
            <a:xfrm>
              <a:off x="2268638" y="3333509"/>
              <a:ext cx="474562" cy="45719"/>
            </a:xfrm>
            <a:prstGeom prst="rect">
              <a:avLst/>
            </a:prstGeom>
            <a:solidFill>
              <a:srgbClr val="5196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S" sz="1867" dirty="0"/>
            </a:p>
          </p:txBody>
        </p:sp>
        <p:sp>
          <p:nvSpPr>
            <p:cNvPr id="11" name="Rectangle 10">
              <a:extLst>
                <a:ext uri="{FF2B5EF4-FFF2-40B4-BE49-F238E27FC236}">
                  <a16:creationId xmlns:a16="http://schemas.microsoft.com/office/drawing/2014/main" id="{BACF07D3-C5BE-9931-D090-06FCAD735BCA}"/>
                </a:ext>
              </a:extLst>
            </p:cNvPr>
            <p:cNvSpPr/>
            <p:nvPr/>
          </p:nvSpPr>
          <p:spPr>
            <a:xfrm>
              <a:off x="4572000" y="3333509"/>
              <a:ext cx="474562" cy="45719"/>
            </a:xfrm>
            <a:prstGeom prst="rect">
              <a:avLst/>
            </a:prstGeom>
            <a:solidFill>
              <a:srgbClr val="FF9E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S" sz="1867" dirty="0"/>
            </a:p>
          </p:txBody>
        </p:sp>
        <p:sp>
          <p:nvSpPr>
            <p:cNvPr id="12" name="TextBox 11">
              <a:extLst>
                <a:ext uri="{FF2B5EF4-FFF2-40B4-BE49-F238E27FC236}">
                  <a16:creationId xmlns:a16="http://schemas.microsoft.com/office/drawing/2014/main" id="{7F65E960-12B3-03F5-EF26-6F03738713B0}"/>
                </a:ext>
              </a:extLst>
            </p:cNvPr>
            <p:cNvSpPr txBox="1"/>
            <p:nvPr/>
          </p:nvSpPr>
          <p:spPr>
            <a:xfrm>
              <a:off x="2743200" y="3202479"/>
              <a:ext cx="1176044" cy="284742"/>
            </a:xfrm>
            <a:prstGeom prst="rect">
              <a:avLst/>
            </a:prstGeom>
            <a:noFill/>
          </p:spPr>
          <p:txBody>
            <a:bodyPr wrap="none" rtlCol="0">
              <a:spAutoFit/>
            </a:bodyPr>
            <a:lstStyle/>
            <a:p>
              <a:r>
                <a:rPr lang="en-ES" sz="1867" dirty="0"/>
                <a:t>endocardium</a:t>
              </a:r>
            </a:p>
          </p:txBody>
        </p:sp>
        <p:sp>
          <p:nvSpPr>
            <p:cNvPr id="13" name="TextBox 12">
              <a:extLst>
                <a:ext uri="{FF2B5EF4-FFF2-40B4-BE49-F238E27FC236}">
                  <a16:creationId xmlns:a16="http://schemas.microsoft.com/office/drawing/2014/main" id="{71000ADE-1428-5470-6396-54C0A6193847}"/>
                </a:ext>
              </a:extLst>
            </p:cNvPr>
            <p:cNvSpPr txBox="1"/>
            <p:nvPr/>
          </p:nvSpPr>
          <p:spPr>
            <a:xfrm>
              <a:off x="5046562" y="3179620"/>
              <a:ext cx="1016144" cy="284742"/>
            </a:xfrm>
            <a:prstGeom prst="rect">
              <a:avLst/>
            </a:prstGeom>
            <a:noFill/>
          </p:spPr>
          <p:txBody>
            <a:bodyPr wrap="none" rtlCol="0">
              <a:spAutoFit/>
            </a:bodyPr>
            <a:lstStyle/>
            <a:p>
              <a:r>
                <a:rPr lang="en-ES" sz="1867" dirty="0"/>
                <a:t>epicardium</a:t>
              </a:r>
            </a:p>
          </p:txBody>
        </p:sp>
      </p:grpSp>
      <p:sp>
        <p:nvSpPr>
          <p:cNvPr id="15" name="TextBox 14">
            <a:extLst>
              <a:ext uri="{FF2B5EF4-FFF2-40B4-BE49-F238E27FC236}">
                <a16:creationId xmlns:a16="http://schemas.microsoft.com/office/drawing/2014/main" id="{A6AB6D70-BC85-BDEF-5CD8-C5F988C8C3A3}"/>
              </a:ext>
            </a:extLst>
          </p:cNvPr>
          <p:cNvSpPr txBox="1"/>
          <p:nvPr/>
        </p:nvSpPr>
        <p:spPr>
          <a:xfrm>
            <a:off x="6414955" y="1111641"/>
            <a:ext cx="1420582" cy="379656"/>
          </a:xfrm>
          <a:prstGeom prst="rect">
            <a:avLst/>
          </a:prstGeom>
          <a:noFill/>
        </p:spPr>
        <p:txBody>
          <a:bodyPr wrap="none" rtlCol="0">
            <a:spAutoFit/>
          </a:bodyPr>
          <a:lstStyle/>
          <a:p>
            <a:r>
              <a:rPr lang="en-GB" sz="1867" dirty="0"/>
              <a:t>r</a:t>
            </a:r>
            <a:r>
              <a:rPr lang="en-ES" sz="1867" dirty="0"/>
              <a:t>adial strain</a:t>
            </a:r>
          </a:p>
        </p:txBody>
      </p:sp>
      <p:sp>
        <p:nvSpPr>
          <p:cNvPr id="16" name="TextBox 15">
            <a:extLst>
              <a:ext uri="{FF2B5EF4-FFF2-40B4-BE49-F238E27FC236}">
                <a16:creationId xmlns:a16="http://schemas.microsoft.com/office/drawing/2014/main" id="{A93A65E9-FD52-0006-486E-786DC6E33A16}"/>
              </a:ext>
            </a:extLst>
          </p:cNvPr>
          <p:cNvSpPr txBox="1"/>
          <p:nvPr/>
        </p:nvSpPr>
        <p:spPr>
          <a:xfrm>
            <a:off x="9253361" y="1101520"/>
            <a:ext cx="1739579" cy="379656"/>
          </a:xfrm>
          <a:prstGeom prst="rect">
            <a:avLst/>
          </a:prstGeom>
          <a:noFill/>
        </p:spPr>
        <p:txBody>
          <a:bodyPr wrap="none" rtlCol="0">
            <a:spAutoFit/>
          </a:bodyPr>
          <a:lstStyle/>
          <a:p>
            <a:r>
              <a:rPr lang="en-ES" sz="1867" dirty="0"/>
              <a:t>circumferential</a:t>
            </a:r>
          </a:p>
        </p:txBody>
      </p:sp>
      <p:sp>
        <p:nvSpPr>
          <p:cNvPr id="17" name="TextBox 16">
            <a:extLst>
              <a:ext uri="{FF2B5EF4-FFF2-40B4-BE49-F238E27FC236}">
                <a16:creationId xmlns:a16="http://schemas.microsoft.com/office/drawing/2014/main" id="{28ABF181-8B84-BEDC-3787-DEFFD5D390C7}"/>
              </a:ext>
            </a:extLst>
          </p:cNvPr>
          <p:cNvSpPr txBox="1"/>
          <p:nvPr/>
        </p:nvSpPr>
        <p:spPr>
          <a:xfrm>
            <a:off x="6419330" y="4272189"/>
            <a:ext cx="1479465" cy="379656"/>
          </a:xfrm>
          <a:prstGeom prst="rect">
            <a:avLst/>
          </a:prstGeom>
          <a:noFill/>
        </p:spPr>
        <p:txBody>
          <a:bodyPr wrap="square" rtlCol="0">
            <a:spAutoFit/>
          </a:bodyPr>
          <a:lstStyle/>
          <a:p>
            <a:r>
              <a:rPr lang="en-GB" sz="1867" dirty="0"/>
              <a:t>r</a:t>
            </a:r>
            <a:r>
              <a:rPr lang="en-ES" sz="1867" dirty="0"/>
              <a:t>adial strain</a:t>
            </a:r>
          </a:p>
        </p:txBody>
      </p:sp>
      <p:sp>
        <p:nvSpPr>
          <p:cNvPr id="18" name="TextBox 17">
            <a:extLst>
              <a:ext uri="{FF2B5EF4-FFF2-40B4-BE49-F238E27FC236}">
                <a16:creationId xmlns:a16="http://schemas.microsoft.com/office/drawing/2014/main" id="{EB5D1ECF-0D4B-0E9B-8E33-05573CB8E088}"/>
              </a:ext>
            </a:extLst>
          </p:cNvPr>
          <p:cNvSpPr txBox="1"/>
          <p:nvPr/>
        </p:nvSpPr>
        <p:spPr>
          <a:xfrm>
            <a:off x="9187103" y="4302669"/>
            <a:ext cx="1797928" cy="379656"/>
          </a:xfrm>
          <a:prstGeom prst="rect">
            <a:avLst/>
          </a:prstGeom>
          <a:noFill/>
        </p:spPr>
        <p:txBody>
          <a:bodyPr wrap="square" rtlCol="0">
            <a:spAutoFit/>
          </a:bodyPr>
          <a:lstStyle/>
          <a:p>
            <a:r>
              <a:rPr lang="en-US" sz="1867" dirty="0"/>
              <a:t>circumferential</a:t>
            </a:r>
            <a:endParaRPr lang="en-ES" sz="1867" dirty="0"/>
          </a:p>
        </p:txBody>
      </p:sp>
    </p:spTree>
    <p:extLst>
      <p:ext uri="{BB962C8B-B14F-4D97-AF65-F5344CB8AC3E}">
        <p14:creationId xmlns:p14="http://schemas.microsoft.com/office/powerpoint/2010/main" val="2333565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781" fill="hold"/>
                                        <p:tgtEl>
                                          <p:spTgt spid="5"/>
                                        </p:tgtEl>
                                      </p:cBhvr>
                                    </p:cmd>
                                  </p:childTnLst>
                                </p:cTn>
                              </p:par>
                            </p:childTnLst>
                          </p:cTn>
                        </p:par>
                        <p:par>
                          <p:cTn id="7" fill="hold">
                            <p:stCondLst>
                              <p:cond delay="5781"/>
                            </p:stCondLst>
                            <p:childTnLst>
                              <p:par>
                                <p:cTn id="8" presetID="1" presetClass="mediacall" presetSubtype="0" fill="hold" nodeType="afterEffect">
                                  <p:stCondLst>
                                    <p:cond delay="0"/>
                                  </p:stCondLst>
                                  <p:childTnLst>
                                    <p:cmd type="call" cmd="playFrom(0.0)">
                                      <p:cBhvr>
                                        <p:cTn id="9" dur="7729"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0" repeatCount="indefinite" fill="hold" display="0">
                  <p:stCondLst>
                    <p:cond delay="indefinite"/>
                  </p:stCondLst>
                </p:cTn>
                <p:tgtEl>
                  <p:spTgt spid="5"/>
                </p:tgtEl>
              </p:cMediaNode>
            </p:video>
            <p:seq concurrent="1" nextAc="seek">
              <p:cTn id="11" restart="whenNotActive" fill="hold" evtFilter="cancelBubble" nodeType="interactiveSeq">
                <p:stCondLst>
                  <p:cond evt="onClick" delay="0">
                    <p:tgtEl>
                      <p:spTgt spid="5"/>
                    </p:tgtEl>
                  </p:cond>
                </p:stCondLst>
                <p:endSync evt="end" delay="0">
                  <p:rtn val="all"/>
                </p:endSync>
                <p:childTnLst>
                  <p:par>
                    <p:cTn id="12" fill="hold">
                      <p:stCondLst>
                        <p:cond delay="0"/>
                      </p:stCondLst>
                      <p:childTnLst>
                        <p:par>
                          <p:cTn id="13" fill="hold">
                            <p:stCondLst>
                              <p:cond delay="0"/>
                            </p:stCondLst>
                            <p:childTnLst>
                              <p:par>
                                <p:cTn id="14" presetID="2" presetClass="mediacall" presetSubtype="0" fill="hold" nodeType="clickEffect">
                                  <p:stCondLst>
                                    <p:cond delay="0"/>
                                  </p:stCondLst>
                                  <p:childTnLst>
                                    <p:cmd type="call" cmd="togglePause">
                                      <p:cBhvr>
                                        <p:cTn id="15" dur="1" fill="hold"/>
                                        <p:tgtEl>
                                          <p:spTgt spid="5"/>
                                        </p:tgtEl>
                                      </p:cBhvr>
                                    </p:cmd>
                                  </p:childTnLst>
                                </p:cTn>
                              </p:par>
                            </p:childTnLst>
                          </p:cTn>
                        </p:par>
                      </p:childTnLst>
                    </p:cTn>
                  </p:par>
                </p:childTnLst>
              </p:cTn>
              <p:nextCondLst>
                <p:cond evt="onClick" delay="0">
                  <p:tgtEl>
                    <p:spTgt spid="5"/>
                  </p:tgtEl>
                </p:cond>
              </p:nextCondLst>
            </p:seq>
            <p:video>
              <p:cMediaNode vol="80000">
                <p:cTn id="16" repeatCount="indefinite" fill="hold" display="0">
                  <p:stCondLst>
                    <p:cond delay="indefinite"/>
                  </p:stCondLst>
                </p:cTn>
                <p:tgtEl>
                  <p:spTgt spid="4"/>
                </p:tgtEl>
              </p:cMediaNode>
            </p:video>
            <p:seq concurrent="1" nextAc="seek">
              <p:cTn id="17" restart="whenNotActive" fill="hold" evtFilter="cancelBubble" nodeType="interactiveSeq">
                <p:stCondLst>
                  <p:cond evt="onClick" delay="0">
                    <p:tgtEl>
                      <p:spTgt spid="4"/>
                    </p:tgtEl>
                  </p:cond>
                </p:stCondLst>
                <p:endSync evt="end" delay="0">
                  <p:rtn val="all"/>
                </p:endSync>
                <p:childTnLst>
                  <p:par>
                    <p:cTn id="18" fill="hold">
                      <p:stCondLst>
                        <p:cond delay="0"/>
                      </p:stCondLst>
                      <p:childTnLst>
                        <p:par>
                          <p:cTn id="19" fill="hold">
                            <p:stCondLst>
                              <p:cond delay="0"/>
                            </p:stCondLst>
                            <p:childTnLst>
                              <p:par>
                                <p:cTn id="20" presetID="2" presetClass="mediacall" presetSubtype="0" fill="hold" nodeType="clickEffect">
                                  <p:stCondLst>
                                    <p:cond delay="0"/>
                                  </p:stCondLst>
                                  <p:childTnLst>
                                    <p:cmd type="call" cmd="togglePause">
                                      <p:cBhvr>
                                        <p:cTn id="21"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8"/>
          <p:cNvSpPr txBox="1">
            <a:spLocks noGrp="1"/>
          </p:cNvSpPr>
          <p:nvPr>
            <p:ph type="title" idx="4294967295"/>
          </p:nvPr>
        </p:nvSpPr>
        <p:spPr>
          <a:xfrm>
            <a:off x="3849358" y="2502523"/>
            <a:ext cx="10652700" cy="6219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rgbClr val="0000FF"/>
              </a:buClr>
              <a:buSzPts val="3400"/>
              <a:buFont typeface="Poppins"/>
              <a:buNone/>
            </a:pPr>
            <a:r>
              <a:rPr lang="nl-NL" sz="3400" dirty="0" err="1" smtClean="0">
                <a:solidFill>
                  <a:srgbClr val="0000FF"/>
                </a:solidFill>
              </a:rPr>
              <a:t>What</a:t>
            </a:r>
            <a:r>
              <a:rPr lang="nl-NL" sz="3400" dirty="0" smtClean="0">
                <a:solidFill>
                  <a:srgbClr val="0000FF"/>
                </a:solidFill>
              </a:rPr>
              <a:t> </a:t>
            </a:r>
            <a:r>
              <a:rPr lang="nl-NL" sz="3400" dirty="0" err="1" smtClean="0">
                <a:solidFill>
                  <a:srgbClr val="0000FF"/>
                </a:solidFill>
              </a:rPr>
              <a:t>about</a:t>
            </a:r>
            <a:r>
              <a:rPr lang="nl-NL" sz="3400" dirty="0" smtClean="0">
                <a:solidFill>
                  <a:srgbClr val="0000FF"/>
                </a:solidFill>
              </a:rPr>
              <a:t> </a:t>
            </a:r>
            <a:r>
              <a:rPr lang="nl-NL" sz="3400" dirty="0" err="1" smtClean="0">
                <a:solidFill>
                  <a:srgbClr val="0000FF"/>
                </a:solidFill>
              </a:rPr>
              <a:t>LGEs</a:t>
            </a:r>
            <a:r>
              <a:rPr lang="nl-NL" sz="3400" dirty="0" smtClean="0">
                <a:solidFill>
                  <a:srgbClr val="0000FF"/>
                </a:solidFill>
              </a:rPr>
              <a:t>?</a:t>
            </a:r>
            <a:endParaRPr sz="3400" b="1" dirty="0">
              <a:latin typeface="Poppins"/>
              <a:ea typeface="Poppins"/>
              <a:cs typeface="Poppins"/>
              <a:sym typeface="Poppins"/>
            </a:endParaRPr>
          </a:p>
        </p:txBody>
      </p:sp>
    </p:spTree>
    <p:extLst>
      <p:ext uri="{BB962C8B-B14F-4D97-AF65-F5344CB8AC3E}">
        <p14:creationId xmlns:p14="http://schemas.microsoft.com/office/powerpoint/2010/main" val="4228836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8"/>
          <p:cNvSpPr txBox="1">
            <a:spLocks noGrp="1"/>
          </p:cNvSpPr>
          <p:nvPr>
            <p:ph type="title" idx="4294967295"/>
          </p:nvPr>
        </p:nvSpPr>
        <p:spPr>
          <a:xfrm>
            <a:off x="771180" y="456439"/>
            <a:ext cx="10652700" cy="6219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rgbClr val="0000FF"/>
              </a:buClr>
              <a:buSzPts val="3400"/>
              <a:buFont typeface="Poppins"/>
              <a:buNone/>
            </a:pPr>
            <a:r>
              <a:rPr lang="nl-NL" sz="3400">
                <a:solidFill>
                  <a:srgbClr val="0000FF"/>
                </a:solidFill>
              </a:rPr>
              <a:t>Generating images with their masks</a:t>
            </a:r>
            <a:endParaRPr sz="3400" b="1">
              <a:latin typeface="Poppins"/>
              <a:ea typeface="Poppins"/>
              <a:cs typeface="Poppins"/>
              <a:sym typeface="Poppins"/>
            </a:endParaRPr>
          </a:p>
        </p:txBody>
      </p:sp>
      <p:sp>
        <p:nvSpPr>
          <p:cNvPr id="139" name="Google Shape;139;p18"/>
          <p:cNvSpPr txBox="1"/>
          <p:nvPr/>
        </p:nvSpPr>
        <p:spPr>
          <a:xfrm>
            <a:off x="771180" y="1417320"/>
            <a:ext cx="5669400" cy="42063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rgbClr val="1F2938"/>
              </a:buClr>
              <a:buSzPts val="1800"/>
              <a:buFont typeface="Poppins"/>
              <a:buChar char="●"/>
            </a:pPr>
            <a:r>
              <a:rPr lang="nl-NL" sz="1800" dirty="0">
                <a:solidFill>
                  <a:srgbClr val="1F2938"/>
                </a:solidFill>
                <a:latin typeface="Poppins"/>
                <a:ea typeface="Poppins"/>
                <a:cs typeface="Poppins"/>
                <a:sym typeface="Poppins"/>
              </a:rPr>
              <a:t>Train a </a:t>
            </a:r>
            <a:r>
              <a:rPr lang="nl-NL" sz="1800" dirty="0" err="1">
                <a:solidFill>
                  <a:srgbClr val="1F2938"/>
                </a:solidFill>
                <a:latin typeface="Poppins"/>
                <a:ea typeface="Poppins"/>
                <a:cs typeface="Poppins"/>
                <a:sym typeface="Poppins"/>
              </a:rPr>
              <a:t>diffusion</a:t>
            </a:r>
            <a:r>
              <a:rPr lang="nl-NL" sz="1800" dirty="0">
                <a:solidFill>
                  <a:srgbClr val="1F2938"/>
                </a:solidFill>
                <a:latin typeface="Poppins"/>
                <a:ea typeface="Poppins"/>
                <a:cs typeface="Poppins"/>
                <a:sym typeface="Poppins"/>
              </a:rPr>
              <a:t> model on </a:t>
            </a:r>
            <a:r>
              <a:rPr lang="nl-NL" sz="1800" dirty="0" err="1">
                <a:solidFill>
                  <a:srgbClr val="1F2938"/>
                </a:solidFill>
                <a:latin typeface="Poppins"/>
                <a:ea typeface="Poppins"/>
                <a:cs typeface="Poppins"/>
                <a:sym typeface="Poppins"/>
              </a:rPr>
              <a:t>the</a:t>
            </a:r>
            <a:r>
              <a:rPr lang="nl-NL" sz="1800" dirty="0">
                <a:solidFill>
                  <a:srgbClr val="1F2938"/>
                </a:solidFill>
                <a:latin typeface="Poppins"/>
                <a:ea typeface="Poppins"/>
                <a:cs typeface="Poppins"/>
                <a:sym typeface="Poppins"/>
              </a:rPr>
              <a:t> latents </a:t>
            </a:r>
            <a:r>
              <a:rPr lang="nl-NL" sz="1800" dirty="0" err="1">
                <a:solidFill>
                  <a:srgbClr val="1F2938"/>
                </a:solidFill>
                <a:latin typeface="Poppins"/>
                <a:ea typeface="Poppins"/>
                <a:cs typeface="Poppins"/>
                <a:sym typeface="Poppins"/>
              </a:rPr>
              <a:t>instead</a:t>
            </a:r>
            <a:r>
              <a:rPr lang="nl-NL" sz="1800" dirty="0">
                <a:solidFill>
                  <a:srgbClr val="1F2938"/>
                </a:solidFill>
                <a:latin typeface="Poppins"/>
                <a:ea typeface="Poppins"/>
                <a:cs typeface="Poppins"/>
                <a:sym typeface="Poppins"/>
              </a:rPr>
              <a:t> of on pixels</a:t>
            </a:r>
            <a:endParaRPr sz="1800"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dirty="0" err="1">
                <a:solidFill>
                  <a:srgbClr val="1F2938"/>
                </a:solidFill>
                <a:latin typeface="Poppins"/>
                <a:ea typeface="Poppins"/>
                <a:cs typeface="Poppins"/>
                <a:sym typeface="Poppins"/>
              </a:rPr>
              <a:t>Decode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each</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sampled</a:t>
            </a:r>
            <a:r>
              <a:rPr lang="nl-NL" sz="1800" dirty="0">
                <a:solidFill>
                  <a:srgbClr val="1F2938"/>
                </a:solidFill>
                <a:latin typeface="Poppins"/>
                <a:ea typeface="Poppins"/>
                <a:cs typeface="Poppins"/>
                <a:sym typeface="Poppins"/>
              </a:rPr>
              <a:t> latent </a:t>
            </a:r>
            <a:r>
              <a:rPr lang="nl-NL" sz="1800" dirty="0" err="1">
                <a:solidFill>
                  <a:srgbClr val="1F2938"/>
                </a:solidFill>
                <a:latin typeface="Poppins"/>
                <a:ea typeface="Poppins"/>
                <a:cs typeface="Poppins"/>
                <a:sym typeface="Poppins"/>
              </a:rPr>
              <a:t>into</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an</a:t>
            </a:r>
            <a:r>
              <a:rPr lang="nl-NL" sz="1800" dirty="0">
                <a:solidFill>
                  <a:srgbClr val="1F2938"/>
                </a:solidFill>
                <a:latin typeface="Poppins"/>
                <a:ea typeface="Poppins"/>
                <a:cs typeface="Poppins"/>
                <a:sym typeface="Poppins"/>
              </a:rPr>
              <a:t> image </a:t>
            </a:r>
            <a:r>
              <a:rPr lang="nl-NL" sz="1800" dirty="0" err="1">
                <a:solidFill>
                  <a:srgbClr val="1F2938"/>
                </a:solidFill>
                <a:latin typeface="Poppins"/>
                <a:ea typeface="Poppins"/>
                <a:cs typeface="Poppins"/>
                <a:sym typeface="Poppins"/>
              </a:rPr>
              <a:t>and</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its</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mask</a:t>
            </a:r>
            <a:endParaRPr sz="1800"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dirty="0">
                <a:solidFill>
                  <a:srgbClr val="1F2938"/>
                </a:solidFill>
                <a:latin typeface="Poppins"/>
                <a:ea typeface="Poppins"/>
                <a:cs typeface="Poppins"/>
                <a:sym typeface="Poppins"/>
              </a:rPr>
              <a:t>The pairs are extra </a:t>
            </a:r>
            <a:r>
              <a:rPr lang="nl-NL" sz="1800" dirty="0" err="1">
                <a:solidFill>
                  <a:srgbClr val="1F2938"/>
                </a:solidFill>
                <a:latin typeface="Poppins"/>
                <a:ea typeface="Poppins"/>
                <a:cs typeface="Poppins"/>
                <a:sym typeface="Poppins"/>
              </a:rPr>
              <a:t>labelled</a:t>
            </a:r>
            <a:r>
              <a:rPr lang="nl-NL" sz="1800" dirty="0">
                <a:solidFill>
                  <a:srgbClr val="1F2938"/>
                </a:solidFill>
                <a:latin typeface="Poppins"/>
                <a:ea typeface="Poppins"/>
                <a:cs typeface="Poppins"/>
                <a:sym typeface="Poppins"/>
              </a:rPr>
              <a:t> data </a:t>
            </a:r>
            <a:r>
              <a:rPr lang="nl-NL" sz="1800" dirty="0" err="1">
                <a:solidFill>
                  <a:srgbClr val="1F2938"/>
                </a:solidFill>
                <a:latin typeface="Poppins"/>
                <a:ea typeface="Poppins"/>
                <a:cs typeface="Poppins"/>
                <a:sym typeface="Poppins"/>
              </a:rPr>
              <a:t>for</a:t>
            </a:r>
            <a:r>
              <a:rPr lang="nl-NL" sz="1800" dirty="0">
                <a:solidFill>
                  <a:srgbClr val="1F2938"/>
                </a:solidFill>
                <a:latin typeface="Poppins"/>
                <a:ea typeface="Poppins"/>
                <a:cs typeface="Poppins"/>
                <a:sym typeface="Poppins"/>
              </a:rPr>
              <a:t> a </a:t>
            </a:r>
            <a:r>
              <a:rPr lang="nl-NL" sz="1800" dirty="0" err="1">
                <a:solidFill>
                  <a:srgbClr val="1F2938"/>
                </a:solidFill>
                <a:latin typeface="Poppins"/>
                <a:ea typeface="Poppins"/>
                <a:cs typeface="Poppins"/>
                <a:sym typeface="Poppins"/>
              </a:rPr>
              <a:t>segmentation</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network</a:t>
            </a:r>
            <a:endParaRPr sz="1800"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dirty="0" err="1">
                <a:solidFill>
                  <a:srgbClr val="1F2938"/>
                </a:solidFill>
                <a:latin typeface="Poppins"/>
                <a:ea typeface="Poppins"/>
                <a:cs typeface="Poppins"/>
                <a:sym typeface="Poppins"/>
              </a:rPr>
              <a:t>Aimed</a:t>
            </a:r>
            <a:r>
              <a:rPr lang="nl-NL" sz="1800" dirty="0">
                <a:solidFill>
                  <a:srgbClr val="1F2938"/>
                </a:solidFill>
                <a:latin typeface="Poppins"/>
                <a:ea typeface="Poppins"/>
                <a:cs typeface="Poppins"/>
                <a:sym typeface="Poppins"/>
              </a:rPr>
              <a:t> at </a:t>
            </a:r>
            <a:r>
              <a:rPr lang="nl-NL" sz="1800" dirty="0" err="1">
                <a:solidFill>
                  <a:srgbClr val="1F2938"/>
                </a:solidFill>
                <a:latin typeface="Poppins"/>
                <a:ea typeface="Poppins"/>
                <a:cs typeface="Poppins"/>
                <a:sym typeface="Poppins"/>
              </a:rPr>
              <a:t>structures</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with</a:t>
            </a:r>
            <a:r>
              <a:rPr lang="nl-NL" sz="1800" dirty="0">
                <a:solidFill>
                  <a:srgbClr val="1F2938"/>
                </a:solidFill>
                <a:latin typeface="Poppins"/>
                <a:ea typeface="Poppins"/>
                <a:cs typeface="Poppins"/>
                <a:sym typeface="Poppins"/>
              </a:rPr>
              <a:t> few labels, </a:t>
            </a:r>
            <a:r>
              <a:rPr lang="nl-NL" sz="1800" dirty="0" err="1">
                <a:solidFill>
                  <a:srgbClr val="1F2938"/>
                </a:solidFill>
                <a:latin typeface="Poppins"/>
                <a:ea typeface="Poppins"/>
                <a:cs typeface="Poppins"/>
                <a:sym typeface="Poppins"/>
              </a:rPr>
              <a:t>such</a:t>
            </a:r>
            <a:r>
              <a:rPr lang="nl-NL" sz="1800" dirty="0">
                <a:solidFill>
                  <a:srgbClr val="1F2938"/>
                </a:solidFill>
                <a:latin typeface="Poppins"/>
                <a:ea typeface="Poppins"/>
                <a:cs typeface="Poppins"/>
                <a:sym typeface="Poppins"/>
              </a:rPr>
              <a:t> as </a:t>
            </a:r>
            <a:r>
              <a:rPr lang="nl-NL" sz="1800" dirty="0" err="1">
                <a:solidFill>
                  <a:srgbClr val="1F2938"/>
                </a:solidFill>
                <a:latin typeface="Poppins"/>
                <a:ea typeface="Poppins"/>
                <a:cs typeface="Poppins"/>
                <a:sym typeface="Poppins"/>
              </a:rPr>
              <a:t>myocardium</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and</a:t>
            </a:r>
            <a:r>
              <a:rPr lang="nl-NL" sz="1800" dirty="0">
                <a:solidFill>
                  <a:srgbClr val="1F2938"/>
                </a:solidFill>
                <a:latin typeface="Poppins"/>
                <a:ea typeface="Poppins"/>
                <a:cs typeface="Poppins"/>
                <a:sym typeface="Poppins"/>
              </a:rPr>
              <a:t> fibrosis</a:t>
            </a:r>
            <a:endParaRPr sz="1800" dirty="0">
              <a:solidFill>
                <a:srgbClr val="1F2938"/>
              </a:solidFill>
              <a:latin typeface="Poppins"/>
              <a:ea typeface="Poppins"/>
              <a:cs typeface="Poppins"/>
              <a:sym typeface="Poppins"/>
            </a:endParaRPr>
          </a:p>
        </p:txBody>
      </p:sp>
      <p:pic>
        <p:nvPicPr>
          <p:cNvPr id="5" name="Google Shape;990;p104" descr="/mnt/data/3dfac87f-251b-4d72-a837-47d510b4f0af.png"/>
          <p:cNvPicPr preferRelativeResize="0"/>
          <p:nvPr/>
        </p:nvPicPr>
        <p:blipFill rotWithShape="1">
          <a:blip r:embed="rId3">
            <a:alphaModFix/>
          </a:blip>
          <a:srcRect l="3815" t="55826" r="48795"/>
          <a:stretch/>
        </p:blipFill>
        <p:spPr>
          <a:xfrm>
            <a:off x="7795260" y="1478280"/>
            <a:ext cx="3535680" cy="1790700"/>
          </a:xfrm>
          <a:prstGeom prst="rect">
            <a:avLst/>
          </a:prstGeom>
          <a:noFill/>
          <a:ln>
            <a:noFill/>
          </a:ln>
        </p:spPr>
      </p:pic>
      <p:pic>
        <p:nvPicPr>
          <p:cNvPr id="6" name="Google Shape;990;p104" descr="/mnt/data/3dfac87f-251b-4d72-a837-47d510b4f0af.png"/>
          <p:cNvPicPr preferRelativeResize="0"/>
          <p:nvPr/>
        </p:nvPicPr>
        <p:blipFill rotWithShape="1">
          <a:blip r:embed="rId3">
            <a:alphaModFix/>
          </a:blip>
          <a:srcRect l="51175" t="55826"/>
          <a:stretch/>
        </p:blipFill>
        <p:spPr>
          <a:xfrm>
            <a:off x="7795260" y="3268980"/>
            <a:ext cx="3535680" cy="158496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2"/>
          <p:cNvSpPr txBox="1">
            <a:spLocks noGrp="1"/>
          </p:cNvSpPr>
          <p:nvPr>
            <p:ph type="title" idx="4294967295"/>
          </p:nvPr>
        </p:nvSpPr>
        <p:spPr>
          <a:xfrm>
            <a:off x="771180" y="456439"/>
            <a:ext cx="10652700" cy="6219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rgbClr val="0000FF"/>
              </a:buClr>
              <a:buSzPts val="3400"/>
              <a:buFont typeface="Poppins"/>
              <a:buNone/>
            </a:pPr>
            <a:r>
              <a:rPr lang="nl-NL" sz="3400" dirty="0" err="1" smtClean="0">
                <a:solidFill>
                  <a:srgbClr val="0000FF"/>
                </a:solidFill>
              </a:rPr>
              <a:t>Example</a:t>
            </a:r>
            <a:r>
              <a:rPr lang="nl-NL" sz="3400" dirty="0" smtClean="0">
                <a:solidFill>
                  <a:srgbClr val="0000FF"/>
                </a:solidFill>
              </a:rPr>
              <a:t> </a:t>
            </a:r>
            <a:endParaRPr sz="3400" b="1" dirty="0">
              <a:latin typeface="Poppins"/>
              <a:ea typeface="Poppins"/>
              <a:cs typeface="Poppins"/>
              <a:sym typeface="Poppins"/>
            </a:endParaRPr>
          </a:p>
        </p:txBody>
      </p:sp>
      <p:sp>
        <p:nvSpPr>
          <p:cNvPr id="170" name="Google Shape;170;p22"/>
          <p:cNvSpPr txBox="1"/>
          <p:nvPr/>
        </p:nvSpPr>
        <p:spPr>
          <a:xfrm>
            <a:off x="771180" y="1417320"/>
            <a:ext cx="4766020" cy="42063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rgbClr val="1F2938"/>
              </a:buClr>
              <a:buSzPts val="1800"/>
              <a:buFont typeface="Poppins"/>
              <a:buChar char="●"/>
            </a:pPr>
            <a:r>
              <a:rPr lang="nl-NL" sz="1800" dirty="0">
                <a:solidFill>
                  <a:srgbClr val="1F2938"/>
                </a:solidFill>
                <a:latin typeface="Poppins"/>
                <a:ea typeface="Poppins"/>
                <a:cs typeface="Poppins"/>
                <a:sym typeface="Poppins"/>
              </a:rPr>
              <a:t>Fit </a:t>
            </a:r>
            <a:r>
              <a:rPr lang="nl-NL" sz="1800" dirty="0" err="1">
                <a:solidFill>
                  <a:srgbClr val="1F2938"/>
                </a:solidFill>
                <a:latin typeface="Poppins"/>
                <a:ea typeface="Poppins"/>
                <a:cs typeface="Poppins"/>
                <a:sym typeface="Poppins"/>
              </a:rPr>
              <a:t>one</a:t>
            </a:r>
            <a:r>
              <a:rPr lang="nl-NL" sz="1800" dirty="0">
                <a:solidFill>
                  <a:srgbClr val="1F2938"/>
                </a:solidFill>
                <a:latin typeface="Poppins"/>
                <a:ea typeface="Poppins"/>
                <a:cs typeface="Poppins"/>
                <a:sym typeface="Poppins"/>
              </a:rPr>
              <a:t> SIREN per subject </a:t>
            </a:r>
            <a:r>
              <a:rPr lang="nl-NL" sz="1800" dirty="0" err="1">
                <a:solidFill>
                  <a:srgbClr val="1F2938"/>
                </a:solidFill>
                <a:latin typeface="Poppins"/>
                <a:ea typeface="Poppins"/>
                <a:cs typeface="Poppins"/>
                <a:sym typeface="Poppins"/>
              </a:rPr>
              <a:t>that</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reproduces</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both</a:t>
            </a:r>
            <a:r>
              <a:rPr lang="nl-NL" sz="1800" dirty="0">
                <a:solidFill>
                  <a:srgbClr val="1F2938"/>
                </a:solidFill>
                <a:latin typeface="Poppins"/>
                <a:ea typeface="Poppins"/>
                <a:cs typeface="Poppins"/>
                <a:sym typeface="Poppins"/>
              </a:rPr>
              <a:t> image </a:t>
            </a:r>
            <a:r>
              <a:rPr lang="nl-NL" sz="1800" dirty="0" err="1">
                <a:solidFill>
                  <a:srgbClr val="1F2938"/>
                </a:solidFill>
                <a:latin typeface="Poppins"/>
                <a:ea typeface="Poppins"/>
                <a:cs typeface="Poppins"/>
                <a:sym typeface="Poppins"/>
              </a:rPr>
              <a:t>and</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mask</a:t>
            </a:r>
            <a:endParaRPr sz="1800"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dirty="0" err="1">
                <a:solidFill>
                  <a:srgbClr val="1F2938"/>
                </a:solidFill>
                <a:latin typeface="Poppins"/>
                <a:ea typeface="Poppins"/>
                <a:cs typeface="Poppins"/>
                <a:sym typeface="Poppins"/>
              </a:rPr>
              <a:t>Compress</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each</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network's</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weights</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into</a:t>
            </a:r>
            <a:r>
              <a:rPr lang="nl-NL" sz="1800" dirty="0">
                <a:solidFill>
                  <a:srgbClr val="1F2938"/>
                </a:solidFill>
                <a:latin typeface="Poppins"/>
                <a:ea typeface="Poppins"/>
                <a:cs typeface="Poppins"/>
                <a:sym typeface="Poppins"/>
              </a:rPr>
              <a:t> a vector (inr2vec)</a:t>
            </a:r>
            <a:endParaRPr sz="1800"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dirty="0">
                <a:solidFill>
                  <a:srgbClr val="1F2938"/>
                </a:solidFill>
                <a:latin typeface="Poppins"/>
                <a:ea typeface="Poppins"/>
                <a:cs typeface="Poppins"/>
                <a:sym typeface="Poppins"/>
              </a:rPr>
              <a:t>Train latent </a:t>
            </a:r>
            <a:r>
              <a:rPr lang="nl-NL" sz="1800" dirty="0" err="1">
                <a:solidFill>
                  <a:srgbClr val="1F2938"/>
                </a:solidFill>
                <a:latin typeface="Poppins"/>
                <a:ea typeface="Poppins"/>
                <a:cs typeface="Poppins"/>
                <a:sym typeface="Poppins"/>
              </a:rPr>
              <a:t>diffusion</a:t>
            </a:r>
            <a:r>
              <a:rPr lang="nl-NL" sz="1800" dirty="0">
                <a:solidFill>
                  <a:srgbClr val="1F2938"/>
                </a:solidFill>
                <a:latin typeface="Poppins"/>
                <a:ea typeface="Poppins"/>
                <a:cs typeface="Poppins"/>
                <a:sym typeface="Poppins"/>
              </a:rPr>
              <a:t> on </a:t>
            </a:r>
            <a:r>
              <a:rPr lang="nl-NL" sz="1800" dirty="0" err="1">
                <a:solidFill>
                  <a:srgbClr val="1F2938"/>
                </a:solidFill>
                <a:latin typeface="Poppins"/>
                <a:ea typeface="Poppins"/>
                <a:cs typeface="Poppins"/>
                <a:sym typeface="Poppins"/>
              </a:rPr>
              <a:t>those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vectors</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and</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decode</a:t>
            </a:r>
            <a:r>
              <a:rPr lang="nl-NL" sz="1800" dirty="0">
                <a:solidFill>
                  <a:srgbClr val="1F2938"/>
                </a:solidFill>
                <a:latin typeface="Poppins"/>
                <a:ea typeface="Poppins"/>
                <a:cs typeface="Poppins"/>
                <a:sym typeface="Poppins"/>
              </a:rPr>
              <a:t> new image </a:t>
            </a:r>
            <a:r>
              <a:rPr lang="nl-NL" sz="1800" dirty="0" err="1">
                <a:solidFill>
                  <a:srgbClr val="1F2938"/>
                </a:solidFill>
                <a:latin typeface="Poppins"/>
                <a:ea typeface="Poppins"/>
                <a:cs typeface="Poppins"/>
                <a:sym typeface="Poppins"/>
              </a:rPr>
              <a:t>and</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mask</a:t>
            </a:r>
            <a:r>
              <a:rPr lang="nl-NL" sz="1800" dirty="0">
                <a:solidFill>
                  <a:srgbClr val="1F2938"/>
                </a:solidFill>
                <a:latin typeface="Poppins"/>
                <a:ea typeface="Poppins"/>
                <a:cs typeface="Poppins"/>
                <a:sym typeface="Poppins"/>
              </a:rPr>
              <a:t> pairs</a:t>
            </a:r>
            <a:endParaRPr sz="1800"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dirty="0" err="1">
                <a:solidFill>
                  <a:srgbClr val="1F2938"/>
                </a:solidFill>
                <a:latin typeface="Poppins"/>
                <a:ea typeface="Poppins"/>
                <a:cs typeface="Poppins"/>
                <a:sym typeface="Poppins"/>
              </a:rPr>
              <a:t>Use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the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synthetic</a:t>
            </a:r>
            <a:r>
              <a:rPr lang="nl-NL" sz="1800" dirty="0">
                <a:solidFill>
                  <a:srgbClr val="1F2938"/>
                </a:solidFill>
                <a:latin typeface="Poppins"/>
                <a:ea typeface="Poppins"/>
                <a:cs typeface="Poppins"/>
                <a:sym typeface="Poppins"/>
              </a:rPr>
              <a:t> pairs </a:t>
            </a:r>
            <a:r>
              <a:rPr lang="nl-NL" sz="1800" dirty="0" err="1">
                <a:solidFill>
                  <a:srgbClr val="1F2938"/>
                </a:solidFill>
                <a:latin typeface="Poppins"/>
                <a:ea typeface="Poppins"/>
                <a:cs typeface="Poppins"/>
                <a:sym typeface="Poppins"/>
              </a:rPr>
              <a:t>to</a:t>
            </a:r>
            <a:r>
              <a:rPr lang="nl-NL" sz="1800" dirty="0">
                <a:solidFill>
                  <a:srgbClr val="1F2938"/>
                </a:solidFill>
                <a:latin typeface="Poppins"/>
                <a:ea typeface="Poppins"/>
                <a:cs typeface="Poppins"/>
                <a:sym typeface="Poppins"/>
              </a:rPr>
              <a:t> augment a </a:t>
            </a:r>
            <a:r>
              <a:rPr lang="nl-NL" sz="1800" dirty="0" err="1">
                <a:solidFill>
                  <a:srgbClr val="1F2938"/>
                </a:solidFill>
                <a:latin typeface="Poppins"/>
                <a:ea typeface="Poppins"/>
                <a:cs typeface="Poppins"/>
                <a:sym typeface="Poppins"/>
              </a:rPr>
              <a:t>segmentation</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network</a:t>
            </a:r>
            <a:endParaRPr sz="1800"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dirty="0" err="1">
                <a:solidFill>
                  <a:srgbClr val="1F2938"/>
                </a:solidFill>
                <a:latin typeface="Poppins"/>
                <a:ea typeface="Poppins"/>
                <a:cs typeface="Poppins"/>
                <a:sym typeface="Poppins"/>
              </a:rPr>
              <a:t>Weak</a:t>
            </a:r>
            <a:r>
              <a:rPr lang="nl-NL" sz="1800" dirty="0">
                <a:solidFill>
                  <a:srgbClr val="1F2938"/>
                </a:solidFill>
                <a:latin typeface="Poppins"/>
                <a:ea typeface="Poppins"/>
                <a:cs typeface="Poppins"/>
                <a:sym typeface="Poppins"/>
              </a:rPr>
              <a:t> point: </a:t>
            </a:r>
            <a:r>
              <a:rPr lang="nl-NL" sz="1800" dirty="0" err="1">
                <a:solidFill>
                  <a:srgbClr val="1F2938"/>
                </a:solidFill>
                <a:latin typeface="Poppins"/>
                <a:ea typeface="Poppins"/>
                <a:cs typeface="Poppins"/>
                <a:sym typeface="Poppins"/>
              </a:rPr>
              <a:t>network</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weights</a:t>
            </a:r>
            <a:r>
              <a:rPr lang="nl-NL" sz="1800" dirty="0">
                <a:solidFill>
                  <a:srgbClr val="1F2938"/>
                </a:solidFill>
                <a:latin typeface="Poppins"/>
                <a:ea typeface="Poppins"/>
                <a:cs typeface="Poppins"/>
                <a:sym typeface="Poppins"/>
              </a:rPr>
              <a:t> have no </a:t>
            </a:r>
            <a:r>
              <a:rPr lang="nl-NL" sz="1800" dirty="0" err="1">
                <a:solidFill>
                  <a:srgbClr val="1F2938"/>
                </a:solidFill>
                <a:latin typeface="Poppins"/>
                <a:ea typeface="Poppins"/>
                <a:cs typeface="Poppins"/>
                <a:sym typeface="Poppins"/>
              </a:rPr>
              <a:t>spatial</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meaning</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so</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they</a:t>
            </a:r>
            <a:r>
              <a:rPr lang="nl-NL" sz="1800" dirty="0">
                <a:solidFill>
                  <a:srgbClr val="1F2938"/>
                </a:solidFill>
                <a:latin typeface="Poppins"/>
                <a:ea typeface="Poppins"/>
                <a:cs typeface="Poppins"/>
                <a:sym typeface="Poppins"/>
              </a:rPr>
              <a:t> are hard </a:t>
            </a:r>
            <a:r>
              <a:rPr lang="nl-NL" sz="1800" dirty="0" err="1">
                <a:solidFill>
                  <a:srgbClr val="1F2938"/>
                </a:solidFill>
                <a:latin typeface="Poppins"/>
                <a:ea typeface="Poppins"/>
                <a:cs typeface="Poppins"/>
                <a:sym typeface="Poppins"/>
              </a:rPr>
              <a:t>to</a:t>
            </a:r>
            <a:r>
              <a:rPr lang="nl-NL" sz="1800" dirty="0">
                <a:solidFill>
                  <a:srgbClr val="1F2938"/>
                </a:solidFill>
                <a:latin typeface="Poppins"/>
                <a:ea typeface="Poppins"/>
                <a:cs typeface="Poppins"/>
                <a:sym typeface="Poppins"/>
              </a:rPr>
              <a:t> model</a:t>
            </a:r>
            <a:endParaRPr sz="1800" dirty="0">
              <a:solidFill>
                <a:srgbClr val="1F2938"/>
              </a:solidFill>
              <a:latin typeface="Poppins"/>
              <a:ea typeface="Poppins"/>
              <a:cs typeface="Poppins"/>
              <a:sym typeface="Poppins"/>
            </a:endParaRPr>
          </a:p>
        </p:txBody>
      </p:sp>
      <p:pic>
        <p:nvPicPr>
          <p:cNvPr id="5" name="Afbeelding 4"/>
          <p:cNvPicPr>
            <a:picLocks noChangeAspect="1"/>
          </p:cNvPicPr>
          <p:nvPr/>
        </p:nvPicPr>
        <p:blipFill>
          <a:blip r:embed="rId3"/>
          <a:stretch>
            <a:fillRect/>
          </a:stretch>
        </p:blipFill>
        <p:spPr>
          <a:xfrm>
            <a:off x="5537200" y="1417320"/>
            <a:ext cx="6851089" cy="2718264"/>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9"/>
          <p:cNvSpPr txBox="1">
            <a:spLocks noGrp="1"/>
          </p:cNvSpPr>
          <p:nvPr>
            <p:ph type="title" idx="4294967295"/>
          </p:nvPr>
        </p:nvSpPr>
        <p:spPr>
          <a:xfrm>
            <a:off x="771180" y="456439"/>
            <a:ext cx="10652700" cy="6219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rgbClr val="0000FF"/>
              </a:buClr>
              <a:buSzPts val="3400"/>
              <a:buFont typeface="Poppins"/>
              <a:buNone/>
            </a:pPr>
            <a:r>
              <a:rPr lang="nl-NL" sz="3400">
                <a:solidFill>
                  <a:srgbClr val="0000FF"/>
                </a:solidFill>
              </a:rPr>
              <a:t>Can one latent hold detail and shape?</a:t>
            </a:r>
            <a:endParaRPr sz="3400" b="1">
              <a:latin typeface="Poppins"/>
              <a:ea typeface="Poppins"/>
              <a:cs typeface="Poppins"/>
              <a:sym typeface="Poppins"/>
            </a:endParaRPr>
          </a:p>
        </p:txBody>
      </p:sp>
      <p:sp>
        <p:nvSpPr>
          <p:cNvPr id="147" name="Google Shape;147;p19"/>
          <p:cNvSpPr txBox="1"/>
          <p:nvPr/>
        </p:nvSpPr>
        <p:spPr>
          <a:xfrm>
            <a:off x="771180" y="1417320"/>
            <a:ext cx="8879814" cy="3000000"/>
          </a:xfrm>
          <a:prstGeom prst="rect">
            <a:avLst/>
          </a:prstGeom>
          <a:noFill/>
          <a:ln>
            <a:noFill/>
          </a:ln>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Clr>
                <a:srgbClr val="1F2938"/>
              </a:buClr>
              <a:buSzPts val="1800"/>
              <a:buFont typeface="Poppins"/>
              <a:buChar char="●"/>
            </a:pPr>
            <a:r>
              <a:rPr lang="nl-NL" sz="1800" dirty="0">
                <a:solidFill>
                  <a:srgbClr val="1F2938"/>
                </a:solidFill>
                <a:latin typeface="Poppins"/>
                <a:ea typeface="Poppins"/>
                <a:cs typeface="Poppins"/>
                <a:sym typeface="Poppins"/>
              </a:rPr>
              <a:t>A shared latent stores a </a:t>
            </a:r>
            <a:r>
              <a:rPr lang="nl-NL" sz="1800" dirty="0" err="1">
                <a:solidFill>
                  <a:srgbClr val="1F2938"/>
                </a:solidFill>
                <a:latin typeface="Poppins"/>
                <a:ea typeface="Poppins"/>
                <a:cs typeface="Poppins"/>
                <a:sym typeface="Poppins"/>
              </a:rPr>
              <a:t>smooth</a:t>
            </a:r>
            <a:r>
              <a:rPr lang="nl-NL" sz="1800" dirty="0">
                <a:solidFill>
                  <a:srgbClr val="1F2938"/>
                </a:solidFill>
                <a:latin typeface="Poppins"/>
                <a:ea typeface="Poppins"/>
                <a:cs typeface="Poppins"/>
                <a:sym typeface="Poppins"/>
              </a:rPr>
              <a:t> image </a:t>
            </a:r>
            <a:r>
              <a:rPr lang="nl-NL" sz="1800" dirty="0" err="1">
                <a:solidFill>
                  <a:srgbClr val="1F2938"/>
                </a:solidFill>
                <a:latin typeface="Poppins"/>
                <a:ea typeface="Poppins"/>
                <a:cs typeface="Poppins"/>
                <a:sym typeface="Poppins"/>
              </a:rPr>
              <a:t>and</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an</a:t>
            </a:r>
            <a:r>
              <a:rPr lang="nl-NL" sz="1800" dirty="0">
                <a:solidFill>
                  <a:srgbClr val="1F2938"/>
                </a:solidFill>
                <a:latin typeface="Poppins"/>
                <a:ea typeface="Poppins"/>
                <a:cs typeface="Poppins"/>
                <a:sym typeface="Poppins"/>
              </a:rPr>
              <a:t> exact </a:t>
            </a:r>
            <a:r>
              <a:rPr lang="nl-NL" sz="1800" dirty="0" err="1">
                <a:solidFill>
                  <a:srgbClr val="1F2938"/>
                </a:solidFill>
                <a:latin typeface="Poppins"/>
                <a:ea typeface="Poppins"/>
                <a:cs typeface="Poppins"/>
                <a:sym typeface="Poppins"/>
              </a:rPr>
              <a:t>mask</a:t>
            </a:r>
            <a:r>
              <a:rPr lang="nl-NL" sz="1800" dirty="0">
                <a:solidFill>
                  <a:srgbClr val="1F2938"/>
                </a:solidFill>
                <a:latin typeface="Poppins"/>
                <a:ea typeface="Poppins"/>
                <a:cs typeface="Poppins"/>
                <a:sym typeface="Poppins"/>
              </a:rPr>
              <a:t> without </a:t>
            </a:r>
            <a:r>
              <a:rPr lang="nl-NL" sz="1800" dirty="0" err="1">
                <a:solidFill>
                  <a:srgbClr val="1F2938"/>
                </a:solidFill>
                <a:latin typeface="Poppins"/>
                <a:ea typeface="Poppins"/>
                <a:cs typeface="Poppins"/>
                <a:sym typeface="Poppins"/>
              </a:rPr>
              <a:t>trouble</a:t>
            </a:r>
            <a:endParaRPr sz="1800" dirty="0">
              <a:solidFill>
                <a:srgbClr val="1F2938"/>
              </a:solidFill>
              <a:latin typeface="Poppins"/>
              <a:ea typeface="Poppins"/>
              <a:cs typeface="Poppins"/>
              <a:sym typeface="Poppins"/>
            </a:endParaRPr>
          </a:p>
          <a:p>
            <a:pPr marL="457200" lvl="0" indent="-342900" algn="l" rtl="0">
              <a:lnSpc>
                <a:spcPct val="150000"/>
              </a:lnSpc>
              <a:spcBef>
                <a:spcPts val="0"/>
              </a:spcBef>
              <a:spcAft>
                <a:spcPts val="0"/>
              </a:spcAft>
              <a:buClr>
                <a:srgbClr val="1F2938"/>
              </a:buClr>
              <a:buSzPts val="1800"/>
              <a:buFont typeface="Poppins"/>
              <a:buChar char="●"/>
            </a:pPr>
            <a:r>
              <a:rPr lang="nl-NL" sz="1800" dirty="0">
                <a:solidFill>
                  <a:srgbClr val="1F2938"/>
                </a:solidFill>
                <a:latin typeface="Poppins"/>
                <a:ea typeface="Poppins"/>
                <a:cs typeface="Poppins"/>
                <a:sym typeface="Poppins"/>
              </a:rPr>
              <a:t>Sharp image detail </a:t>
            </a:r>
            <a:r>
              <a:rPr lang="nl-NL" sz="1800" dirty="0" err="1">
                <a:solidFill>
                  <a:srgbClr val="1F2938"/>
                </a:solidFill>
                <a:latin typeface="Poppins"/>
                <a:ea typeface="Poppins"/>
                <a:cs typeface="Poppins"/>
                <a:sym typeface="Poppins"/>
              </a:rPr>
              <a:t>with</a:t>
            </a:r>
            <a:r>
              <a:rPr lang="nl-NL" sz="1800" dirty="0">
                <a:solidFill>
                  <a:srgbClr val="1F2938"/>
                </a:solidFill>
                <a:latin typeface="Poppins"/>
                <a:ea typeface="Poppins"/>
                <a:cs typeface="Poppins"/>
                <a:sym typeface="Poppins"/>
              </a:rPr>
              <a:t> a consistent </a:t>
            </a:r>
            <a:r>
              <a:rPr lang="nl-NL" sz="1800" dirty="0" err="1">
                <a:solidFill>
                  <a:srgbClr val="1F2938"/>
                </a:solidFill>
                <a:latin typeface="Poppins"/>
                <a:ea typeface="Poppins"/>
                <a:cs typeface="Poppins"/>
                <a:sym typeface="Poppins"/>
              </a:rPr>
              <a:t>mask</a:t>
            </a:r>
            <a:r>
              <a:rPr lang="nl-NL" sz="1800" dirty="0">
                <a:solidFill>
                  <a:srgbClr val="1F2938"/>
                </a:solidFill>
                <a:latin typeface="Poppins"/>
                <a:ea typeface="Poppins"/>
                <a:cs typeface="Poppins"/>
                <a:sym typeface="Poppins"/>
              </a:rPr>
              <a:t> is harder </a:t>
            </a:r>
            <a:r>
              <a:rPr lang="nl-NL" sz="1800" dirty="0" err="1">
                <a:solidFill>
                  <a:srgbClr val="1F2938"/>
                </a:solidFill>
                <a:latin typeface="Poppins"/>
                <a:ea typeface="Poppins"/>
                <a:cs typeface="Poppins"/>
                <a:sym typeface="Poppins"/>
              </a:rPr>
              <a:t>to</a:t>
            </a:r>
            <a:r>
              <a:rPr lang="nl-NL" sz="1800" dirty="0">
                <a:solidFill>
                  <a:srgbClr val="1F2938"/>
                </a:solidFill>
                <a:latin typeface="Poppins"/>
                <a:ea typeface="Poppins"/>
                <a:cs typeface="Poppins"/>
                <a:sym typeface="Poppins"/>
              </a:rPr>
              <a:t> fit in </a:t>
            </a:r>
            <a:r>
              <a:rPr lang="nl-NL" sz="1800" dirty="0" err="1">
                <a:solidFill>
                  <a:srgbClr val="1F2938"/>
                </a:solidFill>
                <a:latin typeface="Poppins"/>
                <a:ea typeface="Poppins"/>
                <a:cs typeface="Poppins"/>
                <a:sym typeface="Poppins"/>
              </a:rPr>
              <a:t>the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same</a:t>
            </a:r>
            <a:r>
              <a:rPr lang="nl-NL" sz="1800" dirty="0">
                <a:solidFill>
                  <a:srgbClr val="1F2938"/>
                </a:solidFill>
                <a:latin typeface="Poppins"/>
                <a:ea typeface="Poppins"/>
                <a:cs typeface="Poppins"/>
                <a:sym typeface="Poppins"/>
              </a:rPr>
              <a:t> latent</a:t>
            </a:r>
            <a:endParaRPr sz="1800" dirty="0">
              <a:solidFill>
                <a:srgbClr val="1F2938"/>
              </a:solidFill>
              <a:latin typeface="Poppins"/>
              <a:ea typeface="Poppins"/>
              <a:cs typeface="Poppins"/>
              <a:sym typeface="Poppins"/>
            </a:endParaRPr>
          </a:p>
          <a:p>
            <a:pPr marL="457200" lvl="0" indent="-342900" algn="l" rtl="0">
              <a:lnSpc>
                <a:spcPct val="150000"/>
              </a:lnSpc>
              <a:spcBef>
                <a:spcPts val="0"/>
              </a:spcBef>
              <a:spcAft>
                <a:spcPts val="0"/>
              </a:spcAft>
              <a:buClr>
                <a:srgbClr val="1F2938"/>
              </a:buClr>
              <a:buSzPts val="1800"/>
              <a:buFont typeface="Poppins"/>
              <a:buChar char="●"/>
            </a:pPr>
            <a:r>
              <a:rPr lang="nl-NL" sz="1800" dirty="0" err="1">
                <a:solidFill>
                  <a:srgbClr val="1F2938"/>
                </a:solidFill>
                <a:latin typeface="Poppins"/>
                <a:ea typeface="Poppins"/>
                <a:cs typeface="Poppins"/>
                <a:sym typeface="Poppins"/>
              </a:rPr>
              <a:t>Directions</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under</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study</a:t>
            </a:r>
            <a:r>
              <a:rPr lang="nl-NL" sz="1800" dirty="0">
                <a:solidFill>
                  <a:srgbClr val="1F2938"/>
                </a:solidFill>
                <a:latin typeface="Poppins"/>
                <a:ea typeface="Poppins"/>
                <a:cs typeface="Poppins"/>
                <a:sym typeface="Poppins"/>
              </a:rPr>
              <a:t>: separate latents </a:t>
            </a:r>
            <a:r>
              <a:rPr lang="nl-NL" sz="1800" dirty="0" err="1">
                <a:solidFill>
                  <a:srgbClr val="1F2938"/>
                </a:solidFill>
                <a:latin typeface="Poppins"/>
                <a:ea typeface="Poppins"/>
                <a:cs typeface="Poppins"/>
                <a:sym typeface="Poppins"/>
              </a:rPr>
              <a:t>for</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anatomy</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and</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appearance</a:t>
            </a:r>
            <a:r>
              <a:rPr lang="nl-NL" sz="1800" dirty="0">
                <a:solidFill>
                  <a:srgbClr val="1F2938"/>
                </a:solidFill>
                <a:latin typeface="Poppins"/>
                <a:ea typeface="Poppins"/>
                <a:cs typeface="Poppins"/>
                <a:sym typeface="Poppins"/>
              </a:rPr>
              <a:t>, or </a:t>
            </a:r>
            <a:r>
              <a:rPr lang="nl-NL" sz="1800" dirty="0" err="1">
                <a:solidFill>
                  <a:srgbClr val="1F2938"/>
                </a:solidFill>
                <a:latin typeface="Poppins"/>
                <a:ea typeface="Poppins"/>
                <a:cs typeface="Poppins"/>
                <a:sym typeface="Poppins"/>
              </a:rPr>
              <a:t>coarse</a:t>
            </a:r>
            <a:r>
              <a:rPr lang="nl-NL" sz="1800" dirty="0">
                <a:solidFill>
                  <a:srgbClr val="1F2938"/>
                </a:solidFill>
                <a:latin typeface="Poppins"/>
                <a:ea typeface="Poppins"/>
                <a:cs typeface="Poppins"/>
                <a:sym typeface="Poppins"/>
              </a:rPr>
              <a:t> first </a:t>
            </a:r>
            <a:r>
              <a:rPr lang="nl-NL" sz="1800" dirty="0" err="1">
                <a:solidFill>
                  <a:srgbClr val="1F2938"/>
                </a:solidFill>
                <a:latin typeface="Poppins"/>
                <a:ea typeface="Poppins"/>
                <a:cs typeface="Poppins"/>
                <a:sym typeface="Poppins"/>
              </a:rPr>
              <a:t>and</a:t>
            </a:r>
            <a:r>
              <a:rPr lang="nl-NL" sz="1800" dirty="0">
                <a:solidFill>
                  <a:srgbClr val="1F2938"/>
                </a:solidFill>
                <a:latin typeface="Poppins"/>
                <a:ea typeface="Poppins"/>
                <a:cs typeface="Poppins"/>
                <a:sym typeface="Poppins"/>
              </a:rPr>
              <a:t> detail second</a:t>
            </a:r>
            <a:endParaRPr sz="1800" dirty="0">
              <a:solidFill>
                <a:srgbClr val="1F2938"/>
              </a:solidFill>
              <a:latin typeface="Poppins"/>
              <a:ea typeface="Poppins"/>
              <a:cs typeface="Poppins"/>
              <a:sym typeface="Poppins"/>
            </a:endParaRPr>
          </a:p>
          <a:p>
            <a:pPr marL="457200" lvl="0" indent="-342900" algn="l" rtl="0">
              <a:lnSpc>
                <a:spcPct val="150000"/>
              </a:lnSpc>
              <a:spcBef>
                <a:spcPts val="0"/>
              </a:spcBef>
              <a:spcAft>
                <a:spcPts val="0"/>
              </a:spcAft>
              <a:buClr>
                <a:srgbClr val="1F2938"/>
              </a:buClr>
              <a:buSzPts val="1800"/>
              <a:buFont typeface="Poppins"/>
              <a:buChar char="●"/>
            </a:pPr>
            <a:r>
              <a:rPr lang="nl-NL" sz="1800" dirty="0">
                <a:solidFill>
                  <a:srgbClr val="1F2938"/>
                </a:solidFill>
                <a:latin typeface="Poppins"/>
                <a:ea typeface="Poppins"/>
                <a:cs typeface="Poppins"/>
                <a:sym typeface="Poppins"/>
              </a:rPr>
              <a:t>Question </a:t>
            </a:r>
            <a:r>
              <a:rPr lang="nl-NL" sz="1800" dirty="0" err="1">
                <a:solidFill>
                  <a:srgbClr val="1F2938"/>
                </a:solidFill>
                <a:latin typeface="Poppins"/>
                <a:ea typeface="Poppins"/>
                <a:cs typeface="Poppins"/>
                <a:sym typeface="Poppins"/>
              </a:rPr>
              <a:t>for</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you</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which</a:t>
            </a:r>
            <a:r>
              <a:rPr lang="nl-NL" sz="1800" dirty="0">
                <a:solidFill>
                  <a:srgbClr val="1F2938"/>
                </a:solidFill>
                <a:latin typeface="Poppins"/>
                <a:ea typeface="Poppins"/>
                <a:cs typeface="Poppins"/>
                <a:sym typeface="Poppins"/>
              </a:rPr>
              <a:t> image information does a </a:t>
            </a:r>
            <a:r>
              <a:rPr lang="nl-NL" sz="1800" dirty="0" err="1">
                <a:solidFill>
                  <a:srgbClr val="1F2938"/>
                </a:solidFill>
                <a:latin typeface="Poppins"/>
                <a:ea typeface="Poppins"/>
                <a:cs typeface="Poppins"/>
                <a:sym typeface="Poppins"/>
              </a:rPr>
              <a:t>mask</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depend</a:t>
            </a:r>
            <a:r>
              <a:rPr lang="nl-NL" sz="1800" dirty="0">
                <a:solidFill>
                  <a:srgbClr val="1F2938"/>
                </a:solidFill>
                <a:latin typeface="Poppins"/>
                <a:ea typeface="Poppins"/>
                <a:cs typeface="Poppins"/>
                <a:sym typeface="Poppins"/>
              </a:rPr>
              <a:t> on?</a:t>
            </a:r>
            <a:endParaRPr sz="1800" dirty="0">
              <a:solidFill>
                <a:srgbClr val="1F2938"/>
              </a:solidFill>
              <a:latin typeface="Poppins"/>
              <a:ea typeface="Poppins"/>
              <a:cs typeface="Poppins"/>
              <a:sym typeface="Poppi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3" name="Afbeelding 2"/>
          <p:cNvPicPr>
            <a:picLocks noChangeAspect="1"/>
          </p:cNvPicPr>
          <p:nvPr/>
        </p:nvPicPr>
        <p:blipFill>
          <a:blip r:embed="rId3"/>
          <a:stretch>
            <a:fillRect/>
          </a:stretch>
        </p:blipFill>
        <p:spPr>
          <a:xfrm>
            <a:off x="6766561" y="1417320"/>
            <a:ext cx="4983480" cy="4138580"/>
          </a:xfrm>
          <a:prstGeom prst="rect">
            <a:avLst/>
          </a:prstGeom>
        </p:spPr>
      </p:pic>
      <p:sp>
        <p:nvSpPr>
          <p:cNvPr id="98" name="Google Shape;98;p13"/>
          <p:cNvSpPr txBox="1">
            <a:spLocks noGrp="1"/>
          </p:cNvSpPr>
          <p:nvPr>
            <p:ph type="title" idx="4294967295"/>
          </p:nvPr>
        </p:nvSpPr>
        <p:spPr>
          <a:xfrm>
            <a:off x="771180" y="456439"/>
            <a:ext cx="10652700" cy="6219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rgbClr val="0000FF"/>
              </a:buClr>
              <a:buSzPts val="3400"/>
              <a:buFont typeface="Poppins"/>
              <a:buNone/>
            </a:pPr>
            <a:r>
              <a:rPr lang="nl-NL" sz="3400">
                <a:solidFill>
                  <a:srgbClr val="0000FF"/>
                </a:solidFill>
              </a:rPr>
              <a:t>A rotated heart is still a heart</a:t>
            </a:r>
            <a:endParaRPr sz="3400" b="1">
              <a:latin typeface="Poppins"/>
              <a:ea typeface="Poppins"/>
              <a:cs typeface="Poppins"/>
              <a:sym typeface="Poppins"/>
            </a:endParaRPr>
          </a:p>
        </p:txBody>
      </p:sp>
      <p:sp>
        <p:nvSpPr>
          <p:cNvPr id="99" name="Google Shape;99;p13"/>
          <p:cNvSpPr txBox="1"/>
          <p:nvPr/>
        </p:nvSpPr>
        <p:spPr>
          <a:xfrm>
            <a:off x="771180" y="1417320"/>
            <a:ext cx="5669400" cy="42063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rgbClr val="1F2938"/>
              </a:buClr>
              <a:buSzPts val="1800"/>
              <a:buFont typeface="Poppins"/>
              <a:buChar char="●"/>
            </a:pPr>
            <a:r>
              <a:rPr lang="nl-NL" sz="1800" b="1" dirty="0" err="1">
                <a:solidFill>
                  <a:srgbClr val="1F2938"/>
                </a:solidFill>
                <a:latin typeface="Poppins"/>
                <a:ea typeface="Poppins"/>
                <a:cs typeface="Poppins"/>
                <a:sym typeface="Poppins"/>
              </a:rPr>
              <a:t>CNNs</a:t>
            </a:r>
            <a:r>
              <a:rPr lang="nl-NL" sz="1800" b="1" dirty="0">
                <a:solidFill>
                  <a:srgbClr val="1F2938"/>
                </a:solidFill>
                <a:latin typeface="Poppins"/>
                <a:ea typeface="Poppins"/>
                <a:cs typeface="Poppins"/>
                <a:sym typeface="Poppins"/>
              </a:rPr>
              <a:t> share </a:t>
            </a:r>
            <a:r>
              <a:rPr lang="nl-NL" sz="1800" b="1" dirty="0" err="1">
                <a:solidFill>
                  <a:srgbClr val="1F2938"/>
                </a:solidFill>
                <a:latin typeface="Poppins"/>
                <a:ea typeface="Poppins"/>
                <a:cs typeface="Poppins"/>
                <a:sym typeface="Poppins"/>
              </a:rPr>
              <a:t>weights</a:t>
            </a:r>
            <a:r>
              <a:rPr lang="nl-NL" sz="1800" b="1" dirty="0">
                <a:solidFill>
                  <a:srgbClr val="1F2938"/>
                </a:solidFill>
                <a:latin typeface="Poppins"/>
                <a:ea typeface="Poppins"/>
                <a:cs typeface="Poppins"/>
                <a:sym typeface="Poppins"/>
              </a:rPr>
              <a:t> </a:t>
            </a:r>
            <a:r>
              <a:rPr lang="nl-NL" sz="1800" b="1" dirty="0" err="1">
                <a:solidFill>
                  <a:srgbClr val="1F2938"/>
                </a:solidFill>
                <a:latin typeface="Poppins"/>
                <a:ea typeface="Poppins"/>
                <a:cs typeface="Poppins"/>
                <a:sym typeface="Poppins"/>
              </a:rPr>
              <a:t>across</a:t>
            </a:r>
            <a:r>
              <a:rPr lang="nl-NL" sz="1800" b="1" dirty="0">
                <a:solidFill>
                  <a:srgbClr val="1F2938"/>
                </a:solidFill>
                <a:latin typeface="Poppins"/>
                <a:ea typeface="Poppins"/>
                <a:cs typeface="Poppins"/>
                <a:sym typeface="Poppins"/>
              </a:rPr>
              <a:t> </a:t>
            </a:r>
            <a:r>
              <a:rPr lang="nl-NL" sz="1800" b="1" dirty="0" err="1">
                <a:solidFill>
                  <a:srgbClr val="1F2938"/>
                </a:solidFill>
                <a:latin typeface="Poppins"/>
                <a:ea typeface="Poppins"/>
                <a:cs typeface="Poppins"/>
                <a:sym typeface="Poppins"/>
              </a:rPr>
              <a:t>translations</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not</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across</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rotations</a:t>
            </a:r>
            <a:endParaRPr sz="1800"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dirty="0">
                <a:solidFill>
                  <a:srgbClr val="1F2938"/>
                </a:solidFill>
                <a:latin typeface="Poppins"/>
                <a:ea typeface="Poppins"/>
                <a:cs typeface="Poppins"/>
                <a:sym typeface="Poppins"/>
              </a:rPr>
              <a:t>A </a:t>
            </a:r>
            <a:r>
              <a:rPr lang="nl-NL" sz="1800" b="1" dirty="0" err="1">
                <a:solidFill>
                  <a:srgbClr val="1F2938"/>
                </a:solidFill>
                <a:latin typeface="Poppins"/>
                <a:ea typeface="Poppins"/>
                <a:cs typeface="Poppins"/>
                <a:sym typeface="Poppins"/>
              </a:rPr>
              <a:t>rotated</a:t>
            </a:r>
            <a:r>
              <a:rPr lang="nl-NL" sz="1800" b="1" dirty="0">
                <a:solidFill>
                  <a:srgbClr val="1F2938"/>
                </a:solidFill>
                <a:latin typeface="Poppins"/>
                <a:ea typeface="Poppins"/>
                <a:cs typeface="Poppins"/>
                <a:sym typeface="Poppins"/>
              </a:rPr>
              <a:t> input </a:t>
            </a:r>
            <a:r>
              <a:rPr lang="nl-NL" sz="1800" dirty="0" err="1">
                <a:solidFill>
                  <a:srgbClr val="1F2938"/>
                </a:solidFill>
                <a:latin typeface="Poppins"/>
                <a:ea typeface="Poppins"/>
                <a:cs typeface="Poppins"/>
                <a:sym typeface="Poppins"/>
              </a:rPr>
              <a:t>can</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give</a:t>
            </a:r>
            <a:r>
              <a:rPr lang="nl-NL" sz="1800" dirty="0">
                <a:solidFill>
                  <a:srgbClr val="1F2938"/>
                </a:solidFill>
                <a:latin typeface="Poppins"/>
                <a:ea typeface="Poppins"/>
                <a:cs typeface="Poppins"/>
                <a:sym typeface="Poppins"/>
              </a:rPr>
              <a:t> a </a:t>
            </a:r>
            <a:r>
              <a:rPr lang="nl-NL" sz="1800" dirty="0" err="1">
                <a:solidFill>
                  <a:srgbClr val="1F2938"/>
                </a:solidFill>
                <a:latin typeface="Poppins"/>
                <a:ea typeface="Poppins"/>
                <a:cs typeface="Poppins"/>
                <a:sym typeface="Poppins"/>
              </a:rPr>
              <a:t>prediction</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that</a:t>
            </a:r>
            <a:r>
              <a:rPr lang="nl-NL" sz="1800" dirty="0">
                <a:solidFill>
                  <a:srgbClr val="1F2938"/>
                </a:solidFill>
                <a:latin typeface="Poppins"/>
                <a:ea typeface="Poppins"/>
                <a:cs typeface="Poppins"/>
                <a:sym typeface="Poppins"/>
              </a:rPr>
              <a:t> is </a:t>
            </a:r>
            <a:r>
              <a:rPr lang="nl-NL" sz="1800" dirty="0" err="1">
                <a:solidFill>
                  <a:srgbClr val="1F2938"/>
                </a:solidFill>
                <a:latin typeface="Poppins"/>
                <a:ea typeface="Poppins"/>
                <a:cs typeface="Poppins"/>
                <a:sym typeface="Poppins"/>
              </a:rPr>
              <a:t>not</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the</a:t>
            </a:r>
            <a:r>
              <a:rPr lang="nl-NL" sz="1800" dirty="0">
                <a:solidFill>
                  <a:srgbClr val="1F2938"/>
                </a:solidFill>
                <a:latin typeface="Poppins"/>
                <a:ea typeface="Poppins"/>
                <a:cs typeface="Poppins"/>
                <a:sym typeface="Poppins"/>
              </a:rPr>
              <a:t> </a:t>
            </a:r>
            <a:r>
              <a:rPr lang="nl-NL" sz="1800" b="1" dirty="0" err="1">
                <a:solidFill>
                  <a:srgbClr val="1F2938"/>
                </a:solidFill>
                <a:latin typeface="Poppins"/>
                <a:ea typeface="Poppins"/>
                <a:cs typeface="Poppins"/>
                <a:sym typeface="Poppins"/>
              </a:rPr>
              <a:t>rotated</a:t>
            </a:r>
            <a:r>
              <a:rPr lang="nl-NL" sz="1800" b="1" dirty="0">
                <a:solidFill>
                  <a:srgbClr val="1F2938"/>
                </a:solidFill>
                <a:latin typeface="Poppins"/>
                <a:ea typeface="Poppins"/>
                <a:cs typeface="Poppins"/>
                <a:sym typeface="Poppins"/>
              </a:rPr>
              <a:t> output</a:t>
            </a:r>
            <a:endParaRPr sz="1800" b="1"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dirty="0">
                <a:solidFill>
                  <a:srgbClr val="1F2938"/>
                </a:solidFill>
                <a:latin typeface="Poppins"/>
                <a:ea typeface="Poppins"/>
                <a:cs typeface="Poppins"/>
                <a:sym typeface="Poppins"/>
              </a:rPr>
              <a:t>Standard fix: </a:t>
            </a:r>
            <a:r>
              <a:rPr lang="nl-NL" sz="1800" b="1" dirty="0" err="1">
                <a:solidFill>
                  <a:srgbClr val="1F2938"/>
                </a:solidFill>
                <a:latin typeface="Poppins"/>
                <a:ea typeface="Poppins"/>
                <a:cs typeface="Poppins"/>
                <a:sym typeface="Poppins"/>
              </a:rPr>
              <a:t>rotation</a:t>
            </a:r>
            <a:r>
              <a:rPr lang="nl-NL" sz="1800" b="1" dirty="0">
                <a:solidFill>
                  <a:srgbClr val="1F2938"/>
                </a:solidFill>
                <a:latin typeface="Poppins"/>
                <a:ea typeface="Poppins"/>
                <a:cs typeface="Poppins"/>
                <a:sym typeface="Poppins"/>
              </a:rPr>
              <a:t> </a:t>
            </a:r>
            <a:r>
              <a:rPr lang="nl-NL" sz="1800" b="1" dirty="0" err="1">
                <a:solidFill>
                  <a:srgbClr val="1F2938"/>
                </a:solidFill>
                <a:latin typeface="Poppins"/>
                <a:ea typeface="Poppins"/>
                <a:cs typeface="Poppins"/>
                <a:sym typeface="Poppins"/>
              </a:rPr>
              <a:t>augmentation</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so</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the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network</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learns</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each</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orientation</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separately</a:t>
            </a:r>
            <a:endParaRPr sz="1800"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dirty="0" err="1">
                <a:solidFill>
                  <a:srgbClr val="1F2938"/>
                </a:solidFill>
                <a:latin typeface="Poppins"/>
                <a:ea typeface="Poppins"/>
                <a:cs typeface="Poppins"/>
                <a:sym typeface="Poppins"/>
              </a:rPr>
              <a:t>That</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spends</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capacity</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and</a:t>
            </a:r>
            <a:r>
              <a:rPr lang="nl-NL" sz="1800" dirty="0">
                <a:solidFill>
                  <a:srgbClr val="1F2938"/>
                </a:solidFill>
                <a:latin typeface="Poppins"/>
                <a:ea typeface="Poppins"/>
                <a:cs typeface="Poppins"/>
                <a:sym typeface="Poppins"/>
              </a:rPr>
              <a:t> data, </a:t>
            </a:r>
            <a:r>
              <a:rPr lang="nl-NL" sz="1800" dirty="0" err="1">
                <a:solidFill>
                  <a:srgbClr val="1F2938"/>
                </a:solidFill>
                <a:latin typeface="Poppins"/>
                <a:ea typeface="Poppins"/>
                <a:cs typeface="Poppins"/>
                <a:sym typeface="Poppins"/>
              </a:rPr>
              <a:t>and</a:t>
            </a:r>
            <a:r>
              <a:rPr lang="nl-NL" sz="1800" dirty="0">
                <a:solidFill>
                  <a:srgbClr val="1F2938"/>
                </a:solidFill>
                <a:latin typeface="Poppins"/>
                <a:ea typeface="Poppins"/>
                <a:cs typeface="Poppins"/>
                <a:sym typeface="Poppins"/>
              </a:rPr>
              <a:t> </a:t>
            </a:r>
            <a:r>
              <a:rPr lang="nl-NL" sz="1800" b="1" dirty="0">
                <a:solidFill>
                  <a:srgbClr val="1F2938"/>
                </a:solidFill>
                <a:latin typeface="Poppins"/>
                <a:ea typeface="Poppins"/>
                <a:cs typeface="Poppins"/>
                <a:sym typeface="Poppins"/>
              </a:rPr>
              <a:t>data is </a:t>
            </a:r>
            <a:r>
              <a:rPr lang="nl-NL" sz="1800" b="1" dirty="0" err="1">
                <a:solidFill>
                  <a:srgbClr val="1F2938"/>
                </a:solidFill>
                <a:latin typeface="Poppins"/>
                <a:ea typeface="Poppins"/>
                <a:cs typeface="Poppins"/>
                <a:sym typeface="Poppins"/>
              </a:rPr>
              <a:t>what</a:t>
            </a:r>
            <a:r>
              <a:rPr lang="nl-NL" sz="1800" b="1" dirty="0">
                <a:solidFill>
                  <a:srgbClr val="1F2938"/>
                </a:solidFill>
                <a:latin typeface="Poppins"/>
                <a:ea typeface="Poppins"/>
                <a:cs typeface="Poppins"/>
                <a:sym typeface="Poppins"/>
              </a:rPr>
              <a:t> we have </a:t>
            </a:r>
            <a:r>
              <a:rPr lang="nl-NL" sz="1800" b="1" dirty="0" err="1">
                <a:solidFill>
                  <a:srgbClr val="1F2938"/>
                </a:solidFill>
                <a:latin typeface="Poppins"/>
                <a:ea typeface="Poppins"/>
                <a:cs typeface="Poppins"/>
                <a:sym typeface="Poppins"/>
              </a:rPr>
              <a:t>least</a:t>
            </a:r>
            <a:r>
              <a:rPr lang="nl-NL" sz="1800" b="1" dirty="0">
                <a:solidFill>
                  <a:srgbClr val="1F2938"/>
                </a:solidFill>
                <a:latin typeface="Poppins"/>
                <a:ea typeface="Poppins"/>
                <a:cs typeface="Poppins"/>
                <a:sym typeface="Poppins"/>
              </a:rPr>
              <a:t> of</a:t>
            </a:r>
            <a:endParaRPr sz="1800" b="1" dirty="0">
              <a:solidFill>
                <a:srgbClr val="1F2938"/>
              </a:solidFill>
              <a:latin typeface="Poppins"/>
              <a:ea typeface="Poppins"/>
              <a:cs typeface="Poppins"/>
              <a:sym typeface="Poppi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4"/>
          <p:cNvSpPr txBox="1">
            <a:spLocks noGrp="1"/>
          </p:cNvSpPr>
          <p:nvPr>
            <p:ph type="title" idx="4294967295"/>
          </p:nvPr>
        </p:nvSpPr>
        <p:spPr>
          <a:xfrm>
            <a:off x="771180" y="456439"/>
            <a:ext cx="10652700" cy="6219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rgbClr val="0000FF"/>
              </a:buClr>
              <a:buSzPts val="3400"/>
              <a:buFont typeface="Poppins"/>
              <a:buNone/>
            </a:pPr>
            <a:r>
              <a:rPr lang="nl-NL" sz="3400">
                <a:solidFill>
                  <a:srgbClr val="0000FF"/>
                </a:solidFill>
              </a:rPr>
              <a:t>Equivariance: outputs follow inputs</a:t>
            </a:r>
            <a:endParaRPr sz="3400" b="1">
              <a:latin typeface="Poppins"/>
              <a:ea typeface="Poppins"/>
              <a:cs typeface="Poppins"/>
              <a:sym typeface="Poppins"/>
            </a:endParaRPr>
          </a:p>
        </p:txBody>
      </p:sp>
      <p:sp>
        <p:nvSpPr>
          <p:cNvPr id="107" name="Google Shape;107;p14"/>
          <p:cNvSpPr txBox="1"/>
          <p:nvPr/>
        </p:nvSpPr>
        <p:spPr>
          <a:xfrm>
            <a:off x="771180" y="1417320"/>
            <a:ext cx="5629620" cy="42063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rgbClr val="1F2938"/>
              </a:buClr>
              <a:buSzPts val="1800"/>
              <a:buFont typeface="Poppins"/>
              <a:buChar char="●"/>
            </a:pPr>
            <a:r>
              <a:rPr lang="nl-NL" sz="1800" dirty="0">
                <a:solidFill>
                  <a:srgbClr val="1F2938"/>
                </a:solidFill>
                <a:latin typeface="Poppins"/>
                <a:ea typeface="Poppins"/>
                <a:cs typeface="Poppins"/>
                <a:sym typeface="Poppins"/>
              </a:rPr>
              <a:t>f is </a:t>
            </a:r>
            <a:r>
              <a:rPr lang="nl-NL" sz="1800" dirty="0" err="1">
                <a:solidFill>
                  <a:srgbClr val="1F2938"/>
                </a:solidFill>
                <a:latin typeface="Poppins"/>
                <a:ea typeface="Poppins"/>
                <a:cs typeface="Poppins"/>
                <a:sym typeface="Poppins"/>
              </a:rPr>
              <a:t>equivariant</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to</a:t>
            </a:r>
            <a:r>
              <a:rPr lang="nl-NL" sz="1800" dirty="0">
                <a:solidFill>
                  <a:srgbClr val="1F2938"/>
                </a:solidFill>
                <a:latin typeface="Poppins"/>
                <a:ea typeface="Poppins"/>
                <a:cs typeface="Poppins"/>
                <a:sym typeface="Poppins"/>
              </a:rPr>
              <a:t> a </a:t>
            </a:r>
            <a:r>
              <a:rPr lang="nl-NL" sz="1800" dirty="0" err="1">
                <a:solidFill>
                  <a:srgbClr val="1F2938"/>
                </a:solidFill>
                <a:latin typeface="Poppins"/>
                <a:ea typeface="Poppins"/>
                <a:cs typeface="Poppins"/>
                <a:sym typeface="Poppins"/>
              </a:rPr>
              <a:t>group</a:t>
            </a:r>
            <a:r>
              <a:rPr lang="nl-NL" sz="1800" dirty="0">
                <a:solidFill>
                  <a:srgbClr val="1F2938"/>
                </a:solidFill>
                <a:latin typeface="Poppins"/>
                <a:ea typeface="Poppins"/>
                <a:cs typeface="Poppins"/>
                <a:sym typeface="Poppins"/>
              </a:rPr>
              <a:t> G </a:t>
            </a:r>
            <a:r>
              <a:rPr lang="nl-NL" sz="1800" dirty="0" err="1">
                <a:solidFill>
                  <a:srgbClr val="1F2938"/>
                </a:solidFill>
                <a:latin typeface="Poppins"/>
                <a:ea typeface="Poppins"/>
                <a:cs typeface="Poppins"/>
                <a:sym typeface="Poppins"/>
              </a:rPr>
              <a:t>if</a:t>
            </a:r>
            <a:r>
              <a:rPr lang="nl-NL" sz="1800" dirty="0">
                <a:solidFill>
                  <a:srgbClr val="1F2938"/>
                </a:solidFill>
                <a:latin typeface="Poppins"/>
                <a:ea typeface="Poppins"/>
                <a:cs typeface="Poppins"/>
                <a:sym typeface="Poppins"/>
              </a:rPr>
              <a:t> </a:t>
            </a:r>
            <a:endParaRPr lang="nl-NL" sz="1800" dirty="0" smtClean="0">
              <a:solidFill>
                <a:srgbClr val="1F2938"/>
              </a:solidFill>
              <a:latin typeface="Poppins"/>
              <a:ea typeface="Poppins"/>
              <a:cs typeface="Poppins"/>
              <a:sym typeface="Poppins"/>
            </a:endParaRPr>
          </a:p>
          <a:p>
            <a:pPr marL="114300" lvl="0" algn="l" rtl="0">
              <a:spcBef>
                <a:spcPts val="0"/>
              </a:spcBef>
              <a:spcAft>
                <a:spcPts val="0"/>
              </a:spcAft>
              <a:buClr>
                <a:srgbClr val="1F2938"/>
              </a:buClr>
              <a:buSzPts val="1800"/>
            </a:pPr>
            <a:r>
              <a:rPr lang="nl-NL" sz="1800" dirty="0">
                <a:solidFill>
                  <a:srgbClr val="1F2938"/>
                </a:solidFill>
                <a:latin typeface="Poppins"/>
                <a:ea typeface="Poppins"/>
                <a:cs typeface="Poppins"/>
                <a:sym typeface="Poppins"/>
              </a:rPr>
              <a:t> </a:t>
            </a:r>
            <a:r>
              <a:rPr lang="nl-NL" sz="1800" dirty="0" smtClean="0">
                <a:solidFill>
                  <a:srgbClr val="1F2938"/>
                </a:solidFill>
                <a:latin typeface="Poppins"/>
                <a:ea typeface="Poppins"/>
                <a:cs typeface="Poppins"/>
                <a:sym typeface="Poppins"/>
              </a:rPr>
              <a:t>     </a:t>
            </a:r>
            <a:r>
              <a:rPr lang="nl-NL" sz="1800" b="1" dirty="0" smtClean="0">
                <a:solidFill>
                  <a:srgbClr val="1F2938"/>
                </a:solidFill>
                <a:latin typeface="Poppins"/>
                <a:ea typeface="Poppins"/>
                <a:cs typeface="Poppins"/>
                <a:sym typeface="Poppins"/>
              </a:rPr>
              <a:t>f(g </a:t>
            </a:r>
            <a:r>
              <a:rPr lang="nl-NL" sz="1800" b="1" dirty="0">
                <a:solidFill>
                  <a:srgbClr val="1F2938"/>
                </a:solidFill>
                <a:latin typeface="Poppins"/>
                <a:ea typeface="Poppins"/>
                <a:cs typeface="Poppins"/>
                <a:sym typeface="Poppins"/>
              </a:rPr>
              <a:t>· x) = g · f(x) </a:t>
            </a:r>
            <a:r>
              <a:rPr lang="nl-NL" sz="1800" dirty="0" err="1">
                <a:solidFill>
                  <a:srgbClr val="1F2938"/>
                </a:solidFill>
                <a:latin typeface="Poppins"/>
                <a:ea typeface="Poppins"/>
                <a:cs typeface="Poppins"/>
                <a:sym typeface="Poppins"/>
              </a:rPr>
              <a:t>for</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every</a:t>
            </a:r>
            <a:r>
              <a:rPr lang="nl-NL" sz="1800" dirty="0">
                <a:solidFill>
                  <a:srgbClr val="1F2938"/>
                </a:solidFill>
                <a:latin typeface="Poppins"/>
                <a:ea typeface="Poppins"/>
                <a:cs typeface="Poppins"/>
                <a:sym typeface="Poppins"/>
              </a:rPr>
              <a:t> g in G</a:t>
            </a:r>
            <a:endParaRPr sz="1800"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dirty="0" err="1">
                <a:solidFill>
                  <a:srgbClr val="1F2938"/>
                </a:solidFill>
                <a:latin typeface="Poppins"/>
                <a:ea typeface="Poppins"/>
                <a:cs typeface="Poppins"/>
                <a:sym typeface="Poppins"/>
              </a:rPr>
              <a:t>Segmentation</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should</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be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equivariant</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rotate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the</a:t>
            </a:r>
            <a:r>
              <a:rPr lang="nl-NL" sz="1800" dirty="0">
                <a:solidFill>
                  <a:srgbClr val="1F2938"/>
                </a:solidFill>
                <a:latin typeface="Poppins"/>
                <a:ea typeface="Poppins"/>
                <a:cs typeface="Poppins"/>
                <a:sym typeface="Poppins"/>
              </a:rPr>
              <a:t> image </a:t>
            </a:r>
            <a:r>
              <a:rPr lang="nl-NL" sz="1800" dirty="0" err="1">
                <a:solidFill>
                  <a:srgbClr val="1F2938"/>
                </a:solidFill>
                <a:latin typeface="Poppins"/>
                <a:ea typeface="Poppins"/>
                <a:cs typeface="Poppins"/>
                <a:sym typeface="Poppins"/>
              </a:rPr>
              <a:t>and</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the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mask</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rotates</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with</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it</a:t>
            </a:r>
            <a:endParaRPr sz="1800"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dirty="0" err="1">
                <a:solidFill>
                  <a:srgbClr val="1F2938"/>
                </a:solidFill>
                <a:latin typeface="Poppins"/>
                <a:ea typeface="Poppins"/>
                <a:cs typeface="Poppins"/>
                <a:sym typeface="Poppins"/>
              </a:rPr>
              <a:t>Classification</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should</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be</a:t>
            </a:r>
            <a:r>
              <a:rPr lang="nl-NL" sz="1800" dirty="0">
                <a:solidFill>
                  <a:srgbClr val="1F2938"/>
                </a:solidFill>
                <a:latin typeface="Poppins"/>
                <a:ea typeface="Poppins"/>
                <a:cs typeface="Poppins"/>
                <a:sym typeface="Poppins"/>
              </a:rPr>
              <a:t> invariant: </a:t>
            </a:r>
            <a:r>
              <a:rPr lang="nl-NL" sz="1800" dirty="0" err="1">
                <a:solidFill>
                  <a:srgbClr val="1F2938"/>
                </a:solidFill>
                <a:latin typeface="Poppins"/>
                <a:ea typeface="Poppins"/>
                <a:cs typeface="Poppins"/>
                <a:sym typeface="Poppins"/>
              </a:rPr>
              <a:t>rotate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the</a:t>
            </a:r>
            <a:r>
              <a:rPr lang="nl-NL" sz="1800" dirty="0">
                <a:solidFill>
                  <a:srgbClr val="1F2938"/>
                </a:solidFill>
                <a:latin typeface="Poppins"/>
                <a:ea typeface="Poppins"/>
                <a:cs typeface="Poppins"/>
                <a:sym typeface="Poppins"/>
              </a:rPr>
              <a:t> image </a:t>
            </a:r>
            <a:r>
              <a:rPr lang="nl-NL" sz="1800" dirty="0" err="1">
                <a:solidFill>
                  <a:srgbClr val="1F2938"/>
                </a:solidFill>
                <a:latin typeface="Poppins"/>
                <a:ea typeface="Poppins"/>
                <a:cs typeface="Poppins"/>
                <a:sym typeface="Poppins"/>
              </a:rPr>
              <a:t>and</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the</a:t>
            </a:r>
            <a:r>
              <a:rPr lang="nl-NL" sz="1800" dirty="0">
                <a:solidFill>
                  <a:srgbClr val="1F2938"/>
                </a:solidFill>
                <a:latin typeface="Poppins"/>
                <a:ea typeface="Poppins"/>
                <a:cs typeface="Poppins"/>
                <a:sym typeface="Poppins"/>
              </a:rPr>
              <a:t> label </a:t>
            </a:r>
            <a:r>
              <a:rPr lang="nl-NL" sz="1800" dirty="0" err="1">
                <a:solidFill>
                  <a:srgbClr val="1F2938"/>
                </a:solidFill>
                <a:latin typeface="Poppins"/>
                <a:ea typeface="Poppins"/>
                <a:cs typeface="Poppins"/>
                <a:sym typeface="Poppins"/>
              </a:rPr>
              <a:t>stays</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the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same</a:t>
            </a:r>
            <a:endParaRPr sz="1800"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dirty="0">
                <a:solidFill>
                  <a:srgbClr val="1F2938"/>
                </a:solidFill>
                <a:latin typeface="Poppins"/>
                <a:ea typeface="Poppins"/>
                <a:cs typeface="Poppins"/>
                <a:sym typeface="Poppins"/>
              </a:rPr>
              <a:t>SE(2) is </a:t>
            </a:r>
            <a:r>
              <a:rPr lang="nl-NL" sz="1800" dirty="0" err="1">
                <a:solidFill>
                  <a:srgbClr val="1F2938"/>
                </a:solidFill>
                <a:latin typeface="Poppins"/>
                <a:ea typeface="Poppins"/>
                <a:cs typeface="Poppins"/>
                <a:sym typeface="Poppins"/>
              </a:rPr>
              <a:t>the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group</a:t>
            </a:r>
            <a:r>
              <a:rPr lang="nl-NL" sz="1800" dirty="0">
                <a:solidFill>
                  <a:srgbClr val="1F2938"/>
                </a:solidFill>
                <a:latin typeface="Poppins"/>
                <a:ea typeface="Poppins"/>
                <a:cs typeface="Poppins"/>
                <a:sym typeface="Poppins"/>
              </a:rPr>
              <a:t> of </a:t>
            </a:r>
            <a:r>
              <a:rPr lang="nl-NL" sz="1800" dirty="0" err="1">
                <a:solidFill>
                  <a:srgbClr val="1F2938"/>
                </a:solidFill>
                <a:latin typeface="Poppins"/>
                <a:ea typeface="Poppins"/>
                <a:cs typeface="Poppins"/>
                <a:sym typeface="Poppins"/>
              </a:rPr>
              <a:t>translations</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and</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rotations</a:t>
            </a:r>
            <a:r>
              <a:rPr lang="nl-NL" sz="1800" dirty="0">
                <a:solidFill>
                  <a:srgbClr val="1F2938"/>
                </a:solidFill>
                <a:latin typeface="Poppins"/>
                <a:ea typeface="Poppins"/>
                <a:cs typeface="Poppins"/>
                <a:sym typeface="Poppins"/>
              </a:rPr>
              <a:t> of </a:t>
            </a:r>
            <a:r>
              <a:rPr lang="nl-NL" sz="1800" dirty="0" err="1">
                <a:solidFill>
                  <a:srgbClr val="1F2938"/>
                </a:solidFill>
                <a:latin typeface="Poppins"/>
                <a:ea typeface="Poppins"/>
                <a:cs typeface="Poppins"/>
                <a:sym typeface="Poppins"/>
              </a:rPr>
              <a:t>the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plane</a:t>
            </a:r>
            <a:endParaRPr sz="1800" dirty="0">
              <a:solidFill>
                <a:srgbClr val="1F2938"/>
              </a:solidFill>
              <a:latin typeface="Poppins"/>
              <a:ea typeface="Poppins"/>
              <a:cs typeface="Poppins"/>
              <a:sym typeface="Poppins"/>
            </a:endParaRPr>
          </a:p>
        </p:txBody>
      </p:sp>
      <p:pic>
        <p:nvPicPr>
          <p:cNvPr id="2" name="Afbeelding 1"/>
          <p:cNvPicPr>
            <a:picLocks noChangeAspect="1"/>
          </p:cNvPicPr>
          <p:nvPr/>
        </p:nvPicPr>
        <p:blipFill>
          <a:blip r:embed="rId3"/>
          <a:stretch>
            <a:fillRect/>
          </a:stretch>
        </p:blipFill>
        <p:spPr>
          <a:xfrm>
            <a:off x="6707280" y="1290320"/>
            <a:ext cx="4290920" cy="4182289"/>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5"/>
          <p:cNvSpPr txBox="1">
            <a:spLocks noGrp="1"/>
          </p:cNvSpPr>
          <p:nvPr>
            <p:ph type="title" idx="4294967295"/>
          </p:nvPr>
        </p:nvSpPr>
        <p:spPr>
          <a:xfrm>
            <a:off x="771180" y="456439"/>
            <a:ext cx="10652700" cy="6219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rgbClr val="0000FF"/>
              </a:buClr>
              <a:buSzPts val="3400"/>
              <a:buFont typeface="Poppins"/>
              <a:buNone/>
            </a:pPr>
            <a:r>
              <a:rPr lang="nl-NL" sz="3400">
                <a:solidFill>
                  <a:srgbClr val="0000FF"/>
                </a:solidFill>
              </a:rPr>
              <a:t>Locally, the wall is one edge, rotated</a:t>
            </a:r>
            <a:endParaRPr sz="3400" b="1">
              <a:latin typeface="Poppins"/>
              <a:ea typeface="Poppins"/>
              <a:cs typeface="Poppins"/>
              <a:sym typeface="Poppins"/>
            </a:endParaRPr>
          </a:p>
        </p:txBody>
      </p:sp>
      <p:sp>
        <p:nvSpPr>
          <p:cNvPr id="115" name="Google Shape;115;p15"/>
          <p:cNvSpPr txBox="1"/>
          <p:nvPr/>
        </p:nvSpPr>
        <p:spPr>
          <a:xfrm>
            <a:off x="771180" y="1417320"/>
            <a:ext cx="5669400" cy="42063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rgbClr val="1F2938"/>
              </a:buClr>
              <a:buSzPts val="1800"/>
              <a:buFont typeface="Poppins"/>
              <a:buChar char="●"/>
            </a:pPr>
            <a:r>
              <a:rPr lang="nl-NL" sz="1800" dirty="0">
                <a:solidFill>
                  <a:srgbClr val="1F2938"/>
                </a:solidFill>
                <a:latin typeface="Poppins"/>
                <a:ea typeface="Poppins"/>
                <a:cs typeface="Poppins"/>
                <a:sym typeface="Poppins"/>
              </a:rPr>
              <a:t>The </a:t>
            </a:r>
            <a:r>
              <a:rPr lang="nl-NL" sz="1800" dirty="0" err="1">
                <a:solidFill>
                  <a:srgbClr val="1F2938"/>
                </a:solidFill>
                <a:latin typeface="Poppins"/>
                <a:ea typeface="Poppins"/>
                <a:cs typeface="Poppins"/>
                <a:sym typeface="Poppins"/>
              </a:rPr>
              <a:t>heart</a:t>
            </a:r>
            <a:r>
              <a:rPr lang="nl-NL" sz="1800" dirty="0">
                <a:solidFill>
                  <a:srgbClr val="1F2938"/>
                </a:solidFill>
                <a:latin typeface="Poppins"/>
                <a:ea typeface="Poppins"/>
                <a:cs typeface="Poppins"/>
                <a:sym typeface="Poppins"/>
              </a:rPr>
              <a:t> as a </a:t>
            </a:r>
            <a:r>
              <a:rPr lang="nl-NL" sz="1800" dirty="0" err="1">
                <a:solidFill>
                  <a:srgbClr val="1F2938"/>
                </a:solidFill>
                <a:latin typeface="Poppins"/>
                <a:ea typeface="Poppins"/>
                <a:cs typeface="Poppins"/>
                <a:sym typeface="Poppins"/>
              </a:rPr>
              <a:t>whole</a:t>
            </a:r>
            <a:r>
              <a:rPr lang="nl-NL" sz="1800" dirty="0">
                <a:solidFill>
                  <a:srgbClr val="1F2938"/>
                </a:solidFill>
                <a:latin typeface="Poppins"/>
                <a:ea typeface="Poppins"/>
                <a:cs typeface="Poppins"/>
                <a:sym typeface="Poppins"/>
              </a:rPr>
              <a:t> has a </a:t>
            </a:r>
            <a:r>
              <a:rPr lang="nl-NL" sz="1800" dirty="0" err="1">
                <a:solidFill>
                  <a:srgbClr val="1F2938"/>
                </a:solidFill>
                <a:latin typeface="Poppins"/>
                <a:ea typeface="Poppins"/>
                <a:cs typeface="Poppins"/>
                <a:sym typeface="Poppins"/>
              </a:rPr>
              <a:t>preferred</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orientation</a:t>
            </a:r>
            <a:r>
              <a:rPr lang="nl-NL" sz="1800" dirty="0">
                <a:solidFill>
                  <a:srgbClr val="1F2938"/>
                </a:solidFill>
                <a:latin typeface="Poppins"/>
                <a:ea typeface="Poppins"/>
                <a:cs typeface="Poppins"/>
                <a:sym typeface="Poppins"/>
              </a:rPr>
              <a:t> in a short-</a:t>
            </a:r>
            <a:r>
              <a:rPr lang="nl-NL" sz="1800" dirty="0" err="1">
                <a:solidFill>
                  <a:srgbClr val="1F2938"/>
                </a:solidFill>
                <a:latin typeface="Poppins"/>
                <a:ea typeface="Poppins"/>
                <a:cs typeface="Poppins"/>
                <a:sym typeface="Poppins"/>
              </a:rPr>
              <a:t>axis</a:t>
            </a:r>
            <a:r>
              <a:rPr lang="nl-NL" sz="1800" dirty="0">
                <a:solidFill>
                  <a:srgbClr val="1F2938"/>
                </a:solidFill>
                <a:latin typeface="Poppins"/>
                <a:ea typeface="Poppins"/>
                <a:cs typeface="Poppins"/>
                <a:sym typeface="Poppins"/>
              </a:rPr>
              <a:t> view</a:t>
            </a:r>
            <a:endParaRPr sz="1800"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dirty="0" err="1">
                <a:solidFill>
                  <a:srgbClr val="1F2938"/>
                </a:solidFill>
                <a:latin typeface="Poppins"/>
                <a:ea typeface="Poppins"/>
                <a:cs typeface="Poppins"/>
                <a:sym typeface="Poppins"/>
              </a:rPr>
              <a:t>Its</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parts</a:t>
            </a:r>
            <a:r>
              <a:rPr lang="nl-NL" sz="1800" dirty="0">
                <a:solidFill>
                  <a:srgbClr val="1F2938"/>
                </a:solidFill>
                <a:latin typeface="Poppins"/>
                <a:ea typeface="Poppins"/>
                <a:cs typeface="Poppins"/>
                <a:sym typeface="Poppins"/>
              </a:rPr>
              <a:t> do </a:t>
            </a:r>
            <a:r>
              <a:rPr lang="nl-NL" sz="1800" dirty="0" err="1">
                <a:solidFill>
                  <a:srgbClr val="1F2938"/>
                </a:solidFill>
                <a:latin typeface="Poppins"/>
                <a:ea typeface="Poppins"/>
                <a:cs typeface="Poppins"/>
                <a:sym typeface="Poppins"/>
              </a:rPr>
              <a:t>not</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the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ventricle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wall</a:t>
            </a:r>
            <a:r>
              <a:rPr lang="nl-NL" sz="1800" dirty="0">
                <a:solidFill>
                  <a:srgbClr val="1F2938"/>
                </a:solidFill>
                <a:latin typeface="Poppins"/>
                <a:ea typeface="Poppins"/>
                <a:cs typeface="Poppins"/>
                <a:sym typeface="Poppins"/>
              </a:rPr>
              <a:t> is a ring, </a:t>
            </a:r>
            <a:r>
              <a:rPr lang="nl-NL" sz="1800" dirty="0" err="1">
                <a:solidFill>
                  <a:srgbClr val="1F2938"/>
                </a:solidFill>
                <a:latin typeface="Poppins"/>
                <a:ea typeface="Poppins"/>
                <a:cs typeface="Poppins"/>
                <a:sym typeface="Poppins"/>
              </a:rPr>
              <a:t>so</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its</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boundary</a:t>
            </a:r>
            <a:r>
              <a:rPr lang="nl-NL" sz="1800" dirty="0">
                <a:solidFill>
                  <a:srgbClr val="1F2938"/>
                </a:solidFill>
                <a:latin typeface="Poppins"/>
                <a:ea typeface="Poppins"/>
                <a:cs typeface="Poppins"/>
                <a:sym typeface="Poppins"/>
              </a:rPr>
              <a:t> runs </a:t>
            </a:r>
            <a:r>
              <a:rPr lang="nl-NL" sz="1800" dirty="0" err="1">
                <a:solidFill>
                  <a:srgbClr val="1F2938"/>
                </a:solidFill>
                <a:latin typeface="Poppins"/>
                <a:ea typeface="Poppins"/>
                <a:cs typeface="Poppins"/>
                <a:sym typeface="Poppins"/>
              </a:rPr>
              <a:t>through</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every</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angle</a:t>
            </a:r>
            <a:endParaRPr sz="1800"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dirty="0" err="1">
                <a:solidFill>
                  <a:srgbClr val="1F2938"/>
                </a:solidFill>
                <a:latin typeface="Poppins"/>
                <a:ea typeface="Poppins"/>
                <a:cs typeface="Poppins"/>
                <a:sym typeface="Poppins"/>
              </a:rPr>
              <a:t>Each</a:t>
            </a:r>
            <a:r>
              <a:rPr lang="nl-NL" sz="1800" dirty="0">
                <a:solidFill>
                  <a:srgbClr val="1F2938"/>
                </a:solidFill>
                <a:latin typeface="Poppins"/>
                <a:ea typeface="Poppins"/>
                <a:cs typeface="Poppins"/>
                <a:sym typeface="Poppins"/>
              </a:rPr>
              <a:t> small patch of </a:t>
            </a:r>
            <a:r>
              <a:rPr lang="nl-NL" sz="1800" dirty="0" err="1">
                <a:solidFill>
                  <a:srgbClr val="1F2938"/>
                </a:solidFill>
                <a:latin typeface="Poppins"/>
                <a:ea typeface="Poppins"/>
                <a:cs typeface="Poppins"/>
                <a:sym typeface="Poppins"/>
              </a:rPr>
              <a:t>the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wall</a:t>
            </a:r>
            <a:r>
              <a:rPr lang="nl-NL" sz="1800" dirty="0">
                <a:solidFill>
                  <a:srgbClr val="1F2938"/>
                </a:solidFill>
                <a:latin typeface="Poppins"/>
                <a:ea typeface="Poppins"/>
                <a:cs typeface="Poppins"/>
                <a:sym typeface="Poppins"/>
              </a:rPr>
              <a:t> is </a:t>
            </a:r>
            <a:r>
              <a:rPr lang="nl-NL" sz="1800" dirty="0" err="1">
                <a:solidFill>
                  <a:srgbClr val="1F2938"/>
                </a:solidFill>
                <a:latin typeface="Poppins"/>
                <a:ea typeface="Poppins"/>
                <a:cs typeface="Poppins"/>
                <a:sym typeface="Poppins"/>
              </a:rPr>
              <a:t>the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same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bright-to-dark</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edge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rotated</a:t>
            </a:r>
            <a:endParaRPr sz="1800"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dirty="0" err="1">
                <a:solidFill>
                  <a:srgbClr val="1F2938"/>
                </a:solidFill>
                <a:latin typeface="Poppins"/>
                <a:ea typeface="Poppins"/>
                <a:cs typeface="Poppins"/>
                <a:sym typeface="Poppins"/>
              </a:rPr>
              <a:t>Sharing</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one</a:t>
            </a:r>
            <a:r>
              <a:rPr lang="nl-NL" sz="1800" dirty="0">
                <a:solidFill>
                  <a:srgbClr val="1F2938"/>
                </a:solidFill>
                <a:latin typeface="Poppins"/>
                <a:ea typeface="Poppins"/>
                <a:cs typeface="Poppins"/>
                <a:sym typeface="Poppins"/>
              </a:rPr>
              <a:t> filter over </a:t>
            </a:r>
            <a:r>
              <a:rPr lang="nl-NL" sz="1800" dirty="0" err="1">
                <a:solidFill>
                  <a:srgbClr val="1F2938"/>
                </a:solidFill>
                <a:latin typeface="Poppins"/>
                <a:ea typeface="Poppins"/>
                <a:cs typeface="Poppins"/>
                <a:sym typeface="Poppins"/>
              </a:rPr>
              <a:t>rotations</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uses</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that</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redundancy</a:t>
            </a:r>
            <a:r>
              <a:rPr lang="nl-NL" sz="1800" dirty="0">
                <a:solidFill>
                  <a:srgbClr val="1F2938"/>
                </a:solidFill>
                <a:latin typeface="Poppins"/>
                <a:ea typeface="Poppins"/>
                <a:cs typeface="Poppins"/>
                <a:sym typeface="Poppins"/>
              </a:rPr>
              <a:t> in </a:t>
            </a:r>
            <a:r>
              <a:rPr lang="nl-NL" sz="1800" dirty="0" err="1">
                <a:solidFill>
                  <a:srgbClr val="1F2938"/>
                </a:solidFill>
                <a:latin typeface="Poppins"/>
                <a:ea typeface="Poppins"/>
                <a:cs typeface="Poppins"/>
                <a:sym typeface="Poppins"/>
              </a:rPr>
              <a:t>every</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layer</a:t>
            </a:r>
            <a:endParaRPr sz="1800" dirty="0">
              <a:solidFill>
                <a:srgbClr val="1F2938"/>
              </a:solidFill>
              <a:latin typeface="Poppins"/>
              <a:ea typeface="Poppins"/>
              <a:cs typeface="Poppins"/>
              <a:sym typeface="Poppins"/>
            </a:endParaRPr>
          </a:p>
        </p:txBody>
      </p:sp>
      <p:pic>
        <p:nvPicPr>
          <p:cNvPr id="2" name="Afbeelding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0580" y="1249378"/>
            <a:ext cx="5599234" cy="2997923"/>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3" name="Afbeelding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0580" y="1246281"/>
            <a:ext cx="5599234" cy="2997923"/>
          </a:xfrm>
          <a:prstGeom prst="rect">
            <a:avLst/>
          </a:prstGeom>
        </p:spPr>
      </p:pic>
      <p:sp>
        <p:nvSpPr>
          <p:cNvPr id="114" name="Google Shape;114;p15"/>
          <p:cNvSpPr txBox="1">
            <a:spLocks noGrp="1"/>
          </p:cNvSpPr>
          <p:nvPr>
            <p:ph type="title" idx="4294967295"/>
          </p:nvPr>
        </p:nvSpPr>
        <p:spPr>
          <a:xfrm>
            <a:off x="771180" y="456439"/>
            <a:ext cx="10652700" cy="6219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rgbClr val="0000FF"/>
              </a:buClr>
              <a:buSzPts val="3400"/>
              <a:buFont typeface="Poppins"/>
              <a:buNone/>
            </a:pPr>
            <a:r>
              <a:rPr lang="nl-NL" sz="3400">
                <a:solidFill>
                  <a:srgbClr val="0000FF"/>
                </a:solidFill>
              </a:rPr>
              <a:t>Locally, the wall is one edge, rotated</a:t>
            </a:r>
            <a:endParaRPr sz="3400" b="1">
              <a:latin typeface="Poppins"/>
              <a:ea typeface="Poppins"/>
              <a:cs typeface="Poppins"/>
              <a:sym typeface="Poppins"/>
            </a:endParaRPr>
          </a:p>
        </p:txBody>
      </p:sp>
      <p:sp>
        <p:nvSpPr>
          <p:cNvPr id="115" name="Google Shape;115;p15"/>
          <p:cNvSpPr txBox="1"/>
          <p:nvPr/>
        </p:nvSpPr>
        <p:spPr>
          <a:xfrm>
            <a:off x="771180" y="1417320"/>
            <a:ext cx="5669400" cy="42063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rgbClr val="1F2938"/>
              </a:buClr>
              <a:buSzPts val="1800"/>
              <a:buFont typeface="Poppins"/>
              <a:buChar char="●"/>
            </a:pPr>
            <a:r>
              <a:rPr lang="nl-NL" sz="1800" dirty="0">
                <a:solidFill>
                  <a:srgbClr val="1F2938"/>
                </a:solidFill>
                <a:latin typeface="Poppins"/>
                <a:ea typeface="Poppins"/>
                <a:cs typeface="Poppins"/>
                <a:sym typeface="Poppins"/>
              </a:rPr>
              <a:t>The </a:t>
            </a:r>
            <a:r>
              <a:rPr lang="nl-NL" sz="1800" dirty="0" err="1">
                <a:solidFill>
                  <a:srgbClr val="1F2938"/>
                </a:solidFill>
                <a:latin typeface="Poppins"/>
                <a:ea typeface="Poppins"/>
                <a:cs typeface="Poppins"/>
                <a:sym typeface="Poppins"/>
              </a:rPr>
              <a:t>heart</a:t>
            </a:r>
            <a:r>
              <a:rPr lang="nl-NL" sz="1800" dirty="0">
                <a:solidFill>
                  <a:srgbClr val="1F2938"/>
                </a:solidFill>
                <a:latin typeface="Poppins"/>
                <a:ea typeface="Poppins"/>
                <a:cs typeface="Poppins"/>
                <a:sym typeface="Poppins"/>
              </a:rPr>
              <a:t> as a </a:t>
            </a:r>
            <a:r>
              <a:rPr lang="nl-NL" sz="1800" dirty="0" err="1">
                <a:solidFill>
                  <a:srgbClr val="1F2938"/>
                </a:solidFill>
                <a:latin typeface="Poppins"/>
                <a:ea typeface="Poppins"/>
                <a:cs typeface="Poppins"/>
                <a:sym typeface="Poppins"/>
              </a:rPr>
              <a:t>whole</a:t>
            </a:r>
            <a:r>
              <a:rPr lang="nl-NL" sz="1800" dirty="0">
                <a:solidFill>
                  <a:srgbClr val="1F2938"/>
                </a:solidFill>
                <a:latin typeface="Poppins"/>
                <a:ea typeface="Poppins"/>
                <a:cs typeface="Poppins"/>
                <a:sym typeface="Poppins"/>
              </a:rPr>
              <a:t> has a </a:t>
            </a:r>
            <a:r>
              <a:rPr lang="nl-NL" sz="1800" dirty="0" err="1">
                <a:solidFill>
                  <a:srgbClr val="1F2938"/>
                </a:solidFill>
                <a:latin typeface="Poppins"/>
                <a:ea typeface="Poppins"/>
                <a:cs typeface="Poppins"/>
                <a:sym typeface="Poppins"/>
              </a:rPr>
              <a:t>preferred</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orientation</a:t>
            </a:r>
            <a:r>
              <a:rPr lang="nl-NL" sz="1800" dirty="0">
                <a:solidFill>
                  <a:srgbClr val="1F2938"/>
                </a:solidFill>
                <a:latin typeface="Poppins"/>
                <a:ea typeface="Poppins"/>
                <a:cs typeface="Poppins"/>
                <a:sym typeface="Poppins"/>
              </a:rPr>
              <a:t> in a short-</a:t>
            </a:r>
            <a:r>
              <a:rPr lang="nl-NL" sz="1800" dirty="0" err="1">
                <a:solidFill>
                  <a:srgbClr val="1F2938"/>
                </a:solidFill>
                <a:latin typeface="Poppins"/>
                <a:ea typeface="Poppins"/>
                <a:cs typeface="Poppins"/>
                <a:sym typeface="Poppins"/>
              </a:rPr>
              <a:t>axis</a:t>
            </a:r>
            <a:r>
              <a:rPr lang="nl-NL" sz="1800" dirty="0">
                <a:solidFill>
                  <a:srgbClr val="1F2938"/>
                </a:solidFill>
                <a:latin typeface="Poppins"/>
                <a:ea typeface="Poppins"/>
                <a:cs typeface="Poppins"/>
                <a:sym typeface="Poppins"/>
              </a:rPr>
              <a:t> view</a:t>
            </a:r>
            <a:endParaRPr sz="1800"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dirty="0" err="1">
                <a:solidFill>
                  <a:srgbClr val="1F2938"/>
                </a:solidFill>
                <a:latin typeface="Poppins"/>
                <a:ea typeface="Poppins"/>
                <a:cs typeface="Poppins"/>
                <a:sym typeface="Poppins"/>
              </a:rPr>
              <a:t>Its</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parts</a:t>
            </a:r>
            <a:r>
              <a:rPr lang="nl-NL" sz="1800" dirty="0">
                <a:solidFill>
                  <a:srgbClr val="1F2938"/>
                </a:solidFill>
                <a:latin typeface="Poppins"/>
                <a:ea typeface="Poppins"/>
                <a:cs typeface="Poppins"/>
                <a:sym typeface="Poppins"/>
              </a:rPr>
              <a:t> do </a:t>
            </a:r>
            <a:r>
              <a:rPr lang="nl-NL" sz="1800" dirty="0" err="1">
                <a:solidFill>
                  <a:srgbClr val="1F2938"/>
                </a:solidFill>
                <a:latin typeface="Poppins"/>
                <a:ea typeface="Poppins"/>
                <a:cs typeface="Poppins"/>
                <a:sym typeface="Poppins"/>
              </a:rPr>
              <a:t>not</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the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ventricle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wall</a:t>
            </a:r>
            <a:r>
              <a:rPr lang="nl-NL" sz="1800" dirty="0">
                <a:solidFill>
                  <a:srgbClr val="1F2938"/>
                </a:solidFill>
                <a:latin typeface="Poppins"/>
                <a:ea typeface="Poppins"/>
                <a:cs typeface="Poppins"/>
                <a:sym typeface="Poppins"/>
              </a:rPr>
              <a:t> is a ring, </a:t>
            </a:r>
            <a:r>
              <a:rPr lang="nl-NL" sz="1800" dirty="0" err="1">
                <a:solidFill>
                  <a:srgbClr val="1F2938"/>
                </a:solidFill>
                <a:latin typeface="Poppins"/>
                <a:ea typeface="Poppins"/>
                <a:cs typeface="Poppins"/>
                <a:sym typeface="Poppins"/>
              </a:rPr>
              <a:t>so</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its</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boundary</a:t>
            </a:r>
            <a:r>
              <a:rPr lang="nl-NL" sz="1800" dirty="0">
                <a:solidFill>
                  <a:srgbClr val="1F2938"/>
                </a:solidFill>
                <a:latin typeface="Poppins"/>
                <a:ea typeface="Poppins"/>
                <a:cs typeface="Poppins"/>
                <a:sym typeface="Poppins"/>
              </a:rPr>
              <a:t> runs </a:t>
            </a:r>
            <a:r>
              <a:rPr lang="nl-NL" sz="1800" dirty="0" err="1">
                <a:solidFill>
                  <a:srgbClr val="1F2938"/>
                </a:solidFill>
                <a:latin typeface="Poppins"/>
                <a:ea typeface="Poppins"/>
                <a:cs typeface="Poppins"/>
                <a:sym typeface="Poppins"/>
              </a:rPr>
              <a:t>through</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every</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angle</a:t>
            </a:r>
            <a:endParaRPr sz="1800"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dirty="0" err="1">
                <a:solidFill>
                  <a:srgbClr val="1F2938"/>
                </a:solidFill>
                <a:latin typeface="Poppins"/>
                <a:ea typeface="Poppins"/>
                <a:cs typeface="Poppins"/>
                <a:sym typeface="Poppins"/>
              </a:rPr>
              <a:t>Each</a:t>
            </a:r>
            <a:r>
              <a:rPr lang="nl-NL" sz="1800" dirty="0">
                <a:solidFill>
                  <a:srgbClr val="1F2938"/>
                </a:solidFill>
                <a:latin typeface="Poppins"/>
                <a:ea typeface="Poppins"/>
                <a:cs typeface="Poppins"/>
                <a:sym typeface="Poppins"/>
              </a:rPr>
              <a:t> small patch of </a:t>
            </a:r>
            <a:r>
              <a:rPr lang="nl-NL" sz="1800" dirty="0" err="1">
                <a:solidFill>
                  <a:srgbClr val="1F2938"/>
                </a:solidFill>
                <a:latin typeface="Poppins"/>
                <a:ea typeface="Poppins"/>
                <a:cs typeface="Poppins"/>
                <a:sym typeface="Poppins"/>
              </a:rPr>
              <a:t>the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wall</a:t>
            </a:r>
            <a:r>
              <a:rPr lang="nl-NL" sz="1800" dirty="0">
                <a:solidFill>
                  <a:srgbClr val="1F2938"/>
                </a:solidFill>
                <a:latin typeface="Poppins"/>
                <a:ea typeface="Poppins"/>
                <a:cs typeface="Poppins"/>
                <a:sym typeface="Poppins"/>
              </a:rPr>
              <a:t> is </a:t>
            </a:r>
            <a:r>
              <a:rPr lang="nl-NL" sz="1800" dirty="0" err="1">
                <a:solidFill>
                  <a:srgbClr val="1F2938"/>
                </a:solidFill>
                <a:latin typeface="Poppins"/>
                <a:ea typeface="Poppins"/>
                <a:cs typeface="Poppins"/>
                <a:sym typeface="Poppins"/>
              </a:rPr>
              <a:t>the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same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bright-to-dark</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edge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rotated</a:t>
            </a:r>
            <a:endParaRPr sz="1800"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dirty="0" err="1">
                <a:solidFill>
                  <a:srgbClr val="1F2938"/>
                </a:solidFill>
                <a:latin typeface="Poppins"/>
                <a:ea typeface="Poppins"/>
                <a:cs typeface="Poppins"/>
                <a:sym typeface="Poppins"/>
              </a:rPr>
              <a:t>Sharing</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one</a:t>
            </a:r>
            <a:r>
              <a:rPr lang="nl-NL" sz="1800" dirty="0">
                <a:solidFill>
                  <a:srgbClr val="1F2938"/>
                </a:solidFill>
                <a:latin typeface="Poppins"/>
                <a:ea typeface="Poppins"/>
                <a:cs typeface="Poppins"/>
                <a:sym typeface="Poppins"/>
              </a:rPr>
              <a:t> filter over </a:t>
            </a:r>
            <a:r>
              <a:rPr lang="nl-NL" sz="1800" dirty="0" err="1">
                <a:solidFill>
                  <a:srgbClr val="1F2938"/>
                </a:solidFill>
                <a:latin typeface="Poppins"/>
                <a:ea typeface="Poppins"/>
                <a:cs typeface="Poppins"/>
                <a:sym typeface="Poppins"/>
              </a:rPr>
              <a:t>rotations</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uses</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that</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redundancy</a:t>
            </a:r>
            <a:r>
              <a:rPr lang="nl-NL" sz="1800" dirty="0">
                <a:solidFill>
                  <a:srgbClr val="1F2938"/>
                </a:solidFill>
                <a:latin typeface="Poppins"/>
                <a:ea typeface="Poppins"/>
                <a:cs typeface="Poppins"/>
                <a:sym typeface="Poppins"/>
              </a:rPr>
              <a:t> in </a:t>
            </a:r>
            <a:r>
              <a:rPr lang="nl-NL" sz="1800" dirty="0" err="1">
                <a:solidFill>
                  <a:srgbClr val="1F2938"/>
                </a:solidFill>
                <a:latin typeface="Poppins"/>
                <a:ea typeface="Poppins"/>
                <a:cs typeface="Poppins"/>
                <a:sym typeface="Poppins"/>
              </a:rPr>
              <a:t>every</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layer</a:t>
            </a:r>
            <a:endParaRPr sz="1800" dirty="0">
              <a:solidFill>
                <a:srgbClr val="1F2938"/>
              </a:solidFill>
              <a:latin typeface="Poppins"/>
              <a:ea typeface="Poppins"/>
              <a:cs typeface="Poppins"/>
              <a:sym typeface="Poppins"/>
            </a:endParaRPr>
          </a:p>
        </p:txBody>
      </p:sp>
    </p:spTree>
    <p:extLst>
      <p:ext uri="{BB962C8B-B14F-4D97-AF65-F5344CB8AC3E}">
        <p14:creationId xmlns:p14="http://schemas.microsoft.com/office/powerpoint/2010/main" val="2671269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3" name="Afbeelding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0580" y="1249378"/>
            <a:ext cx="5599234" cy="2997923"/>
          </a:xfrm>
          <a:prstGeom prst="rect">
            <a:avLst/>
          </a:prstGeom>
        </p:spPr>
      </p:pic>
      <p:sp>
        <p:nvSpPr>
          <p:cNvPr id="114" name="Google Shape;114;p15"/>
          <p:cNvSpPr txBox="1">
            <a:spLocks noGrp="1"/>
          </p:cNvSpPr>
          <p:nvPr>
            <p:ph type="title" idx="4294967295"/>
          </p:nvPr>
        </p:nvSpPr>
        <p:spPr>
          <a:xfrm>
            <a:off x="771180" y="456439"/>
            <a:ext cx="10652700" cy="6219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rgbClr val="0000FF"/>
              </a:buClr>
              <a:buSzPts val="3400"/>
              <a:buFont typeface="Poppins"/>
              <a:buNone/>
            </a:pPr>
            <a:r>
              <a:rPr lang="nl-NL" sz="3400">
                <a:solidFill>
                  <a:srgbClr val="0000FF"/>
                </a:solidFill>
              </a:rPr>
              <a:t>Locally, the wall is one edge, rotated</a:t>
            </a:r>
            <a:endParaRPr sz="3400" b="1">
              <a:latin typeface="Poppins"/>
              <a:ea typeface="Poppins"/>
              <a:cs typeface="Poppins"/>
              <a:sym typeface="Poppins"/>
            </a:endParaRPr>
          </a:p>
        </p:txBody>
      </p:sp>
      <p:sp>
        <p:nvSpPr>
          <p:cNvPr id="115" name="Google Shape;115;p15"/>
          <p:cNvSpPr txBox="1"/>
          <p:nvPr/>
        </p:nvSpPr>
        <p:spPr>
          <a:xfrm>
            <a:off x="771180" y="1417320"/>
            <a:ext cx="5669400" cy="42063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rgbClr val="1F2938"/>
              </a:buClr>
              <a:buSzPts val="1800"/>
              <a:buFont typeface="Poppins"/>
              <a:buChar char="●"/>
            </a:pPr>
            <a:r>
              <a:rPr lang="nl-NL" sz="1800" dirty="0">
                <a:solidFill>
                  <a:srgbClr val="1F2938"/>
                </a:solidFill>
                <a:latin typeface="Poppins"/>
                <a:ea typeface="Poppins"/>
                <a:cs typeface="Poppins"/>
                <a:sym typeface="Poppins"/>
              </a:rPr>
              <a:t>The </a:t>
            </a:r>
            <a:r>
              <a:rPr lang="nl-NL" sz="1800" dirty="0" err="1">
                <a:solidFill>
                  <a:srgbClr val="1F2938"/>
                </a:solidFill>
                <a:latin typeface="Poppins"/>
                <a:ea typeface="Poppins"/>
                <a:cs typeface="Poppins"/>
                <a:sym typeface="Poppins"/>
              </a:rPr>
              <a:t>heart</a:t>
            </a:r>
            <a:r>
              <a:rPr lang="nl-NL" sz="1800" dirty="0">
                <a:solidFill>
                  <a:srgbClr val="1F2938"/>
                </a:solidFill>
                <a:latin typeface="Poppins"/>
                <a:ea typeface="Poppins"/>
                <a:cs typeface="Poppins"/>
                <a:sym typeface="Poppins"/>
              </a:rPr>
              <a:t> as a </a:t>
            </a:r>
            <a:r>
              <a:rPr lang="nl-NL" sz="1800" dirty="0" err="1">
                <a:solidFill>
                  <a:srgbClr val="1F2938"/>
                </a:solidFill>
                <a:latin typeface="Poppins"/>
                <a:ea typeface="Poppins"/>
                <a:cs typeface="Poppins"/>
                <a:sym typeface="Poppins"/>
              </a:rPr>
              <a:t>whole</a:t>
            </a:r>
            <a:r>
              <a:rPr lang="nl-NL" sz="1800" dirty="0">
                <a:solidFill>
                  <a:srgbClr val="1F2938"/>
                </a:solidFill>
                <a:latin typeface="Poppins"/>
                <a:ea typeface="Poppins"/>
                <a:cs typeface="Poppins"/>
                <a:sym typeface="Poppins"/>
              </a:rPr>
              <a:t> has a </a:t>
            </a:r>
            <a:r>
              <a:rPr lang="nl-NL" sz="1800" dirty="0" err="1">
                <a:solidFill>
                  <a:srgbClr val="1F2938"/>
                </a:solidFill>
                <a:latin typeface="Poppins"/>
                <a:ea typeface="Poppins"/>
                <a:cs typeface="Poppins"/>
                <a:sym typeface="Poppins"/>
              </a:rPr>
              <a:t>preferred</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orientation</a:t>
            </a:r>
            <a:r>
              <a:rPr lang="nl-NL" sz="1800" dirty="0">
                <a:solidFill>
                  <a:srgbClr val="1F2938"/>
                </a:solidFill>
                <a:latin typeface="Poppins"/>
                <a:ea typeface="Poppins"/>
                <a:cs typeface="Poppins"/>
                <a:sym typeface="Poppins"/>
              </a:rPr>
              <a:t> in a short-</a:t>
            </a:r>
            <a:r>
              <a:rPr lang="nl-NL" sz="1800" dirty="0" err="1">
                <a:solidFill>
                  <a:srgbClr val="1F2938"/>
                </a:solidFill>
                <a:latin typeface="Poppins"/>
                <a:ea typeface="Poppins"/>
                <a:cs typeface="Poppins"/>
                <a:sym typeface="Poppins"/>
              </a:rPr>
              <a:t>axis</a:t>
            </a:r>
            <a:r>
              <a:rPr lang="nl-NL" sz="1800" dirty="0">
                <a:solidFill>
                  <a:srgbClr val="1F2938"/>
                </a:solidFill>
                <a:latin typeface="Poppins"/>
                <a:ea typeface="Poppins"/>
                <a:cs typeface="Poppins"/>
                <a:sym typeface="Poppins"/>
              </a:rPr>
              <a:t> view</a:t>
            </a:r>
            <a:endParaRPr sz="1800"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dirty="0" err="1">
                <a:solidFill>
                  <a:srgbClr val="1F2938"/>
                </a:solidFill>
                <a:latin typeface="Poppins"/>
                <a:ea typeface="Poppins"/>
                <a:cs typeface="Poppins"/>
                <a:sym typeface="Poppins"/>
              </a:rPr>
              <a:t>Its</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parts</a:t>
            </a:r>
            <a:r>
              <a:rPr lang="nl-NL" sz="1800" dirty="0">
                <a:solidFill>
                  <a:srgbClr val="1F2938"/>
                </a:solidFill>
                <a:latin typeface="Poppins"/>
                <a:ea typeface="Poppins"/>
                <a:cs typeface="Poppins"/>
                <a:sym typeface="Poppins"/>
              </a:rPr>
              <a:t> do </a:t>
            </a:r>
            <a:r>
              <a:rPr lang="nl-NL" sz="1800" dirty="0" err="1">
                <a:solidFill>
                  <a:srgbClr val="1F2938"/>
                </a:solidFill>
                <a:latin typeface="Poppins"/>
                <a:ea typeface="Poppins"/>
                <a:cs typeface="Poppins"/>
                <a:sym typeface="Poppins"/>
              </a:rPr>
              <a:t>not</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the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ventricle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wall</a:t>
            </a:r>
            <a:r>
              <a:rPr lang="nl-NL" sz="1800" dirty="0">
                <a:solidFill>
                  <a:srgbClr val="1F2938"/>
                </a:solidFill>
                <a:latin typeface="Poppins"/>
                <a:ea typeface="Poppins"/>
                <a:cs typeface="Poppins"/>
                <a:sym typeface="Poppins"/>
              </a:rPr>
              <a:t> is a ring, </a:t>
            </a:r>
            <a:r>
              <a:rPr lang="nl-NL" sz="1800" dirty="0" err="1">
                <a:solidFill>
                  <a:srgbClr val="1F2938"/>
                </a:solidFill>
                <a:latin typeface="Poppins"/>
                <a:ea typeface="Poppins"/>
                <a:cs typeface="Poppins"/>
                <a:sym typeface="Poppins"/>
              </a:rPr>
              <a:t>so</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its</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boundary</a:t>
            </a:r>
            <a:r>
              <a:rPr lang="nl-NL" sz="1800" dirty="0">
                <a:solidFill>
                  <a:srgbClr val="1F2938"/>
                </a:solidFill>
                <a:latin typeface="Poppins"/>
                <a:ea typeface="Poppins"/>
                <a:cs typeface="Poppins"/>
                <a:sym typeface="Poppins"/>
              </a:rPr>
              <a:t> runs </a:t>
            </a:r>
            <a:r>
              <a:rPr lang="nl-NL" sz="1800" dirty="0" err="1">
                <a:solidFill>
                  <a:srgbClr val="1F2938"/>
                </a:solidFill>
                <a:latin typeface="Poppins"/>
                <a:ea typeface="Poppins"/>
                <a:cs typeface="Poppins"/>
                <a:sym typeface="Poppins"/>
              </a:rPr>
              <a:t>through</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every</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angle</a:t>
            </a:r>
            <a:endParaRPr sz="1800"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dirty="0" err="1">
                <a:solidFill>
                  <a:srgbClr val="1F2938"/>
                </a:solidFill>
                <a:latin typeface="Poppins"/>
                <a:ea typeface="Poppins"/>
                <a:cs typeface="Poppins"/>
                <a:sym typeface="Poppins"/>
              </a:rPr>
              <a:t>Each</a:t>
            </a:r>
            <a:r>
              <a:rPr lang="nl-NL" sz="1800" dirty="0">
                <a:solidFill>
                  <a:srgbClr val="1F2938"/>
                </a:solidFill>
                <a:latin typeface="Poppins"/>
                <a:ea typeface="Poppins"/>
                <a:cs typeface="Poppins"/>
                <a:sym typeface="Poppins"/>
              </a:rPr>
              <a:t> small patch of </a:t>
            </a:r>
            <a:r>
              <a:rPr lang="nl-NL" sz="1800" dirty="0" err="1">
                <a:solidFill>
                  <a:srgbClr val="1F2938"/>
                </a:solidFill>
                <a:latin typeface="Poppins"/>
                <a:ea typeface="Poppins"/>
                <a:cs typeface="Poppins"/>
                <a:sym typeface="Poppins"/>
              </a:rPr>
              <a:t>the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wall</a:t>
            </a:r>
            <a:r>
              <a:rPr lang="nl-NL" sz="1800" dirty="0">
                <a:solidFill>
                  <a:srgbClr val="1F2938"/>
                </a:solidFill>
                <a:latin typeface="Poppins"/>
                <a:ea typeface="Poppins"/>
                <a:cs typeface="Poppins"/>
                <a:sym typeface="Poppins"/>
              </a:rPr>
              <a:t> is </a:t>
            </a:r>
            <a:r>
              <a:rPr lang="nl-NL" sz="1800" dirty="0" err="1">
                <a:solidFill>
                  <a:srgbClr val="1F2938"/>
                </a:solidFill>
                <a:latin typeface="Poppins"/>
                <a:ea typeface="Poppins"/>
                <a:cs typeface="Poppins"/>
                <a:sym typeface="Poppins"/>
              </a:rPr>
              <a:t>the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same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bright-to-dark</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edge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rotated</a:t>
            </a:r>
            <a:endParaRPr sz="1800"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dirty="0" err="1">
                <a:solidFill>
                  <a:srgbClr val="1F2938"/>
                </a:solidFill>
                <a:latin typeface="Poppins"/>
                <a:ea typeface="Poppins"/>
                <a:cs typeface="Poppins"/>
                <a:sym typeface="Poppins"/>
              </a:rPr>
              <a:t>Sharing</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one</a:t>
            </a:r>
            <a:r>
              <a:rPr lang="nl-NL" sz="1800" dirty="0">
                <a:solidFill>
                  <a:srgbClr val="1F2938"/>
                </a:solidFill>
                <a:latin typeface="Poppins"/>
                <a:ea typeface="Poppins"/>
                <a:cs typeface="Poppins"/>
                <a:sym typeface="Poppins"/>
              </a:rPr>
              <a:t> filter over </a:t>
            </a:r>
            <a:r>
              <a:rPr lang="nl-NL" sz="1800" dirty="0" err="1">
                <a:solidFill>
                  <a:srgbClr val="1F2938"/>
                </a:solidFill>
                <a:latin typeface="Poppins"/>
                <a:ea typeface="Poppins"/>
                <a:cs typeface="Poppins"/>
                <a:sym typeface="Poppins"/>
              </a:rPr>
              <a:t>rotations</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uses</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that</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redundancy</a:t>
            </a:r>
            <a:r>
              <a:rPr lang="nl-NL" sz="1800" dirty="0">
                <a:solidFill>
                  <a:srgbClr val="1F2938"/>
                </a:solidFill>
                <a:latin typeface="Poppins"/>
                <a:ea typeface="Poppins"/>
                <a:cs typeface="Poppins"/>
                <a:sym typeface="Poppins"/>
              </a:rPr>
              <a:t> in </a:t>
            </a:r>
            <a:r>
              <a:rPr lang="nl-NL" sz="1800" dirty="0" err="1">
                <a:solidFill>
                  <a:srgbClr val="1F2938"/>
                </a:solidFill>
                <a:latin typeface="Poppins"/>
                <a:ea typeface="Poppins"/>
                <a:cs typeface="Poppins"/>
                <a:sym typeface="Poppins"/>
              </a:rPr>
              <a:t>every</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layer</a:t>
            </a:r>
            <a:endParaRPr sz="1800" dirty="0">
              <a:solidFill>
                <a:srgbClr val="1F2938"/>
              </a:solidFill>
              <a:latin typeface="Poppins"/>
              <a:ea typeface="Poppins"/>
              <a:cs typeface="Poppins"/>
              <a:sym typeface="Poppins"/>
            </a:endParaRPr>
          </a:p>
        </p:txBody>
      </p:sp>
    </p:spTree>
    <p:extLst>
      <p:ext uri="{BB962C8B-B14F-4D97-AF65-F5344CB8AC3E}">
        <p14:creationId xmlns:p14="http://schemas.microsoft.com/office/powerpoint/2010/main" val="537472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6"/>
          <p:cNvSpPr txBox="1">
            <a:spLocks noGrp="1"/>
          </p:cNvSpPr>
          <p:nvPr>
            <p:ph type="title" idx="4294967295"/>
          </p:nvPr>
        </p:nvSpPr>
        <p:spPr>
          <a:xfrm>
            <a:off x="771180" y="456439"/>
            <a:ext cx="10652700" cy="6219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rgbClr val="0000FF"/>
              </a:buClr>
              <a:buSzPts val="3400"/>
              <a:buFont typeface="Poppins"/>
              <a:buNone/>
            </a:pPr>
            <a:r>
              <a:rPr lang="nl-NL" sz="3400">
                <a:solidFill>
                  <a:srgbClr val="0000FF"/>
                </a:solidFill>
              </a:rPr>
              <a:t>What equivariance is meant to fix</a:t>
            </a:r>
            <a:endParaRPr sz="3400" b="1">
              <a:latin typeface="Poppins"/>
              <a:ea typeface="Poppins"/>
              <a:cs typeface="Poppins"/>
              <a:sym typeface="Poppins"/>
            </a:endParaRPr>
          </a:p>
        </p:txBody>
      </p:sp>
      <p:sp>
        <p:nvSpPr>
          <p:cNvPr id="123" name="Google Shape;123;p16"/>
          <p:cNvSpPr txBox="1"/>
          <p:nvPr/>
        </p:nvSpPr>
        <p:spPr>
          <a:xfrm>
            <a:off x="771180" y="1417320"/>
            <a:ext cx="9124258" cy="4206300"/>
          </a:xfrm>
          <a:prstGeom prst="rect">
            <a:avLst/>
          </a:prstGeom>
          <a:noFill/>
          <a:ln>
            <a:noFill/>
          </a:ln>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Clr>
                <a:srgbClr val="1F2938"/>
              </a:buClr>
              <a:buSzPts val="1800"/>
              <a:buFont typeface="Poppins"/>
              <a:buChar char="●"/>
            </a:pPr>
            <a:r>
              <a:rPr lang="nl-NL" sz="1800" dirty="0">
                <a:solidFill>
                  <a:srgbClr val="1F2938"/>
                </a:solidFill>
                <a:latin typeface="Poppins"/>
                <a:ea typeface="Poppins"/>
                <a:cs typeface="Poppins"/>
                <a:sym typeface="Poppins"/>
              </a:rPr>
              <a:t>No </a:t>
            </a:r>
            <a:r>
              <a:rPr lang="nl-NL" sz="1800" dirty="0" err="1">
                <a:solidFill>
                  <a:srgbClr val="1F2938"/>
                </a:solidFill>
                <a:latin typeface="Poppins"/>
                <a:ea typeface="Poppins"/>
                <a:cs typeface="Poppins"/>
                <a:sym typeface="Poppins"/>
              </a:rPr>
              <a:t>rotation</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augmentation</a:t>
            </a:r>
            <a:r>
              <a:rPr lang="nl-NL" sz="1800" dirty="0">
                <a:solidFill>
                  <a:srgbClr val="1F2938"/>
                </a:solidFill>
                <a:latin typeface="Poppins"/>
                <a:ea typeface="Poppins"/>
                <a:cs typeface="Poppins"/>
                <a:sym typeface="Poppins"/>
              </a:rPr>
              <a:t>: </a:t>
            </a:r>
            <a:r>
              <a:rPr lang="nl-NL" sz="1800" b="1" dirty="0" err="1">
                <a:solidFill>
                  <a:srgbClr val="1F2938"/>
                </a:solidFill>
                <a:latin typeface="Poppins"/>
                <a:ea typeface="Poppins"/>
                <a:cs typeface="Poppins"/>
                <a:sym typeface="Poppins"/>
              </a:rPr>
              <a:t>every</a:t>
            </a:r>
            <a:r>
              <a:rPr lang="nl-NL" sz="1800" b="1" dirty="0">
                <a:solidFill>
                  <a:srgbClr val="1F2938"/>
                </a:solidFill>
                <a:latin typeface="Poppins"/>
                <a:ea typeface="Poppins"/>
                <a:cs typeface="Poppins"/>
                <a:sym typeface="Poppins"/>
              </a:rPr>
              <a:t> </a:t>
            </a:r>
            <a:r>
              <a:rPr lang="nl-NL" sz="1800" b="1" dirty="0" err="1">
                <a:solidFill>
                  <a:srgbClr val="1F2938"/>
                </a:solidFill>
                <a:latin typeface="Poppins"/>
                <a:ea typeface="Poppins"/>
                <a:cs typeface="Poppins"/>
                <a:sym typeface="Poppins"/>
              </a:rPr>
              <a:t>orientation</a:t>
            </a:r>
            <a:r>
              <a:rPr lang="nl-NL" sz="1800" b="1" dirty="0">
                <a:solidFill>
                  <a:srgbClr val="1F2938"/>
                </a:solidFill>
                <a:latin typeface="Poppins"/>
                <a:ea typeface="Poppins"/>
                <a:cs typeface="Poppins"/>
                <a:sym typeface="Poppins"/>
              </a:rPr>
              <a:t> is </a:t>
            </a:r>
            <a:r>
              <a:rPr lang="nl-NL" sz="1800" b="1" dirty="0" err="1">
                <a:solidFill>
                  <a:srgbClr val="1F2938"/>
                </a:solidFill>
                <a:latin typeface="Poppins"/>
                <a:ea typeface="Poppins"/>
                <a:cs typeface="Poppins"/>
                <a:sym typeface="Poppins"/>
              </a:rPr>
              <a:t>covered</a:t>
            </a:r>
            <a:r>
              <a:rPr lang="nl-NL" sz="1800" b="1" dirty="0">
                <a:solidFill>
                  <a:srgbClr val="1F2938"/>
                </a:solidFill>
                <a:latin typeface="Poppins"/>
                <a:ea typeface="Poppins"/>
                <a:cs typeface="Poppins"/>
                <a:sym typeface="Poppins"/>
              </a:rPr>
              <a:t> </a:t>
            </a:r>
            <a:r>
              <a:rPr lang="nl-NL" sz="1800" b="1" dirty="0" err="1">
                <a:solidFill>
                  <a:srgbClr val="1F2938"/>
                </a:solidFill>
                <a:latin typeface="Poppins"/>
                <a:ea typeface="Poppins"/>
                <a:cs typeface="Poppins"/>
                <a:sym typeface="Poppins"/>
              </a:rPr>
              <a:t>by</a:t>
            </a:r>
            <a:r>
              <a:rPr lang="nl-NL" sz="1800" b="1" dirty="0">
                <a:solidFill>
                  <a:srgbClr val="1F2938"/>
                </a:solidFill>
                <a:latin typeface="Poppins"/>
                <a:ea typeface="Poppins"/>
                <a:cs typeface="Poppins"/>
                <a:sym typeface="Poppins"/>
              </a:rPr>
              <a:t> </a:t>
            </a:r>
            <a:r>
              <a:rPr lang="nl-NL" sz="1800" b="1" dirty="0" err="1">
                <a:solidFill>
                  <a:srgbClr val="1F2938"/>
                </a:solidFill>
                <a:latin typeface="Poppins"/>
                <a:ea typeface="Poppins"/>
                <a:cs typeface="Poppins"/>
                <a:sym typeface="Poppins"/>
              </a:rPr>
              <a:t>construction</a:t>
            </a:r>
            <a:endParaRPr sz="1800" b="1" dirty="0">
              <a:solidFill>
                <a:srgbClr val="1F2938"/>
              </a:solidFill>
              <a:latin typeface="Poppins"/>
              <a:ea typeface="Poppins"/>
              <a:cs typeface="Poppins"/>
              <a:sym typeface="Poppins"/>
            </a:endParaRPr>
          </a:p>
          <a:p>
            <a:pPr marL="457200" lvl="0" indent="-342900" algn="l" rtl="0">
              <a:lnSpc>
                <a:spcPct val="150000"/>
              </a:lnSpc>
              <a:spcBef>
                <a:spcPts val="0"/>
              </a:spcBef>
              <a:spcAft>
                <a:spcPts val="0"/>
              </a:spcAft>
              <a:buClr>
                <a:srgbClr val="1F2938"/>
              </a:buClr>
              <a:buSzPts val="1800"/>
              <a:buFont typeface="Poppins"/>
              <a:buChar char="●"/>
            </a:pPr>
            <a:r>
              <a:rPr lang="nl-NL" sz="1800" b="1" dirty="0" err="1">
                <a:solidFill>
                  <a:srgbClr val="1F2938"/>
                </a:solidFill>
                <a:latin typeface="Poppins"/>
                <a:ea typeface="Poppins"/>
                <a:cs typeface="Poppins"/>
                <a:sym typeface="Poppins"/>
              </a:rPr>
              <a:t>Each</a:t>
            </a:r>
            <a:r>
              <a:rPr lang="nl-NL" sz="1800" b="1" dirty="0">
                <a:solidFill>
                  <a:srgbClr val="1F2938"/>
                </a:solidFill>
                <a:latin typeface="Poppins"/>
                <a:ea typeface="Poppins"/>
                <a:cs typeface="Poppins"/>
                <a:sym typeface="Poppins"/>
              </a:rPr>
              <a:t> training image </a:t>
            </a:r>
            <a:r>
              <a:rPr lang="nl-NL" sz="1800" b="1" dirty="0" err="1">
                <a:solidFill>
                  <a:srgbClr val="1F2938"/>
                </a:solidFill>
                <a:latin typeface="Poppins"/>
                <a:ea typeface="Poppins"/>
                <a:cs typeface="Poppins"/>
                <a:sym typeface="Poppins"/>
              </a:rPr>
              <a:t>informs</a:t>
            </a:r>
            <a:r>
              <a:rPr lang="nl-NL" sz="1800" b="1" dirty="0">
                <a:solidFill>
                  <a:srgbClr val="1F2938"/>
                </a:solidFill>
                <a:latin typeface="Poppins"/>
                <a:ea typeface="Poppins"/>
                <a:cs typeface="Poppins"/>
                <a:sym typeface="Poppins"/>
              </a:rPr>
              <a:t> </a:t>
            </a:r>
            <a:r>
              <a:rPr lang="nl-NL" sz="1800" b="1" dirty="0" err="1">
                <a:solidFill>
                  <a:srgbClr val="1F2938"/>
                </a:solidFill>
                <a:latin typeface="Poppins"/>
                <a:ea typeface="Poppins"/>
                <a:cs typeface="Poppins"/>
                <a:sym typeface="Poppins"/>
              </a:rPr>
              <a:t>the</a:t>
            </a:r>
            <a:r>
              <a:rPr lang="nl-NL" sz="1800" b="1" dirty="0">
                <a:solidFill>
                  <a:srgbClr val="1F2938"/>
                </a:solidFill>
                <a:latin typeface="Poppins"/>
                <a:ea typeface="Poppins"/>
                <a:cs typeface="Poppins"/>
                <a:sym typeface="Poppins"/>
              </a:rPr>
              <a:t> </a:t>
            </a:r>
            <a:r>
              <a:rPr lang="nl-NL" sz="1800" b="1" dirty="0" err="1">
                <a:solidFill>
                  <a:srgbClr val="1F2938"/>
                </a:solidFill>
                <a:latin typeface="Poppins"/>
                <a:ea typeface="Poppins"/>
                <a:cs typeface="Poppins"/>
                <a:sym typeface="Poppins"/>
              </a:rPr>
              <a:t>network</a:t>
            </a:r>
            <a:r>
              <a:rPr lang="nl-NL" sz="1800" b="1" dirty="0">
                <a:solidFill>
                  <a:srgbClr val="1F2938"/>
                </a:solidFill>
                <a:latin typeface="Poppins"/>
                <a:ea typeface="Poppins"/>
                <a:cs typeface="Poppins"/>
                <a:sym typeface="Poppins"/>
              </a:rPr>
              <a:t> </a:t>
            </a:r>
            <a:r>
              <a:rPr lang="nl-NL" sz="1800" b="1" dirty="0" err="1">
                <a:solidFill>
                  <a:srgbClr val="1F2938"/>
                </a:solidFill>
                <a:latin typeface="Poppins"/>
                <a:ea typeface="Poppins"/>
                <a:cs typeface="Poppins"/>
                <a:sym typeface="Poppins"/>
              </a:rPr>
              <a:t>about</a:t>
            </a:r>
            <a:r>
              <a:rPr lang="nl-NL" sz="1800" b="1" dirty="0">
                <a:solidFill>
                  <a:srgbClr val="1F2938"/>
                </a:solidFill>
                <a:latin typeface="Poppins"/>
                <a:ea typeface="Poppins"/>
                <a:cs typeface="Poppins"/>
                <a:sym typeface="Poppins"/>
              </a:rPr>
              <a:t> </a:t>
            </a:r>
            <a:r>
              <a:rPr lang="nl-NL" sz="1800" b="1" dirty="0" err="1">
                <a:solidFill>
                  <a:srgbClr val="1F2938"/>
                </a:solidFill>
                <a:latin typeface="Poppins"/>
                <a:ea typeface="Poppins"/>
                <a:cs typeface="Poppins"/>
                <a:sym typeface="Poppins"/>
              </a:rPr>
              <a:t>all</a:t>
            </a:r>
            <a:r>
              <a:rPr lang="nl-NL" sz="1800" b="1" dirty="0">
                <a:solidFill>
                  <a:srgbClr val="1F2938"/>
                </a:solidFill>
                <a:latin typeface="Poppins"/>
                <a:ea typeface="Poppins"/>
                <a:cs typeface="Poppins"/>
                <a:sym typeface="Poppins"/>
              </a:rPr>
              <a:t> </a:t>
            </a:r>
            <a:r>
              <a:rPr lang="nl-NL" sz="1800" b="1" dirty="0" err="1">
                <a:solidFill>
                  <a:srgbClr val="1F2938"/>
                </a:solidFill>
                <a:latin typeface="Poppins"/>
                <a:ea typeface="Poppins"/>
                <a:cs typeface="Poppins"/>
                <a:sym typeface="Poppins"/>
              </a:rPr>
              <a:t>its</a:t>
            </a:r>
            <a:r>
              <a:rPr lang="nl-NL" sz="1800" b="1" dirty="0">
                <a:solidFill>
                  <a:srgbClr val="1F2938"/>
                </a:solidFill>
                <a:latin typeface="Poppins"/>
                <a:ea typeface="Poppins"/>
                <a:cs typeface="Poppins"/>
                <a:sym typeface="Poppins"/>
              </a:rPr>
              <a:t> </a:t>
            </a:r>
            <a:r>
              <a:rPr lang="nl-NL" sz="1800" b="1" dirty="0" err="1">
                <a:solidFill>
                  <a:srgbClr val="1F2938"/>
                </a:solidFill>
                <a:latin typeface="Poppins"/>
                <a:ea typeface="Poppins"/>
                <a:cs typeface="Poppins"/>
                <a:sym typeface="Poppins"/>
              </a:rPr>
              <a:t>rotated</a:t>
            </a:r>
            <a:r>
              <a:rPr lang="nl-NL" sz="1800" b="1" dirty="0">
                <a:solidFill>
                  <a:srgbClr val="1F2938"/>
                </a:solidFill>
                <a:latin typeface="Poppins"/>
                <a:ea typeface="Poppins"/>
                <a:cs typeface="Poppins"/>
                <a:sym typeface="Poppins"/>
              </a:rPr>
              <a:t> </a:t>
            </a:r>
            <a:r>
              <a:rPr lang="nl-NL" sz="1800" b="1" dirty="0" err="1">
                <a:solidFill>
                  <a:srgbClr val="1F2938"/>
                </a:solidFill>
                <a:latin typeface="Poppins"/>
                <a:ea typeface="Poppins"/>
                <a:cs typeface="Poppins"/>
                <a:sym typeface="Poppins"/>
              </a:rPr>
              <a:t>copies</a:t>
            </a:r>
            <a:endParaRPr sz="1800" b="1" dirty="0">
              <a:solidFill>
                <a:srgbClr val="1F2938"/>
              </a:solidFill>
              <a:latin typeface="Poppins"/>
              <a:ea typeface="Poppins"/>
              <a:cs typeface="Poppins"/>
              <a:sym typeface="Poppins"/>
            </a:endParaRPr>
          </a:p>
          <a:p>
            <a:pPr marL="457200" lvl="0" indent="-342900" algn="l" rtl="0">
              <a:lnSpc>
                <a:spcPct val="150000"/>
              </a:lnSpc>
              <a:spcBef>
                <a:spcPts val="0"/>
              </a:spcBef>
              <a:spcAft>
                <a:spcPts val="0"/>
              </a:spcAft>
              <a:buClr>
                <a:srgbClr val="1F2938"/>
              </a:buClr>
              <a:buSzPts val="1800"/>
              <a:buFont typeface="Poppins"/>
              <a:buChar char="●"/>
            </a:pPr>
            <a:r>
              <a:rPr lang="nl-NL" sz="1800" dirty="0">
                <a:solidFill>
                  <a:srgbClr val="1F2938"/>
                </a:solidFill>
                <a:latin typeface="Poppins"/>
                <a:ea typeface="Poppins"/>
                <a:cs typeface="Poppins"/>
                <a:sym typeface="Poppins"/>
              </a:rPr>
              <a:t>Latents are </a:t>
            </a:r>
            <a:r>
              <a:rPr lang="nl-NL" sz="1800" dirty="0" err="1">
                <a:solidFill>
                  <a:srgbClr val="1F2938"/>
                </a:solidFill>
                <a:latin typeface="Poppins"/>
                <a:ea typeface="Poppins"/>
                <a:cs typeface="Poppins"/>
                <a:sym typeface="Poppins"/>
              </a:rPr>
              <a:t>tied</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to</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anatomy</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so</a:t>
            </a:r>
            <a:r>
              <a:rPr lang="nl-NL" sz="1800" dirty="0">
                <a:solidFill>
                  <a:srgbClr val="1F2938"/>
                </a:solidFill>
                <a:latin typeface="Poppins"/>
                <a:ea typeface="Poppins"/>
                <a:cs typeface="Poppins"/>
                <a:sym typeface="Poppins"/>
              </a:rPr>
              <a:t> image </a:t>
            </a:r>
            <a:r>
              <a:rPr lang="nl-NL" sz="1800" dirty="0" err="1">
                <a:solidFill>
                  <a:srgbClr val="1F2938"/>
                </a:solidFill>
                <a:latin typeface="Poppins"/>
                <a:ea typeface="Poppins"/>
                <a:cs typeface="Poppins"/>
                <a:sym typeface="Poppins"/>
              </a:rPr>
              <a:t>and</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mask</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stay</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aligned</a:t>
            </a:r>
            <a:endParaRPr sz="1800" dirty="0">
              <a:solidFill>
                <a:srgbClr val="1F2938"/>
              </a:solidFill>
              <a:latin typeface="Poppins"/>
              <a:ea typeface="Poppins"/>
              <a:cs typeface="Poppins"/>
              <a:sym typeface="Poppins"/>
            </a:endParaRPr>
          </a:p>
          <a:p>
            <a:pPr marL="457200" lvl="0" indent="-342900" algn="l" rtl="0">
              <a:lnSpc>
                <a:spcPct val="150000"/>
              </a:lnSpc>
              <a:spcBef>
                <a:spcPts val="0"/>
              </a:spcBef>
              <a:spcAft>
                <a:spcPts val="0"/>
              </a:spcAft>
              <a:buClr>
                <a:srgbClr val="1F2938"/>
              </a:buClr>
              <a:buSzPts val="1800"/>
              <a:buFont typeface="Poppins"/>
              <a:buChar char="●"/>
            </a:pPr>
            <a:r>
              <a:rPr lang="nl-NL" sz="1800" dirty="0">
                <a:solidFill>
                  <a:srgbClr val="1F2938"/>
                </a:solidFill>
                <a:latin typeface="Poppins"/>
                <a:ea typeface="Poppins"/>
                <a:cs typeface="Poppins"/>
                <a:sym typeface="Poppins"/>
              </a:rPr>
              <a:t>Hypothesis </a:t>
            </a:r>
            <a:r>
              <a:rPr lang="nl-NL" sz="1800" dirty="0" err="1">
                <a:solidFill>
                  <a:srgbClr val="1F2938"/>
                </a:solidFill>
                <a:latin typeface="Poppins"/>
                <a:ea typeface="Poppins"/>
                <a:cs typeface="Poppins"/>
                <a:sym typeface="Poppins"/>
              </a:rPr>
              <a:t>to</a:t>
            </a:r>
            <a:r>
              <a:rPr lang="nl-NL" sz="1800" dirty="0">
                <a:solidFill>
                  <a:srgbClr val="1F2938"/>
                </a:solidFill>
                <a:latin typeface="Poppins"/>
                <a:ea typeface="Poppins"/>
                <a:cs typeface="Poppins"/>
                <a:sym typeface="Poppins"/>
              </a:rPr>
              <a:t> test: </a:t>
            </a:r>
            <a:r>
              <a:rPr lang="nl-NL" sz="1800" b="1" dirty="0" err="1">
                <a:solidFill>
                  <a:srgbClr val="1F2938"/>
                </a:solidFill>
                <a:latin typeface="Poppins"/>
                <a:ea typeface="Poppins"/>
                <a:cs typeface="Poppins"/>
                <a:sym typeface="Poppins"/>
              </a:rPr>
              <a:t>the</a:t>
            </a:r>
            <a:r>
              <a:rPr lang="nl-NL" sz="1800" b="1" dirty="0">
                <a:solidFill>
                  <a:srgbClr val="1F2938"/>
                </a:solidFill>
                <a:latin typeface="Poppins"/>
                <a:ea typeface="Poppins"/>
                <a:cs typeface="Poppins"/>
                <a:sym typeface="Poppins"/>
              </a:rPr>
              <a:t> </a:t>
            </a:r>
            <a:r>
              <a:rPr lang="nl-NL" sz="1800" b="1" dirty="0" err="1">
                <a:solidFill>
                  <a:srgbClr val="1F2938"/>
                </a:solidFill>
                <a:latin typeface="Poppins"/>
                <a:ea typeface="Poppins"/>
                <a:cs typeface="Poppins"/>
                <a:sym typeface="Poppins"/>
              </a:rPr>
              <a:t>gain</a:t>
            </a:r>
            <a:r>
              <a:rPr lang="nl-NL" sz="1800" b="1" dirty="0">
                <a:solidFill>
                  <a:srgbClr val="1F2938"/>
                </a:solidFill>
                <a:latin typeface="Poppins"/>
                <a:ea typeface="Poppins"/>
                <a:cs typeface="Poppins"/>
                <a:sym typeface="Poppins"/>
              </a:rPr>
              <a:t> over a standard </a:t>
            </a:r>
            <a:r>
              <a:rPr lang="nl-NL" sz="1800" b="1" dirty="0" err="1">
                <a:solidFill>
                  <a:srgbClr val="1F2938"/>
                </a:solidFill>
                <a:latin typeface="Poppins"/>
                <a:ea typeface="Poppins"/>
                <a:cs typeface="Poppins"/>
                <a:sym typeface="Poppins"/>
              </a:rPr>
              <a:t>network</a:t>
            </a:r>
            <a:r>
              <a:rPr lang="nl-NL" sz="1800" b="1" dirty="0">
                <a:solidFill>
                  <a:srgbClr val="1F2938"/>
                </a:solidFill>
                <a:latin typeface="Poppins"/>
                <a:ea typeface="Poppins"/>
                <a:cs typeface="Poppins"/>
                <a:sym typeface="Poppins"/>
              </a:rPr>
              <a:t> </a:t>
            </a:r>
            <a:r>
              <a:rPr lang="nl-NL" sz="1800" b="1" dirty="0" err="1">
                <a:solidFill>
                  <a:srgbClr val="1F2938"/>
                </a:solidFill>
                <a:latin typeface="Poppins"/>
                <a:ea typeface="Poppins"/>
                <a:cs typeface="Poppins"/>
                <a:sym typeface="Poppins"/>
              </a:rPr>
              <a:t>grows</a:t>
            </a:r>
            <a:r>
              <a:rPr lang="nl-NL" sz="1800" b="1" dirty="0">
                <a:solidFill>
                  <a:srgbClr val="1F2938"/>
                </a:solidFill>
                <a:latin typeface="Poppins"/>
                <a:ea typeface="Poppins"/>
                <a:cs typeface="Poppins"/>
                <a:sym typeface="Poppins"/>
              </a:rPr>
              <a:t> as labels get </a:t>
            </a:r>
            <a:r>
              <a:rPr lang="nl-NL" sz="1800" b="1" dirty="0" err="1">
                <a:solidFill>
                  <a:srgbClr val="1F2938"/>
                </a:solidFill>
                <a:latin typeface="Poppins"/>
                <a:ea typeface="Poppins"/>
                <a:cs typeface="Poppins"/>
                <a:sym typeface="Poppins"/>
              </a:rPr>
              <a:t>fewer</a:t>
            </a:r>
            <a:endParaRPr sz="1800" b="1" dirty="0">
              <a:solidFill>
                <a:srgbClr val="1F2938"/>
              </a:solidFill>
              <a:latin typeface="Poppins"/>
              <a:ea typeface="Poppins"/>
              <a:cs typeface="Poppins"/>
              <a:sym typeface="Poppi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5"/>
          <p:cNvSpPr txBox="1">
            <a:spLocks noGrp="1"/>
          </p:cNvSpPr>
          <p:nvPr>
            <p:ph type="title" idx="4294967295"/>
          </p:nvPr>
        </p:nvSpPr>
        <p:spPr>
          <a:xfrm>
            <a:off x="771180" y="456439"/>
            <a:ext cx="10652700" cy="6219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rgbClr val="0000FF"/>
              </a:buClr>
              <a:buSzPts val="3400"/>
              <a:buFont typeface="Poppins"/>
              <a:buNone/>
            </a:pPr>
            <a:r>
              <a:rPr lang="nl-NL" sz="3400">
                <a:solidFill>
                  <a:srgbClr val="0000FF"/>
                </a:solidFill>
              </a:rPr>
              <a:t>Weight sharing beyond translation</a:t>
            </a:r>
            <a:endParaRPr sz="3400" b="1">
              <a:latin typeface="Poppins"/>
              <a:ea typeface="Poppins"/>
              <a:cs typeface="Poppins"/>
              <a:sym typeface="Poppins"/>
            </a:endParaRPr>
          </a:p>
        </p:txBody>
      </p:sp>
      <p:sp>
        <p:nvSpPr>
          <p:cNvPr id="192" name="Google Shape;192;p25"/>
          <p:cNvSpPr txBox="1"/>
          <p:nvPr/>
        </p:nvSpPr>
        <p:spPr>
          <a:xfrm>
            <a:off x="771180" y="1417320"/>
            <a:ext cx="4753320" cy="42063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rgbClr val="1F2938"/>
              </a:buClr>
              <a:buSzPts val="1800"/>
              <a:buFont typeface="Poppins"/>
              <a:buChar char="●"/>
            </a:pPr>
            <a:r>
              <a:rPr lang="nl-NL" sz="1800" dirty="0">
                <a:solidFill>
                  <a:srgbClr val="1F2938"/>
                </a:solidFill>
                <a:latin typeface="Poppins"/>
                <a:ea typeface="Poppins"/>
                <a:cs typeface="Poppins"/>
                <a:sym typeface="Poppins"/>
              </a:rPr>
              <a:t>A </a:t>
            </a:r>
            <a:r>
              <a:rPr lang="nl-NL" sz="1800" dirty="0" err="1">
                <a:solidFill>
                  <a:srgbClr val="1F2938"/>
                </a:solidFill>
                <a:latin typeface="Poppins"/>
                <a:ea typeface="Poppins"/>
                <a:cs typeface="Poppins"/>
                <a:sym typeface="Poppins"/>
              </a:rPr>
              <a:t>group</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convolution</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applies</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each</a:t>
            </a:r>
            <a:r>
              <a:rPr lang="nl-NL" sz="1800" dirty="0">
                <a:solidFill>
                  <a:srgbClr val="1F2938"/>
                </a:solidFill>
                <a:latin typeface="Poppins"/>
                <a:ea typeface="Poppins"/>
                <a:cs typeface="Poppins"/>
                <a:sym typeface="Poppins"/>
              </a:rPr>
              <a:t> filter at </a:t>
            </a:r>
            <a:r>
              <a:rPr lang="nl-NL" sz="1800" dirty="0" err="1">
                <a:solidFill>
                  <a:srgbClr val="1F2938"/>
                </a:solidFill>
                <a:latin typeface="Poppins"/>
                <a:ea typeface="Poppins"/>
                <a:cs typeface="Poppins"/>
                <a:sym typeface="Poppins"/>
              </a:rPr>
              <a:t>every</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position</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and</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every</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rotation</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angle</a:t>
            </a:r>
            <a:endParaRPr sz="1800"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dirty="0">
                <a:solidFill>
                  <a:srgbClr val="1F2938"/>
                </a:solidFill>
                <a:latin typeface="Poppins"/>
                <a:ea typeface="Poppins"/>
                <a:cs typeface="Poppins"/>
                <a:sym typeface="Poppins"/>
              </a:rPr>
              <a:t>Feature </a:t>
            </a:r>
            <a:r>
              <a:rPr lang="nl-NL" sz="1800" dirty="0" err="1">
                <a:solidFill>
                  <a:srgbClr val="1F2938"/>
                </a:solidFill>
                <a:latin typeface="Poppins"/>
                <a:ea typeface="Poppins"/>
                <a:cs typeface="Poppins"/>
                <a:sym typeface="Poppins"/>
              </a:rPr>
              <a:t>maps</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gain</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an</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orientation</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axis</a:t>
            </a:r>
            <a:r>
              <a:rPr lang="nl-NL" sz="1800" dirty="0">
                <a:solidFill>
                  <a:srgbClr val="1F2938"/>
                </a:solidFill>
                <a:latin typeface="Poppins"/>
                <a:ea typeface="Poppins"/>
                <a:cs typeface="Poppins"/>
                <a:sym typeface="Poppins"/>
              </a:rPr>
              <a:t>: (x, y, θ)</a:t>
            </a:r>
            <a:endParaRPr sz="1800"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dirty="0" err="1">
                <a:solidFill>
                  <a:srgbClr val="1F2938"/>
                </a:solidFill>
                <a:latin typeface="Poppins"/>
                <a:ea typeface="Poppins"/>
                <a:cs typeface="Poppins"/>
                <a:sym typeface="Poppins"/>
              </a:rPr>
              <a:t>Rotating</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the</a:t>
            </a:r>
            <a:r>
              <a:rPr lang="nl-NL" sz="1800" dirty="0">
                <a:solidFill>
                  <a:srgbClr val="1F2938"/>
                </a:solidFill>
                <a:latin typeface="Poppins"/>
                <a:ea typeface="Poppins"/>
                <a:cs typeface="Poppins"/>
                <a:sym typeface="Poppins"/>
              </a:rPr>
              <a:t> input moves </a:t>
            </a:r>
            <a:r>
              <a:rPr lang="nl-NL" sz="1800" dirty="0" err="1">
                <a:solidFill>
                  <a:srgbClr val="1F2938"/>
                </a:solidFill>
                <a:latin typeface="Poppins"/>
                <a:ea typeface="Poppins"/>
                <a:cs typeface="Poppins"/>
                <a:sym typeface="Poppins"/>
              </a:rPr>
              <a:t>the</a:t>
            </a:r>
            <a:r>
              <a:rPr lang="nl-NL" sz="1800" dirty="0">
                <a:solidFill>
                  <a:srgbClr val="1F2938"/>
                </a:solidFill>
                <a:latin typeface="Poppins"/>
                <a:ea typeface="Poppins"/>
                <a:cs typeface="Poppins"/>
                <a:sym typeface="Poppins"/>
              </a:rPr>
              <a:t> features in a </a:t>
            </a:r>
            <a:r>
              <a:rPr lang="nl-NL" sz="1800" dirty="0" err="1">
                <a:solidFill>
                  <a:srgbClr val="1F2938"/>
                </a:solidFill>
                <a:latin typeface="Poppins"/>
                <a:ea typeface="Poppins"/>
                <a:cs typeface="Poppins"/>
                <a:sym typeface="Poppins"/>
              </a:rPr>
              <a:t>known</a:t>
            </a:r>
            <a:r>
              <a:rPr lang="nl-NL" sz="1800" dirty="0">
                <a:solidFill>
                  <a:srgbClr val="1F2938"/>
                </a:solidFill>
                <a:latin typeface="Poppins"/>
                <a:ea typeface="Poppins"/>
                <a:cs typeface="Poppins"/>
                <a:sym typeface="Poppins"/>
              </a:rPr>
              <a:t> way </a:t>
            </a:r>
            <a:r>
              <a:rPr lang="nl-NL" sz="1800" dirty="0" err="1">
                <a:solidFill>
                  <a:srgbClr val="1F2938"/>
                </a:solidFill>
                <a:latin typeface="Poppins"/>
                <a:ea typeface="Poppins"/>
                <a:cs typeface="Poppins"/>
                <a:sym typeface="Poppins"/>
              </a:rPr>
              <a:t>instead</a:t>
            </a:r>
            <a:r>
              <a:rPr lang="nl-NL" sz="1800" dirty="0">
                <a:solidFill>
                  <a:srgbClr val="1F2938"/>
                </a:solidFill>
                <a:latin typeface="Poppins"/>
                <a:ea typeface="Poppins"/>
                <a:cs typeface="Poppins"/>
                <a:sym typeface="Poppins"/>
              </a:rPr>
              <a:t> of </a:t>
            </a:r>
            <a:r>
              <a:rPr lang="nl-NL" sz="1800" dirty="0" err="1">
                <a:solidFill>
                  <a:srgbClr val="1F2938"/>
                </a:solidFill>
                <a:latin typeface="Poppins"/>
                <a:ea typeface="Poppins"/>
                <a:cs typeface="Poppins"/>
                <a:sym typeface="Poppins"/>
              </a:rPr>
              <a:t>changing</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them</a:t>
            </a:r>
            <a:endParaRPr sz="1800"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dirty="0" err="1">
                <a:solidFill>
                  <a:srgbClr val="1F2938"/>
                </a:solidFill>
                <a:latin typeface="Poppins"/>
                <a:ea typeface="Poppins"/>
                <a:cs typeface="Poppins"/>
                <a:sym typeface="Poppins"/>
              </a:rPr>
              <a:t>One</a:t>
            </a:r>
            <a:r>
              <a:rPr lang="nl-NL" sz="1800" dirty="0">
                <a:solidFill>
                  <a:srgbClr val="1F2938"/>
                </a:solidFill>
                <a:latin typeface="Poppins"/>
                <a:ea typeface="Poppins"/>
                <a:cs typeface="Poppins"/>
                <a:sym typeface="Poppins"/>
              </a:rPr>
              <a:t> filter </a:t>
            </a:r>
            <a:r>
              <a:rPr lang="nl-NL" sz="1800" dirty="0" err="1">
                <a:solidFill>
                  <a:srgbClr val="1F2938"/>
                </a:solidFill>
                <a:latin typeface="Poppins"/>
                <a:ea typeface="Poppins"/>
                <a:cs typeface="Poppins"/>
                <a:sym typeface="Poppins"/>
              </a:rPr>
              <a:t>now</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detects</a:t>
            </a:r>
            <a:r>
              <a:rPr lang="nl-NL" sz="1800" dirty="0">
                <a:solidFill>
                  <a:srgbClr val="1F2938"/>
                </a:solidFill>
                <a:latin typeface="Poppins"/>
                <a:ea typeface="Poppins"/>
                <a:cs typeface="Poppins"/>
                <a:sym typeface="Poppins"/>
              </a:rPr>
              <a:t> a </a:t>
            </a:r>
            <a:r>
              <a:rPr lang="nl-NL" sz="1800" dirty="0" err="1">
                <a:solidFill>
                  <a:srgbClr val="1F2938"/>
                </a:solidFill>
                <a:latin typeface="Poppins"/>
                <a:ea typeface="Poppins"/>
                <a:cs typeface="Poppins"/>
                <a:sym typeface="Poppins"/>
              </a:rPr>
              <a:t>boundary</a:t>
            </a:r>
            <a:r>
              <a:rPr lang="nl-NL" sz="1800" dirty="0">
                <a:solidFill>
                  <a:srgbClr val="1F2938"/>
                </a:solidFill>
                <a:latin typeface="Poppins"/>
                <a:ea typeface="Poppins"/>
                <a:cs typeface="Poppins"/>
                <a:sym typeface="Poppins"/>
              </a:rPr>
              <a:t> in </a:t>
            </a:r>
            <a:r>
              <a:rPr lang="nl-NL" sz="1800" dirty="0" err="1">
                <a:solidFill>
                  <a:srgbClr val="1F2938"/>
                </a:solidFill>
                <a:latin typeface="Poppins"/>
                <a:ea typeface="Poppins"/>
                <a:cs typeface="Poppins"/>
                <a:sym typeface="Poppins"/>
              </a:rPr>
              <a:t>all</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orientations</a:t>
            </a:r>
            <a:endParaRPr sz="1800"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dirty="0">
                <a:solidFill>
                  <a:srgbClr val="1F2938"/>
                </a:solidFill>
                <a:latin typeface="Poppins"/>
                <a:ea typeface="Poppins"/>
                <a:cs typeface="Poppins"/>
                <a:sym typeface="Poppins"/>
              </a:rPr>
              <a:t>Cohen </a:t>
            </a:r>
            <a:r>
              <a:rPr lang="nl-NL" sz="1800" dirty="0" err="1">
                <a:solidFill>
                  <a:srgbClr val="1F2938"/>
                </a:solidFill>
                <a:latin typeface="Poppins"/>
                <a:ea typeface="Poppins"/>
                <a:cs typeface="Poppins"/>
                <a:sym typeface="Poppins"/>
              </a:rPr>
              <a:t>and</a:t>
            </a:r>
            <a:r>
              <a:rPr lang="nl-NL" sz="1800" dirty="0">
                <a:solidFill>
                  <a:srgbClr val="1F2938"/>
                </a:solidFill>
                <a:latin typeface="Poppins"/>
                <a:ea typeface="Poppins"/>
                <a:cs typeface="Poppins"/>
                <a:sym typeface="Poppins"/>
              </a:rPr>
              <a:t> Welling, ICML 2016</a:t>
            </a:r>
            <a:endParaRPr sz="1800" dirty="0">
              <a:solidFill>
                <a:srgbClr val="1F2938"/>
              </a:solidFill>
              <a:latin typeface="Poppins"/>
              <a:ea typeface="Poppins"/>
              <a:cs typeface="Poppins"/>
              <a:sym typeface="Poppins"/>
            </a:endParaRPr>
          </a:p>
        </p:txBody>
      </p:sp>
      <p:pic>
        <p:nvPicPr>
          <p:cNvPr id="5" name="Google Shape;468;p62"/>
          <p:cNvPicPr preferRelativeResize="0"/>
          <p:nvPr/>
        </p:nvPicPr>
        <p:blipFill rotWithShape="1">
          <a:blip r:embed="rId3">
            <a:alphaModFix/>
          </a:blip>
          <a:srcRect/>
          <a:stretch/>
        </p:blipFill>
        <p:spPr>
          <a:xfrm>
            <a:off x="5778500" y="2323346"/>
            <a:ext cx="6503933" cy="2394248"/>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6"/>
          <p:cNvSpPr txBox="1">
            <a:spLocks noGrp="1"/>
          </p:cNvSpPr>
          <p:nvPr>
            <p:ph type="title" idx="4294967295"/>
          </p:nvPr>
        </p:nvSpPr>
        <p:spPr>
          <a:xfrm>
            <a:off x="771180" y="456439"/>
            <a:ext cx="10652700" cy="6219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rgbClr val="0000FF"/>
              </a:buClr>
              <a:buSzPts val="3400"/>
              <a:buFont typeface="Poppins"/>
              <a:buNone/>
            </a:pPr>
            <a:r>
              <a:rPr lang="nl-NL" sz="3400">
                <a:solidFill>
                  <a:srgbClr val="0000FF"/>
                </a:solidFill>
              </a:rPr>
              <a:t>Latents with a position and an angle</a:t>
            </a:r>
            <a:endParaRPr sz="3400" b="1">
              <a:latin typeface="Poppins"/>
              <a:ea typeface="Poppins"/>
              <a:cs typeface="Poppins"/>
              <a:sym typeface="Poppins"/>
            </a:endParaRPr>
          </a:p>
        </p:txBody>
      </p:sp>
      <p:sp>
        <p:nvSpPr>
          <p:cNvPr id="200" name="Google Shape;200;p26"/>
          <p:cNvSpPr txBox="1"/>
          <p:nvPr/>
        </p:nvSpPr>
        <p:spPr>
          <a:xfrm>
            <a:off x="771180" y="1417320"/>
            <a:ext cx="5669400" cy="42063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rgbClr val="1F2938"/>
              </a:buClr>
              <a:buSzPts val="1800"/>
              <a:buFont typeface="Poppins"/>
              <a:buChar char="●"/>
            </a:pPr>
            <a:r>
              <a:rPr lang="nl-NL" sz="1800">
                <a:solidFill>
                  <a:srgbClr val="1F2938"/>
                </a:solidFill>
                <a:latin typeface="Poppins"/>
                <a:ea typeface="Poppins"/>
                <a:cs typeface="Poppins"/>
                <a:sym typeface="Poppins"/>
              </a:rPr>
              <a:t>Equivariant neural fields describe an image with a small set of latents</a:t>
            </a:r>
            <a:endParaRPr sz="180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a:solidFill>
                  <a:srgbClr val="1F2938"/>
                </a:solidFill>
                <a:latin typeface="Poppins"/>
                <a:ea typeface="Poppins"/>
                <a:cs typeface="Poppins"/>
                <a:sym typeface="Poppins"/>
              </a:rPr>
              <a:t>Each latent has a pose (x, y, θ) and a feature vector</a:t>
            </a:r>
            <a:endParaRPr sz="180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a:solidFill>
                  <a:srgbClr val="1F2938"/>
                </a:solidFill>
                <a:latin typeface="Poppins"/>
                <a:ea typeface="Poppins"/>
                <a:cs typeface="Poppins"/>
                <a:sym typeface="Poppins"/>
              </a:rPr>
              <a:t>The decoder attends to latents using coordinates relative to each pose</a:t>
            </a:r>
            <a:endParaRPr sz="180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a:solidFill>
                  <a:srgbClr val="1F2938"/>
                </a:solidFill>
                <a:latin typeface="Poppins"/>
                <a:ea typeface="Poppins"/>
                <a:cs typeface="Poppins"/>
                <a:sym typeface="Poppins"/>
              </a:rPr>
              <a:t>Move or rotate the latents and the decoded image moves or rotates with them</a:t>
            </a:r>
            <a:endParaRPr sz="180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a:solidFill>
                  <a:srgbClr val="1F2938"/>
                </a:solidFill>
                <a:latin typeface="Poppins"/>
                <a:ea typeface="Poppins"/>
                <a:cs typeface="Poppins"/>
                <a:sym typeface="Poppins"/>
              </a:rPr>
              <a:t>Unlike network weights, these latents say where things are</a:t>
            </a:r>
            <a:endParaRPr sz="1800">
              <a:solidFill>
                <a:srgbClr val="1F2938"/>
              </a:solidFill>
              <a:latin typeface="Poppins"/>
              <a:ea typeface="Poppins"/>
              <a:cs typeface="Poppins"/>
              <a:sym typeface="Poppins"/>
            </a:endParaRPr>
          </a:p>
        </p:txBody>
      </p:sp>
      <p:pic>
        <p:nvPicPr>
          <p:cNvPr id="5" name="Google Shape;663;p91"/>
          <p:cNvPicPr preferRelativeResize="0"/>
          <p:nvPr/>
        </p:nvPicPr>
        <p:blipFill rotWithShape="1">
          <a:blip r:embed="rId3">
            <a:alphaModFix/>
          </a:blip>
          <a:srcRect l="33069" t="17493" r="37030" b="8104"/>
          <a:stretch/>
        </p:blipFill>
        <p:spPr>
          <a:xfrm>
            <a:off x="7523430" y="1507854"/>
            <a:ext cx="3548958" cy="3670728"/>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27"/>
          <p:cNvSpPr txBox="1">
            <a:spLocks noGrp="1"/>
          </p:cNvSpPr>
          <p:nvPr>
            <p:ph type="title" idx="4294967295"/>
          </p:nvPr>
        </p:nvSpPr>
        <p:spPr>
          <a:xfrm>
            <a:off x="771180" y="456439"/>
            <a:ext cx="10652700" cy="6219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rgbClr val="0000FF"/>
              </a:buClr>
              <a:buSzPts val="3400"/>
              <a:buFont typeface="Poppins"/>
              <a:buNone/>
            </a:pPr>
            <a:r>
              <a:rPr lang="nl-NL" sz="3400">
                <a:solidFill>
                  <a:srgbClr val="0000FF"/>
                </a:solidFill>
              </a:rPr>
              <a:t>Our model for cardiac MRI</a:t>
            </a:r>
            <a:endParaRPr sz="3400" b="1">
              <a:latin typeface="Poppins"/>
              <a:ea typeface="Poppins"/>
              <a:cs typeface="Poppins"/>
              <a:sym typeface="Poppins"/>
            </a:endParaRPr>
          </a:p>
        </p:txBody>
      </p:sp>
      <p:sp>
        <p:nvSpPr>
          <p:cNvPr id="208" name="Google Shape;208;p27"/>
          <p:cNvSpPr txBox="1"/>
          <p:nvPr/>
        </p:nvSpPr>
        <p:spPr>
          <a:xfrm>
            <a:off x="771180" y="1417320"/>
            <a:ext cx="5267481" cy="42063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rgbClr val="1F2938"/>
              </a:buClr>
              <a:buSzPts val="1800"/>
              <a:buFont typeface="Poppins"/>
              <a:buChar char="●"/>
            </a:pPr>
            <a:r>
              <a:rPr lang="nl-NL" sz="1800" dirty="0">
                <a:solidFill>
                  <a:srgbClr val="1F2938"/>
                </a:solidFill>
                <a:latin typeface="Poppins"/>
                <a:ea typeface="Poppins"/>
                <a:cs typeface="Poppins"/>
                <a:sym typeface="Poppins"/>
              </a:rPr>
              <a:t>An SE(2)-</a:t>
            </a:r>
            <a:r>
              <a:rPr lang="nl-NL" sz="1800" dirty="0" err="1">
                <a:solidFill>
                  <a:srgbClr val="1F2938"/>
                </a:solidFill>
                <a:latin typeface="Poppins"/>
                <a:ea typeface="Poppins"/>
                <a:cs typeface="Poppins"/>
                <a:sym typeface="Poppins"/>
              </a:rPr>
              <a:t>equivariant</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group</a:t>
            </a:r>
            <a:r>
              <a:rPr lang="nl-NL" sz="1800" dirty="0">
                <a:solidFill>
                  <a:srgbClr val="1F2938"/>
                </a:solidFill>
                <a:latin typeface="Poppins"/>
                <a:ea typeface="Poppins"/>
                <a:cs typeface="Poppins"/>
                <a:sym typeface="Poppins"/>
              </a:rPr>
              <a:t> CNN </a:t>
            </a:r>
            <a:r>
              <a:rPr lang="nl-NL" sz="1800" dirty="0" err="1">
                <a:solidFill>
                  <a:srgbClr val="1F2938"/>
                </a:solidFill>
                <a:latin typeface="Poppins"/>
                <a:ea typeface="Poppins"/>
                <a:cs typeface="Poppins"/>
                <a:sym typeface="Poppins"/>
              </a:rPr>
              <a:t>encodes</a:t>
            </a:r>
            <a:r>
              <a:rPr lang="nl-NL" sz="1800" dirty="0">
                <a:solidFill>
                  <a:srgbClr val="1F2938"/>
                </a:solidFill>
                <a:latin typeface="Poppins"/>
                <a:ea typeface="Poppins"/>
                <a:cs typeface="Poppins"/>
                <a:sym typeface="Poppins"/>
              </a:rPr>
              <a:t> a slice </a:t>
            </a:r>
            <a:r>
              <a:rPr lang="nl-NL" sz="1800" dirty="0" err="1">
                <a:solidFill>
                  <a:srgbClr val="1F2938"/>
                </a:solidFill>
                <a:latin typeface="Poppins"/>
                <a:ea typeface="Poppins"/>
                <a:cs typeface="Poppins"/>
                <a:sym typeface="Poppins"/>
              </a:rPr>
              <a:t>into</a:t>
            </a:r>
            <a:r>
              <a:rPr lang="nl-NL" sz="1800" dirty="0">
                <a:solidFill>
                  <a:srgbClr val="1F2938"/>
                </a:solidFill>
                <a:latin typeface="Poppins"/>
                <a:ea typeface="Poppins"/>
                <a:cs typeface="Poppins"/>
                <a:sym typeface="Poppins"/>
              </a:rPr>
              <a:t> pose-</a:t>
            </a:r>
            <a:r>
              <a:rPr lang="nl-NL" sz="1800" dirty="0" err="1">
                <a:solidFill>
                  <a:srgbClr val="1F2938"/>
                </a:solidFill>
                <a:latin typeface="Poppins"/>
                <a:ea typeface="Poppins"/>
                <a:cs typeface="Poppins"/>
                <a:sym typeface="Poppins"/>
              </a:rPr>
              <a:t>anchored</a:t>
            </a:r>
            <a:r>
              <a:rPr lang="nl-NL" sz="1800" dirty="0">
                <a:solidFill>
                  <a:srgbClr val="1F2938"/>
                </a:solidFill>
                <a:latin typeface="Poppins"/>
                <a:ea typeface="Poppins"/>
                <a:cs typeface="Poppins"/>
                <a:sym typeface="Poppins"/>
              </a:rPr>
              <a:t> latents</a:t>
            </a:r>
            <a:endParaRPr sz="1800"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dirty="0">
                <a:solidFill>
                  <a:srgbClr val="1F2938"/>
                </a:solidFill>
                <a:latin typeface="Poppins"/>
                <a:ea typeface="Poppins"/>
                <a:cs typeface="Poppins"/>
                <a:sym typeface="Poppins"/>
              </a:rPr>
              <a:t>A </a:t>
            </a:r>
            <a:r>
              <a:rPr lang="nl-NL" sz="1800" dirty="0" err="1">
                <a:solidFill>
                  <a:srgbClr val="1F2938"/>
                </a:solidFill>
                <a:latin typeface="Poppins"/>
                <a:ea typeface="Poppins"/>
                <a:cs typeface="Poppins"/>
                <a:sym typeface="Poppins"/>
              </a:rPr>
              <a:t>neural</a:t>
            </a:r>
            <a:r>
              <a:rPr lang="nl-NL" sz="1800" dirty="0">
                <a:solidFill>
                  <a:srgbClr val="1F2938"/>
                </a:solidFill>
                <a:latin typeface="Poppins"/>
                <a:ea typeface="Poppins"/>
                <a:cs typeface="Poppins"/>
                <a:sym typeface="Poppins"/>
              </a:rPr>
              <a:t> field decoder </a:t>
            </a:r>
            <a:r>
              <a:rPr lang="nl-NL" sz="1800" dirty="0" err="1">
                <a:solidFill>
                  <a:srgbClr val="1F2938"/>
                </a:solidFill>
                <a:latin typeface="Poppins"/>
                <a:ea typeface="Poppins"/>
                <a:cs typeface="Poppins"/>
                <a:sym typeface="Poppins"/>
              </a:rPr>
              <a:t>reconstructs</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the</a:t>
            </a:r>
            <a:r>
              <a:rPr lang="nl-NL" sz="1800" dirty="0">
                <a:solidFill>
                  <a:srgbClr val="1F2938"/>
                </a:solidFill>
                <a:latin typeface="Poppins"/>
                <a:ea typeface="Poppins"/>
                <a:cs typeface="Poppins"/>
                <a:sym typeface="Poppins"/>
              </a:rPr>
              <a:t> image at </a:t>
            </a:r>
            <a:r>
              <a:rPr lang="nl-NL" sz="1800" dirty="0" err="1">
                <a:solidFill>
                  <a:srgbClr val="1F2938"/>
                </a:solidFill>
                <a:latin typeface="Poppins"/>
                <a:ea typeface="Poppins"/>
                <a:cs typeface="Poppins"/>
                <a:sym typeface="Poppins"/>
              </a:rPr>
              <a:t>any</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resolution</a:t>
            </a:r>
            <a:endParaRPr sz="1800"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dirty="0">
                <a:solidFill>
                  <a:srgbClr val="1F2938"/>
                </a:solidFill>
                <a:latin typeface="Poppins"/>
                <a:ea typeface="Poppins"/>
                <a:cs typeface="Poppins"/>
                <a:sym typeface="Poppins"/>
              </a:rPr>
              <a:t>A second </a:t>
            </a:r>
            <a:r>
              <a:rPr lang="nl-NL" sz="1800" dirty="0" err="1">
                <a:solidFill>
                  <a:srgbClr val="1F2938"/>
                </a:solidFill>
                <a:latin typeface="Poppins"/>
                <a:ea typeface="Poppins"/>
                <a:cs typeface="Poppins"/>
                <a:sym typeface="Poppins"/>
              </a:rPr>
              <a:t>head</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decodes</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the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mask</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from</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the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same</a:t>
            </a:r>
            <a:r>
              <a:rPr lang="nl-NL" sz="1800" dirty="0">
                <a:solidFill>
                  <a:srgbClr val="1F2938"/>
                </a:solidFill>
                <a:latin typeface="Poppins"/>
                <a:ea typeface="Poppins"/>
                <a:cs typeface="Poppins"/>
                <a:sym typeface="Poppins"/>
              </a:rPr>
              <a:t> latents as a </a:t>
            </a:r>
            <a:r>
              <a:rPr lang="nl-NL" sz="1800" dirty="0" err="1">
                <a:solidFill>
                  <a:srgbClr val="1F2938"/>
                </a:solidFill>
                <a:latin typeface="Poppins"/>
                <a:ea typeface="Poppins"/>
                <a:cs typeface="Poppins"/>
                <a:sym typeface="Poppins"/>
              </a:rPr>
              <a:t>signed</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distance</a:t>
            </a:r>
            <a:r>
              <a:rPr lang="nl-NL" sz="1800" dirty="0">
                <a:solidFill>
                  <a:srgbClr val="1F2938"/>
                </a:solidFill>
                <a:latin typeface="Poppins"/>
                <a:ea typeface="Poppins"/>
                <a:cs typeface="Poppins"/>
                <a:sym typeface="Poppins"/>
              </a:rPr>
              <a:t> field</a:t>
            </a:r>
            <a:endParaRPr sz="1800" dirty="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dirty="0" err="1" smtClean="0">
                <a:solidFill>
                  <a:srgbClr val="1F2938"/>
                </a:solidFill>
                <a:latin typeface="Poppins"/>
                <a:ea typeface="Poppins"/>
                <a:cs typeface="Poppins"/>
                <a:sym typeface="Poppins"/>
              </a:rPr>
              <a:t>Rotate</a:t>
            </a:r>
            <a:r>
              <a:rPr lang="nl-NL" sz="1800" dirty="0" smtClean="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the</a:t>
            </a:r>
            <a:r>
              <a:rPr lang="nl-NL" sz="1800" dirty="0">
                <a:solidFill>
                  <a:srgbClr val="1F2938"/>
                </a:solidFill>
                <a:latin typeface="Poppins"/>
                <a:ea typeface="Poppins"/>
                <a:cs typeface="Poppins"/>
                <a:sym typeface="Poppins"/>
              </a:rPr>
              <a:t> input </a:t>
            </a:r>
            <a:r>
              <a:rPr lang="nl-NL" sz="1800" dirty="0" err="1">
                <a:solidFill>
                  <a:srgbClr val="1F2938"/>
                </a:solidFill>
                <a:latin typeface="Poppins"/>
                <a:ea typeface="Poppins"/>
                <a:cs typeface="Poppins"/>
                <a:sym typeface="Poppins"/>
              </a:rPr>
              <a:t>and</a:t>
            </a:r>
            <a:r>
              <a:rPr lang="nl-NL" sz="1800" dirty="0">
                <a:solidFill>
                  <a:srgbClr val="1F2938"/>
                </a:solidFill>
                <a:latin typeface="Poppins"/>
                <a:ea typeface="Poppins"/>
                <a:cs typeface="Poppins"/>
                <a:sym typeface="Poppins"/>
              </a:rPr>
              <a:t> latents, image </a:t>
            </a:r>
            <a:r>
              <a:rPr lang="nl-NL" sz="1800" dirty="0" err="1">
                <a:solidFill>
                  <a:srgbClr val="1F2938"/>
                </a:solidFill>
                <a:latin typeface="Poppins"/>
                <a:ea typeface="Poppins"/>
                <a:cs typeface="Poppins"/>
                <a:sym typeface="Poppins"/>
              </a:rPr>
              <a:t>and</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mask</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rotate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together</a:t>
            </a:r>
            <a:endParaRPr sz="1800" dirty="0">
              <a:solidFill>
                <a:srgbClr val="1F2938"/>
              </a:solidFill>
              <a:latin typeface="Poppins"/>
              <a:ea typeface="Poppins"/>
              <a:cs typeface="Poppins"/>
              <a:sym typeface="Poppins"/>
            </a:endParaRPr>
          </a:p>
        </p:txBody>
      </p:sp>
      <p:pic>
        <p:nvPicPr>
          <p:cNvPr id="5" name="Google Shape;342;p51"/>
          <p:cNvPicPr preferRelativeResize="0"/>
          <p:nvPr/>
        </p:nvPicPr>
        <p:blipFill rotWithShape="1">
          <a:blip r:embed="rId3">
            <a:alphaModFix/>
          </a:blip>
          <a:srcRect/>
          <a:stretch/>
        </p:blipFill>
        <p:spPr>
          <a:xfrm>
            <a:off x="6142273" y="1267485"/>
            <a:ext cx="6049727" cy="276145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endParaRPr lang="en-GB"/>
          </a:p>
        </p:txBody>
      </p:sp>
      <p:sp>
        <p:nvSpPr>
          <p:cNvPr id="3" name="Tijdelijke aanduiding voor tekst 2"/>
          <p:cNvSpPr>
            <a:spLocks noGrp="1"/>
          </p:cNvSpPr>
          <p:nvPr>
            <p:ph type="body" idx="1"/>
          </p:nvPr>
        </p:nvSpPr>
        <p:spPr/>
        <p:txBody>
          <a:bodyPr/>
          <a:lstStyle/>
          <a:p>
            <a:endParaRPr lang="en-GB"/>
          </a:p>
        </p:txBody>
      </p:sp>
      <p:pic>
        <p:nvPicPr>
          <p:cNvPr id="4" name="Google Shape;489;p65" title="invariance_tex_699 (1).gif"/>
          <p:cNvPicPr preferRelativeResize="0"/>
          <p:nvPr/>
        </p:nvPicPr>
        <p:blipFill rotWithShape="1">
          <a:blip r:embed="rId2">
            <a:alphaModFix/>
          </a:blip>
          <a:srcRect/>
          <a:stretch/>
        </p:blipFill>
        <p:spPr>
          <a:xfrm>
            <a:off x="838200" y="365124"/>
            <a:ext cx="10949412" cy="4922099"/>
          </a:xfrm>
          <a:prstGeom prst="rect">
            <a:avLst/>
          </a:prstGeom>
          <a:noFill/>
          <a:ln>
            <a:noFill/>
          </a:ln>
        </p:spPr>
      </p:pic>
    </p:spTree>
    <p:extLst>
      <p:ext uri="{BB962C8B-B14F-4D97-AF65-F5344CB8AC3E}">
        <p14:creationId xmlns:p14="http://schemas.microsoft.com/office/powerpoint/2010/main" val="10084218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8"/>
          <p:cNvSpPr txBox="1">
            <a:spLocks noGrp="1"/>
          </p:cNvSpPr>
          <p:nvPr>
            <p:ph type="title" idx="4294967295"/>
          </p:nvPr>
        </p:nvSpPr>
        <p:spPr>
          <a:xfrm>
            <a:off x="771180" y="456439"/>
            <a:ext cx="10652700" cy="6219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rgbClr val="0000FF"/>
              </a:buClr>
              <a:buSzPts val="3400"/>
              <a:buFont typeface="Poppins"/>
              <a:buNone/>
            </a:pPr>
            <a:r>
              <a:rPr lang="nl-NL" sz="3400">
                <a:solidFill>
                  <a:srgbClr val="0000FF"/>
                </a:solidFill>
              </a:rPr>
              <a:t>Where equivariance breaks or costs</a:t>
            </a:r>
            <a:endParaRPr sz="3400" b="1">
              <a:latin typeface="Poppins"/>
              <a:ea typeface="Poppins"/>
              <a:cs typeface="Poppins"/>
              <a:sym typeface="Poppins"/>
            </a:endParaRPr>
          </a:p>
        </p:txBody>
      </p:sp>
      <p:sp>
        <p:nvSpPr>
          <p:cNvPr id="216" name="Google Shape;216;p28"/>
          <p:cNvSpPr txBox="1"/>
          <p:nvPr/>
        </p:nvSpPr>
        <p:spPr>
          <a:xfrm>
            <a:off x="771179" y="1417320"/>
            <a:ext cx="9975283" cy="3000000"/>
          </a:xfrm>
          <a:prstGeom prst="rect">
            <a:avLst/>
          </a:prstGeom>
          <a:noFill/>
          <a:ln>
            <a:noFill/>
          </a:ln>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Clr>
                <a:srgbClr val="1F2938"/>
              </a:buClr>
              <a:buSzPts val="1800"/>
              <a:buFont typeface="Poppins"/>
              <a:buChar char="●"/>
            </a:pPr>
            <a:r>
              <a:rPr lang="nl-NL" sz="1800" dirty="0">
                <a:solidFill>
                  <a:srgbClr val="1F2938"/>
                </a:solidFill>
                <a:latin typeface="Poppins"/>
                <a:ea typeface="Poppins"/>
                <a:cs typeface="Poppins"/>
                <a:sym typeface="Poppins"/>
              </a:rPr>
              <a:t>It covers </a:t>
            </a:r>
            <a:r>
              <a:rPr lang="nl-NL" sz="1800" dirty="0" err="1">
                <a:solidFill>
                  <a:srgbClr val="1F2938"/>
                </a:solidFill>
                <a:latin typeface="Poppins"/>
                <a:ea typeface="Poppins"/>
                <a:cs typeface="Poppins"/>
                <a:sym typeface="Poppins"/>
              </a:rPr>
              <a:t>only</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the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symmetries</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you</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build</a:t>
            </a:r>
            <a:r>
              <a:rPr lang="nl-NL" sz="1800" dirty="0">
                <a:solidFill>
                  <a:srgbClr val="1F2938"/>
                </a:solidFill>
                <a:latin typeface="Poppins"/>
                <a:ea typeface="Poppins"/>
                <a:cs typeface="Poppins"/>
                <a:sym typeface="Poppins"/>
              </a:rPr>
              <a:t> in: </a:t>
            </a:r>
            <a:r>
              <a:rPr lang="nl-NL" sz="1800" dirty="0" err="1">
                <a:solidFill>
                  <a:srgbClr val="1F2938"/>
                </a:solidFill>
                <a:latin typeface="Poppins"/>
                <a:ea typeface="Poppins"/>
                <a:cs typeface="Poppins"/>
                <a:sym typeface="Poppins"/>
              </a:rPr>
              <a:t>rotation</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and</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translation</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not</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scale</a:t>
            </a:r>
            <a:r>
              <a:rPr lang="nl-NL" sz="1800" dirty="0">
                <a:solidFill>
                  <a:srgbClr val="1F2938"/>
                </a:solidFill>
                <a:latin typeface="Poppins"/>
                <a:ea typeface="Poppins"/>
                <a:cs typeface="Poppins"/>
                <a:sym typeface="Poppins"/>
              </a:rPr>
              <a:t> or </a:t>
            </a:r>
            <a:r>
              <a:rPr lang="nl-NL" sz="1800" dirty="0" err="1">
                <a:solidFill>
                  <a:srgbClr val="1F2938"/>
                </a:solidFill>
                <a:latin typeface="Poppins"/>
                <a:ea typeface="Poppins"/>
                <a:cs typeface="Poppins"/>
                <a:sym typeface="Poppins"/>
              </a:rPr>
              <a:t>deformation</a:t>
            </a:r>
            <a:endParaRPr sz="1800" dirty="0">
              <a:solidFill>
                <a:srgbClr val="1F2938"/>
              </a:solidFill>
              <a:latin typeface="Poppins"/>
              <a:ea typeface="Poppins"/>
              <a:cs typeface="Poppins"/>
              <a:sym typeface="Poppins"/>
            </a:endParaRPr>
          </a:p>
          <a:p>
            <a:pPr marL="457200" lvl="0" indent="-342900" algn="l" rtl="0">
              <a:lnSpc>
                <a:spcPct val="150000"/>
              </a:lnSpc>
              <a:spcBef>
                <a:spcPts val="0"/>
              </a:spcBef>
              <a:spcAft>
                <a:spcPts val="0"/>
              </a:spcAft>
              <a:buClr>
                <a:srgbClr val="1F2938"/>
              </a:buClr>
              <a:buSzPts val="1800"/>
              <a:buFont typeface="Poppins"/>
              <a:buChar char="●"/>
            </a:pPr>
            <a:r>
              <a:rPr lang="nl-NL" sz="1800" dirty="0">
                <a:solidFill>
                  <a:srgbClr val="1F2938"/>
                </a:solidFill>
                <a:latin typeface="Poppins"/>
                <a:ea typeface="Poppins"/>
                <a:cs typeface="Poppins"/>
                <a:sym typeface="Poppins"/>
              </a:rPr>
              <a:t>Pooling, </a:t>
            </a:r>
            <a:r>
              <a:rPr lang="nl-NL" sz="1800" dirty="0" err="1">
                <a:solidFill>
                  <a:srgbClr val="1F2938"/>
                </a:solidFill>
                <a:latin typeface="Poppins"/>
                <a:ea typeface="Poppins"/>
                <a:cs typeface="Poppins"/>
                <a:sym typeface="Poppins"/>
              </a:rPr>
              <a:t>normalisation</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and</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interpolation</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can</a:t>
            </a:r>
            <a:r>
              <a:rPr lang="nl-NL" sz="1800" dirty="0">
                <a:solidFill>
                  <a:srgbClr val="1F2938"/>
                </a:solidFill>
                <a:latin typeface="Poppins"/>
                <a:ea typeface="Poppins"/>
                <a:cs typeface="Poppins"/>
                <a:sym typeface="Poppins"/>
              </a:rPr>
              <a:t> break </a:t>
            </a:r>
            <a:r>
              <a:rPr lang="nl-NL" sz="1800" dirty="0" err="1">
                <a:solidFill>
                  <a:srgbClr val="1F2938"/>
                </a:solidFill>
                <a:latin typeface="Poppins"/>
                <a:ea typeface="Poppins"/>
                <a:cs typeface="Poppins"/>
                <a:sym typeface="Poppins"/>
              </a:rPr>
              <a:t>it</a:t>
            </a:r>
            <a:r>
              <a:rPr lang="nl-NL" sz="1800" dirty="0">
                <a:solidFill>
                  <a:srgbClr val="1F2938"/>
                </a:solidFill>
                <a:latin typeface="Poppins"/>
                <a:ea typeface="Poppins"/>
                <a:cs typeface="Poppins"/>
                <a:sym typeface="Poppins"/>
              </a:rPr>
              <a:t> without </a:t>
            </a:r>
            <a:r>
              <a:rPr lang="nl-NL" sz="1800" dirty="0" err="1">
                <a:solidFill>
                  <a:srgbClr val="1F2938"/>
                </a:solidFill>
                <a:latin typeface="Poppins"/>
                <a:ea typeface="Poppins"/>
                <a:cs typeface="Poppins"/>
                <a:sym typeface="Poppins"/>
              </a:rPr>
              <a:t>any</a:t>
            </a:r>
            <a:r>
              <a:rPr lang="nl-NL" sz="1800" dirty="0">
                <a:solidFill>
                  <a:srgbClr val="1F2938"/>
                </a:solidFill>
                <a:latin typeface="Poppins"/>
                <a:ea typeface="Poppins"/>
                <a:cs typeface="Poppins"/>
                <a:sym typeface="Poppins"/>
              </a:rPr>
              <a:t> error </a:t>
            </a:r>
            <a:r>
              <a:rPr lang="nl-NL" sz="1800" dirty="0" err="1">
                <a:solidFill>
                  <a:srgbClr val="1F2938"/>
                </a:solidFill>
                <a:latin typeface="Poppins"/>
                <a:ea typeface="Poppins"/>
                <a:cs typeface="Poppins"/>
                <a:sym typeface="Poppins"/>
              </a:rPr>
              <a:t>message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so</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measure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it</a:t>
            </a:r>
            <a:endParaRPr sz="1800" dirty="0">
              <a:solidFill>
                <a:srgbClr val="1F2938"/>
              </a:solidFill>
              <a:latin typeface="Poppins"/>
              <a:ea typeface="Poppins"/>
              <a:cs typeface="Poppins"/>
              <a:sym typeface="Poppins"/>
            </a:endParaRPr>
          </a:p>
          <a:p>
            <a:pPr marL="457200" lvl="0" indent="-342900" algn="l" rtl="0">
              <a:lnSpc>
                <a:spcPct val="150000"/>
              </a:lnSpc>
              <a:spcBef>
                <a:spcPts val="0"/>
              </a:spcBef>
              <a:spcAft>
                <a:spcPts val="0"/>
              </a:spcAft>
              <a:buClr>
                <a:srgbClr val="1F2938"/>
              </a:buClr>
              <a:buSzPts val="1800"/>
              <a:buFont typeface="Poppins"/>
              <a:buChar char="●"/>
            </a:pPr>
            <a:r>
              <a:rPr lang="nl-NL" sz="1800" dirty="0">
                <a:solidFill>
                  <a:srgbClr val="1F2938"/>
                </a:solidFill>
                <a:latin typeface="Poppins"/>
                <a:ea typeface="Poppins"/>
                <a:cs typeface="Poppins"/>
                <a:sym typeface="Poppins"/>
              </a:rPr>
              <a:t>The </a:t>
            </a:r>
            <a:r>
              <a:rPr lang="nl-NL" sz="1800" dirty="0" err="1">
                <a:solidFill>
                  <a:srgbClr val="1F2938"/>
                </a:solidFill>
                <a:latin typeface="Poppins"/>
                <a:ea typeface="Poppins"/>
                <a:cs typeface="Poppins"/>
                <a:sym typeface="Poppins"/>
              </a:rPr>
              <a:t>orientation</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axis</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multiplies</a:t>
            </a:r>
            <a:r>
              <a:rPr lang="nl-NL" sz="1800" dirty="0">
                <a:solidFill>
                  <a:srgbClr val="1F2938"/>
                </a:solidFill>
                <a:latin typeface="Poppins"/>
                <a:ea typeface="Poppins"/>
                <a:cs typeface="Poppins"/>
                <a:sym typeface="Poppins"/>
              </a:rPr>
              <a:t> memory </a:t>
            </a:r>
            <a:r>
              <a:rPr lang="nl-NL" sz="1800" dirty="0" err="1">
                <a:solidFill>
                  <a:srgbClr val="1F2938"/>
                </a:solidFill>
                <a:latin typeface="Poppins"/>
                <a:ea typeface="Poppins"/>
                <a:cs typeface="Poppins"/>
                <a:sym typeface="Poppins"/>
              </a:rPr>
              <a:t>and</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compute</a:t>
            </a:r>
            <a:endParaRPr sz="1800" dirty="0">
              <a:solidFill>
                <a:srgbClr val="1F2938"/>
              </a:solidFill>
              <a:latin typeface="Poppins"/>
              <a:ea typeface="Poppins"/>
              <a:cs typeface="Poppins"/>
              <a:sym typeface="Poppins"/>
            </a:endParaRPr>
          </a:p>
          <a:p>
            <a:pPr marL="457200" lvl="0" indent="-342900" algn="l" rtl="0">
              <a:lnSpc>
                <a:spcPct val="150000"/>
              </a:lnSpc>
              <a:spcBef>
                <a:spcPts val="0"/>
              </a:spcBef>
              <a:spcAft>
                <a:spcPts val="0"/>
              </a:spcAft>
              <a:buClr>
                <a:srgbClr val="1F2938"/>
              </a:buClr>
              <a:buSzPts val="1800"/>
              <a:buFont typeface="Poppins"/>
              <a:buChar char="●"/>
            </a:pPr>
            <a:r>
              <a:rPr lang="nl-NL" sz="1800" dirty="0" err="1">
                <a:solidFill>
                  <a:srgbClr val="1F2938"/>
                </a:solidFill>
                <a:latin typeface="Poppins"/>
                <a:ea typeface="Poppins"/>
                <a:cs typeface="Poppins"/>
                <a:sym typeface="Poppins"/>
              </a:rPr>
              <a:t>If</a:t>
            </a:r>
            <a:r>
              <a:rPr lang="nl-NL" sz="1800" dirty="0">
                <a:solidFill>
                  <a:srgbClr val="1F2938"/>
                </a:solidFill>
                <a:latin typeface="Poppins"/>
                <a:ea typeface="Poppins"/>
                <a:cs typeface="Poppins"/>
                <a:sym typeface="Poppins"/>
              </a:rPr>
              <a:t> scans </a:t>
            </a:r>
            <a:r>
              <a:rPr lang="nl-NL" sz="1800" dirty="0" err="1">
                <a:solidFill>
                  <a:srgbClr val="1F2938"/>
                </a:solidFill>
                <a:latin typeface="Poppins"/>
                <a:ea typeface="Poppins"/>
                <a:cs typeface="Poppins"/>
                <a:sym typeface="Poppins"/>
              </a:rPr>
              <a:t>already</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arrive</a:t>
            </a:r>
            <a:r>
              <a:rPr lang="nl-NL" sz="1800" dirty="0">
                <a:solidFill>
                  <a:srgbClr val="1F2938"/>
                </a:solidFill>
                <a:latin typeface="Poppins"/>
                <a:ea typeface="Poppins"/>
                <a:cs typeface="Poppins"/>
                <a:sym typeface="Poppins"/>
              </a:rPr>
              <a:t> in a standard </a:t>
            </a:r>
            <a:r>
              <a:rPr lang="nl-NL" sz="1800" dirty="0" err="1">
                <a:solidFill>
                  <a:srgbClr val="1F2938"/>
                </a:solidFill>
                <a:latin typeface="Poppins"/>
                <a:ea typeface="Poppins"/>
                <a:cs typeface="Poppins"/>
                <a:sym typeface="Poppins"/>
              </a:rPr>
              <a:t>orientation</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the</a:t>
            </a:r>
            <a:r>
              <a:rPr lang="nl-NL" sz="1800" dirty="0">
                <a:solidFill>
                  <a:srgbClr val="1F2938"/>
                </a:solidFill>
                <a:latin typeface="Poppins"/>
                <a:ea typeface="Poppins"/>
                <a:cs typeface="Poppins"/>
                <a:sym typeface="Poppins"/>
              </a:rPr>
              <a:t> prior </a:t>
            </a:r>
            <a:r>
              <a:rPr lang="nl-NL" sz="1800" dirty="0" err="1">
                <a:solidFill>
                  <a:srgbClr val="1F2938"/>
                </a:solidFill>
                <a:latin typeface="Poppins"/>
                <a:ea typeface="Poppins"/>
                <a:cs typeface="Poppins"/>
                <a:sym typeface="Poppins"/>
              </a:rPr>
              <a:t>buys</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less</a:t>
            </a:r>
            <a:endParaRPr sz="1800" dirty="0">
              <a:solidFill>
                <a:srgbClr val="1F2938"/>
              </a:solidFill>
              <a:latin typeface="Poppins"/>
              <a:ea typeface="Poppins"/>
              <a:cs typeface="Poppins"/>
              <a:sym typeface="Poppins"/>
            </a:endParaRPr>
          </a:p>
          <a:p>
            <a:pPr marL="457200" lvl="0" indent="-342900" algn="l" rtl="0">
              <a:lnSpc>
                <a:spcPct val="150000"/>
              </a:lnSpc>
              <a:spcBef>
                <a:spcPts val="0"/>
              </a:spcBef>
              <a:spcAft>
                <a:spcPts val="0"/>
              </a:spcAft>
              <a:buClr>
                <a:srgbClr val="1F2938"/>
              </a:buClr>
              <a:buSzPts val="1800"/>
              <a:buFont typeface="Poppins"/>
              <a:buChar char="●"/>
            </a:pPr>
            <a:r>
              <a:rPr lang="nl-NL" sz="1800" dirty="0">
                <a:solidFill>
                  <a:srgbClr val="1F2938"/>
                </a:solidFill>
                <a:latin typeface="Poppins"/>
                <a:ea typeface="Poppins"/>
                <a:cs typeface="Poppins"/>
                <a:sym typeface="Poppins"/>
              </a:rPr>
              <a:t>A wrong prior </a:t>
            </a:r>
            <a:r>
              <a:rPr lang="nl-NL" sz="1800" dirty="0" err="1">
                <a:solidFill>
                  <a:srgbClr val="1F2938"/>
                </a:solidFill>
                <a:latin typeface="Poppins"/>
                <a:ea typeface="Poppins"/>
                <a:cs typeface="Poppins"/>
                <a:sym typeface="Poppins"/>
              </a:rPr>
              <a:t>hurts</a:t>
            </a:r>
            <a:r>
              <a:rPr lang="nl-NL" sz="1800" dirty="0">
                <a:solidFill>
                  <a:srgbClr val="1F2938"/>
                </a:solidFill>
                <a:latin typeface="Poppins"/>
                <a:ea typeface="Poppins"/>
                <a:cs typeface="Poppins"/>
                <a:sym typeface="Poppins"/>
              </a:rPr>
              <a:t>: check </a:t>
            </a:r>
            <a:r>
              <a:rPr lang="nl-NL" sz="1800" dirty="0" err="1">
                <a:solidFill>
                  <a:srgbClr val="1F2938"/>
                </a:solidFill>
                <a:latin typeface="Poppins"/>
                <a:ea typeface="Poppins"/>
                <a:cs typeface="Poppins"/>
                <a:sym typeface="Poppins"/>
              </a:rPr>
              <a:t>that</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the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symmetry</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holds</a:t>
            </a:r>
            <a:r>
              <a:rPr lang="nl-NL" sz="1800" dirty="0">
                <a:solidFill>
                  <a:srgbClr val="1F2938"/>
                </a:solidFill>
                <a:latin typeface="Poppins"/>
                <a:ea typeface="Poppins"/>
                <a:cs typeface="Poppins"/>
                <a:sym typeface="Poppins"/>
              </a:rPr>
              <a:t> in </a:t>
            </a:r>
            <a:r>
              <a:rPr lang="nl-NL" sz="1800" dirty="0" err="1">
                <a:solidFill>
                  <a:srgbClr val="1F2938"/>
                </a:solidFill>
                <a:latin typeface="Poppins"/>
                <a:ea typeface="Poppins"/>
                <a:cs typeface="Poppins"/>
                <a:sym typeface="Poppins"/>
              </a:rPr>
              <a:t>your</a:t>
            </a:r>
            <a:r>
              <a:rPr lang="nl-NL" sz="1800" dirty="0">
                <a:solidFill>
                  <a:srgbClr val="1F2938"/>
                </a:solidFill>
                <a:latin typeface="Poppins"/>
                <a:ea typeface="Poppins"/>
                <a:cs typeface="Poppins"/>
                <a:sym typeface="Poppins"/>
              </a:rPr>
              <a:t> data</a:t>
            </a:r>
            <a:endParaRPr sz="1800" dirty="0">
              <a:solidFill>
                <a:srgbClr val="1F2938"/>
              </a:solidFill>
              <a:latin typeface="Poppins"/>
              <a:ea typeface="Poppins"/>
              <a:cs typeface="Poppins"/>
              <a:sym typeface="Poppi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3"/>
          <p:cNvSpPr txBox="1">
            <a:spLocks noGrp="1"/>
          </p:cNvSpPr>
          <p:nvPr>
            <p:ph type="title" idx="4294967295"/>
          </p:nvPr>
        </p:nvSpPr>
        <p:spPr>
          <a:xfrm>
            <a:off x="771180" y="456439"/>
            <a:ext cx="10652700" cy="6219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rgbClr val="0000FF"/>
              </a:buClr>
              <a:buSzPts val="3400"/>
              <a:buFont typeface="Poppins"/>
              <a:buNone/>
            </a:pPr>
            <a:r>
              <a:rPr lang="nl-NL" sz="3400">
                <a:solidFill>
                  <a:srgbClr val="0000FF"/>
                </a:solidFill>
              </a:rPr>
              <a:t>Takeaways</a:t>
            </a:r>
            <a:endParaRPr sz="3400" b="1">
              <a:latin typeface="Poppins"/>
              <a:ea typeface="Poppins"/>
              <a:cs typeface="Poppins"/>
              <a:sym typeface="Poppins"/>
            </a:endParaRPr>
          </a:p>
        </p:txBody>
      </p:sp>
      <p:sp>
        <p:nvSpPr>
          <p:cNvPr id="178" name="Google Shape;178;p23"/>
          <p:cNvSpPr txBox="1"/>
          <p:nvPr/>
        </p:nvSpPr>
        <p:spPr>
          <a:xfrm>
            <a:off x="771180" y="1417320"/>
            <a:ext cx="9495450" cy="3000000"/>
          </a:xfrm>
          <a:prstGeom prst="rect">
            <a:avLst/>
          </a:prstGeom>
          <a:noFill/>
          <a:ln>
            <a:noFill/>
          </a:ln>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Clr>
                <a:srgbClr val="1F2938"/>
              </a:buClr>
              <a:buSzPts val="1800"/>
              <a:buFont typeface="Poppins"/>
              <a:buChar char="●"/>
            </a:pPr>
            <a:r>
              <a:rPr lang="nl-NL" sz="1800" dirty="0" err="1">
                <a:solidFill>
                  <a:srgbClr val="1F2938"/>
                </a:solidFill>
                <a:latin typeface="Poppins"/>
                <a:ea typeface="Poppins"/>
                <a:cs typeface="Poppins"/>
                <a:sym typeface="Poppins"/>
              </a:rPr>
              <a:t>Before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choosing</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an</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architecture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write</a:t>
            </a:r>
            <a:r>
              <a:rPr lang="nl-NL" sz="1800" dirty="0">
                <a:solidFill>
                  <a:srgbClr val="1F2938"/>
                </a:solidFill>
                <a:latin typeface="Poppins"/>
                <a:ea typeface="Poppins"/>
                <a:cs typeface="Poppins"/>
                <a:sym typeface="Poppins"/>
              </a:rPr>
              <a:t> down </a:t>
            </a:r>
            <a:r>
              <a:rPr lang="nl-NL" sz="1800" dirty="0" err="1">
                <a:solidFill>
                  <a:srgbClr val="1F2938"/>
                </a:solidFill>
                <a:latin typeface="Poppins"/>
                <a:ea typeface="Poppins"/>
                <a:cs typeface="Poppins"/>
                <a:sym typeface="Poppins"/>
              </a:rPr>
              <a:t>what</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you</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already</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know</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about</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the</a:t>
            </a:r>
            <a:r>
              <a:rPr lang="nl-NL" sz="1800" dirty="0">
                <a:solidFill>
                  <a:srgbClr val="1F2938"/>
                </a:solidFill>
                <a:latin typeface="Poppins"/>
                <a:ea typeface="Poppins"/>
                <a:cs typeface="Poppins"/>
                <a:sym typeface="Poppins"/>
              </a:rPr>
              <a:t> data</a:t>
            </a:r>
            <a:endParaRPr sz="1800" dirty="0">
              <a:solidFill>
                <a:srgbClr val="1F2938"/>
              </a:solidFill>
              <a:latin typeface="Poppins"/>
              <a:ea typeface="Poppins"/>
              <a:cs typeface="Poppins"/>
              <a:sym typeface="Poppins"/>
            </a:endParaRPr>
          </a:p>
          <a:p>
            <a:pPr marL="457200" lvl="0" indent="-342900" algn="l" rtl="0">
              <a:lnSpc>
                <a:spcPct val="150000"/>
              </a:lnSpc>
              <a:spcBef>
                <a:spcPts val="0"/>
              </a:spcBef>
              <a:spcAft>
                <a:spcPts val="0"/>
              </a:spcAft>
              <a:buClr>
                <a:srgbClr val="1F2938"/>
              </a:buClr>
              <a:buSzPts val="1800"/>
              <a:buFont typeface="Poppins"/>
              <a:buChar char="●"/>
            </a:pPr>
            <a:r>
              <a:rPr lang="nl-NL" sz="1800" dirty="0" err="1">
                <a:solidFill>
                  <a:srgbClr val="1F2938"/>
                </a:solidFill>
                <a:latin typeface="Poppins"/>
                <a:ea typeface="Poppins"/>
                <a:cs typeface="Poppins"/>
                <a:sym typeface="Poppins"/>
              </a:rPr>
              <a:t>Periodic</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signal</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predict</a:t>
            </a:r>
            <a:r>
              <a:rPr lang="nl-NL" sz="1800" dirty="0">
                <a:solidFill>
                  <a:srgbClr val="1F2938"/>
                </a:solidFill>
                <a:latin typeface="Poppins"/>
                <a:ea typeface="Poppins"/>
                <a:cs typeface="Poppins"/>
                <a:sym typeface="Poppins"/>
              </a:rPr>
              <a:t> on a </a:t>
            </a:r>
            <a:r>
              <a:rPr lang="nl-NL" sz="1800" dirty="0" err="1">
                <a:solidFill>
                  <a:srgbClr val="1F2938"/>
                </a:solidFill>
                <a:latin typeface="Poppins"/>
                <a:ea typeface="Poppins"/>
                <a:cs typeface="Poppins"/>
                <a:sym typeface="Poppins"/>
              </a:rPr>
              <a:t>circle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Arbitrary</a:t>
            </a:r>
            <a:r>
              <a:rPr lang="nl-NL" sz="1800" dirty="0">
                <a:solidFill>
                  <a:srgbClr val="1F2938"/>
                </a:solidFill>
                <a:latin typeface="Poppins"/>
                <a:ea typeface="Poppins"/>
                <a:cs typeface="Poppins"/>
                <a:sym typeface="Poppins"/>
              </a:rPr>
              <a:t> pose: </a:t>
            </a:r>
            <a:r>
              <a:rPr lang="nl-NL" sz="1800" dirty="0" err="1">
                <a:solidFill>
                  <a:srgbClr val="1F2938"/>
                </a:solidFill>
                <a:latin typeface="Poppins"/>
                <a:ea typeface="Poppins"/>
                <a:cs typeface="Poppins"/>
                <a:sym typeface="Poppins"/>
              </a:rPr>
              <a:t>use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equivariance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Continuous</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anatomy</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use</a:t>
            </a:r>
            <a:r>
              <a:rPr lang="nl-NL" sz="1800" dirty="0">
                <a:solidFill>
                  <a:srgbClr val="1F2938"/>
                </a:solidFill>
                <a:latin typeface="Poppins"/>
                <a:ea typeface="Poppins"/>
                <a:cs typeface="Poppins"/>
                <a:sym typeface="Poppins"/>
              </a:rPr>
              <a:t> a field</a:t>
            </a:r>
            <a:endParaRPr sz="1800" dirty="0">
              <a:solidFill>
                <a:srgbClr val="1F2938"/>
              </a:solidFill>
              <a:latin typeface="Poppins"/>
              <a:ea typeface="Poppins"/>
              <a:cs typeface="Poppins"/>
              <a:sym typeface="Poppins"/>
            </a:endParaRPr>
          </a:p>
          <a:p>
            <a:pPr marL="457200" lvl="0" indent="-342900" algn="l" rtl="0">
              <a:lnSpc>
                <a:spcPct val="150000"/>
              </a:lnSpc>
              <a:spcBef>
                <a:spcPts val="0"/>
              </a:spcBef>
              <a:spcAft>
                <a:spcPts val="0"/>
              </a:spcAft>
              <a:buClr>
                <a:srgbClr val="1F2938"/>
              </a:buClr>
              <a:buSzPts val="1800"/>
              <a:buFont typeface="Poppins"/>
              <a:buChar char="●"/>
            </a:pPr>
            <a:r>
              <a:rPr lang="nl-NL" sz="1800" dirty="0">
                <a:solidFill>
                  <a:srgbClr val="1F2938"/>
                </a:solidFill>
                <a:latin typeface="Poppins"/>
                <a:ea typeface="Poppins"/>
                <a:cs typeface="Poppins"/>
                <a:sym typeface="Poppins"/>
              </a:rPr>
              <a:t>Priors help most </a:t>
            </a:r>
            <a:r>
              <a:rPr lang="nl-NL" sz="1800" dirty="0" err="1">
                <a:solidFill>
                  <a:srgbClr val="1F2938"/>
                </a:solidFill>
                <a:latin typeface="Poppins"/>
                <a:ea typeface="Poppins"/>
                <a:cs typeface="Poppins"/>
                <a:sym typeface="Poppins"/>
              </a:rPr>
              <a:t>when</a:t>
            </a:r>
            <a:r>
              <a:rPr lang="nl-NL" sz="1800" dirty="0">
                <a:solidFill>
                  <a:srgbClr val="1F2938"/>
                </a:solidFill>
                <a:latin typeface="Poppins"/>
                <a:ea typeface="Poppins"/>
                <a:cs typeface="Poppins"/>
                <a:sym typeface="Poppins"/>
              </a:rPr>
              <a:t> labels are few, </a:t>
            </a:r>
            <a:r>
              <a:rPr lang="nl-NL" sz="1800" dirty="0" err="1">
                <a:solidFill>
                  <a:srgbClr val="1F2938"/>
                </a:solidFill>
                <a:latin typeface="Poppins"/>
                <a:ea typeface="Poppins"/>
                <a:cs typeface="Poppins"/>
                <a:sym typeface="Poppins"/>
              </a:rPr>
              <a:t>which</a:t>
            </a:r>
            <a:r>
              <a:rPr lang="nl-NL" sz="1800" dirty="0">
                <a:solidFill>
                  <a:srgbClr val="1F2938"/>
                </a:solidFill>
                <a:latin typeface="Poppins"/>
                <a:ea typeface="Poppins"/>
                <a:cs typeface="Poppins"/>
                <a:sym typeface="Poppins"/>
              </a:rPr>
              <a:t> is </a:t>
            </a:r>
            <a:r>
              <a:rPr lang="nl-NL" sz="1800" dirty="0" err="1">
                <a:solidFill>
                  <a:srgbClr val="1F2938"/>
                </a:solidFill>
                <a:latin typeface="Poppins"/>
                <a:ea typeface="Poppins"/>
                <a:cs typeface="Poppins"/>
                <a:sym typeface="Poppins"/>
              </a:rPr>
              <a:t>the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normal</a:t>
            </a:r>
            <a:r>
              <a:rPr lang="nl-NL" sz="1800" dirty="0">
                <a:solidFill>
                  <a:srgbClr val="1F2938"/>
                </a:solidFill>
                <a:latin typeface="Poppins"/>
                <a:ea typeface="Poppins"/>
                <a:cs typeface="Poppins"/>
                <a:sym typeface="Poppins"/>
              </a:rPr>
              <a:t> case in </a:t>
            </a:r>
            <a:r>
              <a:rPr lang="nl-NL" sz="1800" dirty="0" err="1">
                <a:solidFill>
                  <a:srgbClr val="1F2938"/>
                </a:solidFill>
                <a:latin typeface="Poppins"/>
                <a:ea typeface="Poppins"/>
                <a:cs typeface="Poppins"/>
                <a:sym typeface="Poppins"/>
              </a:rPr>
              <a:t>medical</a:t>
            </a:r>
            <a:r>
              <a:rPr lang="nl-NL" sz="1800" dirty="0">
                <a:solidFill>
                  <a:srgbClr val="1F2938"/>
                </a:solidFill>
                <a:latin typeface="Poppins"/>
                <a:ea typeface="Poppins"/>
                <a:cs typeface="Poppins"/>
                <a:sym typeface="Poppins"/>
              </a:rPr>
              <a:t> imaging</a:t>
            </a:r>
            <a:endParaRPr sz="1800" dirty="0">
              <a:solidFill>
                <a:srgbClr val="1F2938"/>
              </a:solidFill>
              <a:latin typeface="Poppins"/>
              <a:ea typeface="Poppins"/>
              <a:cs typeface="Poppins"/>
              <a:sym typeface="Poppins"/>
            </a:endParaRPr>
          </a:p>
          <a:p>
            <a:pPr marL="457200" lvl="0" indent="-342900" algn="l" rtl="0">
              <a:lnSpc>
                <a:spcPct val="150000"/>
              </a:lnSpc>
              <a:spcBef>
                <a:spcPts val="0"/>
              </a:spcBef>
              <a:spcAft>
                <a:spcPts val="0"/>
              </a:spcAft>
              <a:buClr>
                <a:srgbClr val="1F2938"/>
              </a:buClr>
              <a:buSzPts val="1800"/>
              <a:buFont typeface="Poppins"/>
              <a:buChar char="●"/>
            </a:pPr>
            <a:r>
              <a:rPr lang="nl-NL" sz="1800" dirty="0">
                <a:solidFill>
                  <a:srgbClr val="1F2938"/>
                </a:solidFill>
                <a:latin typeface="Poppins"/>
                <a:ea typeface="Poppins"/>
                <a:cs typeface="Poppins"/>
                <a:sym typeface="Poppins"/>
              </a:rPr>
              <a:t>Test </a:t>
            </a:r>
            <a:r>
              <a:rPr lang="nl-NL" sz="1800" dirty="0" err="1">
                <a:solidFill>
                  <a:srgbClr val="1F2938"/>
                </a:solidFill>
                <a:latin typeface="Poppins"/>
                <a:ea typeface="Poppins"/>
                <a:cs typeface="Poppins"/>
                <a:sym typeface="Poppins"/>
              </a:rPr>
              <a:t>the</a:t>
            </a:r>
            <a:r>
              <a:rPr lang="nl-NL" sz="1800" dirty="0">
                <a:solidFill>
                  <a:srgbClr val="1F2938"/>
                </a:solidFill>
                <a:latin typeface="Poppins"/>
                <a:ea typeface="Poppins"/>
                <a:cs typeface="Poppins"/>
                <a:sym typeface="Poppins"/>
              </a:rPr>
              <a:t> prior: </a:t>
            </a:r>
            <a:r>
              <a:rPr lang="nl-NL" sz="1800" dirty="0" err="1">
                <a:solidFill>
                  <a:srgbClr val="1F2938"/>
                </a:solidFill>
                <a:latin typeface="Poppins"/>
                <a:ea typeface="Poppins"/>
                <a:cs typeface="Poppins"/>
                <a:sym typeface="Poppins"/>
              </a:rPr>
              <a:t>measure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the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equivariance</a:t>
            </a:r>
            <a:r>
              <a:rPr lang="nl-NL" sz="1800" dirty="0">
                <a:solidFill>
                  <a:srgbClr val="1F2938"/>
                </a:solidFill>
                <a:latin typeface="Poppins"/>
                <a:ea typeface="Poppins"/>
                <a:cs typeface="Poppins"/>
                <a:sym typeface="Poppins"/>
              </a:rPr>
              <a:t> error </a:t>
            </a:r>
            <a:r>
              <a:rPr lang="nl-NL" sz="1800" dirty="0" err="1">
                <a:solidFill>
                  <a:srgbClr val="1F2938"/>
                </a:solidFill>
                <a:latin typeface="Poppins"/>
                <a:ea typeface="Poppins"/>
                <a:cs typeface="Poppins"/>
                <a:sym typeface="Poppins"/>
              </a:rPr>
              <a:t>and</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compare</a:t>
            </a:r>
            <a:r>
              <a:rPr lang="nl-NL" sz="1800" dirty="0">
                <a:solidFill>
                  <a:srgbClr val="1F2938"/>
                </a:solidFill>
                <a:latin typeface="Poppins"/>
                <a:ea typeface="Poppins"/>
                <a:cs typeface="Poppins"/>
                <a:sym typeface="Poppins"/>
              </a:rPr>
              <a:t> </a:t>
            </a:r>
            <a:r>
              <a:rPr lang="nl-NL" sz="1800" dirty="0" err="1">
                <a:solidFill>
                  <a:srgbClr val="1F2938"/>
                </a:solidFill>
                <a:latin typeface="Poppins"/>
                <a:ea typeface="Poppins"/>
                <a:cs typeface="Poppins"/>
                <a:sym typeface="Poppins"/>
              </a:rPr>
              <a:t>against</a:t>
            </a:r>
            <a:r>
              <a:rPr lang="nl-NL" sz="1800" dirty="0">
                <a:solidFill>
                  <a:srgbClr val="1F2938"/>
                </a:solidFill>
                <a:latin typeface="Poppins"/>
                <a:ea typeface="Poppins"/>
                <a:cs typeface="Poppins"/>
                <a:sym typeface="Poppins"/>
              </a:rPr>
              <a:t> </a:t>
            </a:r>
            <a:r>
              <a:rPr lang="nl-NL" sz="1800" dirty="0" err="1" smtClean="0">
                <a:solidFill>
                  <a:srgbClr val="1F2938"/>
                </a:solidFill>
                <a:latin typeface="Poppins"/>
                <a:ea typeface="Poppins"/>
                <a:cs typeface="Poppins"/>
                <a:sym typeface="Poppins"/>
              </a:rPr>
              <a:t>augmentation</a:t>
            </a:r>
            <a:endParaRPr lang="nl-NL" sz="1800" dirty="0" smtClean="0">
              <a:solidFill>
                <a:srgbClr val="1F2938"/>
              </a:solidFill>
              <a:latin typeface="Poppins"/>
              <a:ea typeface="Poppins"/>
              <a:cs typeface="Poppins"/>
              <a:sym typeface="Poppins"/>
            </a:endParaRPr>
          </a:p>
          <a:p>
            <a:pPr marL="457200" lvl="0" indent="-342900" algn="l" rtl="0">
              <a:lnSpc>
                <a:spcPct val="150000"/>
              </a:lnSpc>
              <a:spcBef>
                <a:spcPts val="0"/>
              </a:spcBef>
              <a:spcAft>
                <a:spcPts val="0"/>
              </a:spcAft>
              <a:buClr>
                <a:srgbClr val="1F2938"/>
              </a:buClr>
              <a:buSzPts val="1800"/>
              <a:buFont typeface="Poppins"/>
              <a:buChar char="●"/>
            </a:pPr>
            <a:r>
              <a:rPr lang="nl-NL" sz="1800" dirty="0" smtClean="0">
                <a:solidFill>
                  <a:srgbClr val="1F2938"/>
                </a:solidFill>
                <a:latin typeface="Poppins"/>
                <a:ea typeface="Poppins"/>
                <a:cs typeface="Poppins"/>
                <a:sym typeface="Poppins"/>
              </a:rPr>
              <a:t>How does </a:t>
            </a:r>
            <a:r>
              <a:rPr lang="nl-NL" sz="1800" dirty="0" err="1" smtClean="0">
                <a:solidFill>
                  <a:srgbClr val="1F2938"/>
                </a:solidFill>
                <a:latin typeface="Poppins"/>
                <a:ea typeface="Poppins"/>
                <a:cs typeface="Poppins"/>
                <a:sym typeface="Poppins"/>
              </a:rPr>
              <a:t>your</a:t>
            </a:r>
            <a:r>
              <a:rPr lang="nl-NL" sz="1800" dirty="0" smtClean="0">
                <a:solidFill>
                  <a:srgbClr val="1F2938"/>
                </a:solidFill>
                <a:latin typeface="Poppins"/>
                <a:ea typeface="Poppins"/>
                <a:cs typeface="Poppins"/>
                <a:sym typeface="Poppins"/>
              </a:rPr>
              <a:t> model </a:t>
            </a:r>
            <a:r>
              <a:rPr lang="nl-NL" sz="1800" dirty="0" err="1" smtClean="0">
                <a:solidFill>
                  <a:srgbClr val="1F2938"/>
                </a:solidFill>
                <a:latin typeface="Poppins"/>
                <a:ea typeface="Poppins"/>
                <a:cs typeface="Poppins"/>
                <a:sym typeface="Poppins"/>
              </a:rPr>
              <a:t>interpret</a:t>
            </a:r>
            <a:r>
              <a:rPr lang="nl-NL" sz="1800" dirty="0" smtClean="0">
                <a:solidFill>
                  <a:srgbClr val="1F2938"/>
                </a:solidFill>
                <a:latin typeface="Poppins"/>
                <a:ea typeface="Poppins"/>
                <a:cs typeface="Poppins"/>
                <a:sym typeface="Poppins"/>
              </a:rPr>
              <a:t> </a:t>
            </a:r>
            <a:r>
              <a:rPr lang="nl-NL" sz="1800" dirty="0" err="1" smtClean="0">
                <a:solidFill>
                  <a:srgbClr val="1F2938"/>
                </a:solidFill>
                <a:latin typeface="Poppins"/>
                <a:ea typeface="Poppins"/>
                <a:cs typeface="Poppins"/>
                <a:sym typeface="Poppins"/>
              </a:rPr>
              <a:t>the</a:t>
            </a:r>
            <a:r>
              <a:rPr lang="nl-NL" sz="1800" dirty="0" smtClean="0">
                <a:solidFill>
                  <a:srgbClr val="1F2938"/>
                </a:solidFill>
                <a:latin typeface="Poppins"/>
                <a:ea typeface="Poppins"/>
                <a:cs typeface="Poppins"/>
                <a:sym typeface="Poppins"/>
              </a:rPr>
              <a:t> data?</a:t>
            </a:r>
            <a:endParaRPr sz="1800" dirty="0">
              <a:solidFill>
                <a:srgbClr val="1F2938"/>
              </a:solidFill>
              <a:latin typeface="Poppins"/>
              <a:ea typeface="Poppins"/>
              <a:cs typeface="Poppins"/>
              <a:sym typeface="Poppi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24"/>
          <p:cNvSpPr txBox="1">
            <a:spLocks noGrp="1"/>
          </p:cNvSpPr>
          <p:nvPr>
            <p:ph type="title" idx="4294967295"/>
          </p:nvPr>
        </p:nvSpPr>
        <p:spPr>
          <a:xfrm>
            <a:off x="771180" y="456439"/>
            <a:ext cx="10652700" cy="6219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rgbClr val="0000FF"/>
              </a:buClr>
              <a:buSzPts val="3400"/>
              <a:buFont typeface="Poppins"/>
              <a:buNone/>
            </a:pPr>
            <a:r>
              <a:rPr lang="nl-NL" sz="3400">
                <a:solidFill>
                  <a:srgbClr val="0000FF"/>
                </a:solidFill>
              </a:rPr>
              <a:t>Further reading</a:t>
            </a:r>
            <a:endParaRPr sz="3400" b="1">
              <a:latin typeface="Poppins"/>
              <a:ea typeface="Poppins"/>
              <a:cs typeface="Poppins"/>
              <a:sym typeface="Poppins"/>
            </a:endParaRPr>
          </a:p>
        </p:txBody>
      </p:sp>
      <p:sp>
        <p:nvSpPr>
          <p:cNvPr id="185" name="Google Shape;185;p24"/>
          <p:cNvSpPr txBox="1"/>
          <p:nvPr/>
        </p:nvSpPr>
        <p:spPr>
          <a:xfrm>
            <a:off x="771180" y="1417320"/>
            <a:ext cx="5637000" cy="30000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rgbClr val="1F2938"/>
              </a:buClr>
              <a:buSzPts val="1800"/>
              <a:buFont typeface="Poppins"/>
              <a:buChar char="●"/>
            </a:pPr>
            <a:r>
              <a:rPr lang="nl-NL" sz="1800">
                <a:solidFill>
                  <a:srgbClr val="1F2938"/>
                </a:solidFill>
                <a:latin typeface="Poppins"/>
                <a:ea typeface="Poppins"/>
                <a:cs typeface="Poppins"/>
                <a:sym typeface="Poppins"/>
              </a:rPr>
              <a:t>Cohen and Welling, Group Equivariant Convolutional Networks, ICML 2016</a:t>
            </a:r>
            <a:endParaRPr sz="180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a:solidFill>
                  <a:srgbClr val="1F2938"/>
                </a:solidFill>
                <a:latin typeface="Poppins"/>
                <a:ea typeface="Poppins"/>
                <a:cs typeface="Poppins"/>
                <a:sym typeface="Poppins"/>
              </a:rPr>
              <a:t>Sitzmann et al., Implicit Neural Representations with Periodic Activation Functions, NeurIPS 2020</a:t>
            </a:r>
            <a:endParaRPr sz="180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a:solidFill>
                  <a:srgbClr val="1F2938"/>
                </a:solidFill>
                <a:latin typeface="Poppins"/>
                <a:ea typeface="Poppins"/>
                <a:cs typeface="Poppins"/>
                <a:sym typeface="Poppins"/>
              </a:rPr>
              <a:t>De Luigi et al., Deep Learning on Implicit Neural Representations of Shapes (inr2vec), ICLR 2023</a:t>
            </a:r>
            <a:endParaRPr sz="180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a:solidFill>
                  <a:srgbClr val="1F2938"/>
                </a:solidFill>
                <a:latin typeface="Poppins"/>
                <a:ea typeface="Poppins"/>
                <a:cs typeface="Poppins"/>
                <a:sym typeface="Poppins"/>
              </a:rPr>
              <a:t>Wessels et al., Grounding Continuous Representations in Geometry: Equivariant Neural Fields, 2024</a:t>
            </a:r>
            <a:endParaRPr sz="1800">
              <a:solidFill>
                <a:srgbClr val="1F2938"/>
              </a:solidFill>
              <a:latin typeface="Poppins"/>
              <a:ea typeface="Poppins"/>
              <a:cs typeface="Poppins"/>
              <a:sym typeface="Poppins"/>
            </a:endParaRPr>
          </a:p>
          <a:p>
            <a:pPr marL="457200" lvl="0" indent="-342900" algn="l" rtl="0">
              <a:spcBef>
                <a:spcPts val="0"/>
              </a:spcBef>
              <a:spcAft>
                <a:spcPts val="0"/>
              </a:spcAft>
              <a:buClr>
                <a:srgbClr val="1F2938"/>
              </a:buClr>
              <a:buSzPts val="1800"/>
              <a:buFont typeface="Poppins"/>
              <a:buChar char="●"/>
            </a:pPr>
            <a:r>
              <a:rPr lang="nl-NL" sz="1800">
                <a:solidFill>
                  <a:srgbClr val="1F2938"/>
                </a:solidFill>
                <a:latin typeface="Poppins"/>
                <a:ea typeface="Poppins"/>
                <a:cs typeface="Poppins"/>
                <a:sym typeface="Poppins"/>
              </a:rPr>
              <a:t>Bernard et al., Deep Learning Techniques for Automatic MRI Cardiac Multi-Structures Segmentation and Diagnosis: Is the Problem Solved?, IEEE TMI 2018</a:t>
            </a:r>
            <a:endParaRPr sz="1800">
              <a:solidFill>
                <a:srgbClr val="1F2938"/>
              </a:solidFill>
              <a:latin typeface="Poppins"/>
              <a:ea typeface="Poppins"/>
              <a:cs typeface="Poppins"/>
              <a:sym typeface="Poppi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116</TotalTime>
  <Words>2880</Words>
  <Application>Microsoft Office PowerPoint</Application>
  <PresentationFormat>Breedbeeld</PresentationFormat>
  <Paragraphs>243</Paragraphs>
  <Slides>34</Slides>
  <Notes>30</Notes>
  <HiddenSlides>0</HiddenSlides>
  <MMClips>2</MMClips>
  <ScaleCrop>false</ScaleCrop>
  <HeadingPairs>
    <vt:vector size="6" baseType="variant">
      <vt:variant>
        <vt:lpstr>Gebruikte lettertypen</vt:lpstr>
      </vt:variant>
      <vt:variant>
        <vt:i4>6</vt:i4>
      </vt:variant>
      <vt:variant>
        <vt:lpstr>Thema</vt:lpstr>
      </vt:variant>
      <vt:variant>
        <vt:i4>1</vt:i4>
      </vt:variant>
      <vt:variant>
        <vt:lpstr>Diatitels</vt:lpstr>
      </vt:variant>
      <vt:variant>
        <vt:i4>34</vt:i4>
      </vt:variant>
    </vt:vector>
  </HeadingPairs>
  <TitlesOfParts>
    <vt:vector size="41" baseType="lpstr">
      <vt:lpstr>LM Mono 10</vt:lpstr>
      <vt:lpstr>Calibri</vt:lpstr>
      <vt:lpstr>Arial</vt:lpstr>
      <vt:lpstr>Aptos</vt:lpstr>
      <vt:lpstr>Poppins</vt:lpstr>
      <vt:lpstr>Cambria Math</vt:lpstr>
      <vt:lpstr>Office Theme</vt:lpstr>
      <vt:lpstr>Symmetry and structure in cardiac imaging Guest lecture, MSc AI medical imaging course </vt:lpstr>
      <vt:lpstr>About me</vt:lpstr>
      <vt:lpstr>Outline</vt:lpstr>
      <vt:lpstr>Heart Anatomy</vt:lpstr>
      <vt:lpstr>PowerPoint-presentatie</vt:lpstr>
      <vt:lpstr>Cardiac MRI: slices of a beating heart</vt:lpstr>
      <vt:lpstr>Cardiac MRI: slices of a beating heart</vt:lpstr>
      <vt:lpstr>From images to clinical numbers</vt:lpstr>
      <vt:lpstr>Challenges in cardiac imaging</vt:lpstr>
      <vt:lpstr>We know more than the network does</vt:lpstr>
      <vt:lpstr>Finding end-diastole in a sequence</vt:lpstr>
      <vt:lpstr>CyclePhase: put the phase on a circle</vt:lpstr>
      <vt:lpstr>An image as a function, not a grid</vt:lpstr>
      <vt:lpstr>Example (Bras, et al. 2026)</vt:lpstr>
      <vt:lpstr>Example (Bras, et al. 2026)</vt:lpstr>
      <vt:lpstr>INR for motion assessment </vt:lpstr>
      <vt:lpstr>Displacement for controls and CRT</vt:lpstr>
      <vt:lpstr>What about LGEs?</vt:lpstr>
      <vt:lpstr>Generating images with their masks</vt:lpstr>
      <vt:lpstr>Example </vt:lpstr>
      <vt:lpstr>Can one latent hold detail and shape?</vt:lpstr>
      <vt:lpstr>A rotated heart is still a heart</vt:lpstr>
      <vt:lpstr>Equivariance: outputs follow inputs</vt:lpstr>
      <vt:lpstr>Locally, the wall is one edge, rotated</vt:lpstr>
      <vt:lpstr>Locally, the wall is one edge, rotated</vt:lpstr>
      <vt:lpstr>Locally, the wall is one edge, rotated</vt:lpstr>
      <vt:lpstr>What equivariance is meant to fix</vt:lpstr>
      <vt:lpstr>Weight sharing beyond translation</vt:lpstr>
      <vt:lpstr>Latents with a position and an angle</vt:lpstr>
      <vt:lpstr>Our model for cardiac MRI</vt:lpstr>
      <vt:lpstr>PowerPoint-presentatie</vt:lpstr>
      <vt:lpstr>Where equivariance breaks or costs</vt:lpstr>
      <vt:lpstr>Takeaways</vt:lpstr>
      <vt:lpstr>Further reading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Symmetry and structure in cardiac imaging Guest lecture, MSc AI medical imaging course </dc:title>
  <cp:lastModifiedBy>Soufiane</cp:lastModifiedBy>
  <cp:revision>12</cp:revision>
  <dcterms:modified xsi:type="dcterms:W3CDTF">2026-10-06T10:00:48Z</dcterms:modified>
</cp:coreProperties>
</file>