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2000"/>
  <p:notesSz cx="6858000" cy="9144000"/>
  <p:embeddedFontLst>
    <p:embeddedFont>
      <p:font typeface="Ubuntu"/>
      <p:regular r:id="rId52"/>
      <p:bold r:id="rId53"/>
      <p:italic r:id="rId54"/>
      <p:boldItalic r:id="rId55"/>
    </p:embeddedFont>
    <p:embeddedFont>
      <p:font typeface="Ubuntu Light"/>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0" roundtripDataSignature="AMtx7mjvNA6UrKUiDPO2DR3yob0X+D9s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AECFB7-9CC8-4CAB-ADBA-D725458E96BA}">
  <a:tblStyle styleId="{29AECFB7-9CC8-4CAB-ADBA-D725458E96BA}"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Ubuntu-bold.fntdata"/><Relationship Id="rId52" Type="http://schemas.openxmlformats.org/officeDocument/2006/relationships/font" Target="fonts/Ubuntu-regular.fntdata"/><Relationship Id="rId11" Type="http://schemas.openxmlformats.org/officeDocument/2006/relationships/slide" Target="slides/slide6.xml"/><Relationship Id="rId55" Type="http://schemas.openxmlformats.org/officeDocument/2006/relationships/font" Target="fonts/Ubuntu-boldItalic.fntdata"/><Relationship Id="rId10" Type="http://schemas.openxmlformats.org/officeDocument/2006/relationships/slide" Target="slides/slide5.xml"/><Relationship Id="rId54" Type="http://schemas.openxmlformats.org/officeDocument/2006/relationships/font" Target="fonts/Ubuntu-italic.fntdata"/><Relationship Id="rId13" Type="http://schemas.openxmlformats.org/officeDocument/2006/relationships/slide" Target="slides/slide8.xml"/><Relationship Id="rId57" Type="http://schemas.openxmlformats.org/officeDocument/2006/relationships/font" Target="fonts/UbuntuLight-bold.fntdata"/><Relationship Id="rId12" Type="http://schemas.openxmlformats.org/officeDocument/2006/relationships/slide" Target="slides/slide7.xml"/><Relationship Id="rId56" Type="http://schemas.openxmlformats.org/officeDocument/2006/relationships/font" Target="fonts/UbuntuLight-regular.fntdata"/><Relationship Id="rId15" Type="http://schemas.openxmlformats.org/officeDocument/2006/relationships/slide" Target="slides/slide10.xml"/><Relationship Id="rId59" Type="http://schemas.openxmlformats.org/officeDocument/2006/relationships/font" Target="fonts/UbuntuLight-boldItalic.fntdata"/><Relationship Id="rId14" Type="http://schemas.openxmlformats.org/officeDocument/2006/relationships/slide" Target="slides/slide9.xml"/><Relationship Id="rId58" Type="http://schemas.openxmlformats.org/officeDocument/2006/relationships/font" Target="fonts/UbuntuLigh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h5ce19bdfec7f05b0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h5ce19bdfec7f05b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isn't a rare edge case. It's a question pathologists and clinicians face regularly. </a:t>
            </a:r>
            <a:endParaRPr/>
          </a:p>
        </p:txBody>
      </p:sp>
      <p:sp>
        <p:nvSpPr>
          <p:cNvPr id="223" name="Google Shape;2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3feeff9767e46d2f_3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h3feeff9767e46d2f_3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5eb69ffe71b1ad8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same picture, two tumours in one patient two completely different stories  completely different treatments. Getting this right really matters. </a:t>
            </a:r>
            <a:endParaRPr/>
          </a:p>
        </p:txBody>
      </p:sp>
      <p:sp>
        <p:nvSpPr>
          <p:cNvPr id="265" name="Google Shape;265;h5eb69ffe71b1ad8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Our DNA is packed into chromosomes. If we zoom into one chromosome, we find genes: stretches of DNA that each hold the recipe for one protein. A tumour can damage a gene in two ways. A mutation is a small change: one letter inside the gene is wrong, so the recipe has a typo. A copy-number alteration, or CNA, changes how many copies of the gene there are. With a gain, gene B is copied and is now there three times, so the cell makes too much of that protein. With a loss, gene B is simply gone. (Strictly, every cell has two copies of each chromosome, one from each parent, so 'normal' means two copies of each gene; I show one copy to keep it simple.) Sequencing measures both kinds of change, and which genes are mutated, gained or lost together form a fingerprint of the tumour.</a:t>
            </a:r>
            <a:endParaRPr/>
          </a:p>
        </p:txBody>
      </p:sp>
      <p:sp>
        <p:nvSpPr>
          <p:cNvPr id="329" name="Google Shape;32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3feeff9767e46d2f_3_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h3feeff9767e46d2f_3_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b84b8cee0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g3fb84b8cee0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bc13185ce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3fbc13185ce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fb84b8cee0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g3fb84b8cee0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b84b8cee0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5" name="Google Shape;415;g3fb84b8cee0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fb84b8cee0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g3fb84b8cee0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b84b8cee0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3fb84b8cee0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b84b8cee0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g3fb84b8cee0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b84b8cee0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g3fb84b8cee0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b84b8cee0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fb84b8cee0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g3fb84b8cee0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fb84b8cee0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3fb84b8cee0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g3fb84b8cee0_0_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fb9c5fe91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g3fb9c5fe9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g3fb9c5fe9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h178d0342318c4c4c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h178d0342318c4c4c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8" name="Google Shape;498;h178d0342318c4c4c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h178d0342318c4c4c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h178d0342318c4c4c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h178d0342318c4c4c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2baf384c86278644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h2baf384c86278644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h2baf384c86278644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2baf384c86278644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h2baf384c86278644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h2baf384c86278644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bc13185ce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3fbc13185ce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2" name="Google Shape;562;g3fbc13185ce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h178d0342318c4c4c_0_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h178d0342318c4c4c_0_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Again: precision means, every time the model says 'clonal', is it correct? Which metric matters depends on which error we care about. Error 1: we tell a patient they have metastatic cancer with a poor prognosis, while they actually have two separate, curable tumours. Error 2: we tell a patient they have separate tumours, while the disease has in fact spread. Both are bad, and we will extend to the second one, but for now we focus on the first, which is exactly what precision measures.</a:t>
            </a:r>
            <a:endParaRPr/>
          </a:p>
        </p:txBody>
      </p:sp>
      <p:sp>
        <p:nvSpPr>
          <p:cNvPr id="571" name="Google Shape;571;h178d0342318c4c4c_0_3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178d0342318c4c4c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h178d0342318c4c4c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h178d0342318c4c4c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h3fbe1cc187aaddd6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h3fbe1cc187aaddd6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h3fbe1cc187aaddd6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h1d7a0c8165ab2c7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h1d7a0c8165ab2c7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2" name="Google Shape;622;h1d7a0c8165ab2c7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h178d0342318c4c4c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h178d0342318c4c4c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9" name="Google Shape;629;h178d0342318c4c4c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h3fbe1cc187aaddd6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h3fbe1cc187aaddd6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h3fbe1cc187aaddd6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fbc13185ce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g3fbc13185ce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 name="Google Shape;644;g3fbc13185ce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bc13185ce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fbc13185ce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2" name="Google Shape;652;g3fbc13185ce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h3fbe1cc187aaddd6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h3fbe1cc187aaddd6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h3fbe1cc187aaddd6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h1d7a0c8165ab2c72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h1d7a0c8165ab2c72_1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h1d7a0c8165ab2c72_1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bc13185c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g3fbc13185c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7" name="Google Shape;677;g3fbc13185c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h3fbe1cc187aaddd6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h3fbe1cc187aaddd6_0_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h3fbe1cc187aaddd6_0_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h178d0342318c4c4c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h178d0342318c4c4c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h178d0342318c4c4c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178d0342318c4c4c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h178d0342318c4c4c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7" name="Google Shape;707;h178d0342318c4c4c_0_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h3fbe1cc187aaddd6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h3fbe1cc187aaddd6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7" name="Google Shape;717;h3fbe1cc187aaddd6_0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h3fbe1cc187aaddd6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h3fbe1cc187aaddd6_0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h3fbe1cc187aaddd6_0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h3fbe1cc187aaddd6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h3fbe1cc187aaddd6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h3fbe1cc187aaddd6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h3feeff9767e46d2f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h3feeff9767e46d2f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7" name="Google Shape;767;h3feeff9767e46d2f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h3feeff9767e46d2f_3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h3feeff9767e46d2f_3_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6" name="Google Shape;786;h3feeff9767e46d2f_3_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h178d0342318c4c4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h178d0342318c4c4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h178d0342318c4c4c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h3feeff9767e46d2f_3_6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3" name="Google Shape;843;h3feeff9767e46d2f_3_6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h3feeff9767e46d2f_3_6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h3feeff9767e46d2f_3_8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h3feeff9767e46d2f_3_8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7" name="Google Shape;867;h3feeff9767e46d2f_3_8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h5ce19bdfec7f05b0_1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74" name="Google Shape;874;h5ce19bdfec7f05b0_1_1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h5ce19bdfec7f05b0_1_1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research">
  <p:cSld name="Title page - research">
    <p:spTree>
      <p:nvGrpSpPr>
        <p:cNvPr id="14" name="Shape 14"/>
        <p:cNvGrpSpPr/>
        <p:nvPr/>
      </p:nvGrpSpPr>
      <p:grpSpPr>
        <a:xfrm>
          <a:off x="0" y="0"/>
          <a:ext cx="0" cy="0"/>
          <a:chOff x="0" y="0"/>
          <a:chExt cx="0" cy="0"/>
        </a:xfrm>
      </p:grpSpPr>
      <p:sp>
        <p:nvSpPr>
          <p:cNvPr id="15" name="Google Shape;15;p12"/>
          <p:cNvSpPr/>
          <p:nvPr/>
        </p:nvSpPr>
        <p:spPr>
          <a:xfrm>
            <a:off x="0" y="603738"/>
            <a:ext cx="12192000" cy="2825262"/>
          </a:xfrm>
          <a:prstGeom prst="rect">
            <a:avLst/>
          </a:prstGeom>
          <a:solidFill>
            <a:srgbClr val="009C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6" name="Google Shape;16;p12"/>
          <p:cNvSpPr txBox="1"/>
          <p:nvPr>
            <p:ph type="ctrTitle"/>
          </p:nvPr>
        </p:nvSpPr>
        <p:spPr>
          <a:xfrm>
            <a:off x="653143" y="1057047"/>
            <a:ext cx="10776857" cy="11527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000"/>
              <a:buFont typeface="Trebuchet MS"/>
              <a:buNone/>
              <a:defRPr b="1" sz="50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674915" y="2340428"/>
            <a:ext cx="10776857" cy="65314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lt1"/>
              </a:buClr>
              <a:buSzPts val="3800"/>
              <a:buFont typeface="Arial"/>
              <a:buNone/>
              <a:defRPr b="0" i="0" spc="0" sz="3800" u="none" cap="none" strike="noStrike">
                <a:solidFill>
                  <a:schemeClr val="lt1"/>
                </a:solidFill>
                <a:latin typeface="Trebuchet MS"/>
                <a:ea typeface="Trebuchet MS"/>
                <a:cs typeface="Trebuchet MS"/>
                <a:sym typeface="Trebuchet MS"/>
              </a:defRPr>
            </a:lvl1pPr>
            <a:lvl2pPr lvl="1" marR="0" rtl="0" algn="ctr">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2pPr>
            <a:lvl3pPr lvl="2" marR="0" rtl="0" algn="ctr">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3pPr>
            <a:lvl4pPr lvl="3"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4pPr>
            <a:lvl5pPr lvl="4"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5pPr>
            <a:lvl6pPr lvl="5"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6pPr>
            <a:lvl7pPr lvl="6"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7pPr>
            <a:lvl8pPr lvl="7"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8pPr>
            <a:lvl9pPr lvl="8"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9pPr>
          </a:lstStyle>
          <a:p/>
        </p:txBody>
      </p:sp>
      <p:sp>
        <p:nvSpPr>
          <p:cNvPr id="18" name="Google Shape;18;p12"/>
          <p:cNvSpPr/>
          <p:nvPr>
            <p:ph idx="2" type="pic"/>
          </p:nvPr>
        </p:nvSpPr>
        <p:spPr>
          <a:xfrm>
            <a:off x="0" y="3429000"/>
            <a:ext cx="12192000" cy="3429000"/>
          </a:xfrm>
          <a:prstGeom prst="rect">
            <a:avLst/>
          </a:prstGeom>
          <a:noFill/>
          <a:ln>
            <a:noFill/>
          </a:ln>
        </p:spPr>
      </p:sp>
      <p:grpSp>
        <p:nvGrpSpPr>
          <p:cNvPr id="19" name="Google Shape;19;p12"/>
          <p:cNvGrpSpPr/>
          <p:nvPr/>
        </p:nvGrpSpPr>
        <p:grpSpPr>
          <a:xfrm>
            <a:off x="4309680" y="-733"/>
            <a:ext cx="3565908" cy="992921"/>
            <a:chOff x="4309680" y="-733"/>
            <a:chExt cx="3565908" cy="992921"/>
          </a:xfrm>
        </p:grpSpPr>
        <p:sp>
          <p:nvSpPr>
            <p:cNvPr id="20" name="Google Shape;20;p12"/>
            <p:cNvSpPr/>
            <p:nvPr/>
          </p:nvSpPr>
          <p:spPr>
            <a:xfrm>
              <a:off x="4313238" y="0"/>
              <a:ext cx="3562350" cy="9921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sp>
          <p:nvSpPr>
            <p:cNvPr id="21" name="Google Shape;21;p12"/>
            <p:cNvSpPr/>
            <p:nvPr/>
          </p:nvSpPr>
          <p:spPr>
            <a:xfrm>
              <a:off x="4309680" y="-733"/>
              <a:ext cx="3561146" cy="986572"/>
            </a:xfrm>
            <a:custGeom>
              <a:rect b="b" l="l" r="r" t="t"/>
              <a:pathLst>
                <a:path extrusionOk="0" h="9971" w="10000">
                  <a:moveTo>
                    <a:pt x="0" y="8"/>
                  </a:moveTo>
                  <a:cubicBezTo>
                    <a:pt x="3" y="2134"/>
                    <a:pt x="7" y="4372"/>
                    <a:pt x="10" y="6498"/>
                  </a:cubicBezTo>
                  <a:cubicBezTo>
                    <a:pt x="10" y="8416"/>
                    <a:pt x="441" y="9971"/>
                    <a:pt x="972" y="9971"/>
                  </a:cubicBezTo>
                  <a:lnTo>
                    <a:pt x="9038" y="9971"/>
                  </a:lnTo>
                  <a:cubicBezTo>
                    <a:pt x="9569" y="9971"/>
                    <a:pt x="10000" y="8416"/>
                    <a:pt x="10000" y="6498"/>
                  </a:cubicBezTo>
                  <a:cubicBezTo>
                    <a:pt x="9997" y="4332"/>
                    <a:pt x="9995" y="2166"/>
                    <a:pt x="9992" y="0"/>
                  </a:cubicBezTo>
                  <a:lnTo>
                    <a:pt x="0" y="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pic>
          <p:nvPicPr>
            <p:cNvPr id="22" name="Google Shape;22;p12"/>
            <p:cNvPicPr preferRelativeResize="0"/>
            <p:nvPr/>
          </p:nvPicPr>
          <p:blipFill rotWithShape="1">
            <a:blip r:embed="rId2">
              <a:alphaModFix/>
            </a:blip>
            <a:srcRect b="0" l="0" r="0" t="0"/>
            <a:stretch/>
          </p:blipFill>
          <p:spPr>
            <a:xfrm>
              <a:off x="4696588" y="297838"/>
              <a:ext cx="2790888" cy="504057"/>
            </a:xfrm>
            <a:prstGeom prst="rect">
              <a:avLst/>
            </a:prstGeom>
            <a:noFill/>
            <a:ln>
              <a:noFill/>
            </a:ln>
          </p:spPr>
        </p:pic>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 research">
  <p:cSld name="Text and image - research">
    <p:spTree>
      <p:nvGrpSpPr>
        <p:cNvPr id="23" name="Shape 23"/>
        <p:cNvGrpSpPr/>
        <p:nvPr/>
      </p:nvGrpSpPr>
      <p:grpSpPr>
        <a:xfrm>
          <a:off x="0" y="0"/>
          <a:ext cx="0" cy="0"/>
          <a:chOff x="0" y="0"/>
          <a:chExt cx="0" cy="0"/>
        </a:xfrm>
      </p:grpSpPr>
      <p:sp>
        <p:nvSpPr>
          <p:cNvPr id="24" name="Google Shape;24;p13"/>
          <p:cNvSpPr/>
          <p:nvPr/>
        </p:nvSpPr>
        <p:spPr>
          <a:xfrm>
            <a:off x="718150" y="6446725"/>
            <a:ext cx="6406200" cy="262500"/>
          </a:xfrm>
          <a:prstGeom prst="rect">
            <a:avLst/>
          </a:prstGeom>
          <a:solidFill>
            <a:srgbClr val="CED9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 name="Google Shape;25;p13"/>
          <p:cNvSpPr txBox="1"/>
          <p:nvPr/>
        </p:nvSpPr>
        <p:spPr>
          <a:xfrm>
            <a:off x="711200" y="6381750"/>
            <a:ext cx="96078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400" u="none" cap="none" strike="noStrike">
                <a:solidFill>
                  <a:srgbClr val="009CB4"/>
                </a:solidFill>
                <a:latin typeface="Ubuntu"/>
                <a:ea typeface="Ubuntu"/>
                <a:cs typeface="Ubuntu"/>
                <a:sym typeface="Ubuntu"/>
              </a:rPr>
              <a:t>Two tumors, one origin? | AI for Medical Imaging</a:t>
            </a:r>
            <a:endParaRPr b="0" i="0" spc="0" sz="1400" u="none" cap="none" strike="noStrike">
              <a:solidFill>
                <a:srgbClr val="009CB4"/>
              </a:solidFill>
              <a:latin typeface="Ubuntu"/>
              <a:ea typeface="Ubuntu"/>
              <a:cs typeface="Ubuntu"/>
              <a:sym typeface="Ubuntu"/>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it colored bg - research">
  <p:cSld name="Portait colored bg - research">
    <p:spTree>
      <p:nvGrpSpPr>
        <p:cNvPr id="26" name="Shape 26"/>
        <p:cNvGrpSpPr/>
        <p:nvPr/>
      </p:nvGrpSpPr>
      <p:grpSpPr>
        <a:xfrm>
          <a:off x="0" y="0"/>
          <a:ext cx="0" cy="0"/>
          <a:chOff x="0" y="0"/>
          <a:chExt cx="0" cy="0"/>
        </a:xfrm>
      </p:grpSpPr>
      <p:sp>
        <p:nvSpPr>
          <p:cNvPr id="27" name="Google Shape;27;p14"/>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28" name="Google Shape;28;p14"/>
          <p:cNvSpPr/>
          <p:nvPr/>
        </p:nvSpPr>
        <p:spPr>
          <a:xfrm>
            <a:off x="0" y="1540932"/>
            <a:ext cx="6096000" cy="4722439"/>
          </a:xfrm>
          <a:prstGeom prst="rect">
            <a:avLst/>
          </a:prstGeom>
          <a:solidFill>
            <a:srgbClr val="009C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29" name="Google Shape;29;p14"/>
          <p:cNvSpPr txBox="1"/>
          <p:nvPr>
            <p:ph idx="1" type="body"/>
          </p:nvPr>
        </p:nvSpPr>
        <p:spPr>
          <a:xfrm>
            <a:off x="647700" y="2705101"/>
            <a:ext cx="5359400" cy="320408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30" name="Google Shape;30;p14"/>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31" name="Google Shape;31;p14"/>
          <p:cNvSpPr/>
          <p:nvPr>
            <p:ph idx="2" type="pic"/>
          </p:nvPr>
        </p:nvSpPr>
        <p:spPr>
          <a:xfrm>
            <a:off x="6096000" y="1540933"/>
            <a:ext cx="6096000" cy="4722440"/>
          </a:xfrm>
          <a:prstGeom prst="rect">
            <a:avLst/>
          </a:prstGeom>
          <a:noFill/>
          <a:ln>
            <a:noFill/>
          </a:ln>
        </p:spPr>
      </p:sp>
      <p:sp>
        <p:nvSpPr>
          <p:cNvPr id="32" name="Google Shape;32;p14"/>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 research">
  <p:cSld name="2 columns - research">
    <p:spTree>
      <p:nvGrpSpPr>
        <p:cNvPr id="33" name="Shape 33"/>
        <p:cNvGrpSpPr/>
        <p:nvPr/>
      </p:nvGrpSpPr>
      <p:grpSpPr>
        <a:xfrm>
          <a:off x="0" y="0"/>
          <a:ext cx="0" cy="0"/>
          <a:chOff x="0" y="0"/>
          <a:chExt cx="0" cy="0"/>
        </a:xfrm>
      </p:grpSpPr>
      <p:sp>
        <p:nvSpPr>
          <p:cNvPr id="34" name="Google Shape;34;p15"/>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09CB4"/>
              </a:buClr>
              <a:buSzPts val="4000"/>
              <a:buFont typeface="Trebuchet MS"/>
              <a:buNone/>
              <a:defRPr>
                <a:solidFill>
                  <a:srgbClr val="009CB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673100" y="2425655"/>
            <a:ext cx="5346700" cy="375130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dk1"/>
              </a:buClr>
              <a:buSzPts val="2300"/>
              <a:buFont typeface="Arial"/>
              <a:buNone/>
              <a:defRPr b="0" i="0" spc="0" sz="2300" u="none" cap="none" strike="noStrike">
                <a:solidFill>
                  <a:schemeClr val="dk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36" name="Google Shape;36;p15"/>
          <p:cNvSpPr txBox="1"/>
          <p:nvPr>
            <p:ph idx="2" type="body"/>
          </p:nvPr>
        </p:nvSpPr>
        <p:spPr>
          <a:xfrm>
            <a:off x="6291072" y="2425655"/>
            <a:ext cx="5148072"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37" name="Google Shape;37;p15"/>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 research">
  <p:cSld name="1 column - research">
    <p:spTree>
      <p:nvGrpSpPr>
        <p:cNvPr id="38" name="Shape 38"/>
        <p:cNvGrpSpPr/>
        <p:nvPr/>
      </p:nvGrpSpPr>
      <p:grpSpPr>
        <a:xfrm>
          <a:off x="0" y="0"/>
          <a:ext cx="0" cy="0"/>
          <a:chOff x="0" y="0"/>
          <a:chExt cx="0" cy="0"/>
        </a:xfrm>
      </p:grpSpPr>
      <p:sp>
        <p:nvSpPr>
          <p:cNvPr id="39" name="Google Shape;39;p16"/>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09CB4"/>
              </a:buClr>
              <a:buSzPts val="4000"/>
              <a:buFont typeface="Trebuchet MS"/>
              <a:buNone/>
              <a:defRPr>
                <a:solidFill>
                  <a:srgbClr val="009CB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6"/>
          <p:cNvSpPr txBox="1"/>
          <p:nvPr>
            <p:ph idx="1" type="body"/>
          </p:nvPr>
        </p:nvSpPr>
        <p:spPr>
          <a:xfrm>
            <a:off x="694944" y="2425655"/>
            <a:ext cx="10744200"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41" name="Google Shape;41;p16"/>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ndscape colored bg - research">
  <p:cSld name="Landscape colored bg - research">
    <p:spTree>
      <p:nvGrpSpPr>
        <p:cNvPr id="42" name="Shape 42"/>
        <p:cNvGrpSpPr/>
        <p:nvPr/>
      </p:nvGrpSpPr>
      <p:grpSpPr>
        <a:xfrm>
          <a:off x="0" y="0"/>
          <a:ext cx="0" cy="0"/>
          <a:chOff x="0" y="0"/>
          <a:chExt cx="0" cy="0"/>
        </a:xfrm>
      </p:grpSpPr>
      <p:sp>
        <p:nvSpPr>
          <p:cNvPr id="43" name="Google Shape;43;p17"/>
          <p:cNvSpPr/>
          <p:nvPr/>
        </p:nvSpPr>
        <p:spPr>
          <a:xfrm>
            <a:off x="0" y="4360985"/>
            <a:ext cx="12192000" cy="1900987"/>
          </a:xfrm>
          <a:prstGeom prst="rect">
            <a:avLst/>
          </a:prstGeom>
          <a:solidFill>
            <a:srgbClr val="009C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44" name="Google Shape;44;p17"/>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45" name="Google Shape;45;p17"/>
          <p:cNvSpPr txBox="1"/>
          <p:nvPr>
            <p:ph idx="1" type="body"/>
          </p:nvPr>
        </p:nvSpPr>
        <p:spPr>
          <a:xfrm>
            <a:off x="657224" y="4591050"/>
            <a:ext cx="5438775" cy="14287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46" name="Google Shape;46;p17"/>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47" name="Google Shape;47;p17"/>
          <p:cNvSpPr/>
          <p:nvPr>
            <p:ph idx="2" type="pic"/>
          </p:nvPr>
        </p:nvSpPr>
        <p:spPr>
          <a:xfrm>
            <a:off x="6096000" y="1543050"/>
            <a:ext cx="6096000" cy="2816537"/>
          </a:xfrm>
          <a:prstGeom prst="rect">
            <a:avLst/>
          </a:prstGeom>
          <a:noFill/>
          <a:ln>
            <a:noFill/>
          </a:ln>
        </p:spPr>
      </p:sp>
      <p:sp>
        <p:nvSpPr>
          <p:cNvPr id="48" name="Google Shape;48;p17"/>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p:nvPr>
            <p:ph idx="3" type="pic"/>
          </p:nvPr>
        </p:nvSpPr>
        <p:spPr>
          <a:xfrm>
            <a:off x="0" y="1543050"/>
            <a:ext cx="6096000" cy="2816537"/>
          </a:xfrm>
          <a:prstGeom prst="rect">
            <a:avLst/>
          </a:prstGeom>
          <a:noFill/>
          <a:ln>
            <a:noFill/>
          </a:ln>
        </p:spPr>
      </p:sp>
      <p:sp>
        <p:nvSpPr>
          <p:cNvPr id="50" name="Google Shape;50;p17"/>
          <p:cNvSpPr txBox="1"/>
          <p:nvPr>
            <p:ph idx="4" type="body"/>
          </p:nvPr>
        </p:nvSpPr>
        <p:spPr>
          <a:xfrm>
            <a:off x="6296024" y="4600575"/>
            <a:ext cx="5438775" cy="1428750"/>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lt1"/>
              </a:buClr>
              <a:buSzPts val="2300"/>
              <a:buFont typeface="Arial"/>
              <a:buChar char="•"/>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Image">
    <p:spTree>
      <p:nvGrpSpPr>
        <p:cNvPr id="51" name="Shape 51"/>
        <p:cNvGrpSpPr/>
        <p:nvPr/>
      </p:nvGrpSpPr>
      <p:grpSpPr>
        <a:xfrm>
          <a:off x="0" y="0"/>
          <a:ext cx="0" cy="0"/>
          <a:chOff x="0" y="0"/>
          <a:chExt cx="0" cy="0"/>
        </a:xfrm>
      </p:grpSpPr>
      <p:sp>
        <p:nvSpPr>
          <p:cNvPr id="52" name="Google Shape;52;p18"/>
          <p:cNvSpPr/>
          <p:nvPr>
            <p:ph idx="2" type="pic"/>
          </p:nvPr>
        </p:nvSpPr>
        <p:spPr>
          <a:xfrm>
            <a:off x="0" y="603738"/>
            <a:ext cx="12192000" cy="6254262"/>
          </a:xfrm>
          <a:prstGeom prst="rect">
            <a:avLst/>
          </a:prstGeom>
          <a:noFill/>
          <a:ln>
            <a:noFill/>
          </a:ln>
        </p:spPr>
      </p:sp>
      <p:grpSp>
        <p:nvGrpSpPr>
          <p:cNvPr id="53" name="Google Shape;53;p18"/>
          <p:cNvGrpSpPr/>
          <p:nvPr/>
        </p:nvGrpSpPr>
        <p:grpSpPr>
          <a:xfrm>
            <a:off x="4309680" y="-733"/>
            <a:ext cx="3565908" cy="992921"/>
            <a:chOff x="4309680" y="-733"/>
            <a:chExt cx="3565908" cy="992921"/>
          </a:xfrm>
        </p:grpSpPr>
        <p:sp>
          <p:nvSpPr>
            <p:cNvPr id="54" name="Google Shape;54;p18"/>
            <p:cNvSpPr/>
            <p:nvPr/>
          </p:nvSpPr>
          <p:spPr>
            <a:xfrm>
              <a:off x="4313238" y="0"/>
              <a:ext cx="3562350" cy="9921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sp>
          <p:nvSpPr>
            <p:cNvPr id="55" name="Google Shape;55;p18"/>
            <p:cNvSpPr/>
            <p:nvPr/>
          </p:nvSpPr>
          <p:spPr>
            <a:xfrm>
              <a:off x="4309680" y="-733"/>
              <a:ext cx="3561146" cy="986572"/>
            </a:xfrm>
            <a:custGeom>
              <a:rect b="b" l="l" r="r" t="t"/>
              <a:pathLst>
                <a:path extrusionOk="0" h="9971" w="10000">
                  <a:moveTo>
                    <a:pt x="0" y="8"/>
                  </a:moveTo>
                  <a:cubicBezTo>
                    <a:pt x="3" y="2134"/>
                    <a:pt x="7" y="4372"/>
                    <a:pt x="10" y="6498"/>
                  </a:cubicBezTo>
                  <a:cubicBezTo>
                    <a:pt x="10" y="8416"/>
                    <a:pt x="441" y="9971"/>
                    <a:pt x="972" y="9971"/>
                  </a:cubicBezTo>
                  <a:lnTo>
                    <a:pt x="9038" y="9971"/>
                  </a:lnTo>
                  <a:cubicBezTo>
                    <a:pt x="9569" y="9971"/>
                    <a:pt x="10000" y="8416"/>
                    <a:pt x="10000" y="6498"/>
                  </a:cubicBezTo>
                  <a:cubicBezTo>
                    <a:pt x="9997" y="4332"/>
                    <a:pt x="9995" y="2166"/>
                    <a:pt x="9992" y="0"/>
                  </a:cubicBezTo>
                  <a:lnTo>
                    <a:pt x="0" y="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pic>
          <p:nvPicPr>
            <p:cNvPr id="56" name="Google Shape;56;p18"/>
            <p:cNvPicPr preferRelativeResize="0"/>
            <p:nvPr/>
          </p:nvPicPr>
          <p:blipFill rotWithShape="1">
            <a:blip r:embed="rId2">
              <a:alphaModFix/>
            </a:blip>
            <a:srcRect b="0" l="0" r="0" t="0"/>
            <a:stretch/>
          </p:blipFill>
          <p:spPr>
            <a:xfrm>
              <a:off x="4696588" y="297838"/>
              <a:ext cx="2790888" cy="504057"/>
            </a:xfrm>
            <a:prstGeom prst="rect">
              <a:avLst/>
            </a:prstGeom>
            <a:noFill/>
            <a:ln>
              <a:noFill/>
            </a:ln>
          </p:spPr>
        </p:pic>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patient care">
  <p:cSld name="Title page - patient care">
    <p:spTree>
      <p:nvGrpSpPr>
        <p:cNvPr id="57" name="Shape 57"/>
        <p:cNvGrpSpPr/>
        <p:nvPr/>
      </p:nvGrpSpPr>
      <p:grpSpPr>
        <a:xfrm>
          <a:off x="0" y="0"/>
          <a:ext cx="0" cy="0"/>
          <a:chOff x="0" y="0"/>
          <a:chExt cx="0" cy="0"/>
        </a:xfrm>
      </p:grpSpPr>
      <p:sp>
        <p:nvSpPr>
          <p:cNvPr id="58" name="Google Shape;58;p19"/>
          <p:cNvSpPr/>
          <p:nvPr/>
        </p:nvSpPr>
        <p:spPr>
          <a:xfrm>
            <a:off x="0" y="598714"/>
            <a:ext cx="12192000" cy="2943610"/>
          </a:xfrm>
          <a:prstGeom prst="rect">
            <a:avLst/>
          </a:prstGeom>
          <a:solidFill>
            <a:srgbClr val="E89E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59" name="Google Shape;59;p19"/>
          <p:cNvSpPr/>
          <p:nvPr>
            <p:ph idx="2" type="pic"/>
          </p:nvPr>
        </p:nvSpPr>
        <p:spPr>
          <a:xfrm>
            <a:off x="0" y="3429000"/>
            <a:ext cx="12192000" cy="3429000"/>
          </a:xfrm>
          <a:prstGeom prst="rect">
            <a:avLst/>
          </a:prstGeom>
          <a:noFill/>
          <a:ln>
            <a:noFill/>
          </a:ln>
        </p:spPr>
      </p:sp>
      <p:grpSp>
        <p:nvGrpSpPr>
          <p:cNvPr id="60" name="Google Shape;60;p19"/>
          <p:cNvGrpSpPr/>
          <p:nvPr/>
        </p:nvGrpSpPr>
        <p:grpSpPr>
          <a:xfrm>
            <a:off x="4309680" y="-733"/>
            <a:ext cx="3565908" cy="992921"/>
            <a:chOff x="4309680" y="-733"/>
            <a:chExt cx="3565908" cy="992921"/>
          </a:xfrm>
        </p:grpSpPr>
        <p:sp>
          <p:nvSpPr>
            <p:cNvPr id="61" name="Google Shape;61;p19"/>
            <p:cNvSpPr/>
            <p:nvPr/>
          </p:nvSpPr>
          <p:spPr>
            <a:xfrm>
              <a:off x="4313238" y="0"/>
              <a:ext cx="3562350" cy="9921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sp>
          <p:nvSpPr>
            <p:cNvPr id="62" name="Google Shape;62;p19"/>
            <p:cNvSpPr/>
            <p:nvPr/>
          </p:nvSpPr>
          <p:spPr>
            <a:xfrm>
              <a:off x="4309680" y="-733"/>
              <a:ext cx="3561146" cy="986572"/>
            </a:xfrm>
            <a:custGeom>
              <a:rect b="b" l="l" r="r" t="t"/>
              <a:pathLst>
                <a:path extrusionOk="0" h="9971" w="10000">
                  <a:moveTo>
                    <a:pt x="0" y="8"/>
                  </a:moveTo>
                  <a:cubicBezTo>
                    <a:pt x="3" y="2134"/>
                    <a:pt x="7" y="4372"/>
                    <a:pt x="10" y="6498"/>
                  </a:cubicBezTo>
                  <a:cubicBezTo>
                    <a:pt x="10" y="8416"/>
                    <a:pt x="441" y="9971"/>
                    <a:pt x="972" y="9971"/>
                  </a:cubicBezTo>
                  <a:lnTo>
                    <a:pt x="9038" y="9971"/>
                  </a:lnTo>
                  <a:cubicBezTo>
                    <a:pt x="9569" y="9971"/>
                    <a:pt x="10000" y="8416"/>
                    <a:pt x="10000" y="6498"/>
                  </a:cubicBezTo>
                  <a:cubicBezTo>
                    <a:pt x="9997" y="4332"/>
                    <a:pt x="9995" y="2166"/>
                    <a:pt x="9992" y="0"/>
                  </a:cubicBezTo>
                  <a:lnTo>
                    <a:pt x="0" y="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pic>
          <p:nvPicPr>
            <p:cNvPr id="63" name="Google Shape;63;p19"/>
            <p:cNvPicPr preferRelativeResize="0"/>
            <p:nvPr/>
          </p:nvPicPr>
          <p:blipFill rotWithShape="1">
            <a:blip r:embed="rId2">
              <a:alphaModFix/>
            </a:blip>
            <a:srcRect b="0" l="0" r="0" t="0"/>
            <a:stretch/>
          </p:blipFill>
          <p:spPr>
            <a:xfrm>
              <a:off x="4696588" y="297838"/>
              <a:ext cx="2790888" cy="504057"/>
            </a:xfrm>
            <a:prstGeom prst="rect">
              <a:avLst/>
            </a:prstGeom>
            <a:noFill/>
            <a:ln>
              <a:noFill/>
            </a:ln>
          </p:spPr>
        </p:pic>
      </p:grpSp>
      <p:sp>
        <p:nvSpPr>
          <p:cNvPr id="64" name="Google Shape;64;p19"/>
          <p:cNvSpPr txBox="1"/>
          <p:nvPr>
            <p:ph type="ctrTitle"/>
          </p:nvPr>
        </p:nvSpPr>
        <p:spPr>
          <a:xfrm>
            <a:off x="653143" y="1057047"/>
            <a:ext cx="10776857" cy="11527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000"/>
              <a:buFont typeface="Trebuchet MS"/>
              <a:buNone/>
              <a:defRPr b="1" sz="50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9"/>
          <p:cNvSpPr txBox="1"/>
          <p:nvPr>
            <p:ph idx="1" type="subTitle"/>
          </p:nvPr>
        </p:nvSpPr>
        <p:spPr>
          <a:xfrm>
            <a:off x="674915" y="2340428"/>
            <a:ext cx="10776857" cy="65314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lt1"/>
              </a:buClr>
              <a:buSzPts val="3800"/>
              <a:buFont typeface="Arial"/>
              <a:buNone/>
              <a:defRPr b="0" i="0" spc="0" sz="3800" u="none" cap="none" strike="noStrike">
                <a:solidFill>
                  <a:schemeClr val="lt1"/>
                </a:solidFill>
                <a:latin typeface="Trebuchet MS"/>
                <a:ea typeface="Trebuchet MS"/>
                <a:cs typeface="Trebuchet MS"/>
                <a:sym typeface="Trebuchet MS"/>
              </a:defRPr>
            </a:lvl1pPr>
            <a:lvl2pPr lvl="1" marR="0" rtl="0" algn="ctr">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2pPr>
            <a:lvl3pPr lvl="2" marR="0" rtl="0" algn="ctr">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3pPr>
            <a:lvl4pPr lvl="3"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4pPr>
            <a:lvl5pPr lvl="4"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5pPr>
            <a:lvl6pPr lvl="5"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6pPr>
            <a:lvl7pPr lvl="6"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7pPr>
            <a:lvl8pPr lvl="7"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8pPr>
            <a:lvl9pPr lvl="8"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 patient care">
  <p:cSld name="2 columns - patient care">
    <p:spTree>
      <p:nvGrpSpPr>
        <p:cNvPr id="66" name="Shape 66"/>
        <p:cNvGrpSpPr/>
        <p:nvPr/>
      </p:nvGrpSpPr>
      <p:grpSpPr>
        <a:xfrm>
          <a:off x="0" y="0"/>
          <a:ext cx="0" cy="0"/>
          <a:chOff x="0" y="0"/>
          <a:chExt cx="0" cy="0"/>
        </a:xfrm>
      </p:grpSpPr>
      <p:sp>
        <p:nvSpPr>
          <p:cNvPr id="67" name="Google Shape;67;p20"/>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E89E00"/>
              </a:buClr>
              <a:buSzPts val="4000"/>
              <a:buFont typeface="Trebuchet M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0"/>
          <p:cNvSpPr txBox="1"/>
          <p:nvPr>
            <p:ph idx="1" type="body"/>
          </p:nvPr>
        </p:nvSpPr>
        <p:spPr>
          <a:xfrm>
            <a:off x="673100" y="2425655"/>
            <a:ext cx="5346700" cy="375130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dk1"/>
              </a:buClr>
              <a:buSzPts val="2300"/>
              <a:buFont typeface="Arial"/>
              <a:buNone/>
              <a:defRPr b="0" i="0" spc="0" sz="2300" u="none" cap="none" strike="noStrike">
                <a:solidFill>
                  <a:schemeClr val="dk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69" name="Google Shape;69;p20"/>
          <p:cNvSpPr txBox="1"/>
          <p:nvPr>
            <p:ph idx="2" type="body"/>
          </p:nvPr>
        </p:nvSpPr>
        <p:spPr>
          <a:xfrm>
            <a:off x="6291072" y="2425655"/>
            <a:ext cx="5148072"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70" name="Google Shape;70;p20"/>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 patient care">
  <p:cSld name="1 column - patient care">
    <p:spTree>
      <p:nvGrpSpPr>
        <p:cNvPr id="71" name="Shape 71"/>
        <p:cNvGrpSpPr/>
        <p:nvPr/>
      </p:nvGrpSpPr>
      <p:grpSpPr>
        <a:xfrm>
          <a:off x="0" y="0"/>
          <a:ext cx="0" cy="0"/>
          <a:chOff x="0" y="0"/>
          <a:chExt cx="0" cy="0"/>
        </a:xfrm>
      </p:grpSpPr>
      <p:sp>
        <p:nvSpPr>
          <p:cNvPr id="72" name="Google Shape;72;p21"/>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E89E00"/>
              </a:buClr>
              <a:buSzPts val="4000"/>
              <a:buFont typeface="Trebuchet M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 type="body"/>
          </p:nvPr>
        </p:nvSpPr>
        <p:spPr>
          <a:xfrm>
            <a:off x="694944" y="2425655"/>
            <a:ext cx="10744200"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74" name="Google Shape;74;p21"/>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 patient care">
  <p:cSld name="Text and image - patient care">
    <p:spTree>
      <p:nvGrpSpPr>
        <p:cNvPr id="75" name="Shape 75"/>
        <p:cNvGrpSpPr/>
        <p:nvPr/>
      </p:nvGrpSpPr>
      <p:grpSpPr>
        <a:xfrm>
          <a:off x="0" y="0"/>
          <a:ext cx="0" cy="0"/>
          <a:chOff x="0" y="0"/>
          <a:chExt cx="0" cy="0"/>
        </a:xfrm>
      </p:grpSpPr>
      <p:sp>
        <p:nvSpPr>
          <p:cNvPr id="76" name="Google Shape;76;p22"/>
          <p:cNvSpPr txBox="1"/>
          <p:nvPr>
            <p:ph type="title"/>
          </p:nvPr>
        </p:nvSpPr>
        <p:spPr>
          <a:xfrm>
            <a:off x="673100" y="1439708"/>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E89E00"/>
              </a:buClr>
              <a:buSzPts val="4000"/>
              <a:buFont typeface="Trebuchet M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 type="body"/>
          </p:nvPr>
        </p:nvSpPr>
        <p:spPr>
          <a:xfrm>
            <a:off x="673100" y="2350009"/>
            <a:ext cx="5346700" cy="355917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dk1"/>
              </a:buClr>
              <a:buSzPts val="2300"/>
              <a:buFont typeface="Arial"/>
              <a:buNone/>
              <a:defRPr b="0" i="0" spc="0" sz="2300" u="none" cap="none" strike="noStrike">
                <a:solidFill>
                  <a:schemeClr val="dk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78" name="Google Shape;78;p22"/>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79" name="Google Shape;79;p22"/>
          <p:cNvSpPr/>
          <p:nvPr>
            <p:ph idx="2" type="pic"/>
          </p:nvPr>
        </p:nvSpPr>
        <p:spPr>
          <a:xfrm>
            <a:off x="6361113" y="1543665"/>
            <a:ext cx="5054600" cy="4365521"/>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it colored bg - patient care">
  <p:cSld name="Portait colored bg - patient care">
    <p:spTree>
      <p:nvGrpSpPr>
        <p:cNvPr id="80" name="Shape 80"/>
        <p:cNvGrpSpPr/>
        <p:nvPr/>
      </p:nvGrpSpPr>
      <p:grpSpPr>
        <a:xfrm>
          <a:off x="0" y="0"/>
          <a:ext cx="0" cy="0"/>
          <a:chOff x="0" y="0"/>
          <a:chExt cx="0" cy="0"/>
        </a:xfrm>
      </p:grpSpPr>
      <p:sp>
        <p:nvSpPr>
          <p:cNvPr id="81" name="Google Shape;81;p23"/>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82" name="Google Shape;82;p23"/>
          <p:cNvSpPr/>
          <p:nvPr/>
        </p:nvSpPr>
        <p:spPr>
          <a:xfrm>
            <a:off x="0" y="1540932"/>
            <a:ext cx="6096000" cy="4722439"/>
          </a:xfrm>
          <a:prstGeom prst="rect">
            <a:avLst/>
          </a:prstGeom>
          <a:solidFill>
            <a:srgbClr val="E89E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83" name="Google Shape;83;p23"/>
          <p:cNvSpPr txBox="1"/>
          <p:nvPr>
            <p:ph idx="1" type="body"/>
          </p:nvPr>
        </p:nvSpPr>
        <p:spPr>
          <a:xfrm>
            <a:off x="647700" y="2705101"/>
            <a:ext cx="5359400" cy="320408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84" name="Google Shape;84;p23"/>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85" name="Google Shape;85;p23"/>
          <p:cNvSpPr/>
          <p:nvPr>
            <p:ph idx="2" type="pic"/>
          </p:nvPr>
        </p:nvSpPr>
        <p:spPr>
          <a:xfrm>
            <a:off x="6096000" y="1540933"/>
            <a:ext cx="6096000" cy="4722440"/>
          </a:xfrm>
          <a:prstGeom prst="rect">
            <a:avLst/>
          </a:prstGeom>
          <a:noFill/>
          <a:ln>
            <a:noFill/>
          </a:ln>
        </p:spPr>
      </p:sp>
      <p:sp>
        <p:nvSpPr>
          <p:cNvPr id="86" name="Google Shape;86;p23"/>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ndscape colored bg - patient care">
  <p:cSld name="Landscape colored bg - patient care">
    <p:spTree>
      <p:nvGrpSpPr>
        <p:cNvPr id="87" name="Shape 87"/>
        <p:cNvGrpSpPr/>
        <p:nvPr/>
      </p:nvGrpSpPr>
      <p:grpSpPr>
        <a:xfrm>
          <a:off x="0" y="0"/>
          <a:ext cx="0" cy="0"/>
          <a:chOff x="0" y="0"/>
          <a:chExt cx="0" cy="0"/>
        </a:xfrm>
      </p:grpSpPr>
      <p:sp>
        <p:nvSpPr>
          <p:cNvPr id="88" name="Google Shape;88;p24"/>
          <p:cNvSpPr/>
          <p:nvPr/>
        </p:nvSpPr>
        <p:spPr>
          <a:xfrm>
            <a:off x="0" y="4360985"/>
            <a:ext cx="12192000" cy="1900987"/>
          </a:xfrm>
          <a:prstGeom prst="rect">
            <a:avLst/>
          </a:prstGeom>
          <a:solidFill>
            <a:srgbClr val="E89E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89" name="Google Shape;89;p24"/>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90" name="Google Shape;90;p24"/>
          <p:cNvSpPr txBox="1"/>
          <p:nvPr>
            <p:ph idx="1" type="body"/>
          </p:nvPr>
        </p:nvSpPr>
        <p:spPr>
          <a:xfrm>
            <a:off x="657224" y="4591050"/>
            <a:ext cx="5438775" cy="14287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91" name="Google Shape;91;p24"/>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92" name="Google Shape;92;p24"/>
          <p:cNvSpPr/>
          <p:nvPr>
            <p:ph idx="2" type="pic"/>
          </p:nvPr>
        </p:nvSpPr>
        <p:spPr>
          <a:xfrm>
            <a:off x="6096000" y="1543050"/>
            <a:ext cx="6096000" cy="2816537"/>
          </a:xfrm>
          <a:prstGeom prst="rect">
            <a:avLst/>
          </a:prstGeom>
          <a:noFill/>
          <a:ln>
            <a:noFill/>
          </a:ln>
        </p:spPr>
      </p:sp>
      <p:sp>
        <p:nvSpPr>
          <p:cNvPr id="93" name="Google Shape;93;p24"/>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4"/>
          <p:cNvSpPr/>
          <p:nvPr>
            <p:ph idx="3" type="pic"/>
          </p:nvPr>
        </p:nvSpPr>
        <p:spPr>
          <a:xfrm>
            <a:off x="0" y="1543050"/>
            <a:ext cx="6096000" cy="2816537"/>
          </a:xfrm>
          <a:prstGeom prst="rect">
            <a:avLst/>
          </a:prstGeom>
          <a:noFill/>
          <a:ln>
            <a:noFill/>
          </a:ln>
        </p:spPr>
      </p:sp>
      <p:sp>
        <p:nvSpPr>
          <p:cNvPr id="95" name="Google Shape;95;p24"/>
          <p:cNvSpPr txBox="1"/>
          <p:nvPr>
            <p:ph idx="4" type="body"/>
          </p:nvPr>
        </p:nvSpPr>
        <p:spPr>
          <a:xfrm>
            <a:off x="6296024" y="4600575"/>
            <a:ext cx="5438775" cy="1428750"/>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lt1"/>
              </a:buClr>
              <a:buSzPts val="2300"/>
              <a:buFont typeface="Arial"/>
              <a:buChar char="•"/>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education">
  <p:cSld name="Title page - education">
    <p:spTree>
      <p:nvGrpSpPr>
        <p:cNvPr id="96" name="Shape 96"/>
        <p:cNvGrpSpPr/>
        <p:nvPr/>
      </p:nvGrpSpPr>
      <p:grpSpPr>
        <a:xfrm>
          <a:off x="0" y="0"/>
          <a:ext cx="0" cy="0"/>
          <a:chOff x="0" y="0"/>
          <a:chExt cx="0" cy="0"/>
        </a:xfrm>
      </p:grpSpPr>
      <p:sp>
        <p:nvSpPr>
          <p:cNvPr id="97" name="Google Shape;97;p25"/>
          <p:cNvSpPr/>
          <p:nvPr/>
        </p:nvSpPr>
        <p:spPr>
          <a:xfrm>
            <a:off x="0" y="603738"/>
            <a:ext cx="12192000" cy="2825262"/>
          </a:xfrm>
          <a:prstGeom prst="rect">
            <a:avLst/>
          </a:prstGeom>
          <a:solidFill>
            <a:srgbClr val="6AB6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98" name="Google Shape;98;p25"/>
          <p:cNvSpPr txBox="1"/>
          <p:nvPr>
            <p:ph type="ctrTitle"/>
          </p:nvPr>
        </p:nvSpPr>
        <p:spPr>
          <a:xfrm>
            <a:off x="653143" y="1057047"/>
            <a:ext cx="10776857" cy="11527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000"/>
              <a:buFont typeface="Trebuchet MS"/>
              <a:buNone/>
              <a:defRPr b="1" sz="50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5"/>
          <p:cNvSpPr txBox="1"/>
          <p:nvPr>
            <p:ph idx="1" type="subTitle"/>
          </p:nvPr>
        </p:nvSpPr>
        <p:spPr>
          <a:xfrm>
            <a:off x="674915" y="2340428"/>
            <a:ext cx="10776857" cy="65314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lt1"/>
              </a:buClr>
              <a:buSzPts val="3800"/>
              <a:buFont typeface="Arial"/>
              <a:buNone/>
              <a:defRPr b="0" i="0" spc="0" sz="3800" u="none" cap="none" strike="noStrike">
                <a:solidFill>
                  <a:schemeClr val="lt1"/>
                </a:solidFill>
                <a:latin typeface="Trebuchet MS"/>
                <a:ea typeface="Trebuchet MS"/>
                <a:cs typeface="Trebuchet MS"/>
                <a:sym typeface="Trebuchet MS"/>
              </a:defRPr>
            </a:lvl1pPr>
            <a:lvl2pPr lvl="1" marR="0" rtl="0" algn="ctr">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2pPr>
            <a:lvl3pPr lvl="2" marR="0" rtl="0" algn="ctr">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3pPr>
            <a:lvl4pPr lvl="3"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4pPr>
            <a:lvl5pPr lvl="4"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5pPr>
            <a:lvl6pPr lvl="5"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6pPr>
            <a:lvl7pPr lvl="6"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7pPr>
            <a:lvl8pPr lvl="7"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8pPr>
            <a:lvl9pPr lvl="8"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9pPr>
          </a:lstStyle>
          <a:p/>
        </p:txBody>
      </p:sp>
      <p:sp>
        <p:nvSpPr>
          <p:cNvPr id="100" name="Google Shape;100;p25"/>
          <p:cNvSpPr/>
          <p:nvPr>
            <p:ph idx="2" type="pic"/>
          </p:nvPr>
        </p:nvSpPr>
        <p:spPr>
          <a:xfrm>
            <a:off x="0" y="3429000"/>
            <a:ext cx="12192000" cy="3429000"/>
          </a:xfrm>
          <a:prstGeom prst="rect">
            <a:avLst/>
          </a:prstGeom>
          <a:noFill/>
          <a:ln>
            <a:noFill/>
          </a:ln>
        </p:spPr>
      </p:sp>
      <p:grpSp>
        <p:nvGrpSpPr>
          <p:cNvPr id="101" name="Google Shape;101;p25"/>
          <p:cNvGrpSpPr/>
          <p:nvPr/>
        </p:nvGrpSpPr>
        <p:grpSpPr>
          <a:xfrm>
            <a:off x="4309680" y="-733"/>
            <a:ext cx="3565908" cy="992921"/>
            <a:chOff x="4309680" y="-733"/>
            <a:chExt cx="3565908" cy="992921"/>
          </a:xfrm>
        </p:grpSpPr>
        <p:sp>
          <p:nvSpPr>
            <p:cNvPr id="102" name="Google Shape;102;p25"/>
            <p:cNvSpPr/>
            <p:nvPr/>
          </p:nvSpPr>
          <p:spPr>
            <a:xfrm>
              <a:off x="4313238" y="0"/>
              <a:ext cx="3562350" cy="9921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sp>
          <p:nvSpPr>
            <p:cNvPr id="103" name="Google Shape;103;p25"/>
            <p:cNvSpPr/>
            <p:nvPr/>
          </p:nvSpPr>
          <p:spPr>
            <a:xfrm>
              <a:off x="4309680" y="-733"/>
              <a:ext cx="3561146" cy="986572"/>
            </a:xfrm>
            <a:custGeom>
              <a:rect b="b" l="l" r="r" t="t"/>
              <a:pathLst>
                <a:path extrusionOk="0" h="9971" w="10000">
                  <a:moveTo>
                    <a:pt x="0" y="8"/>
                  </a:moveTo>
                  <a:cubicBezTo>
                    <a:pt x="3" y="2134"/>
                    <a:pt x="7" y="4372"/>
                    <a:pt x="10" y="6498"/>
                  </a:cubicBezTo>
                  <a:cubicBezTo>
                    <a:pt x="10" y="8416"/>
                    <a:pt x="441" y="9971"/>
                    <a:pt x="972" y="9971"/>
                  </a:cubicBezTo>
                  <a:lnTo>
                    <a:pt x="9038" y="9971"/>
                  </a:lnTo>
                  <a:cubicBezTo>
                    <a:pt x="9569" y="9971"/>
                    <a:pt x="10000" y="8416"/>
                    <a:pt x="10000" y="6498"/>
                  </a:cubicBezTo>
                  <a:cubicBezTo>
                    <a:pt x="9997" y="4332"/>
                    <a:pt x="9995" y="2166"/>
                    <a:pt x="9992" y="0"/>
                  </a:cubicBezTo>
                  <a:lnTo>
                    <a:pt x="0" y="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pic>
          <p:nvPicPr>
            <p:cNvPr id="104" name="Google Shape;104;p25"/>
            <p:cNvPicPr preferRelativeResize="0"/>
            <p:nvPr/>
          </p:nvPicPr>
          <p:blipFill rotWithShape="1">
            <a:blip r:embed="rId2">
              <a:alphaModFix/>
            </a:blip>
            <a:srcRect b="0" l="0" r="0" t="0"/>
            <a:stretch/>
          </p:blipFill>
          <p:spPr>
            <a:xfrm>
              <a:off x="4696588" y="297838"/>
              <a:ext cx="2790888" cy="504057"/>
            </a:xfrm>
            <a:prstGeom prst="rect">
              <a:avLst/>
            </a:prstGeom>
            <a:noFill/>
            <a:ln>
              <a:noFill/>
            </a:ln>
          </p:spPr>
        </p:pic>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 education">
  <p:cSld name="2 columns - education">
    <p:spTree>
      <p:nvGrpSpPr>
        <p:cNvPr id="105" name="Shape 105"/>
        <p:cNvGrpSpPr/>
        <p:nvPr/>
      </p:nvGrpSpPr>
      <p:grpSpPr>
        <a:xfrm>
          <a:off x="0" y="0"/>
          <a:ext cx="0" cy="0"/>
          <a:chOff x="0" y="0"/>
          <a:chExt cx="0" cy="0"/>
        </a:xfrm>
      </p:grpSpPr>
      <p:sp>
        <p:nvSpPr>
          <p:cNvPr id="106" name="Google Shape;106;p26"/>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6AB650"/>
              </a:buClr>
              <a:buSzPts val="4000"/>
              <a:buFont typeface="Trebuchet MS"/>
              <a:buNone/>
              <a:defRPr>
                <a:solidFill>
                  <a:srgbClr val="6AB65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6"/>
          <p:cNvSpPr txBox="1"/>
          <p:nvPr>
            <p:ph idx="1" type="body"/>
          </p:nvPr>
        </p:nvSpPr>
        <p:spPr>
          <a:xfrm>
            <a:off x="673100" y="2425655"/>
            <a:ext cx="5346700" cy="375130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dk1"/>
              </a:buClr>
              <a:buSzPts val="2300"/>
              <a:buFont typeface="Arial"/>
              <a:buNone/>
              <a:defRPr b="0" i="0" spc="0" sz="2300" u="none" cap="none" strike="noStrike">
                <a:solidFill>
                  <a:schemeClr val="dk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08" name="Google Shape;108;p26"/>
          <p:cNvSpPr txBox="1"/>
          <p:nvPr>
            <p:ph idx="2" type="body"/>
          </p:nvPr>
        </p:nvSpPr>
        <p:spPr>
          <a:xfrm>
            <a:off x="6291072" y="2425655"/>
            <a:ext cx="5148072"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09" name="Google Shape;109;p26"/>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 education">
  <p:cSld name="1 column - education">
    <p:spTree>
      <p:nvGrpSpPr>
        <p:cNvPr id="110" name="Shape 110"/>
        <p:cNvGrpSpPr/>
        <p:nvPr/>
      </p:nvGrpSpPr>
      <p:grpSpPr>
        <a:xfrm>
          <a:off x="0" y="0"/>
          <a:ext cx="0" cy="0"/>
          <a:chOff x="0" y="0"/>
          <a:chExt cx="0" cy="0"/>
        </a:xfrm>
      </p:grpSpPr>
      <p:sp>
        <p:nvSpPr>
          <p:cNvPr id="111" name="Google Shape;111;p27"/>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6AB650"/>
              </a:buClr>
              <a:buSzPts val="4000"/>
              <a:buFont typeface="Trebuchet MS"/>
              <a:buNone/>
              <a:defRPr>
                <a:solidFill>
                  <a:srgbClr val="6AB65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7"/>
          <p:cNvSpPr txBox="1"/>
          <p:nvPr>
            <p:ph idx="1" type="body"/>
          </p:nvPr>
        </p:nvSpPr>
        <p:spPr>
          <a:xfrm>
            <a:off x="694944" y="2425655"/>
            <a:ext cx="10744200"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13" name="Google Shape;113;p27"/>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 education">
  <p:cSld name="Text and image - education">
    <p:spTree>
      <p:nvGrpSpPr>
        <p:cNvPr id="114" name="Shape 114"/>
        <p:cNvGrpSpPr/>
        <p:nvPr/>
      </p:nvGrpSpPr>
      <p:grpSpPr>
        <a:xfrm>
          <a:off x="0" y="0"/>
          <a:ext cx="0" cy="0"/>
          <a:chOff x="0" y="0"/>
          <a:chExt cx="0" cy="0"/>
        </a:xfrm>
      </p:grpSpPr>
      <p:sp>
        <p:nvSpPr>
          <p:cNvPr id="115" name="Google Shape;115;p28"/>
          <p:cNvSpPr txBox="1"/>
          <p:nvPr>
            <p:ph type="title"/>
          </p:nvPr>
        </p:nvSpPr>
        <p:spPr>
          <a:xfrm>
            <a:off x="673100" y="1439708"/>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6AB650"/>
              </a:buClr>
              <a:buSzPts val="4000"/>
              <a:buFont typeface="Trebuchet MS"/>
              <a:buNone/>
              <a:defRPr>
                <a:solidFill>
                  <a:srgbClr val="6AB65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8"/>
          <p:cNvSpPr txBox="1"/>
          <p:nvPr>
            <p:ph idx="1" type="body"/>
          </p:nvPr>
        </p:nvSpPr>
        <p:spPr>
          <a:xfrm>
            <a:off x="673100" y="2350009"/>
            <a:ext cx="5346700" cy="355917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dk1"/>
              </a:buClr>
              <a:buSzPts val="2300"/>
              <a:buFont typeface="Arial"/>
              <a:buNone/>
              <a:defRPr b="0" i="0" spc="0" sz="2300" u="none" cap="none" strike="noStrike">
                <a:solidFill>
                  <a:schemeClr val="dk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17" name="Google Shape;117;p28"/>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118" name="Google Shape;118;p28"/>
          <p:cNvSpPr/>
          <p:nvPr>
            <p:ph idx="2" type="pic"/>
          </p:nvPr>
        </p:nvSpPr>
        <p:spPr>
          <a:xfrm>
            <a:off x="6361113" y="1543665"/>
            <a:ext cx="5054600" cy="4365521"/>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rait colored bg - education">
  <p:cSld name="Portrait colored bg - education">
    <p:spTree>
      <p:nvGrpSpPr>
        <p:cNvPr id="119" name="Shape 119"/>
        <p:cNvGrpSpPr/>
        <p:nvPr/>
      </p:nvGrpSpPr>
      <p:grpSpPr>
        <a:xfrm>
          <a:off x="0" y="0"/>
          <a:ext cx="0" cy="0"/>
          <a:chOff x="0" y="0"/>
          <a:chExt cx="0" cy="0"/>
        </a:xfrm>
      </p:grpSpPr>
      <p:sp>
        <p:nvSpPr>
          <p:cNvPr id="120" name="Google Shape;120;p29"/>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21" name="Google Shape;121;p29"/>
          <p:cNvSpPr/>
          <p:nvPr/>
        </p:nvSpPr>
        <p:spPr>
          <a:xfrm>
            <a:off x="0" y="1540932"/>
            <a:ext cx="6096000" cy="4722439"/>
          </a:xfrm>
          <a:prstGeom prst="rect">
            <a:avLst/>
          </a:prstGeom>
          <a:solidFill>
            <a:srgbClr val="6AB6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22" name="Google Shape;122;p29"/>
          <p:cNvSpPr txBox="1"/>
          <p:nvPr>
            <p:ph idx="1" type="body"/>
          </p:nvPr>
        </p:nvSpPr>
        <p:spPr>
          <a:xfrm>
            <a:off x="647700" y="2705101"/>
            <a:ext cx="5359400" cy="320408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23" name="Google Shape;123;p29"/>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124" name="Google Shape;124;p29"/>
          <p:cNvSpPr/>
          <p:nvPr>
            <p:ph idx="2" type="pic"/>
          </p:nvPr>
        </p:nvSpPr>
        <p:spPr>
          <a:xfrm>
            <a:off x="6096000" y="1540933"/>
            <a:ext cx="6096000" cy="4722440"/>
          </a:xfrm>
          <a:prstGeom prst="rect">
            <a:avLst/>
          </a:prstGeom>
          <a:noFill/>
          <a:ln>
            <a:noFill/>
          </a:ln>
        </p:spPr>
      </p:sp>
      <p:sp>
        <p:nvSpPr>
          <p:cNvPr id="125" name="Google Shape;125;p29"/>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ndscape colored bg - education">
  <p:cSld name="Landscape colored bg - education">
    <p:spTree>
      <p:nvGrpSpPr>
        <p:cNvPr id="126" name="Shape 126"/>
        <p:cNvGrpSpPr/>
        <p:nvPr/>
      </p:nvGrpSpPr>
      <p:grpSpPr>
        <a:xfrm>
          <a:off x="0" y="0"/>
          <a:ext cx="0" cy="0"/>
          <a:chOff x="0" y="0"/>
          <a:chExt cx="0" cy="0"/>
        </a:xfrm>
      </p:grpSpPr>
      <p:sp>
        <p:nvSpPr>
          <p:cNvPr id="127" name="Google Shape;127;p30"/>
          <p:cNvSpPr/>
          <p:nvPr/>
        </p:nvSpPr>
        <p:spPr>
          <a:xfrm>
            <a:off x="0" y="4360985"/>
            <a:ext cx="12192000" cy="1900987"/>
          </a:xfrm>
          <a:prstGeom prst="rect">
            <a:avLst/>
          </a:prstGeom>
          <a:solidFill>
            <a:srgbClr val="6AB6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28" name="Google Shape;128;p30"/>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29" name="Google Shape;129;p30"/>
          <p:cNvSpPr txBox="1"/>
          <p:nvPr>
            <p:ph idx="1" type="body"/>
          </p:nvPr>
        </p:nvSpPr>
        <p:spPr>
          <a:xfrm>
            <a:off x="657224" y="4591050"/>
            <a:ext cx="5438775" cy="14287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30" name="Google Shape;130;p30"/>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131" name="Google Shape;131;p30"/>
          <p:cNvSpPr/>
          <p:nvPr>
            <p:ph idx="2" type="pic"/>
          </p:nvPr>
        </p:nvSpPr>
        <p:spPr>
          <a:xfrm>
            <a:off x="6096000" y="1543050"/>
            <a:ext cx="6096000" cy="2816537"/>
          </a:xfrm>
          <a:prstGeom prst="rect">
            <a:avLst/>
          </a:prstGeom>
          <a:noFill/>
          <a:ln>
            <a:noFill/>
          </a:ln>
        </p:spPr>
      </p:sp>
      <p:sp>
        <p:nvSpPr>
          <p:cNvPr id="132" name="Google Shape;132;p30"/>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0"/>
          <p:cNvSpPr/>
          <p:nvPr>
            <p:ph idx="3" type="pic"/>
          </p:nvPr>
        </p:nvSpPr>
        <p:spPr>
          <a:xfrm>
            <a:off x="0" y="1543050"/>
            <a:ext cx="6096000" cy="2816537"/>
          </a:xfrm>
          <a:prstGeom prst="rect">
            <a:avLst/>
          </a:prstGeom>
          <a:noFill/>
          <a:ln>
            <a:noFill/>
          </a:ln>
        </p:spPr>
      </p:sp>
      <p:sp>
        <p:nvSpPr>
          <p:cNvPr id="134" name="Google Shape;134;p30"/>
          <p:cNvSpPr txBox="1"/>
          <p:nvPr>
            <p:ph idx="4" type="body"/>
          </p:nvPr>
        </p:nvSpPr>
        <p:spPr>
          <a:xfrm>
            <a:off x="6296024" y="4600575"/>
            <a:ext cx="5438775" cy="1428750"/>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lt1"/>
              </a:buClr>
              <a:buSzPts val="2300"/>
              <a:buFont typeface="Arial"/>
              <a:buChar char="•"/>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corporate">
  <p:cSld name="Title page - corporate">
    <p:spTree>
      <p:nvGrpSpPr>
        <p:cNvPr id="135" name="Shape 135"/>
        <p:cNvGrpSpPr/>
        <p:nvPr/>
      </p:nvGrpSpPr>
      <p:grpSpPr>
        <a:xfrm>
          <a:off x="0" y="0"/>
          <a:ext cx="0" cy="0"/>
          <a:chOff x="0" y="0"/>
          <a:chExt cx="0" cy="0"/>
        </a:xfrm>
      </p:grpSpPr>
      <p:sp>
        <p:nvSpPr>
          <p:cNvPr id="136" name="Google Shape;136;p31"/>
          <p:cNvSpPr/>
          <p:nvPr/>
        </p:nvSpPr>
        <p:spPr>
          <a:xfrm>
            <a:off x="0" y="603738"/>
            <a:ext cx="12192000" cy="2825262"/>
          </a:xfrm>
          <a:prstGeom prst="rect">
            <a:avLst/>
          </a:prstGeom>
          <a:solidFill>
            <a:srgbClr val="0037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37" name="Google Shape;137;p31"/>
          <p:cNvSpPr txBox="1"/>
          <p:nvPr>
            <p:ph type="ctrTitle"/>
          </p:nvPr>
        </p:nvSpPr>
        <p:spPr>
          <a:xfrm>
            <a:off x="653143" y="1057047"/>
            <a:ext cx="10776857" cy="11527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000"/>
              <a:buFont typeface="Trebuchet MS"/>
              <a:buNone/>
              <a:defRPr b="1" sz="50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1"/>
          <p:cNvSpPr txBox="1"/>
          <p:nvPr>
            <p:ph idx="1" type="subTitle"/>
          </p:nvPr>
        </p:nvSpPr>
        <p:spPr>
          <a:xfrm>
            <a:off x="674915" y="2340428"/>
            <a:ext cx="10776857" cy="65314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lt1"/>
              </a:buClr>
              <a:buSzPts val="3800"/>
              <a:buFont typeface="Arial"/>
              <a:buNone/>
              <a:defRPr b="0" i="0" spc="0" sz="3800" u="none" cap="none" strike="noStrike">
                <a:solidFill>
                  <a:schemeClr val="lt1"/>
                </a:solidFill>
                <a:latin typeface="Trebuchet MS"/>
                <a:ea typeface="Trebuchet MS"/>
                <a:cs typeface="Trebuchet MS"/>
                <a:sym typeface="Trebuchet MS"/>
              </a:defRPr>
            </a:lvl1pPr>
            <a:lvl2pPr lvl="1" marR="0" rtl="0" algn="ctr">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2pPr>
            <a:lvl3pPr lvl="2" marR="0" rtl="0" algn="ctr">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3pPr>
            <a:lvl4pPr lvl="3"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4pPr>
            <a:lvl5pPr lvl="4"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5pPr>
            <a:lvl6pPr lvl="5"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6pPr>
            <a:lvl7pPr lvl="6"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7pPr>
            <a:lvl8pPr lvl="7"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8pPr>
            <a:lvl9pPr lvl="8" marR="0" rtl="0" algn="ctr">
              <a:lnSpc>
                <a:spcPct val="90000"/>
              </a:lnSpc>
              <a:spcBef>
                <a:spcPts val="500"/>
              </a:spcBef>
              <a:spcAft>
                <a:spcPts val="0"/>
              </a:spcAft>
              <a:buClr>
                <a:schemeClr val="dk1"/>
              </a:buClr>
              <a:buSzPts val="1600"/>
              <a:buFont typeface="Arial"/>
              <a:buNone/>
              <a:defRPr b="0" i="0" spc="0" sz="1600" u="none" cap="none" strike="noStrike">
                <a:solidFill>
                  <a:schemeClr val="dk1"/>
                </a:solidFill>
                <a:latin typeface="Trebuchet MS"/>
                <a:ea typeface="Trebuchet MS"/>
                <a:cs typeface="Trebuchet MS"/>
                <a:sym typeface="Trebuchet MS"/>
              </a:defRPr>
            </a:lvl9pPr>
          </a:lstStyle>
          <a:p/>
        </p:txBody>
      </p:sp>
      <p:sp>
        <p:nvSpPr>
          <p:cNvPr id="139" name="Google Shape;139;p31"/>
          <p:cNvSpPr/>
          <p:nvPr>
            <p:ph idx="2" type="pic"/>
          </p:nvPr>
        </p:nvSpPr>
        <p:spPr>
          <a:xfrm>
            <a:off x="0" y="3429000"/>
            <a:ext cx="12192000" cy="3429000"/>
          </a:xfrm>
          <a:prstGeom prst="rect">
            <a:avLst/>
          </a:prstGeom>
          <a:noFill/>
          <a:ln>
            <a:noFill/>
          </a:ln>
        </p:spPr>
      </p:sp>
      <p:grpSp>
        <p:nvGrpSpPr>
          <p:cNvPr id="140" name="Google Shape;140;p31"/>
          <p:cNvGrpSpPr/>
          <p:nvPr/>
        </p:nvGrpSpPr>
        <p:grpSpPr>
          <a:xfrm>
            <a:off x="4309680" y="-733"/>
            <a:ext cx="3565908" cy="992921"/>
            <a:chOff x="4309680" y="-733"/>
            <a:chExt cx="3565908" cy="992921"/>
          </a:xfrm>
        </p:grpSpPr>
        <p:sp>
          <p:nvSpPr>
            <p:cNvPr id="141" name="Google Shape;141;p31"/>
            <p:cNvSpPr/>
            <p:nvPr/>
          </p:nvSpPr>
          <p:spPr>
            <a:xfrm>
              <a:off x="4313238" y="0"/>
              <a:ext cx="3562350" cy="9921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sp>
          <p:nvSpPr>
            <p:cNvPr id="142" name="Google Shape;142;p31"/>
            <p:cNvSpPr/>
            <p:nvPr/>
          </p:nvSpPr>
          <p:spPr>
            <a:xfrm>
              <a:off x="4309680" y="-733"/>
              <a:ext cx="3561146" cy="986572"/>
            </a:xfrm>
            <a:custGeom>
              <a:rect b="b" l="l" r="r" t="t"/>
              <a:pathLst>
                <a:path extrusionOk="0" h="9971" w="10000">
                  <a:moveTo>
                    <a:pt x="0" y="8"/>
                  </a:moveTo>
                  <a:cubicBezTo>
                    <a:pt x="3" y="2134"/>
                    <a:pt x="7" y="4372"/>
                    <a:pt x="10" y="6498"/>
                  </a:cubicBezTo>
                  <a:cubicBezTo>
                    <a:pt x="10" y="8416"/>
                    <a:pt x="441" y="9971"/>
                    <a:pt x="972" y="9971"/>
                  </a:cubicBezTo>
                  <a:lnTo>
                    <a:pt x="9038" y="9971"/>
                  </a:lnTo>
                  <a:cubicBezTo>
                    <a:pt x="9569" y="9971"/>
                    <a:pt x="10000" y="8416"/>
                    <a:pt x="10000" y="6498"/>
                  </a:cubicBezTo>
                  <a:cubicBezTo>
                    <a:pt x="9997" y="4332"/>
                    <a:pt x="9995" y="2166"/>
                    <a:pt x="9992" y="0"/>
                  </a:cubicBezTo>
                  <a:lnTo>
                    <a:pt x="0" y="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Trebuchet MS"/>
                <a:ea typeface="Trebuchet MS"/>
                <a:cs typeface="Trebuchet MS"/>
                <a:sym typeface="Trebuchet MS"/>
              </a:endParaRPr>
            </a:p>
          </p:txBody>
        </p:sp>
        <p:pic>
          <p:nvPicPr>
            <p:cNvPr id="143" name="Google Shape;143;p31"/>
            <p:cNvPicPr preferRelativeResize="0"/>
            <p:nvPr/>
          </p:nvPicPr>
          <p:blipFill rotWithShape="1">
            <a:blip r:embed="rId2">
              <a:alphaModFix/>
            </a:blip>
            <a:srcRect b="0" l="0" r="0" t="0"/>
            <a:stretch/>
          </p:blipFill>
          <p:spPr>
            <a:xfrm>
              <a:off x="4696588" y="297838"/>
              <a:ext cx="2790888" cy="504057"/>
            </a:xfrm>
            <a:prstGeom prst="rect">
              <a:avLst/>
            </a:prstGeom>
            <a:noFill/>
            <a:ln>
              <a:noFill/>
            </a:ln>
          </p:spPr>
        </p:pic>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 corporate">
  <p:cSld name="1 column - corporate">
    <p:spTree>
      <p:nvGrpSpPr>
        <p:cNvPr id="144" name="Shape 144"/>
        <p:cNvGrpSpPr/>
        <p:nvPr/>
      </p:nvGrpSpPr>
      <p:grpSpPr>
        <a:xfrm>
          <a:off x="0" y="0"/>
          <a:ext cx="0" cy="0"/>
          <a:chOff x="0" y="0"/>
          <a:chExt cx="0" cy="0"/>
        </a:xfrm>
      </p:grpSpPr>
      <p:sp>
        <p:nvSpPr>
          <p:cNvPr id="145" name="Google Shape;145;p32"/>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03741"/>
              </a:buClr>
              <a:buSzPts val="4000"/>
              <a:buFont typeface="Trebuchet MS"/>
              <a:buNone/>
              <a:defRPr>
                <a:solidFill>
                  <a:srgbClr val="00374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2"/>
          <p:cNvSpPr txBox="1"/>
          <p:nvPr>
            <p:ph idx="1" type="body"/>
          </p:nvPr>
        </p:nvSpPr>
        <p:spPr>
          <a:xfrm>
            <a:off x="673100" y="2425655"/>
            <a:ext cx="5346700" cy="375130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dk1"/>
              </a:buClr>
              <a:buSzPts val="2300"/>
              <a:buFont typeface="Arial"/>
              <a:buNone/>
              <a:defRPr b="0" i="0" spc="0" sz="2300" u="none" cap="none" strike="noStrike">
                <a:solidFill>
                  <a:schemeClr val="dk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47" name="Google Shape;147;p32"/>
          <p:cNvSpPr txBox="1"/>
          <p:nvPr>
            <p:ph idx="2" type="body"/>
          </p:nvPr>
        </p:nvSpPr>
        <p:spPr>
          <a:xfrm>
            <a:off x="6291072" y="2425655"/>
            <a:ext cx="5148072"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48" name="Google Shape;148;p32"/>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 corporate">
  <p:cSld name="2 columns - corporate">
    <p:spTree>
      <p:nvGrpSpPr>
        <p:cNvPr id="149" name="Shape 149"/>
        <p:cNvGrpSpPr/>
        <p:nvPr/>
      </p:nvGrpSpPr>
      <p:grpSpPr>
        <a:xfrm>
          <a:off x="0" y="0"/>
          <a:ext cx="0" cy="0"/>
          <a:chOff x="0" y="0"/>
          <a:chExt cx="0" cy="0"/>
        </a:xfrm>
      </p:grpSpPr>
      <p:sp>
        <p:nvSpPr>
          <p:cNvPr id="150" name="Google Shape;150;p33"/>
          <p:cNvSpPr txBox="1"/>
          <p:nvPr>
            <p:ph type="title"/>
          </p:nvPr>
        </p:nvSpPr>
        <p:spPr>
          <a:xfrm>
            <a:off x="673100" y="1100092"/>
            <a:ext cx="10766044"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03741"/>
              </a:buClr>
              <a:buSzPts val="4000"/>
              <a:buFont typeface="Trebuchet MS"/>
              <a:buNone/>
              <a:defRPr>
                <a:solidFill>
                  <a:srgbClr val="00374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33"/>
          <p:cNvSpPr txBox="1"/>
          <p:nvPr>
            <p:ph idx="1" type="body"/>
          </p:nvPr>
        </p:nvSpPr>
        <p:spPr>
          <a:xfrm>
            <a:off x="694944" y="2425655"/>
            <a:ext cx="10744200" cy="3751308"/>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1pPr>
            <a:lvl2pPr indent="-374650" lvl="1" marL="9144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2pPr>
            <a:lvl3pPr indent="-374650" lvl="2" marL="13716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3pPr>
            <a:lvl4pPr indent="-374650" lvl="3" marL="18288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4pPr>
            <a:lvl5pPr indent="-374650" lvl="4" marL="2286000" marR="0" rtl="0" algn="l">
              <a:lnSpc>
                <a:spcPct val="90000"/>
              </a:lnSpc>
              <a:spcBef>
                <a:spcPts val="500"/>
              </a:spcBef>
              <a:spcAft>
                <a:spcPts val="0"/>
              </a:spcAft>
              <a:buClr>
                <a:schemeClr val="dk1"/>
              </a:buClr>
              <a:buSzPts val="2300"/>
              <a:buFont typeface="Arial"/>
              <a:buChar char="•"/>
              <a:defRPr b="0" i="0" spc="0" sz="23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52" name="Google Shape;152;p33"/>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 corporate">
  <p:cSld name="Text and image - corporate">
    <p:spTree>
      <p:nvGrpSpPr>
        <p:cNvPr id="153" name="Shape 153"/>
        <p:cNvGrpSpPr/>
        <p:nvPr/>
      </p:nvGrpSpPr>
      <p:grpSpPr>
        <a:xfrm>
          <a:off x="0" y="0"/>
          <a:ext cx="0" cy="0"/>
          <a:chOff x="0" y="0"/>
          <a:chExt cx="0" cy="0"/>
        </a:xfrm>
      </p:grpSpPr>
      <p:sp>
        <p:nvSpPr>
          <p:cNvPr id="154" name="Google Shape;154;p34"/>
          <p:cNvSpPr txBox="1"/>
          <p:nvPr>
            <p:ph type="title"/>
          </p:nvPr>
        </p:nvSpPr>
        <p:spPr>
          <a:xfrm>
            <a:off x="673100" y="1439708"/>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03741"/>
              </a:buClr>
              <a:buSzPts val="4000"/>
              <a:buFont typeface="Trebuchet MS"/>
              <a:buNone/>
              <a:defRPr>
                <a:solidFill>
                  <a:srgbClr val="00374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4"/>
          <p:cNvSpPr txBox="1"/>
          <p:nvPr>
            <p:ph idx="1" type="body"/>
          </p:nvPr>
        </p:nvSpPr>
        <p:spPr>
          <a:xfrm>
            <a:off x="673100" y="2350009"/>
            <a:ext cx="5346700" cy="355917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dk1"/>
              </a:buClr>
              <a:buSzPts val="2300"/>
              <a:buFont typeface="Arial"/>
              <a:buNone/>
              <a:defRPr b="0" i="0" spc="0" sz="2300" u="none" cap="none" strike="noStrike">
                <a:solidFill>
                  <a:schemeClr val="dk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56" name="Google Shape;156;p34"/>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157" name="Google Shape;157;p34"/>
          <p:cNvSpPr/>
          <p:nvPr>
            <p:ph idx="2" type="pic"/>
          </p:nvPr>
        </p:nvSpPr>
        <p:spPr>
          <a:xfrm>
            <a:off x="6361113" y="1543665"/>
            <a:ext cx="5054600" cy="4365521"/>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rait colored bg - corporate">
  <p:cSld name="Portrait colored bg - corporate">
    <p:spTree>
      <p:nvGrpSpPr>
        <p:cNvPr id="158" name="Shape 158"/>
        <p:cNvGrpSpPr/>
        <p:nvPr/>
      </p:nvGrpSpPr>
      <p:grpSpPr>
        <a:xfrm>
          <a:off x="0" y="0"/>
          <a:ext cx="0" cy="0"/>
          <a:chOff x="0" y="0"/>
          <a:chExt cx="0" cy="0"/>
        </a:xfrm>
      </p:grpSpPr>
      <p:sp>
        <p:nvSpPr>
          <p:cNvPr id="159" name="Google Shape;159;p35"/>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60" name="Google Shape;160;p35"/>
          <p:cNvSpPr/>
          <p:nvPr/>
        </p:nvSpPr>
        <p:spPr>
          <a:xfrm>
            <a:off x="0" y="1540932"/>
            <a:ext cx="6096000" cy="4722439"/>
          </a:xfrm>
          <a:prstGeom prst="rect">
            <a:avLst/>
          </a:prstGeom>
          <a:solidFill>
            <a:srgbClr val="0037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61" name="Google Shape;161;p35"/>
          <p:cNvSpPr txBox="1"/>
          <p:nvPr>
            <p:ph idx="1" type="body"/>
          </p:nvPr>
        </p:nvSpPr>
        <p:spPr>
          <a:xfrm>
            <a:off x="647700" y="2705101"/>
            <a:ext cx="5359400" cy="320408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62" name="Google Shape;162;p35"/>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163" name="Google Shape;163;p35"/>
          <p:cNvSpPr/>
          <p:nvPr>
            <p:ph idx="2" type="pic"/>
          </p:nvPr>
        </p:nvSpPr>
        <p:spPr>
          <a:xfrm>
            <a:off x="6096000" y="1540933"/>
            <a:ext cx="6096000" cy="4722440"/>
          </a:xfrm>
          <a:prstGeom prst="rect">
            <a:avLst/>
          </a:prstGeom>
          <a:noFill/>
          <a:ln>
            <a:noFill/>
          </a:ln>
        </p:spPr>
      </p:sp>
      <p:sp>
        <p:nvSpPr>
          <p:cNvPr id="164" name="Google Shape;164;p35"/>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ndscape colored bg - corporate">
  <p:cSld name="Landscape colored bg - corporate">
    <p:spTree>
      <p:nvGrpSpPr>
        <p:cNvPr id="165" name="Shape 165"/>
        <p:cNvGrpSpPr/>
        <p:nvPr/>
      </p:nvGrpSpPr>
      <p:grpSpPr>
        <a:xfrm>
          <a:off x="0" y="0"/>
          <a:ext cx="0" cy="0"/>
          <a:chOff x="0" y="0"/>
          <a:chExt cx="0" cy="0"/>
        </a:xfrm>
      </p:grpSpPr>
      <p:sp>
        <p:nvSpPr>
          <p:cNvPr id="166" name="Google Shape;166;p36"/>
          <p:cNvSpPr/>
          <p:nvPr/>
        </p:nvSpPr>
        <p:spPr>
          <a:xfrm>
            <a:off x="0" y="4360985"/>
            <a:ext cx="12192000" cy="1900987"/>
          </a:xfrm>
          <a:prstGeom prst="rect">
            <a:avLst/>
          </a:prstGeom>
          <a:solidFill>
            <a:srgbClr val="0037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67" name="Google Shape;167;p36"/>
          <p:cNvSpPr/>
          <p:nvPr/>
        </p:nvSpPr>
        <p:spPr>
          <a:xfrm>
            <a:off x="0" y="6263370"/>
            <a:ext cx="12192000" cy="5946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68" name="Google Shape;168;p36"/>
          <p:cNvSpPr txBox="1"/>
          <p:nvPr>
            <p:ph idx="1" type="body"/>
          </p:nvPr>
        </p:nvSpPr>
        <p:spPr>
          <a:xfrm>
            <a:off x="657224" y="4591050"/>
            <a:ext cx="5438775" cy="14287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Clr>
                <a:schemeClr val="lt1"/>
              </a:buClr>
              <a:buSzPts val="2300"/>
              <a:buFont typeface="Arial"/>
              <a:buNone/>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
        <p:nvSpPr>
          <p:cNvPr id="169" name="Google Shape;169;p36"/>
          <p:cNvSpPr txBox="1"/>
          <p:nvPr>
            <p:ph idx="11" type="ftr"/>
          </p:nvPr>
        </p:nvSpPr>
        <p:spPr>
          <a:xfrm>
            <a:off x="711200" y="63817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170" name="Google Shape;170;p36"/>
          <p:cNvSpPr/>
          <p:nvPr>
            <p:ph idx="2" type="pic"/>
          </p:nvPr>
        </p:nvSpPr>
        <p:spPr>
          <a:xfrm>
            <a:off x="6096000" y="1543050"/>
            <a:ext cx="6096000" cy="2816537"/>
          </a:xfrm>
          <a:prstGeom prst="rect">
            <a:avLst/>
          </a:prstGeom>
          <a:noFill/>
          <a:ln>
            <a:noFill/>
          </a:ln>
        </p:spPr>
      </p:sp>
      <p:sp>
        <p:nvSpPr>
          <p:cNvPr id="171" name="Google Shape;171;p36"/>
          <p:cNvSpPr txBox="1"/>
          <p:nvPr>
            <p:ph type="title"/>
          </p:nvPr>
        </p:nvSpPr>
        <p:spPr>
          <a:xfrm>
            <a:off x="647700" y="1884145"/>
            <a:ext cx="5346700" cy="6463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000"/>
              <a:buFont typeface="Trebuchet M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36"/>
          <p:cNvSpPr/>
          <p:nvPr>
            <p:ph idx="3" type="pic"/>
          </p:nvPr>
        </p:nvSpPr>
        <p:spPr>
          <a:xfrm>
            <a:off x="0" y="1543050"/>
            <a:ext cx="6096000" cy="2816537"/>
          </a:xfrm>
          <a:prstGeom prst="rect">
            <a:avLst/>
          </a:prstGeom>
          <a:noFill/>
          <a:ln>
            <a:noFill/>
          </a:ln>
        </p:spPr>
      </p:sp>
      <p:sp>
        <p:nvSpPr>
          <p:cNvPr id="173" name="Google Shape;173;p36"/>
          <p:cNvSpPr txBox="1"/>
          <p:nvPr>
            <p:ph idx="4" type="body"/>
          </p:nvPr>
        </p:nvSpPr>
        <p:spPr>
          <a:xfrm>
            <a:off x="6296024" y="4600575"/>
            <a:ext cx="5438775" cy="1428750"/>
          </a:xfrm>
          <a:prstGeom prst="rect">
            <a:avLst/>
          </a:prstGeom>
          <a:noFill/>
          <a:ln>
            <a:noFill/>
          </a:ln>
        </p:spPr>
        <p:txBody>
          <a:bodyPr anchorCtr="0" anchor="t" bIns="45700" lIns="91425" spcFirstLastPara="1" rIns="91425" wrap="square" tIns="45700">
            <a:noAutofit/>
          </a:bodyPr>
          <a:lstStyle>
            <a:lvl1pPr indent="-374650" lvl="0" marL="457200" marR="0" rtl="0" algn="l">
              <a:lnSpc>
                <a:spcPct val="125000"/>
              </a:lnSpc>
              <a:spcBef>
                <a:spcPts val="0"/>
              </a:spcBef>
              <a:spcAft>
                <a:spcPts val="0"/>
              </a:spcAft>
              <a:buClr>
                <a:schemeClr val="lt1"/>
              </a:buClr>
              <a:buSzPts val="2300"/>
              <a:buFont typeface="Arial"/>
              <a:buChar char="•"/>
              <a:defRPr b="0" i="0" spc="0" sz="2300" u="none" cap="none" strike="noStrike">
                <a:solidFill>
                  <a:schemeClr val="lt1"/>
                </a:solidFill>
                <a:latin typeface="Trebuchet MS"/>
                <a:ea typeface="Trebuchet MS"/>
                <a:cs typeface="Trebuchet MS"/>
                <a:sym typeface="Trebuchet MS"/>
              </a:defRPr>
            </a:lvl1pPr>
            <a:lvl2pPr indent="-228600" lvl="1" marL="914400" marR="0" rtl="0" algn="l">
              <a:lnSpc>
                <a:spcPct val="90000"/>
              </a:lnSpc>
              <a:spcBef>
                <a:spcPts val="500"/>
              </a:spcBef>
              <a:spcAft>
                <a:spcPts val="0"/>
              </a:spcAft>
              <a:buClr>
                <a:schemeClr val="dk1"/>
              </a:buClr>
              <a:buSzPts val="2400"/>
              <a:buFont typeface="Arial"/>
              <a:buNone/>
              <a:defRPr b="0" i="0" spc="0" sz="2400" u="none" cap="none" strike="noStrike">
                <a:solidFill>
                  <a:schemeClr val="dk1"/>
                </a:solidFill>
                <a:latin typeface="Trebuchet MS"/>
                <a:ea typeface="Trebuchet MS"/>
                <a:cs typeface="Trebuchet MS"/>
                <a:sym typeface="Trebuchet MS"/>
              </a:defRPr>
            </a:lvl2pPr>
            <a:lvl3pPr indent="-228600" lvl="2" marL="1371600" marR="0" rtl="0" algn="l">
              <a:lnSpc>
                <a:spcPct val="90000"/>
              </a:lnSpc>
              <a:spcBef>
                <a:spcPts val="500"/>
              </a:spcBef>
              <a:spcAft>
                <a:spcPts val="0"/>
              </a:spcAft>
              <a:buClr>
                <a:schemeClr val="dk1"/>
              </a:buClr>
              <a:buSzPts val="2000"/>
              <a:buFont typeface="Arial"/>
              <a:buNone/>
              <a:defRPr b="0" i="0" spc="0" sz="2000" u="none" cap="none" strike="noStrike">
                <a:solidFill>
                  <a:schemeClr val="dk1"/>
                </a:solidFill>
                <a:latin typeface="Trebuchet MS"/>
                <a:ea typeface="Trebuchet MS"/>
                <a:cs typeface="Trebuchet MS"/>
                <a:sym typeface="Trebuchet MS"/>
              </a:defRPr>
            </a:lvl3pPr>
            <a:lvl4pPr indent="-228600" lvl="3" marL="18288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chemeClr val="dk1"/>
              </a:buClr>
              <a:buSzPts val="1800"/>
              <a:buFont typeface="Arial"/>
              <a:buNone/>
              <a:defRPr b="0" i="0" spc="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Trebuchet MS"/>
                <a:ea typeface="Trebuchet MS"/>
                <a:cs typeface="Trebuchet MS"/>
                <a:sym typeface="Trebuchet MS"/>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4" name="Shape 174"/>
        <p:cNvGrpSpPr/>
        <p:nvPr/>
      </p:nvGrpSpPr>
      <p:grpSpPr>
        <a:xfrm>
          <a:off x="0" y="0"/>
          <a:ext cx="0" cy="0"/>
          <a:chOff x="0" y="0"/>
          <a:chExt cx="0" cy="0"/>
        </a:xfrm>
      </p:grpSpPr>
      <p:sp>
        <p:nvSpPr>
          <p:cNvPr id="175" name="Google Shape;175;p37"/>
          <p:cNvSpPr txBox="1"/>
          <p:nvPr>
            <p:ph type="title"/>
          </p:nvPr>
        </p:nvSpPr>
        <p:spPr>
          <a:xfrm>
            <a:off x="334964" y="1"/>
            <a:ext cx="11522100" cy="876900"/>
          </a:xfrm>
          <a:prstGeom prst="rect">
            <a:avLst/>
          </a:prstGeom>
          <a:noFill/>
          <a:ln>
            <a:noFill/>
          </a:ln>
        </p:spPr>
        <p:txBody>
          <a:bodyPr anchorCtr="0" anchor="b" bIns="96000" lIns="48000" spcFirstLastPara="1" rIns="48000" wrap="square" tIns="48000">
            <a:noAutofit/>
          </a:bodyPr>
          <a:lstStyle>
            <a:lvl1pPr lvl="0" algn="l">
              <a:lnSpc>
                <a:spcPct val="100000"/>
              </a:lnSpc>
              <a:spcBef>
                <a:spcPts val="0"/>
              </a:spcBef>
              <a:spcAft>
                <a:spcPts val="0"/>
              </a:spcAft>
              <a:buClr>
                <a:schemeClr val="dk1"/>
              </a:buClr>
              <a:buSzPts val="24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theme" Target="../theme/theme1.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p:nvPr/>
        </p:nvSpPr>
        <p:spPr>
          <a:xfrm>
            <a:off x="1" y="6271260"/>
            <a:ext cx="12192000" cy="586740"/>
          </a:xfrm>
          <a:prstGeom prst="rect">
            <a:avLst/>
          </a:prstGeom>
          <a:solidFill>
            <a:srgbClr val="CED9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Trebuchet MS"/>
              <a:ea typeface="Trebuchet MS"/>
              <a:cs typeface="Trebuchet MS"/>
              <a:sym typeface="Trebuchet MS"/>
            </a:endParaRPr>
          </a:p>
        </p:txBody>
      </p:sp>
      <p:sp>
        <p:nvSpPr>
          <p:cNvPr id="11" name="Google Shape;11;p11"/>
          <p:cNvSpPr txBox="1"/>
          <p:nvPr>
            <p:ph type="title"/>
          </p:nvPr>
        </p:nvSpPr>
        <p:spPr>
          <a:xfrm>
            <a:off x="673100" y="1100092"/>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E89E00"/>
              </a:buClr>
              <a:buSzPts val="4000"/>
              <a:buFont typeface="Trebuchet MS"/>
              <a:buNone/>
              <a:defRPr b="1" i="0" spc="0" sz="4000" u="none" cap="none" strike="noStrike">
                <a:solidFill>
                  <a:srgbClr val="E89E00"/>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pic>
        <p:nvPicPr>
          <p:cNvPr id="12" name="Google Shape;12;p11"/>
          <p:cNvPicPr preferRelativeResize="0"/>
          <p:nvPr/>
        </p:nvPicPr>
        <p:blipFill rotWithShape="1">
          <a:blip r:embed="rId1">
            <a:alphaModFix/>
          </a:blip>
          <a:srcRect b="0" l="0" r="0" t="0"/>
          <a:stretch/>
        </p:blipFill>
        <p:spPr>
          <a:xfrm>
            <a:off x="5848413" y="0"/>
            <a:ext cx="495173" cy="1011192"/>
          </a:xfrm>
          <a:prstGeom prst="rect">
            <a:avLst/>
          </a:prstGeom>
          <a:noFill/>
          <a:ln>
            <a:noFill/>
          </a:ln>
        </p:spPr>
      </p:pic>
      <p:sp>
        <p:nvSpPr>
          <p:cNvPr id="13" name="Google Shape;13;p11"/>
          <p:cNvSpPr txBox="1"/>
          <p:nvPr/>
        </p:nvSpPr>
        <p:spPr>
          <a:xfrm>
            <a:off x="711200" y="6381750"/>
            <a:ext cx="96078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400" u="none" cap="none" strike="noStrike">
                <a:solidFill>
                  <a:srgbClr val="009CB4"/>
                </a:solidFill>
                <a:latin typeface="Ubuntu"/>
                <a:ea typeface="Ubuntu"/>
                <a:cs typeface="Ubuntu"/>
                <a:sym typeface="Ubuntu"/>
              </a:rPr>
              <a:t>Two tumors, one origin? | AI for Medical Imaging</a:t>
            </a:r>
            <a:endParaRPr b="0" i="0" spc="0" sz="1400" u="none" cap="none" strike="noStrike">
              <a:solidFill>
                <a:srgbClr val="009CB4"/>
              </a:solidFill>
              <a:latin typeface="Ubuntu"/>
              <a:ea typeface="Ubuntu"/>
              <a:cs typeface="Ubuntu"/>
              <a:sym typeface="Ubuntu"/>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4.png"/><Relationship Id="rId8" Type="http://schemas.openxmlformats.org/officeDocument/2006/relationships/image" Target="../media/image11.png"/><Relationship Id="rId11" Type="http://schemas.openxmlformats.org/officeDocument/2006/relationships/image" Target="../media/image4.png"/><Relationship Id="rId10" Type="http://schemas.openxmlformats.org/officeDocument/2006/relationships/image" Target="../media/image3.png"/><Relationship Id="rId12"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30.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6.png"/><Relationship Id="rId9" Type="http://schemas.openxmlformats.org/officeDocument/2006/relationships/image" Target="../media/image41.png"/><Relationship Id="rId5" Type="http://schemas.openxmlformats.org/officeDocument/2006/relationships/image" Target="../media/image35.png"/><Relationship Id="rId6" Type="http://schemas.openxmlformats.org/officeDocument/2006/relationships/image" Target="../media/image30.png"/><Relationship Id="rId7" Type="http://schemas.openxmlformats.org/officeDocument/2006/relationships/image" Target="../media/image8.png"/><Relationship Id="rId8" Type="http://schemas.openxmlformats.org/officeDocument/2006/relationships/image" Target="../media/image32.png"/><Relationship Id="rId11" Type="http://schemas.openxmlformats.org/officeDocument/2006/relationships/image" Target="../media/image23.png"/><Relationship Id="rId10"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7.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28.png"/><Relationship Id="rId5"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55.png"/><Relationship Id="rId5"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55.png"/><Relationship Id="rId5"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0.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0.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0.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8.pn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9.png"/><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9.png"/><Relationship Id="rId4" Type="http://schemas.openxmlformats.org/officeDocument/2006/relationships/image" Target="../media/image46.png"/><Relationship Id="rId5"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9.png"/><Relationship Id="rId4" Type="http://schemas.openxmlformats.org/officeDocument/2006/relationships/image" Target="../media/image46.png"/><Relationship Id="rId5"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9.png"/><Relationship Id="rId4" Type="http://schemas.openxmlformats.org/officeDocument/2006/relationships/image" Target="../media/image46.png"/><Relationship Id="rId5"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4.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6.png"/><Relationship Id="rId6" Type="http://schemas.openxmlformats.org/officeDocument/2006/relationships/image" Target="../media/image5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
          <p:cNvSpPr txBox="1"/>
          <p:nvPr/>
        </p:nvSpPr>
        <p:spPr>
          <a:xfrm>
            <a:off x="674925" y="2340425"/>
            <a:ext cx="10776900" cy="9225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000000"/>
              </a:buClr>
              <a:buSzPts val="1800"/>
              <a:buFont typeface="Arial"/>
              <a:buNone/>
            </a:pPr>
            <a:r>
              <a:t/>
            </a:r>
            <a:endParaRPr b="0" i="1" spc="0" sz="1800" u="none" cap="none" strike="noStrike">
              <a:solidFill>
                <a:srgbClr val="FFFFFF"/>
              </a:solidFill>
              <a:latin typeface="Ubuntu Light"/>
              <a:ea typeface="Ubuntu Light"/>
              <a:cs typeface="Ubuntu Light"/>
              <a:sym typeface="Ubuntu Light"/>
            </a:endParaRPr>
          </a:p>
          <a:p>
            <a:pPr indent="0" lvl="0" marL="0" marR="0" rtl="0" algn="l">
              <a:lnSpc>
                <a:spcPct val="90000"/>
              </a:lnSpc>
              <a:spcBef>
                <a:spcPts val="0"/>
              </a:spcBef>
              <a:spcAft>
                <a:spcPts val="0"/>
              </a:spcAft>
              <a:buClr>
                <a:srgbClr val="000000"/>
              </a:buClr>
              <a:buSzPts val="1600"/>
              <a:buFont typeface="Arial"/>
              <a:buNone/>
            </a:pPr>
            <a:r>
              <a:t/>
            </a:r>
            <a:endParaRPr b="0" i="0" spc="0" sz="1600" u="none" cap="none" strike="noStrike">
              <a:solidFill>
                <a:srgbClr val="FFFFFF"/>
              </a:solidFill>
              <a:latin typeface="Ubuntu Light"/>
              <a:ea typeface="Ubuntu Light"/>
              <a:cs typeface="Ubuntu Light"/>
              <a:sym typeface="Ubuntu Light"/>
            </a:endParaRPr>
          </a:p>
          <a:p>
            <a:pPr indent="0" lvl="0" marL="0" marR="0" rtl="0" algn="l">
              <a:lnSpc>
                <a:spcPct val="90000"/>
              </a:lnSpc>
              <a:spcBef>
                <a:spcPts val="0"/>
              </a:spcBef>
              <a:spcAft>
                <a:spcPts val="0"/>
              </a:spcAft>
              <a:buClr>
                <a:srgbClr val="000000"/>
              </a:buClr>
              <a:buSzPts val="1600"/>
              <a:buFont typeface="Arial"/>
              <a:buNone/>
            </a:pPr>
            <a:r>
              <a:rPr b="1" i="0" lang="en-US" spc="0" sz="1600" u="none" cap="none" strike="noStrike">
                <a:solidFill>
                  <a:srgbClr val="FFFFFF"/>
                </a:solidFill>
                <a:latin typeface="Ubuntu"/>
                <a:ea typeface="Ubuntu"/>
                <a:cs typeface="Ubuntu"/>
                <a:sym typeface="Ubuntu"/>
              </a:rPr>
              <a:t>Matthias Hagenauer</a:t>
            </a:r>
            <a:endParaRPr b="0" i="0" spc="0" sz="3800" u="none" cap="none" strike="noStrike">
              <a:solidFill>
                <a:srgbClr val="FFFFFF"/>
              </a:solidFill>
              <a:latin typeface="Trebuchet MS"/>
              <a:ea typeface="Trebuchet MS"/>
              <a:cs typeface="Trebuchet MS"/>
              <a:sym typeface="Trebuchet MS"/>
            </a:endParaRPr>
          </a:p>
          <a:p>
            <a:pPr indent="0" lvl="0" marL="0" marR="0" rtl="0" algn="l">
              <a:lnSpc>
                <a:spcPct val="90000"/>
              </a:lnSpc>
              <a:spcBef>
                <a:spcPts val="0"/>
              </a:spcBef>
              <a:spcAft>
                <a:spcPts val="0"/>
              </a:spcAft>
              <a:buClr>
                <a:srgbClr val="000000"/>
              </a:buClr>
              <a:buSzPts val="1300"/>
              <a:buFont typeface="Arial"/>
              <a:buNone/>
            </a:pPr>
            <a:r>
              <a:rPr b="0" i="0" lang="en-US" spc="0" sz="1300" u="none" cap="none" strike="noStrike">
                <a:solidFill>
                  <a:srgbClr val="FFFFFF"/>
                </a:solidFill>
                <a:latin typeface="Ubuntu Light"/>
                <a:ea typeface="Ubuntu Light"/>
                <a:cs typeface="Ubuntu Light"/>
                <a:sym typeface="Ubuntu Light"/>
              </a:rPr>
              <a:t>m.s.hagenauer@amsterdamumc.nl</a:t>
            </a:r>
            <a:endParaRPr b="0" i="0" spc="0" sz="1300" u="none" cap="none" strike="noStrike">
              <a:solidFill>
                <a:srgbClr val="FFFFFF"/>
              </a:solidFill>
              <a:latin typeface="Ubuntu Light"/>
              <a:ea typeface="Ubuntu Light"/>
              <a:cs typeface="Ubuntu Light"/>
              <a:sym typeface="Ubuntu Light"/>
            </a:endParaRPr>
          </a:p>
        </p:txBody>
      </p:sp>
      <p:cxnSp>
        <p:nvCxnSpPr>
          <p:cNvPr id="181" name="Google Shape;181;p1"/>
          <p:cNvCxnSpPr/>
          <p:nvPr/>
        </p:nvCxnSpPr>
        <p:spPr>
          <a:xfrm>
            <a:off x="9464040" y="2834640"/>
            <a:ext cx="731400" cy="914400"/>
          </a:xfrm>
          <a:prstGeom prst="straightConnector1">
            <a:avLst/>
          </a:prstGeom>
          <a:noFill/>
          <a:ln cap="flat" cmpd="sng" w="38100">
            <a:solidFill>
              <a:srgbClr val="FF9900"/>
            </a:solidFill>
            <a:prstDash val="dash"/>
            <a:round/>
            <a:headEnd len="sm" w="sm" type="none"/>
            <a:tailEnd len="sm" w="sm" type="none"/>
          </a:ln>
        </p:spPr>
      </p:cxnSp>
      <p:pic>
        <p:nvPicPr>
          <p:cNvPr descr="Tumour 1 H&amp;E" id="182" name="Google Shape;182;p1"/>
          <p:cNvPicPr preferRelativeResize="0"/>
          <p:nvPr/>
        </p:nvPicPr>
        <p:blipFill rotWithShape="1">
          <a:blip r:embed="rId3">
            <a:alphaModFix/>
          </a:blip>
          <a:srcRect b="0" l="0" r="0" t="0"/>
          <a:stretch/>
        </p:blipFill>
        <p:spPr>
          <a:xfrm>
            <a:off x="7772400" y="1143000"/>
            <a:ext cx="1920300" cy="1920300"/>
          </a:xfrm>
          <a:prstGeom prst="ellipse">
            <a:avLst/>
          </a:prstGeom>
          <a:noFill/>
          <a:ln cap="flat" cmpd="sng" w="63500">
            <a:solidFill>
              <a:srgbClr val="FFFFFF"/>
            </a:solidFill>
            <a:prstDash val="solid"/>
            <a:round/>
            <a:headEnd len="sm" w="sm" type="none"/>
            <a:tailEnd len="sm" w="sm" type="none"/>
          </a:ln>
        </p:spPr>
      </p:pic>
      <p:pic>
        <p:nvPicPr>
          <p:cNvPr descr="Tumour 2 H&amp;E" id="183" name="Google Shape;183;p1"/>
          <p:cNvPicPr preferRelativeResize="0"/>
          <p:nvPr/>
        </p:nvPicPr>
        <p:blipFill rotWithShape="1">
          <a:blip r:embed="rId4">
            <a:alphaModFix/>
          </a:blip>
          <a:srcRect b="0" l="0" r="0" t="0"/>
          <a:stretch/>
        </p:blipFill>
        <p:spPr>
          <a:xfrm>
            <a:off x="9966960" y="3520440"/>
            <a:ext cx="1920300" cy="1920300"/>
          </a:xfrm>
          <a:prstGeom prst="ellipse">
            <a:avLst/>
          </a:prstGeom>
          <a:noFill/>
          <a:ln cap="flat" cmpd="sng" w="63500">
            <a:solidFill>
              <a:srgbClr val="FF9900"/>
            </a:solidFill>
            <a:prstDash val="solid"/>
            <a:round/>
            <a:headEnd len="sm" w="sm" type="none"/>
            <a:tailEnd len="sm" w="sm" type="none"/>
          </a:ln>
        </p:spPr>
      </p:pic>
      <p:sp>
        <p:nvSpPr>
          <p:cNvPr id="184" name="Google Shape;184;p1"/>
          <p:cNvSpPr/>
          <p:nvPr/>
        </p:nvSpPr>
        <p:spPr>
          <a:xfrm>
            <a:off x="9464040" y="2926080"/>
            <a:ext cx="731400" cy="731400"/>
          </a:xfrm>
          <a:prstGeom prst="ellipse">
            <a:avLst/>
          </a:prstGeom>
          <a:solidFill>
            <a:srgbClr val="FF9900"/>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i="0" lang="en-US" spc="0" sz="30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185" name="Google Shape;185;p1"/>
          <p:cNvSpPr txBox="1"/>
          <p:nvPr/>
        </p:nvSpPr>
        <p:spPr>
          <a:xfrm>
            <a:off x="868680" y="3931920"/>
            <a:ext cx="54864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8C99A6"/>
                </a:solidFill>
                <a:latin typeface="Calibri"/>
                <a:ea typeface="Calibri"/>
                <a:cs typeface="Calibri"/>
                <a:sym typeface="Calibri"/>
              </a:rPr>
              <a:t>FROM H&amp;E PATCHES TO AN ANSWER</a:t>
            </a:r>
            <a:endParaRPr b="0" i="0" spc="0" sz="1400" u="none" cap="none" strike="noStrike">
              <a:solidFill>
                <a:srgbClr val="000000"/>
              </a:solidFill>
              <a:latin typeface="Arial"/>
              <a:ea typeface="Arial"/>
              <a:cs typeface="Arial"/>
              <a:sym typeface="Arial"/>
            </a:endParaRPr>
          </a:p>
        </p:txBody>
      </p:sp>
      <p:pic>
        <p:nvPicPr>
          <p:cNvPr descr="Patch" id="186" name="Google Shape;186;p1"/>
          <p:cNvPicPr preferRelativeResize="0"/>
          <p:nvPr/>
        </p:nvPicPr>
        <p:blipFill rotWithShape="1">
          <a:blip r:embed="rId5">
            <a:alphaModFix/>
          </a:blip>
          <a:srcRect b="0" l="0" r="0" t="0"/>
          <a:stretch/>
        </p:blipFill>
        <p:spPr>
          <a:xfrm>
            <a:off x="868680" y="4434840"/>
            <a:ext cx="566928" cy="566928"/>
          </a:xfrm>
          <a:prstGeom prst="rect">
            <a:avLst/>
          </a:prstGeom>
          <a:noFill/>
          <a:ln>
            <a:noFill/>
          </a:ln>
        </p:spPr>
      </p:pic>
      <p:pic>
        <p:nvPicPr>
          <p:cNvPr descr="Patch" id="187" name="Google Shape;187;p1"/>
          <p:cNvPicPr preferRelativeResize="0"/>
          <p:nvPr/>
        </p:nvPicPr>
        <p:blipFill rotWithShape="1">
          <a:blip r:embed="rId6">
            <a:alphaModFix/>
          </a:blip>
          <a:srcRect b="0" l="0" r="0" t="0"/>
          <a:stretch/>
        </p:blipFill>
        <p:spPr>
          <a:xfrm>
            <a:off x="1508760" y="4434840"/>
            <a:ext cx="566928" cy="566928"/>
          </a:xfrm>
          <a:prstGeom prst="rect">
            <a:avLst/>
          </a:prstGeom>
          <a:noFill/>
          <a:ln>
            <a:noFill/>
          </a:ln>
        </p:spPr>
      </p:pic>
      <p:pic>
        <p:nvPicPr>
          <p:cNvPr descr="Patch" id="188" name="Google Shape;188;p1"/>
          <p:cNvPicPr preferRelativeResize="0"/>
          <p:nvPr/>
        </p:nvPicPr>
        <p:blipFill rotWithShape="1">
          <a:blip r:embed="rId7">
            <a:alphaModFix/>
          </a:blip>
          <a:srcRect b="0" l="0" r="0" t="0"/>
          <a:stretch/>
        </p:blipFill>
        <p:spPr>
          <a:xfrm>
            <a:off x="2148840" y="4434840"/>
            <a:ext cx="566928" cy="566928"/>
          </a:xfrm>
          <a:prstGeom prst="rect">
            <a:avLst/>
          </a:prstGeom>
          <a:noFill/>
          <a:ln>
            <a:noFill/>
          </a:ln>
        </p:spPr>
      </p:pic>
      <p:pic>
        <p:nvPicPr>
          <p:cNvPr descr="Patch" id="189" name="Google Shape;189;p1"/>
          <p:cNvPicPr preferRelativeResize="0"/>
          <p:nvPr/>
        </p:nvPicPr>
        <p:blipFill rotWithShape="1">
          <a:blip r:embed="rId8">
            <a:alphaModFix/>
          </a:blip>
          <a:srcRect b="0" l="0" r="0" t="0"/>
          <a:stretch/>
        </p:blipFill>
        <p:spPr>
          <a:xfrm>
            <a:off x="2788920" y="4434840"/>
            <a:ext cx="566928" cy="566928"/>
          </a:xfrm>
          <a:prstGeom prst="rect">
            <a:avLst/>
          </a:prstGeom>
          <a:noFill/>
          <a:ln>
            <a:noFill/>
          </a:ln>
        </p:spPr>
      </p:pic>
      <p:pic>
        <p:nvPicPr>
          <p:cNvPr descr="Patch" id="190" name="Google Shape;190;p1"/>
          <p:cNvPicPr preferRelativeResize="0"/>
          <p:nvPr/>
        </p:nvPicPr>
        <p:blipFill rotWithShape="1">
          <a:blip r:embed="rId9">
            <a:alphaModFix/>
          </a:blip>
          <a:srcRect b="0" l="0" r="0" t="0"/>
          <a:stretch/>
        </p:blipFill>
        <p:spPr>
          <a:xfrm>
            <a:off x="3429000" y="4434840"/>
            <a:ext cx="566928" cy="566928"/>
          </a:xfrm>
          <a:prstGeom prst="rect">
            <a:avLst/>
          </a:prstGeom>
          <a:noFill/>
          <a:ln>
            <a:noFill/>
          </a:ln>
        </p:spPr>
      </p:pic>
      <p:pic>
        <p:nvPicPr>
          <p:cNvPr descr="Patch" id="191" name="Google Shape;191;p1"/>
          <p:cNvPicPr preferRelativeResize="0"/>
          <p:nvPr/>
        </p:nvPicPr>
        <p:blipFill rotWithShape="1">
          <a:blip r:embed="rId10">
            <a:alphaModFix/>
          </a:blip>
          <a:srcRect b="0" l="0" r="0" t="0"/>
          <a:stretch/>
        </p:blipFill>
        <p:spPr>
          <a:xfrm>
            <a:off x="4069080" y="4434840"/>
            <a:ext cx="566928" cy="566928"/>
          </a:xfrm>
          <a:prstGeom prst="rect">
            <a:avLst/>
          </a:prstGeom>
          <a:noFill/>
          <a:ln>
            <a:noFill/>
          </a:ln>
        </p:spPr>
      </p:pic>
      <p:pic>
        <p:nvPicPr>
          <p:cNvPr descr="Patch" id="192" name="Google Shape;192;p1"/>
          <p:cNvPicPr preferRelativeResize="0"/>
          <p:nvPr/>
        </p:nvPicPr>
        <p:blipFill rotWithShape="1">
          <a:blip r:embed="rId11">
            <a:alphaModFix/>
          </a:blip>
          <a:srcRect b="0" l="0" r="0" t="0"/>
          <a:stretch/>
        </p:blipFill>
        <p:spPr>
          <a:xfrm>
            <a:off x="4709160" y="4434840"/>
            <a:ext cx="566928" cy="566928"/>
          </a:xfrm>
          <a:prstGeom prst="rect">
            <a:avLst/>
          </a:prstGeom>
          <a:noFill/>
          <a:ln>
            <a:noFill/>
          </a:ln>
        </p:spPr>
      </p:pic>
      <p:pic>
        <p:nvPicPr>
          <p:cNvPr descr="Patch" id="193" name="Google Shape;193;p1"/>
          <p:cNvPicPr preferRelativeResize="0"/>
          <p:nvPr/>
        </p:nvPicPr>
        <p:blipFill rotWithShape="1">
          <a:blip r:embed="rId12">
            <a:alphaModFix/>
          </a:blip>
          <a:srcRect b="0" l="0" r="0" t="0"/>
          <a:stretch/>
        </p:blipFill>
        <p:spPr>
          <a:xfrm>
            <a:off x="5349240" y="4434840"/>
            <a:ext cx="566928" cy="566928"/>
          </a:xfrm>
          <a:prstGeom prst="rect">
            <a:avLst/>
          </a:prstGeom>
          <a:noFill/>
          <a:ln>
            <a:noFill/>
          </a:ln>
        </p:spPr>
      </p:pic>
      <p:cxnSp>
        <p:nvCxnSpPr>
          <p:cNvPr id="194" name="Google Shape;194;p1"/>
          <p:cNvCxnSpPr/>
          <p:nvPr/>
        </p:nvCxnSpPr>
        <p:spPr>
          <a:xfrm>
            <a:off x="6035040" y="4718304"/>
            <a:ext cx="411600" cy="0"/>
          </a:xfrm>
          <a:prstGeom prst="straightConnector1">
            <a:avLst/>
          </a:prstGeom>
          <a:noFill/>
          <a:ln cap="flat" cmpd="sng" w="25400">
            <a:solidFill>
              <a:srgbClr val="8C99A6"/>
            </a:solidFill>
            <a:prstDash val="solid"/>
            <a:round/>
            <a:headEnd len="sm" w="sm" type="none"/>
            <a:tailEnd len="med" w="med" type="triangle"/>
          </a:ln>
        </p:spPr>
      </p:cxnSp>
      <p:sp>
        <p:nvSpPr>
          <p:cNvPr id="195" name="Google Shape;195;p1"/>
          <p:cNvSpPr/>
          <p:nvPr/>
        </p:nvSpPr>
        <p:spPr>
          <a:xfrm>
            <a:off x="6583680" y="4050792"/>
            <a:ext cx="1463100" cy="384000"/>
          </a:xfrm>
          <a:prstGeom prst="roundRect">
            <a:avLst>
              <a:gd fmla="val 50000" name="adj"/>
            </a:avLst>
          </a:prstGeom>
          <a:solidFill>
            <a:srgbClr val="E3F3F8"/>
          </a:solidFill>
          <a:ln cap="flat" cmpd="sng" w="15875">
            <a:solidFill>
              <a:srgbClr val="1E9EBE"/>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pc="0" sz="1300" u="none" cap="none" strike="noStrike">
                <a:solidFill>
                  <a:srgbClr val="1E9EBE"/>
                </a:solidFill>
                <a:latin typeface="Calibri"/>
                <a:ea typeface="Calibri"/>
                <a:cs typeface="Calibri"/>
                <a:sym typeface="Calibri"/>
              </a:rPr>
              <a:t>Clonal</a:t>
            </a:r>
            <a:endParaRPr b="0" i="0" spc="0" sz="1400" u="none" cap="none" strike="noStrike">
              <a:solidFill>
                <a:srgbClr val="000000"/>
              </a:solidFill>
              <a:latin typeface="Arial"/>
              <a:ea typeface="Arial"/>
              <a:cs typeface="Arial"/>
              <a:sym typeface="Arial"/>
            </a:endParaRPr>
          </a:p>
        </p:txBody>
      </p:sp>
      <p:sp>
        <p:nvSpPr>
          <p:cNvPr id="196" name="Google Shape;196;p1"/>
          <p:cNvSpPr/>
          <p:nvPr/>
        </p:nvSpPr>
        <p:spPr>
          <a:xfrm>
            <a:off x="6583680" y="4526280"/>
            <a:ext cx="1463100" cy="384000"/>
          </a:xfrm>
          <a:prstGeom prst="roundRect">
            <a:avLst>
              <a:gd fmla="val 50000" name="adj"/>
            </a:avLst>
          </a:prstGeom>
          <a:solidFill>
            <a:srgbClr val="EFE9F6"/>
          </a:solidFill>
          <a:ln cap="flat" cmpd="sng" w="15875">
            <a:solidFill>
              <a:srgbClr val="6A4C93"/>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pc="0" sz="1300" u="none" cap="none" strike="noStrike">
                <a:solidFill>
                  <a:srgbClr val="6A4C93"/>
                </a:solidFill>
                <a:latin typeface="Calibri"/>
                <a:ea typeface="Calibri"/>
                <a:cs typeface="Calibri"/>
                <a:sym typeface="Calibri"/>
              </a:rPr>
              <a:t>Independent</a:t>
            </a:r>
            <a:endParaRPr b="0" i="0" spc="0" sz="1400" u="none" cap="none" strike="noStrike">
              <a:solidFill>
                <a:srgbClr val="000000"/>
              </a:solidFill>
              <a:latin typeface="Arial"/>
              <a:ea typeface="Arial"/>
              <a:cs typeface="Arial"/>
              <a:sym typeface="Arial"/>
            </a:endParaRPr>
          </a:p>
        </p:txBody>
      </p:sp>
      <p:sp>
        <p:nvSpPr>
          <p:cNvPr id="197" name="Google Shape;197;p1"/>
          <p:cNvSpPr/>
          <p:nvPr/>
        </p:nvSpPr>
        <p:spPr>
          <a:xfrm>
            <a:off x="6583680" y="5001768"/>
            <a:ext cx="1463100" cy="384000"/>
          </a:xfrm>
          <a:prstGeom prst="roundRect">
            <a:avLst>
              <a:gd fmla="val 50000" name="adj"/>
            </a:avLst>
          </a:prstGeom>
          <a:solidFill>
            <a:srgbClr val="FFF6DC"/>
          </a:solidFill>
          <a:ln cap="flat" cmpd="sng" w="15875">
            <a:solidFill>
              <a:srgbClr val="9A7400"/>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pc="0" sz="1300" u="none" cap="none" strike="noStrike">
                <a:solidFill>
                  <a:srgbClr val="9A7400"/>
                </a:solidFill>
                <a:latin typeface="Calibri"/>
                <a:ea typeface="Calibri"/>
                <a:cs typeface="Calibri"/>
                <a:sym typeface="Calibri"/>
              </a:rPr>
              <a:t>Abstain</a:t>
            </a:r>
            <a:endParaRPr b="0" i="0" spc="0" sz="1400" u="none" cap="none" strike="noStrike">
              <a:solidFill>
                <a:srgbClr val="000000"/>
              </a:solidFill>
              <a:latin typeface="Arial"/>
              <a:ea typeface="Arial"/>
              <a:cs typeface="Arial"/>
              <a:sym typeface="Arial"/>
            </a:endParaRPr>
          </a:p>
        </p:txBody>
      </p:sp>
      <p:sp>
        <p:nvSpPr>
          <p:cNvPr id="198" name="Google Shape;198;p1"/>
          <p:cNvSpPr txBox="1"/>
          <p:nvPr/>
        </p:nvSpPr>
        <p:spPr>
          <a:xfrm>
            <a:off x="653143" y="1096919"/>
            <a:ext cx="10776900" cy="1152900"/>
          </a:xfrm>
          <a:prstGeom prst="rect">
            <a:avLst/>
          </a:prstGeom>
          <a:noFill/>
          <a:ln>
            <a:noFill/>
          </a:ln>
        </p:spPr>
        <p:txBody>
          <a:bodyPr anchorCtr="0" anchor="b" bIns="45700" lIns="91425" spcFirstLastPara="1" rIns="91425" wrap="square" tIns="45700">
            <a:normAutofit fontScale="92500" lnSpcReduction="20000"/>
          </a:bodyPr>
          <a:lstStyle/>
          <a:p>
            <a:pPr indent="0" lvl="0" marL="0" marR="0" rtl="0" algn="l">
              <a:lnSpc>
                <a:spcPct val="114999"/>
              </a:lnSpc>
              <a:spcBef>
                <a:spcPts val="0"/>
              </a:spcBef>
              <a:spcAft>
                <a:spcPts val="0"/>
              </a:spcAft>
              <a:buClr>
                <a:srgbClr val="000000"/>
              </a:buClr>
              <a:buSzPct val="100000"/>
              <a:buFont typeface="Arial"/>
              <a:buNone/>
            </a:pPr>
            <a:r>
              <a:rPr b="0" i="0" lang="en-US" spc="0" sz="5000" u="none" cap="none" strike="noStrike">
                <a:solidFill>
                  <a:srgbClr val="FFFFFF"/>
                </a:solidFill>
                <a:latin typeface="Ubuntu"/>
                <a:ea typeface="Ubuntu"/>
                <a:cs typeface="Ubuntu"/>
                <a:sym typeface="Ubuntu"/>
              </a:rPr>
              <a:t>Two tumours, one origin?</a:t>
            </a:r>
            <a:endParaRPr b="0" i="0" spc="0" sz="5000" u="none" cap="none" strike="noStrike">
              <a:solidFill>
                <a:srgbClr val="FFFFFF"/>
              </a:solidFill>
              <a:latin typeface="Ubuntu"/>
              <a:ea typeface="Ubuntu"/>
              <a:cs typeface="Ubuntu"/>
              <a:sym typeface="Ubuntu"/>
            </a:endParaRPr>
          </a:p>
          <a:p>
            <a:pPr indent="0" lvl="0" marL="0" marR="0" rtl="0" algn="l">
              <a:lnSpc>
                <a:spcPct val="114999"/>
              </a:lnSpc>
              <a:spcBef>
                <a:spcPts val="0"/>
              </a:spcBef>
              <a:spcAft>
                <a:spcPts val="0"/>
              </a:spcAft>
              <a:buClr>
                <a:srgbClr val="000000"/>
              </a:buClr>
              <a:buSzPct val="100000"/>
              <a:buFont typeface="Arial"/>
              <a:buNone/>
            </a:pPr>
            <a:r>
              <a:rPr b="0" i="0" lang="en-US" spc="0" sz="2667" u="none" cap="none" strike="noStrike">
                <a:solidFill>
                  <a:srgbClr val="FFFFFF"/>
                </a:solidFill>
                <a:latin typeface="Ubuntu"/>
                <a:ea typeface="Ubuntu"/>
                <a:cs typeface="Ubuntu"/>
                <a:sym typeface="Ubuntu"/>
              </a:rPr>
              <a:t>AI triage for clonality of multiple tumours</a:t>
            </a:r>
            <a:endParaRPr b="1" i="0" spc="0" sz="2667" u="none" cap="none" strike="noStrike">
              <a:solidFill>
                <a:srgbClr val="FFFFFF"/>
              </a:solidFill>
              <a:latin typeface="Trebuchet MS"/>
              <a:ea typeface="Trebuchet MS"/>
              <a:cs typeface="Trebuchet MS"/>
              <a:sym typeface="Trebuchet M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h5ce19bdfec7f05b0_1_0"/>
          <p:cNvSpPr txBox="1"/>
          <p:nvPr/>
        </p:nvSpPr>
        <p:spPr>
          <a:xfrm>
            <a:off x="448056" y="1097280"/>
            <a:ext cx="112470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2800" u="none" cap="none" strike="noStrike">
                <a:solidFill>
                  <a:srgbClr val="1E9EBE"/>
                </a:solidFill>
                <a:latin typeface="Trebuchet MS"/>
                <a:ea typeface="Trebuchet MS"/>
                <a:cs typeface="Trebuchet MS"/>
                <a:sym typeface="Trebuchet MS"/>
              </a:rPr>
              <a:t>About me</a:t>
            </a:r>
            <a:endParaRPr/>
          </a:p>
        </p:txBody>
      </p:sp>
      <p:sp>
        <p:nvSpPr>
          <p:cNvPr id="204" name="Google Shape;204;h5ce19bdfec7f05b0_1_0"/>
          <p:cNvSpPr txBox="1"/>
          <p:nvPr/>
        </p:nvSpPr>
        <p:spPr>
          <a:xfrm>
            <a:off x="448056" y="1591056"/>
            <a:ext cx="11247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500" u="none" cap="none" strike="noStrike">
                <a:solidFill>
                  <a:srgbClr val="595959"/>
                </a:solidFill>
                <a:latin typeface="Trebuchet MS"/>
                <a:ea typeface="Trebuchet MS"/>
                <a:cs typeface="Trebuchet MS"/>
                <a:sym typeface="Trebuchet MS"/>
              </a:rPr>
              <a:t>From business informatics, via industry AI, to AI for pathology</a:t>
            </a:r>
            <a:endParaRPr/>
          </a:p>
        </p:txBody>
      </p:sp>
      <p:sp>
        <p:nvSpPr>
          <p:cNvPr id="205" name="Google Shape;205;h5ce19bdfec7f05b0_1_0"/>
          <p:cNvSpPr/>
          <p:nvPr/>
        </p:nvSpPr>
        <p:spPr>
          <a:xfrm>
            <a:off x="448056" y="2057400"/>
            <a:ext cx="3429000" cy="3429000"/>
          </a:xfrm>
          <a:prstGeom prst="roundRect">
            <a:avLst>
              <a:gd fmla="val 6000" name="adj"/>
            </a:avLst>
          </a:prstGeom>
          <a:solidFill>
            <a:srgbClr val="F3F5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pic>
        <p:nvPicPr>
          <p:cNvPr descr="Photo of Matthias Hagenauer" id="206" name="Google Shape;206;h5ce19bdfec7f05b0_1_0"/>
          <p:cNvPicPr preferRelativeResize="0"/>
          <p:nvPr/>
        </p:nvPicPr>
        <p:blipFill rotWithShape="1">
          <a:blip r:embed="rId3">
            <a:alphaModFix/>
          </a:blip>
          <a:srcRect b="0" l="0" r="0" t="0"/>
          <a:stretch/>
        </p:blipFill>
        <p:spPr>
          <a:xfrm>
            <a:off x="1751099" y="2976400"/>
            <a:ext cx="822900" cy="822900"/>
          </a:xfrm>
          <a:prstGeom prst="ellipse">
            <a:avLst/>
          </a:prstGeom>
          <a:noFill/>
          <a:ln cap="flat" cmpd="sng" w="38100">
            <a:solidFill>
              <a:srgbClr val="FFFFFF"/>
            </a:solidFill>
            <a:prstDash val="solid"/>
            <a:round/>
            <a:headEnd len="sm" w="sm" type="none"/>
            <a:tailEnd len="sm" w="sm" type="none"/>
          </a:ln>
        </p:spPr>
      </p:pic>
      <p:sp>
        <p:nvSpPr>
          <p:cNvPr id="207" name="Google Shape;207;h5ce19bdfec7f05b0_1_0"/>
          <p:cNvSpPr txBox="1"/>
          <p:nvPr/>
        </p:nvSpPr>
        <p:spPr>
          <a:xfrm>
            <a:off x="630936" y="4188655"/>
            <a:ext cx="3063300" cy="82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n-US" spc="0" sz="1800" u="none" cap="none" strike="noStrike">
                <a:solidFill>
                  <a:srgbClr val="222222"/>
                </a:solidFill>
                <a:latin typeface="Calibri"/>
                <a:ea typeface="Calibri"/>
                <a:cs typeface="Calibri"/>
                <a:sym typeface="Calibri"/>
              </a:rPr>
              <a:t>Matthias Hagenauer</a:t>
            </a:r>
            <a:endParaRPr/>
          </a:p>
          <a:p>
            <a:pPr indent="0" lvl="0" marL="0" marR="0" rtl="0" algn="ctr">
              <a:lnSpc>
                <a:spcPct val="100000"/>
              </a:lnSpc>
              <a:spcBef>
                <a:spcPts val="200"/>
              </a:spcBef>
              <a:spcAft>
                <a:spcPts val="0"/>
              </a:spcAft>
              <a:buNone/>
            </a:pPr>
            <a:r>
              <a:rPr b="0" i="0" lang="en-US" spc="0" sz="1200" u="none" cap="none" strike="noStrike">
                <a:solidFill>
                  <a:srgbClr val="595959"/>
                </a:solidFill>
                <a:latin typeface="Calibri"/>
                <a:ea typeface="Calibri"/>
                <a:cs typeface="Calibri"/>
                <a:sym typeface="Calibri"/>
              </a:rPr>
              <a:t>Researcher, Multi-Modal AI Group</a:t>
            </a:r>
            <a:endParaRPr/>
          </a:p>
          <a:p>
            <a:pPr indent="0" lvl="0" marL="0" marR="0" rtl="0" algn="ctr">
              <a:lnSpc>
                <a:spcPct val="100000"/>
              </a:lnSpc>
              <a:spcBef>
                <a:spcPts val="0"/>
              </a:spcBef>
              <a:spcAft>
                <a:spcPts val="0"/>
              </a:spcAft>
              <a:buNone/>
            </a:pPr>
            <a:r>
              <a:rPr b="0" i="0" lang="en-US" spc="0" sz="1200" u="none" cap="none" strike="noStrike">
                <a:solidFill>
                  <a:srgbClr val="595959"/>
                </a:solidFill>
                <a:latin typeface="Calibri"/>
                <a:ea typeface="Calibri"/>
                <a:cs typeface="Calibri"/>
                <a:sym typeface="Calibri"/>
              </a:rPr>
              <a:t>Pathology, Amsterdam UMC</a:t>
            </a:r>
            <a:endParaRPr/>
          </a:p>
        </p:txBody>
      </p:sp>
      <p:sp>
        <p:nvSpPr>
          <p:cNvPr id="208" name="Google Shape;208;h5ce19bdfec7f05b0_1_0"/>
          <p:cNvSpPr/>
          <p:nvPr/>
        </p:nvSpPr>
        <p:spPr>
          <a:xfrm>
            <a:off x="4539996" y="2331720"/>
            <a:ext cx="27300" cy="2469000"/>
          </a:xfrm>
          <a:prstGeom prst="rect">
            <a:avLst/>
          </a:prstGeom>
          <a:solidFill>
            <a:srgbClr val="D5DB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209" name="Google Shape;209;h5ce19bdfec7f05b0_1_0"/>
          <p:cNvSpPr/>
          <p:nvPr/>
        </p:nvSpPr>
        <p:spPr>
          <a:xfrm>
            <a:off x="4434840" y="2212848"/>
            <a:ext cx="237600" cy="237600"/>
          </a:xfrm>
          <a:prstGeom prst="ellipse">
            <a:avLst/>
          </a:prstGeom>
          <a:solidFill>
            <a:srgbClr val="FFFFFF"/>
          </a:solidFill>
          <a:ln cap="flat" cmpd="sng" w="28575">
            <a:solidFill>
              <a:srgbClr val="1E9E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210" name="Google Shape;210;h5ce19bdfec7f05b0_1_0"/>
          <p:cNvSpPr txBox="1"/>
          <p:nvPr/>
        </p:nvSpPr>
        <p:spPr>
          <a:xfrm>
            <a:off x="4892040" y="2194560"/>
            <a:ext cx="12345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300" u="none" cap="none" strike="noStrike">
                <a:solidFill>
                  <a:srgbClr val="1E9EBE"/>
                </a:solidFill>
                <a:latin typeface="Calibri"/>
                <a:ea typeface="Calibri"/>
                <a:cs typeface="Calibri"/>
                <a:sym typeface="Calibri"/>
              </a:rPr>
              <a:t>2019 – 2023</a:t>
            </a:r>
            <a:endParaRPr/>
          </a:p>
        </p:txBody>
      </p:sp>
      <p:sp>
        <p:nvSpPr>
          <p:cNvPr id="211" name="Google Shape;211;h5ce19bdfec7f05b0_1_0"/>
          <p:cNvSpPr txBox="1"/>
          <p:nvPr/>
        </p:nvSpPr>
        <p:spPr>
          <a:xfrm>
            <a:off x="6172200" y="2176272"/>
            <a:ext cx="54864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222222"/>
                </a:solidFill>
                <a:latin typeface="Calibri"/>
                <a:ea typeface="Calibri"/>
                <a:cs typeface="Calibri"/>
                <a:sym typeface="Calibri"/>
              </a:rPr>
              <a:t>B.Sc. Business Informatics, University of Mannheim</a:t>
            </a:r>
            <a:endParaRPr/>
          </a:p>
          <a:p>
            <a:pPr indent="0" lvl="0" marL="0" marR="0" rtl="0" algn="l">
              <a:lnSpc>
                <a:spcPct val="100000"/>
              </a:lnSpc>
              <a:spcBef>
                <a:spcPts val="200"/>
              </a:spcBef>
              <a:spcAft>
                <a:spcPts val="0"/>
              </a:spcAft>
              <a:buNone/>
            </a:pPr>
            <a:r>
              <a:rPr b="0" i="0" lang="en-US" spc="0" sz="1300" u="none" cap="none" strike="noStrike">
                <a:solidFill>
                  <a:srgbClr val="595959"/>
                </a:solidFill>
                <a:latin typeface="Calibri"/>
                <a:ea typeface="Calibri"/>
                <a:cs typeface="Calibri"/>
                <a:sym typeface="Calibri"/>
              </a:rPr>
              <a:t>Thesis on algorithms for the NP-complete k-SAT problem</a:t>
            </a:r>
            <a:endParaRPr/>
          </a:p>
        </p:txBody>
      </p:sp>
      <p:sp>
        <p:nvSpPr>
          <p:cNvPr id="212" name="Google Shape;212;h5ce19bdfec7f05b0_1_0"/>
          <p:cNvSpPr/>
          <p:nvPr/>
        </p:nvSpPr>
        <p:spPr>
          <a:xfrm>
            <a:off x="4434840" y="3035808"/>
            <a:ext cx="237600" cy="237600"/>
          </a:xfrm>
          <a:prstGeom prst="ellipse">
            <a:avLst/>
          </a:prstGeom>
          <a:solidFill>
            <a:srgbClr val="FFFFFF"/>
          </a:solidFill>
          <a:ln cap="flat" cmpd="sng" w="28575">
            <a:solidFill>
              <a:srgbClr val="1E9E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213" name="Google Shape;213;h5ce19bdfec7f05b0_1_0"/>
          <p:cNvSpPr txBox="1"/>
          <p:nvPr/>
        </p:nvSpPr>
        <p:spPr>
          <a:xfrm>
            <a:off x="4892040" y="3017520"/>
            <a:ext cx="12345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300" u="none" cap="none" strike="noStrike">
                <a:solidFill>
                  <a:srgbClr val="1E9EBE"/>
                </a:solidFill>
                <a:latin typeface="Calibri"/>
                <a:ea typeface="Calibri"/>
                <a:cs typeface="Calibri"/>
                <a:sym typeface="Calibri"/>
              </a:rPr>
              <a:t>2021 – 2024</a:t>
            </a:r>
            <a:endParaRPr/>
          </a:p>
        </p:txBody>
      </p:sp>
      <p:sp>
        <p:nvSpPr>
          <p:cNvPr id="214" name="Google Shape;214;h5ce19bdfec7f05b0_1_0"/>
          <p:cNvSpPr txBox="1"/>
          <p:nvPr/>
        </p:nvSpPr>
        <p:spPr>
          <a:xfrm>
            <a:off x="6172200" y="2999232"/>
            <a:ext cx="54864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222222"/>
                </a:solidFill>
                <a:latin typeface="Calibri"/>
                <a:ea typeface="Calibri"/>
                <a:cs typeface="Calibri"/>
                <a:sym typeface="Calibri"/>
              </a:rPr>
              <a:t>Applied AI in industry</a:t>
            </a:r>
            <a:endParaRPr/>
          </a:p>
          <a:p>
            <a:pPr indent="0" lvl="0" marL="0" marR="0" rtl="0" algn="l">
              <a:lnSpc>
                <a:spcPct val="100000"/>
              </a:lnSpc>
              <a:spcBef>
                <a:spcPts val="200"/>
              </a:spcBef>
              <a:spcAft>
                <a:spcPts val="0"/>
              </a:spcAft>
              <a:buNone/>
            </a:pPr>
            <a:r>
              <a:rPr b="0" i="0" lang="en-US" spc="0" sz="1300" u="none" cap="none" strike="noStrike">
                <a:solidFill>
                  <a:srgbClr val="595959"/>
                </a:solidFill>
                <a:latin typeface="Calibri"/>
                <a:ea typeface="Calibri"/>
                <a:cs typeface="Calibri"/>
                <a:sym typeface="Calibri"/>
              </a:rPr>
              <a:t>Internships building a RAG chatbot (d-fine), document AI (Workist) and an LLM extraction pipeline (Enpal)</a:t>
            </a:r>
            <a:endParaRPr/>
          </a:p>
        </p:txBody>
      </p:sp>
      <p:sp>
        <p:nvSpPr>
          <p:cNvPr id="215" name="Google Shape;215;h5ce19bdfec7f05b0_1_0"/>
          <p:cNvSpPr/>
          <p:nvPr/>
        </p:nvSpPr>
        <p:spPr>
          <a:xfrm>
            <a:off x="4434840" y="3858768"/>
            <a:ext cx="237600" cy="237600"/>
          </a:xfrm>
          <a:prstGeom prst="ellipse">
            <a:avLst/>
          </a:prstGeom>
          <a:solidFill>
            <a:srgbClr val="FFFFFF"/>
          </a:solidFill>
          <a:ln cap="flat" cmpd="sng" w="28575">
            <a:solidFill>
              <a:srgbClr val="1E9E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216" name="Google Shape;216;h5ce19bdfec7f05b0_1_0"/>
          <p:cNvSpPr txBox="1"/>
          <p:nvPr/>
        </p:nvSpPr>
        <p:spPr>
          <a:xfrm>
            <a:off x="4892040" y="3840480"/>
            <a:ext cx="12345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300" u="none" cap="none" strike="noStrike">
                <a:solidFill>
                  <a:srgbClr val="1E9EBE"/>
                </a:solidFill>
                <a:latin typeface="Calibri"/>
                <a:ea typeface="Calibri"/>
                <a:cs typeface="Calibri"/>
                <a:sym typeface="Calibri"/>
              </a:rPr>
              <a:t>2024 – 2026</a:t>
            </a:r>
            <a:endParaRPr/>
          </a:p>
        </p:txBody>
      </p:sp>
      <p:sp>
        <p:nvSpPr>
          <p:cNvPr id="217" name="Google Shape;217;h5ce19bdfec7f05b0_1_0"/>
          <p:cNvSpPr txBox="1"/>
          <p:nvPr/>
        </p:nvSpPr>
        <p:spPr>
          <a:xfrm>
            <a:off x="6172200" y="3822192"/>
            <a:ext cx="54864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222222"/>
                </a:solidFill>
                <a:latin typeface="Calibri"/>
                <a:ea typeface="Calibri"/>
                <a:cs typeface="Calibri"/>
                <a:sym typeface="Calibri"/>
              </a:rPr>
              <a:t>M.Sc. Artificial Intelligence, University of Amsterdam</a:t>
            </a:r>
            <a:endParaRPr/>
          </a:p>
          <a:p>
            <a:pPr indent="0" lvl="0" marL="0" marR="0" rtl="0" algn="l">
              <a:lnSpc>
                <a:spcPct val="100000"/>
              </a:lnSpc>
              <a:spcBef>
                <a:spcPts val="200"/>
              </a:spcBef>
              <a:spcAft>
                <a:spcPts val="0"/>
              </a:spcAft>
              <a:buNone/>
            </a:pPr>
            <a:r>
              <a:rPr b="0" i="0" lang="en-US" spc="0" sz="1300" u="none" cap="none" strike="noStrike">
                <a:solidFill>
                  <a:srgbClr val="595959"/>
                </a:solidFill>
                <a:latin typeface="Calibri"/>
                <a:ea typeface="Calibri"/>
                <a:cs typeface="Calibri"/>
                <a:sym typeface="Calibri"/>
              </a:rPr>
              <a:t>TA for Algorithms &amp; Data Structures, Text Retrieval and Game Theory</a:t>
            </a:r>
            <a:endParaRPr/>
          </a:p>
        </p:txBody>
      </p:sp>
      <p:sp>
        <p:nvSpPr>
          <p:cNvPr id="218" name="Google Shape;218;h5ce19bdfec7f05b0_1_0"/>
          <p:cNvSpPr/>
          <p:nvPr/>
        </p:nvSpPr>
        <p:spPr>
          <a:xfrm>
            <a:off x="4434840" y="4681728"/>
            <a:ext cx="237600" cy="237600"/>
          </a:xfrm>
          <a:prstGeom prst="ellipse">
            <a:avLst/>
          </a:prstGeom>
          <a:solidFill>
            <a:srgbClr val="E08600"/>
          </a:solidFill>
          <a:ln cap="flat" cmpd="sng" w="28575">
            <a:solidFill>
              <a:srgbClr val="E08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219" name="Google Shape;219;h5ce19bdfec7f05b0_1_0"/>
          <p:cNvSpPr txBox="1"/>
          <p:nvPr/>
        </p:nvSpPr>
        <p:spPr>
          <a:xfrm>
            <a:off x="4892040" y="4663440"/>
            <a:ext cx="12345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300" u="none" cap="none" strike="noStrike">
                <a:solidFill>
                  <a:srgbClr val="E08600"/>
                </a:solidFill>
                <a:latin typeface="Calibri"/>
                <a:ea typeface="Calibri"/>
                <a:cs typeface="Calibri"/>
                <a:sym typeface="Calibri"/>
              </a:rPr>
              <a:t>2026 – now</a:t>
            </a:r>
            <a:endParaRPr/>
          </a:p>
        </p:txBody>
      </p:sp>
      <p:sp>
        <p:nvSpPr>
          <p:cNvPr id="220" name="Google Shape;220;h5ce19bdfec7f05b0_1_0"/>
          <p:cNvSpPr txBox="1"/>
          <p:nvPr/>
        </p:nvSpPr>
        <p:spPr>
          <a:xfrm>
            <a:off x="6172200" y="4645152"/>
            <a:ext cx="54864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222222"/>
                </a:solidFill>
                <a:latin typeface="Calibri"/>
                <a:ea typeface="Calibri"/>
                <a:cs typeface="Calibri"/>
                <a:sym typeface="Calibri"/>
              </a:rPr>
              <a:t>Amsterdam UMC: thesis → researcher</a:t>
            </a:r>
            <a:endParaRPr/>
          </a:p>
          <a:p>
            <a:pPr indent="0" lvl="0" marL="0" marR="0" rtl="0" algn="l">
              <a:lnSpc>
                <a:spcPct val="100000"/>
              </a:lnSpc>
              <a:spcBef>
                <a:spcPts val="200"/>
              </a:spcBef>
              <a:spcAft>
                <a:spcPts val="0"/>
              </a:spcAft>
              <a:buNone/>
            </a:pPr>
            <a:r>
              <a:rPr b="0" i="0" lang="en-US" spc="0" sz="1300" u="none" cap="none" strike="noStrike">
                <a:solidFill>
                  <a:srgbClr val="595959"/>
                </a:solidFill>
                <a:latin typeface="Calibri"/>
                <a:ea typeface="Calibri"/>
                <a:cs typeface="Calibri"/>
                <a:sym typeface="Calibri"/>
              </a:rPr>
              <a:t>Predicting tumour clonality from H&amp;E slides with multiple instance learning. That's today's talk.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
          <p:cNvSpPr txBox="1"/>
          <p:nvPr>
            <p:ph idx="4294967295" type="title"/>
          </p:nvPr>
        </p:nvSpPr>
        <p:spPr>
          <a:xfrm>
            <a:off x="673100" y="1439708"/>
            <a:ext cx="5346600" cy="4524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rgbClr val="009CB4"/>
              </a:buClr>
              <a:buSzPts val="4000"/>
              <a:buFont typeface="Trebuchet MS"/>
              <a:buNone/>
            </a:pPr>
            <a:r>
              <a:rPr lang="en-US" sz="2600">
                <a:solidFill>
                  <a:srgbClr val="009CB4"/>
                </a:solidFill>
                <a:latin typeface="Ubuntu"/>
                <a:ea typeface="Ubuntu"/>
                <a:cs typeface="Ubuntu"/>
                <a:sym typeface="Ubuntu"/>
              </a:rPr>
              <a:t>The Problem</a:t>
            </a:r>
            <a:endParaRPr b="0" sz="2600">
              <a:solidFill>
                <a:srgbClr val="009CB4"/>
              </a:solidFill>
              <a:latin typeface="Ubuntu Light"/>
              <a:ea typeface="Ubuntu Light"/>
              <a:cs typeface="Ubuntu Light"/>
              <a:sym typeface="Ubuntu Light"/>
            </a:endParaRPr>
          </a:p>
        </p:txBody>
      </p:sp>
      <p:sp>
        <p:nvSpPr>
          <p:cNvPr id="226" name="Google Shape;226;p2"/>
          <p:cNvSpPr txBox="1"/>
          <p:nvPr/>
        </p:nvSpPr>
        <p:spPr>
          <a:xfrm>
            <a:off x="5075700" y="2726925"/>
            <a:ext cx="52149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chemeClr val="dk1"/>
                </a:solidFill>
                <a:latin typeface="Calibri"/>
                <a:ea typeface="Calibri"/>
                <a:cs typeface="Calibri"/>
                <a:sym typeface="Calibri"/>
              </a:rPr>
              <a:t>lung cancer patients has or will develop </a:t>
            </a:r>
            <a:r>
              <a:rPr b="1" i="0" lang="en-US" spc="0" sz="2800" u="none" cap="none" strike="noStrike">
                <a:solidFill>
                  <a:srgbClr val="FF9900"/>
                </a:solidFill>
                <a:latin typeface="Calibri"/>
                <a:ea typeface="Calibri"/>
                <a:cs typeface="Calibri"/>
                <a:sym typeface="Calibri"/>
              </a:rPr>
              <a:t>multiple tumors</a:t>
            </a:r>
            <a:r>
              <a:rPr b="1" i="0" lang="en-US" spc="0" sz="2800" u="none" cap="none" strike="noStrike">
                <a:solidFill>
                  <a:schemeClr val="dk1"/>
                </a:solidFill>
                <a:latin typeface="Calibri"/>
                <a:ea typeface="Calibri"/>
                <a:cs typeface="Calibri"/>
                <a:sym typeface="Calibri"/>
              </a:rPr>
              <a:t> over time</a:t>
            </a:r>
            <a:endParaRPr b="0" i="0" spc="0" sz="1400" u="none" cap="none" strike="noStrike">
              <a:solidFill>
                <a:schemeClr val="dk1"/>
              </a:solidFill>
              <a:latin typeface="Arial"/>
              <a:ea typeface="Arial"/>
              <a:cs typeface="Arial"/>
              <a:sym typeface="Arial"/>
            </a:endParaRPr>
          </a:p>
        </p:txBody>
      </p:sp>
      <p:pic>
        <p:nvPicPr>
          <p:cNvPr id="227" name="Google Shape;227;p2"/>
          <p:cNvPicPr preferRelativeResize="0"/>
          <p:nvPr/>
        </p:nvPicPr>
        <p:blipFill rotWithShape="1">
          <a:blip r:embed="rId3">
            <a:alphaModFix/>
          </a:blip>
          <a:srcRect b="0" l="0" r="0" t="0"/>
          <a:stretch/>
        </p:blipFill>
        <p:spPr>
          <a:xfrm>
            <a:off x="1246962" y="2357175"/>
            <a:ext cx="4953487" cy="2600850"/>
          </a:xfrm>
          <a:prstGeom prst="rect">
            <a:avLst/>
          </a:prstGeom>
          <a:noFill/>
          <a:ln>
            <a:noFill/>
          </a:ln>
        </p:spPr>
      </p:pic>
      <p:pic>
        <p:nvPicPr>
          <p:cNvPr id="228" name="Google Shape;228;p2"/>
          <p:cNvPicPr preferRelativeResize="0"/>
          <p:nvPr/>
        </p:nvPicPr>
        <p:blipFill rotWithShape="1">
          <a:blip r:embed="rId4">
            <a:alphaModFix/>
          </a:blip>
          <a:srcRect b="0" l="0" r="0" t="0"/>
          <a:stretch/>
        </p:blipFill>
        <p:spPr>
          <a:xfrm>
            <a:off x="3727025" y="4989600"/>
            <a:ext cx="4737950" cy="737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h3feeff9767e46d2f_3_1"/>
          <p:cNvSpPr txBox="1"/>
          <p:nvPr>
            <p:ph idx="4294967295" type="title"/>
          </p:nvPr>
        </p:nvSpPr>
        <p:spPr>
          <a:xfrm>
            <a:off x="348225" y="477183"/>
            <a:ext cx="5346600" cy="4524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rgbClr val="009CB4"/>
              </a:buClr>
              <a:buSzPts val="4000"/>
              <a:buFont typeface="Trebuchet MS"/>
              <a:buNone/>
            </a:pPr>
            <a:r>
              <a:rPr lang="en-US" sz="2600">
                <a:latin typeface="Ubuntu"/>
                <a:ea typeface="Ubuntu"/>
                <a:cs typeface="Ubuntu"/>
                <a:sym typeface="Ubuntu"/>
              </a:rPr>
              <a:t>Problem </a:t>
            </a:r>
            <a:endParaRPr b="0" sz="2600">
              <a:latin typeface="Ubuntu Light"/>
              <a:ea typeface="Ubuntu Light"/>
              <a:cs typeface="Ubuntu Light"/>
              <a:sym typeface="Ubuntu Light"/>
            </a:endParaRPr>
          </a:p>
        </p:txBody>
      </p:sp>
      <p:sp>
        <p:nvSpPr>
          <p:cNvPr id="234" name="Google Shape;234;h3feeff9767e46d2f_3_1"/>
          <p:cNvSpPr txBox="1"/>
          <p:nvPr/>
        </p:nvSpPr>
        <p:spPr>
          <a:xfrm>
            <a:off x="502920" y="914400"/>
            <a:ext cx="111858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1E9EBE"/>
                </a:solidFill>
                <a:latin typeface="Calibri"/>
                <a:ea typeface="Calibri"/>
                <a:cs typeface="Calibri"/>
                <a:sym typeface="Calibri"/>
              </a:rPr>
              <a:t>One in five lung cancer patients has or will develop multiple tumors over time</a:t>
            </a:r>
            <a:endParaRPr b="0" i="0" spc="0" sz="1400" u="none" cap="none" strike="noStrike">
              <a:solidFill>
                <a:srgbClr val="000000"/>
              </a:solidFill>
              <a:latin typeface="Arial"/>
              <a:ea typeface="Arial"/>
              <a:cs typeface="Arial"/>
              <a:sym typeface="Arial"/>
            </a:endParaRPr>
          </a:p>
        </p:txBody>
      </p:sp>
      <p:sp>
        <p:nvSpPr>
          <p:cNvPr id="235" name="Google Shape;235;h3feeff9767e46d2f_3_1"/>
          <p:cNvSpPr/>
          <p:nvPr/>
        </p:nvSpPr>
        <p:spPr>
          <a:xfrm>
            <a:off x="502920" y="1481328"/>
            <a:ext cx="5459100" cy="4645200"/>
          </a:xfrm>
          <a:prstGeom prst="roundRect">
            <a:avLst>
              <a:gd fmla="val 4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6" name="Google Shape;236;h3feeff9767e46d2f_3_1"/>
          <p:cNvSpPr txBox="1"/>
          <p:nvPr/>
        </p:nvSpPr>
        <p:spPr>
          <a:xfrm>
            <a:off x="777240" y="1618488"/>
            <a:ext cx="5001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1E9EBE"/>
                </a:solidFill>
                <a:latin typeface="Calibri"/>
                <a:ea typeface="Calibri"/>
                <a:cs typeface="Calibri"/>
                <a:sym typeface="Calibri"/>
              </a:rPr>
              <a:t>SCENARIO A</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800"/>
              <a:buFont typeface="Arial"/>
              <a:buNone/>
            </a:pPr>
            <a:r>
              <a:rPr b="1" i="0" lang="en-US" spc="0" sz="1800" u="none" cap="none" strike="noStrike">
                <a:solidFill>
                  <a:srgbClr val="222222"/>
                </a:solidFill>
                <a:latin typeface="Calibri"/>
                <a:ea typeface="Calibri"/>
                <a:cs typeface="Calibri"/>
                <a:sym typeface="Calibri"/>
              </a:rPr>
              <a:t>Multiple primary carcinomas</a:t>
            </a:r>
            <a:r>
              <a:rPr b="0" i="1" lang="en-US" spc="0" sz="1200" u="none" cap="none" strike="noStrike">
                <a:solidFill>
                  <a:srgbClr val="595959"/>
                </a:solidFill>
                <a:latin typeface="Calibri"/>
                <a:ea typeface="Calibri"/>
                <a:cs typeface="Calibri"/>
                <a:sym typeface="Calibri"/>
              </a:rPr>
              <a:t>   Two independent tumours</a:t>
            </a:r>
            <a:endParaRPr b="0" i="0" spc="0" sz="1400" u="none" cap="none" strike="noStrike">
              <a:solidFill>
                <a:srgbClr val="000000"/>
              </a:solidFill>
              <a:latin typeface="Arial"/>
              <a:ea typeface="Arial"/>
              <a:cs typeface="Arial"/>
              <a:sym typeface="Arial"/>
            </a:endParaRPr>
          </a:p>
        </p:txBody>
      </p:sp>
      <p:pic>
        <p:nvPicPr>
          <p:cNvPr descr="Body" id="237" name="Google Shape;237;h3feeff9767e46d2f_3_1"/>
          <p:cNvPicPr preferRelativeResize="0"/>
          <p:nvPr/>
        </p:nvPicPr>
        <p:blipFill rotWithShape="1">
          <a:blip r:embed="rId3">
            <a:alphaModFix/>
          </a:blip>
          <a:srcRect b="0" l="0" r="0" t="0"/>
          <a:stretch/>
        </p:blipFill>
        <p:spPr>
          <a:xfrm>
            <a:off x="822960" y="2350008"/>
            <a:ext cx="896112" cy="2240280"/>
          </a:xfrm>
          <a:prstGeom prst="rect">
            <a:avLst/>
          </a:prstGeom>
          <a:noFill/>
          <a:ln>
            <a:noFill/>
          </a:ln>
        </p:spPr>
      </p:pic>
      <p:cxnSp>
        <p:nvCxnSpPr>
          <p:cNvPr id="238" name="Google Shape;238;h3feeff9767e46d2f_3_1"/>
          <p:cNvCxnSpPr/>
          <p:nvPr/>
        </p:nvCxnSpPr>
        <p:spPr>
          <a:xfrm flipH="1" rot="10800000">
            <a:off x="1181405" y="2350092"/>
            <a:ext cx="1196100" cy="672000"/>
          </a:xfrm>
          <a:prstGeom prst="straightConnector1">
            <a:avLst/>
          </a:prstGeom>
          <a:noFill/>
          <a:ln cap="flat" cmpd="sng" w="9525">
            <a:solidFill>
              <a:srgbClr val="1E9EBE"/>
            </a:solidFill>
            <a:prstDash val="solid"/>
            <a:round/>
            <a:headEnd len="sm" w="sm" type="none"/>
            <a:tailEnd len="sm" w="sm" type="none"/>
          </a:ln>
        </p:spPr>
      </p:cxnSp>
      <p:cxnSp>
        <p:nvCxnSpPr>
          <p:cNvPr id="239" name="Google Shape;239;h3feeff9767e46d2f_3_1"/>
          <p:cNvCxnSpPr/>
          <p:nvPr/>
        </p:nvCxnSpPr>
        <p:spPr>
          <a:xfrm>
            <a:off x="1181405" y="3022092"/>
            <a:ext cx="1196100" cy="333900"/>
          </a:xfrm>
          <a:prstGeom prst="straightConnector1">
            <a:avLst/>
          </a:prstGeom>
          <a:noFill/>
          <a:ln cap="flat" cmpd="sng" w="9525">
            <a:solidFill>
              <a:srgbClr val="1E9EBE"/>
            </a:solidFill>
            <a:prstDash val="solid"/>
            <a:round/>
            <a:headEnd len="sm" w="sm" type="none"/>
            <a:tailEnd len="sm" w="sm" type="none"/>
          </a:ln>
        </p:spPr>
      </p:cxnSp>
      <p:pic>
        <p:nvPicPr>
          <p:cNvPr descr="HE image" id="240" name="Google Shape;240;h3feeff9767e46d2f_3_1"/>
          <p:cNvPicPr preferRelativeResize="0"/>
          <p:nvPr/>
        </p:nvPicPr>
        <p:blipFill rotWithShape="1">
          <a:blip r:embed="rId4">
            <a:alphaModFix/>
          </a:blip>
          <a:srcRect b="0" l="0" r="0" t="0"/>
          <a:stretch/>
        </p:blipFill>
        <p:spPr>
          <a:xfrm>
            <a:off x="2377440" y="2350008"/>
            <a:ext cx="1097280" cy="1005840"/>
          </a:xfrm>
          <a:prstGeom prst="rect">
            <a:avLst/>
          </a:prstGeom>
          <a:noFill/>
          <a:ln>
            <a:noFill/>
          </a:ln>
        </p:spPr>
      </p:pic>
      <p:sp>
        <p:nvSpPr>
          <p:cNvPr id="241" name="Google Shape;241;h3feeff9767e46d2f_3_1"/>
          <p:cNvSpPr/>
          <p:nvPr/>
        </p:nvSpPr>
        <p:spPr>
          <a:xfrm>
            <a:off x="2377440" y="2350008"/>
            <a:ext cx="1097400" cy="1005900"/>
          </a:xfrm>
          <a:prstGeom prst="rect">
            <a:avLst/>
          </a:prstGeom>
          <a:noFill/>
          <a:ln cap="flat" cmpd="sng" w="28575">
            <a:solidFill>
              <a:srgbClr val="1E9E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Copy number profile" id="242" name="Google Shape;242;h3feeff9767e46d2f_3_1"/>
          <p:cNvPicPr preferRelativeResize="0"/>
          <p:nvPr/>
        </p:nvPicPr>
        <p:blipFill rotWithShape="1">
          <a:blip r:embed="rId5">
            <a:alphaModFix/>
          </a:blip>
          <a:srcRect b="0" l="0" r="0" t="0"/>
          <a:stretch/>
        </p:blipFill>
        <p:spPr>
          <a:xfrm>
            <a:off x="3566160" y="2350008"/>
            <a:ext cx="1840687" cy="1005840"/>
          </a:xfrm>
          <a:prstGeom prst="rect">
            <a:avLst/>
          </a:prstGeom>
          <a:noFill/>
          <a:ln>
            <a:noFill/>
          </a:ln>
        </p:spPr>
      </p:pic>
      <p:sp>
        <p:nvSpPr>
          <p:cNvPr id="243" name="Google Shape;243;h3feeff9767e46d2f_3_1"/>
          <p:cNvSpPr/>
          <p:nvPr/>
        </p:nvSpPr>
        <p:spPr>
          <a:xfrm>
            <a:off x="2432304" y="3081528"/>
            <a:ext cx="475500" cy="219600"/>
          </a:xfrm>
          <a:prstGeom prst="roundRect">
            <a:avLst>
              <a:gd fmla="val 50000" name="adj"/>
            </a:avLst>
          </a:prstGeom>
          <a:solidFill>
            <a:srgbClr val="FFFFFF"/>
          </a:solidFill>
          <a:ln>
            <a:noFill/>
          </a:ln>
        </p:spPr>
        <p:txBody>
          <a:bodyPr anchorCtr="0" anchor="ctr" bIns="0" lIns="64000" spcFirstLastPara="1" rIns="18275"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222222"/>
                </a:solidFill>
                <a:latin typeface="Calibri"/>
                <a:ea typeface="Calibri"/>
                <a:cs typeface="Calibri"/>
                <a:sym typeface="Calibri"/>
              </a:rPr>
              <a:t>Lung</a:t>
            </a:r>
            <a:endParaRPr b="0" i="0" spc="0" sz="1400" u="none" cap="none" strike="noStrike">
              <a:solidFill>
                <a:srgbClr val="000000"/>
              </a:solidFill>
              <a:latin typeface="Arial"/>
              <a:ea typeface="Arial"/>
              <a:cs typeface="Arial"/>
              <a:sym typeface="Arial"/>
            </a:endParaRPr>
          </a:p>
        </p:txBody>
      </p:sp>
      <p:cxnSp>
        <p:nvCxnSpPr>
          <p:cNvPr id="244" name="Google Shape;244;h3feeff9767e46d2f_3_1"/>
          <p:cNvCxnSpPr/>
          <p:nvPr/>
        </p:nvCxnSpPr>
        <p:spPr>
          <a:xfrm>
            <a:off x="1342705" y="3461187"/>
            <a:ext cx="1034700" cy="123300"/>
          </a:xfrm>
          <a:prstGeom prst="straightConnector1">
            <a:avLst/>
          </a:prstGeom>
          <a:noFill/>
          <a:ln cap="flat" cmpd="sng" w="9525">
            <a:solidFill>
              <a:srgbClr val="6A4C93"/>
            </a:solidFill>
            <a:prstDash val="solid"/>
            <a:round/>
            <a:headEnd len="sm" w="sm" type="none"/>
            <a:tailEnd len="sm" w="sm" type="none"/>
          </a:ln>
        </p:spPr>
      </p:cxnSp>
      <p:cxnSp>
        <p:nvCxnSpPr>
          <p:cNvPr id="245" name="Google Shape;245;h3feeff9767e46d2f_3_1"/>
          <p:cNvCxnSpPr/>
          <p:nvPr/>
        </p:nvCxnSpPr>
        <p:spPr>
          <a:xfrm>
            <a:off x="1342705" y="3461187"/>
            <a:ext cx="1034700" cy="1129200"/>
          </a:xfrm>
          <a:prstGeom prst="straightConnector1">
            <a:avLst/>
          </a:prstGeom>
          <a:noFill/>
          <a:ln cap="flat" cmpd="sng" w="9525">
            <a:solidFill>
              <a:srgbClr val="6A4C93"/>
            </a:solidFill>
            <a:prstDash val="solid"/>
            <a:round/>
            <a:headEnd len="sm" w="sm" type="none"/>
            <a:tailEnd len="sm" w="sm" type="none"/>
          </a:ln>
        </p:spPr>
      </p:cxnSp>
      <p:pic>
        <p:nvPicPr>
          <p:cNvPr descr="HE image" id="246" name="Google Shape;246;h3feeff9767e46d2f_3_1"/>
          <p:cNvPicPr preferRelativeResize="0"/>
          <p:nvPr/>
        </p:nvPicPr>
        <p:blipFill rotWithShape="1">
          <a:blip r:embed="rId6">
            <a:alphaModFix/>
          </a:blip>
          <a:srcRect b="0" l="0" r="0" t="0"/>
          <a:stretch/>
        </p:blipFill>
        <p:spPr>
          <a:xfrm>
            <a:off x="2377440" y="3584448"/>
            <a:ext cx="1097280" cy="1005840"/>
          </a:xfrm>
          <a:prstGeom prst="rect">
            <a:avLst/>
          </a:prstGeom>
          <a:noFill/>
          <a:ln>
            <a:noFill/>
          </a:ln>
        </p:spPr>
      </p:pic>
      <p:sp>
        <p:nvSpPr>
          <p:cNvPr id="247" name="Google Shape;247;h3feeff9767e46d2f_3_1"/>
          <p:cNvSpPr/>
          <p:nvPr/>
        </p:nvSpPr>
        <p:spPr>
          <a:xfrm>
            <a:off x="2377440" y="3584448"/>
            <a:ext cx="1097400" cy="1005900"/>
          </a:xfrm>
          <a:prstGeom prst="rect">
            <a:avLst/>
          </a:prstGeom>
          <a:noFill/>
          <a:ln cap="flat" cmpd="sng" w="28575">
            <a:solidFill>
              <a:srgbClr val="6A4C9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Copy number profile" id="248" name="Google Shape;248;h3feeff9767e46d2f_3_1"/>
          <p:cNvPicPr preferRelativeResize="0"/>
          <p:nvPr/>
        </p:nvPicPr>
        <p:blipFill rotWithShape="1">
          <a:blip r:embed="rId7">
            <a:alphaModFix/>
          </a:blip>
          <a:srcRect b="0" l="0" r="0" t="0"/>
          <a:stretch/>
        </p:blipFill>
        <p:spPr>
          <a:xfrm>
            <a:off x="3566160" y="3584448"/>
            <a:ext cx="1840687" cy="1005840"/>
          </a:xfrm>
          <a:prstGeom prst="rect">
            <a:avLst/>
          </a:prstGeom>
          <a:noFill/>
          <a:ln>
            <a:noFill/>
          </a:ln>
        </p:spPr>
      </p:pic>
      <p:sp>
        <p:nvSpPr>
          <p:cNvPr id="249" name="Google Shape;249;h3feeff9767e46d2f_3_1"/>
          <p:cNvSpPr/>
          <p:nvPr/>
        </p:nvSpPr>
        <p:spPr>
          <a:xfrm>
            <a:off x="2432304" y="4315968"/>
            <a:ext cx="1005900" cy="219600"/>
          </a:xfrm>
          <a:prstGeom prst="roundRect">
            <a:avLst>
              <a:gd fmla="val 50000" name="adj"/>
            </a:avLst>
          </a:prstGeom>
          <a:solidFill>
            <a:srgbClr val="FFFFFF"/>
          </a:solidFill>
          <a:ln>
            <a:noFill/>
          </a:ln>
        </p:spPr>
        <p:txBody>
          <a:bodyPr anchorCtr="0" anchor="ctr" bIns="0" lIns="64000" spcFirstLastPara="1" rIns="18275"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222222"/>
                </a:solidFill>
                <a:latin typeface="Calibri"/>
                <a:ea typeface="Calibri"/>
                <a:cs typeface="Calibri"/>
                <a:sym typeface="Calibri"/>
              </a:rPr>
              <a:t>Lung or elsewhere</a:t>
            </a:r>
            <a:endParaRPr b="0" i="0" spc="0" sz="1400" u="none" cap="none" strike="noStrike">
              <a:solidFill>
                <a:srgbClr val="000000"/>
              </a:solidFill>
              <a:latin typeface="Arial"/>
              <a:ea typeface="Arial"/>
              <a:cs typeface="Arial"/>
              <a:sym typeface="Arial"/>
            </a:endParaRPr>
          </a:p>
        </p:txBody>
      </p:sp>
      <p:sp>
        <p:nvSpPr>
          <p:cNvPr id="250" name="Google Shape;250;h3feeff9767e46d2f_3_1"/>
          <p:cNvSpPr/>
          <p:nvPr/>
        </p:nvSpPr>
        <p:spPr>
          <a:xfrm>
            <a:off x="1089965" y="2930652"/>
            <a:ext cx="183000" cy="183000"/>
          </a:xfrm>
          <a:prstGeom prst="ellipse">
            <a:avLst/>
          </a:prstGeom>
          <a:solidFill>
            <a:srgbClr val="1E9EBE"/>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h3feeff9767e46d2f_3_1"/>
          <p:cNvSpPr/>
          <p:nvPr/>
        </p:nvSpPr>
        <p:spPr>
          <a:xfrm>
            <a:off x="1251265" y="3369747"/>
            <a:ext cx="183000" cy="183000"/>
          </a:xfrm>
          <a:prstGeom prst="ellipse">
            <a:avLst/>
          </a:prstGeom>
          <a:solidFill>
            <a:srgbClr val="6A4C93"/>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2" name="Google Shape;252;h3feeff9767e46d2f_3_1"/>
          <p:cNvSpPr txBox="1"/>
          <p:nvPr/>
        </p:nvSpPr>
        <p:spPr>
          <a:xfrm>
            <a:off x="777240" y="4727448"/>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Genetics</a:t>
            </a:r>
            <a:endParaRPr b="0" i="0" spc="0" sz="1400" u="none" cap="none" strike="noStrike">
              <a:solidFill>
                <a:srgbClr val="000000"/>
              </a:solidFill>
              <a:latin typeface="Arial"/>
              <a:ea typeface="Arial"/>
              <a:cs typeface="Arial"/>
              <a:sym typeface="Arial"/>
            </a:endParaRPr>
          </a:p>
        </p:txBody>
      </p:sp>
      <p:sp>
        <p:nvSpPr>
          <p:cNvPr id="253" name="Google Shape;253;h3feeff9767e46d2f_3_1"/>
          <p:cNvSpPr txBox="1"/>
          <p:nvPr/>
        </p:nvSpPr>
        <p:spPr>
          <a:xfrm>
            <a:off x="1828800" y="4727448"/>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Different mutations &amp; copy-number profiles</a:t>
            </a:r>
            <a:endParaRPr b="0" i="0" spc="0" sz="1400" u="none" cap="none" strike="noStrike">
              <a:solidFill>
                <a:srgbClr val="000000"/>
              </a:solidFill>
              <a:latin typeface="Arial"/>
              <a:ea typeface="Arial"/>
              <a:cs typeface="Arial"/>
              <a:sym typeface="Arial"/>
            </a:endParaRPr>
          </a:p>
        </p:txBody>
      </p:sp>
      <p:sp>
        <p:nvSpPr>
          <p:cNvPr id="254" name="Google Shape;254;h3feeff9767e46d2f_3_1"/>
          <p:cNvSpPr/>
          <p:nvPr/>
        </p:nvSpPr>
        <p:spPr>
          <a:xfrm>
            <a:off x="777240" y="5063490"/>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5" name="Google Shape;255;h3feeff9767e46d2f_3_1"/>
          <p:cNvSpPr txBox="1"/>
          <p:nvPr/>
        </p:nvSpPr>
        <p:spPr>
          <a:xfrm>
            <a:off x="777240" y="5065776"/>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Stage</a:t>
            </a:r>
            <a:endParaRPr b="0" i="0" spc="0" sz="1400" u="none" cap="none" strike="noStrike">
              <a:solidFill>
                <a:srgbClr val="000000"/>
              </a:solidFill>
              <a:latin typeface="Arial"/>
              <a:ea typeface="Arial"/>
              <a:cs typeface="Arial"/>
              <a:sym typeface="Arial"/>
            </a:endParaRPr>
          </a:p>
        </p:txBody>
      </p:sp>
      <p:sp>
        <p:nvSpPr>
          <p:cNvPr id="256" name="Google Shape;256;h3feeff9767e46d2f_3_1"/>
          <p:cNvSpPr txBox="1"/>
          <p:nvPr/>
        </p:nvSpPr>
        <p:spPr>
          <a:xfrm>
            <a:off x="1828800" y="5065776"/>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Each tumour staged on its own, often early</a:t>
            </a:r>
            <a:endParaRPr b="0" i="0" spc="0" sz="1400" u="none" cap="none" strike="noStrike">
              <a:solidFill>
                <a:srgbClr val="000000"/>
              </a:solidFill>
              <a:latin typeface="Arial"/>
              <a:ea typeface="Arial"/>
              <a:cs typeface="Arial"/>
              <a:sym typeface="Arial"/>
            </a:endParaRPr>
          </a:p>
        </p:txBody>
      </p:sp>
      <p:sp>
        <p:nvSpPr>
          <p:cNvPr id="257" name="Google Shape;257;h3feeff9767e46d2f_3_1"/>
          <p:cNvSpPr/>
          <p:nvPr/>
        </p:nvSpPr>
        <p:spPr>
          <a:xfrm>
            <a:off x="777240" y="5401818"/>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h3feeff9767e46d2f_3_1"/>
          <p:cNvSpPr txBox="1"/>
          <p:nvPr/>
        </p:nvSpPr>
        <p:spPr>
          <a:xfrm>
            <a:off x="777240" y="5404104"/>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Treatment</a:t>
            </a:r>
            <a:endParaRPr b="0" i="0" spc="0" sz="1400" u="none" cap="none" strike="noStrike">
              <a:solidFill>
                <a:srgbClr val="000000"/>
              </a:solidFill>
              <a:latin typeface="Arial"/>
              <a:ea typeface="Arial"/>
              <a:cs typeface="Arial"/>
              <a:sym typeface="Arial"/>
            </a:endParaRPr>
          </a:p>
        </p:txBody>
      </p:sp>
      <p:sp>
        <p:nvSpPr>
          <p:cNvPr id="259" name="Google Shape;259;h3feeff9767e46d2f_3_1"/>
          <p:cNvSpPr txBox="1"/>
          <p:nvPr/>
        </p:nvSpPr>
        <p:spPr>
          <a:xfrm>
            <a:off x="1828800" y="5404104"/>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Curative: surgery or radiotherapy</a:t>
            </a:r>
            <a:endParaRPr b="0" i="0" spc="0" sz="1400" u="none" cap="none" strike="noStrike">
              <a:solidFill>
                <a:srgbClr val="000000"/>
              </a:solidFill>
              <a:latin typeface="Arial"/>
              <a:ea typeface="Arial"/>
              <a:cs typeface="Arial"/>
              <a:sym typeface="Arial"/>
            </a:endParaRPr>
          </a:p>
        </p:txBody>
      </p:sp>
      <p:sp>
        <p:nvSpPr>
          <p:cNvPr id="260" name="Google Shape;260;h3feeff9767e46d2f_3_1"/>
          <p:cNvSpPr/>
          <p:nvPr/>
        </p:nvSpPr>
        <p:spPr>
          <a:xfrm>
            <a:off x="777240" y="5740146"/>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1" name="Google Shape;261;h3feeff9767e46d2f_3_1"/>
          <p:cNvSpPr txBox="1"/>
          <p:nvPr/>
        </p:nvSpPr>
        <p:spPr>
          <a:xfrm>
            <a:off x="777240" y="5742432"/>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Prognosis</a:t>
            </a:r>
            <a:endParaRPr b="0" i="0" spc="0" sz="1400" u="none" cap="none" strike="noStrike">
              <a:solidFill>
                <a:srgbClr val="000000"/>
              </a:solidFill>
              <a:latin typeface="Arial"/>
              <a:ea typeface="Arial"/>
              <a:cs typeface="Arial"/>
              <a:sym typeface="Arial"/>
            </a:endParaRPr>
          </a:p>
        </p:txBody>
      </p:sp>
      <p:sp>
        <p:nvSpPr>
          <p:cNvPr id="262" name="Google Shape;262;h3feeff9767e46d2f_3_1"/>
          <p:cNvSpPr txBox="1"/>
          <p:nvPr/>
        </p:nvSpPr>
        <p:spPr>
          <a:xfrm>
            <a:off x="1828800" y="5742432"/>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1E9EBE"/>
                </a:solidFill>
                <a:latin typeface="Calibri"/>
                <a:ea typeface="Calibri"/>
                <a:cs typeface="Calibri"/>
                <a:sym typeface="Calibri"/>
              </a:rPr>
              <a:t>High survival potential</a:t>
            </a:r>
            <a:endParaRPr b="0" i="0" spc="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h5eb69ffe71b1ad8e_0_0"/>
          <p:cNvSpPr txBox="1"/>
          <p:nvPr>
            <p:ph idx="4294967295" type="title"/>
          </p:nvPr>
        </p:nvSpPr>
        <p:spPr>
          <a:xfrm>
            <a:off x="348225" y="477183"/>
            <a:ext cx="5346600" cy="4524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rgbClr val="009CB4"/>
              </a:buClr>
              <a:buSzPts val="4000"/>
              <a:buFont typeface="Trebuchet MS"/>
              <a:buNone/>
            </a:pPr>
            <a:r>
              <a:rPr lang="en-US" sz="2600">
                <a:latin typeface="Ubuntu"/>
                <a:ea typeface="Ubuntu"/>
                <a:cs typeface="Ubuntu"/>
                <a:sym typeface="Ubuntu"/>
              </a:rPr>
              <a:t>Problem </a:t>
            </a:r>
            <a:endParaRPr b="0" sz="2600">
              <a:latin typeface="Ubuntu Light"/>
              <a:ea typeface="Ubuntu Light"/>
              <a:cs typeface="Ubuntu Light"/>
              <a:sym typeface="Ubuntu Light"/>
            </a:endParaRPr>
          </a:p>
        </p:txBody>
      </p:sp>
      <p:sp>
        <p:nvSpPr>
          <p:cNvPr id="268" name="Google Shape;268;h5eb69ffe71b1ad8e_0_0"/>
          <p:cNvSpPr txBox="1"/>
          <p:nvPr/>
        </p:nvSpPr>
        <p:spPr>
          <a:xfrm>
            <a:off x="502920" y="914400"/>
            <a:ext cx="111858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1E9EBE"/>
                </a:solidFill>
                <a:latin typeface="Calibri"/>
                <a:ea typeface="Calibri"/>
                <a:cs typeface="Calibri"/>
                <a:sym typeface="Calibri"/>
              </a:rPr>
              <a:t>One in five lung cancer patients has or will develop multiple tumors over time</a:t>
            </a:r>
            <a:endParaRPr b="0" i="0" spc="0" sz="1400" u="none" cap="none" strike="noStrike">
              <a:solidFill>
                <a:srgbClr val="000000"/>
              </a:solidFill>
              <a:latin typeface="Arial"/>
              <a:ea typeface="Arial"/>
              <a:cs typeface="Arial"/>
              <a:sym typeface="Arial"/>
            </a:endParaRPr>
          </a:p>
        </p:txBody>
      </p:sp>
      <p:sp>
        <p:nvSpPr>
          <p:cNvPr id="269" name="Google Shape;269;h5eb69ffe71b1ad8e_0_0"/>
          <p:cNvSpPr/>
          <p:nvPr/>
        </p:nvSpPr>
        <p:spPr>
          <a:xfrm>
            <a:off x="502920" y="1481328"/>
            <a:ext cx="5459100" cy="4645200"/>
          </a:xfrm>
          <a:prstGeom prst="roundRect">
            <a:avLst>
              <a:gd fmla="val 4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0" name="Google Shape;270;h5eb69ffe71b1ad8e_0_0"/>
          <p:cNvSpPr txBox="1"/>
          <p:nvPr/>
        </p:nvSpPr>
        <p:spPr>
          <a:xfrm>
            <a:off x="777240" y="1618488"/>
            <a:ext cx="5001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1E9EBE"/>
                </a:solidFill>
                <a:latin typeface="Calibri"/>
                <a:ea typeface="Calibri"/>
                <a:cs typeface="Calibri"/>
                <a:sym typeface="Calibri"/>
              </a:rPr>
              <a:t>SCENARIO A</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800"/>
              <a:buFont typeface="Arial"/>
              <a:buNone/>
            </a:pPr>
            <a:r>
              <a:rPr b="1" i="0" lang="en-US" spc="0" sz="1800" u="none" cap="none" strike="noStrike">
                <a:solidFill>
                  <a:srgbClr val="222222"/>
                </a:solidFill>
                <a:latin typeface="Calibri"/>
                <a:ea typeface="Calibri"/>
                <a:cs typeface="Calibri"/>
                <a:sym typeface="Calibri"/>
              </a:rPr>
              <a:t>Multiple primary carcinomas</a:t>
            </a:r>
            <a:r>
              <a:rPr b="0" i="1" lang="en-US" spc="0" sz="1200" u="none" cap="none" strike="noStrike">
                <a:solidFill>
                  <a:srgbClr val="595959"/>
                </a:solidFill>
                <a:latin typeface="Calibri"/>
                <a:ea typeface="Calibri"/>
                <a:cs typeface="Calibri"/>
                <a:sym typeface="Calibri"/>
              </a:rPr>
              <a:t>   Two independent tumours</a:t>
            </a:r>
            <a:endParaRPr b="0" i="0" spc="0" sz="1400" u="none" cap="none" strike="noStrike">
              <a:solidFill>
                <a:srgbClr val="000000"/>
              </a:solidFill>
              <a:latin typeface="Arial"/>
              <a:ea typeface="Arial"/>
              <a:cs typeface="Arial"/>
              <a:sym typeface="Arial"/>
            </a:endParaRPr>
          </a:p>
        </p:txBody>
      </p:sp>
      <p:pic>
        <p:nvPicPr>
          <p:cNvPr descr="Body" id="271" name="Google Shape;271;h5eb69ffe71b1ad8e_0_0"/>
          <p:cNvPicPr preferRelativeResize="0"/>
          <p:nvPr/>
        </p:nvPicPr>
        <p:blipFill rotWithShape="1">
          <a:blip r:embed="rId3">
            <a:alphaModFix/>
          </a:blip>
          <a:srcRect b="0" l="0" r="0" t="0"/>
          <a:stretch/>
        </p:blipFill>
        <p:spPr>
          <a:xfrm>
            <a:off x="822960" y="2350008"/>
            <a:ext cx="896112" cy="2240280"/>
          </a:xfrm>
          <a:prstGeom prst="rect">
            <a:avLst/>
          </a:prstGeom>
          <a:noFill/>
          <a:ln>
            <a:noFill/>
          </a:ln>
        </p:spPr>
      </p:pic>
      <p:cxnSp>
        <p:nvCxnSpPr>
          <p:cNvPr id="272" name="Google Shape;272;h5eb69ffe71b1ad8e_0_0"/>
          <p:cNvCxnSpPr/>
          <p:nvPr/>
        </p:nvCxnSpPr>
        <p:spPr>
          <a:xfrm flipH="1" rot="10800000">
            <a:off x="1181405" y="2350092"/>
            <a:ext cx="1196100" cy="672000"/>
          </a:xfrm>
          <a:prstGeom prst="straightConnector1">
            <a:avLst/>
          </a:prstGeom>
          <a:noFill/>
          <a:ln cap="flat" cmpd="sng" w="9525">
            <a:solidFill>
              <a:srgbClr val="1E9EBE"/>
            </a:solidFill>
            <a:prstDash val="solid"/>
            <a:round/>
            <a:headEnd len="sm" w="sm" type="none"/>
            <a:tailEnd len="sm" w="sm" type="none"/>
          </a:ln>
        </p:spPr>
      </p:cxnSp>
      <p:cxnSp>
        <p:nvCxnSpPr>
          <p:cNvPr id="273" name="Google Shape;273;h5eb69ffe71b1ad8e_0_0"/>
          <p:cNvCxnSpPr/>
          <p:nvPr/>
        </p:nvCxnSpPr>
        <p:spPr>
          <a:xfrm>
            <a:off x="1181405" y="3022092"/>
            <a:ext cx="1196100" cy="333900"/>
          </a:xfrm>
          <a:prstGeom prst="straightConnector1">
            <a:avLst/>
          </a:prstGeom>
          <a:noFill/>
          <a:ln cap="flat" cmpd="sng" w="9525">
            <a:solidFill>
              <a:srgbClr val="1E9EBE"/>
            </a:solidFill>
            <a:prstDash val="solid"/>
            <a:round/>
            <a:headEnd len="sm" w="sm" type="none"/>
            <a:tailEnd len="sm" w="sm" type="none"/>
          </a:ln>
        </p:spPr>
      </p:cxnSp>
      <p:pic>
        <p:nvPicPr>
          <p:cNvPr descr="HE image" id="274" name="Google Shape;274;h5eb69ffe71b1ad8e_0_0"/>
          <p:cNvPicPr preferRelativeResize="0"/>
          <p:nvPr/>
        </p:nvPicPr>
        <p:blipFill rotWithShape="1">
          <a:blip r:embed="rId4">
            <a:alphaModFix/>
          </a:blip>
          <a:srcRect b="0" l="0" r="0" t="0"/>
          <a:stretch/>
        </p:blipFill>
        <p:spPr>
          <a:xfrm>
            <a:off x="2377440" y="2350008"/>
            <a:ext cx="1097280" cy="1005840"/>
          </a:xfrm>
          <a:prstGeom prst="rect">
            <a:avLst/>
          </a:prstGeom>
          <a:noFill/>
          <a:ln>
            <a:noFill/>
          </a:ln>
        </p:spPr>
      </p:pic>
      <p:sp>
        <p:nvSpPr>
          <p:cNvPr id="275" name="Google Shape;275;h5eb69ffe71b1ad8e_0_0"/>
          <p:cNvSpPr/>
          <p:nvPr/>
        </p:nvSpPr>
        <p:spPr>
          <a:xfrm>
            <a:off x="2377440" y="2350008"/>
            <a:ext cx="1097400" cy="1005900"/>
          </a:xfrm>
          <a:prstGeom prst="rect">
            <a:avLst/>
          </a:prstGeom>
          <a:noFill/>
          <a:ln cap="flat" cmpd="sng" w="28575">
            <a:solidFill>
              <a:srgbClr val="1E9E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Copy number profile" id="276" name="Google Shape;276;h5eb69ffe71b1ad8e_0_0"/>
          <p:cNvPicPr preferRelativeResize="0"/>
          <p:nvPr/>
        </p:nvPicPr>
        <p:blipFill rotWithShape="1">
          <a:blip r:embed="rId5">
            <a:alphaModFix/>
          </a:blip>
          <a:srcRect b="0" l="0" r="0" t="0"/>
          <a:stretch/>
        </p:blipFill>
        <p:spPr>
          <a:xfrm>
            <a:off x="3566160" y="2350008"/>
            <a:ext cx="1840687" cy="1005840"/>
          </a:xfrm>
          <a:prstGeom prst="rect">
            <a:avLst/>
          </a:prstGeom>
          <a:noFill/>
          <a:ln>
            <a:noFill/>
          </a:ln>
        </p:spPr>
      </p:pic>
      <p:sp>
        <p:nvSpPr>
          <p:cNvPr id="277" name="Google Shape;277;h5eb69ffe71b1ad8e_0_0"/>
          <p:cNvSpPr/>
          <p:nvPr/>
        </p:nvSpPr>
        <p:spPr>
          <a:xfrm>
            <a:off x="2432304" y="3081528"/>
            <a:ext cx="475500" cy="219600"/>
          </a:xfrm>
          <a:prstGeom prst="roundRect">
            <a:avLst>
              <a:gd fmla="val 50000" name="adj"/>
            </a:avLst>
          </a:prstGeom>
          <a:solidFill>
            <a:srgbClr val="FFFFFF"/>
          </a:solidFill>
          <a:ln>
            <a:noFill/>
          </a:ln>
        </p:spPr>
        <p:txBody>
          <a:bodyPr anchorCtr="0" anchor="ctr" bIns="0" lIns="64000" spcFirstLastPara="1" rIns="18275"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222222"/>
                </a:solidFill>
                <a:latin typeface="Calibri"/>
                <a:ea typeface="Calibri"/>
                <a:cs typeface="Calibri"/>
                <a:sym typeface="Calibri"/>
              </a:rPr>
              <a:t>Lung</a:t>
            </a:r>
            <a:endParaRPr b="0" i="0" spc="0" sz="1400" u="none" cap="none" strike="noStrike">
              <a:solidFill>
                <a:srgbClr val="000000"/>
              </a:solidFill>
              <a:latin typeface="Arial"/>
              <a:ea typeface="Arial"/>
              <a:cs typeface="Arial"/>
              <a:sym typeface="Arial"/>
            </a:endParaRPr>
          </a:p>
        </p:txBody>
      </p:sp>
      <p:cxnSp>
        <p:nvCxnSpPr>
          <p:cNvPr id="278" name="Google Shape;278;h5eb69ffe71b1ad8e_0_0"/>
          <p:cNvCxnSpPr/>
          <p:nvPr/>
        </p:nvCxnSpPr>
        <p:spPr>
          <a:xfrm>
            <a:off x="1342705" y="3461187"/>
            <a:ext cx="1034700" cy="123300"/>
          </a:xfrm>
          <a:prstGeom prst="straightConnector1">
            <a:avLst/>
          </a:prstGeom>
          <a:noFill/>
          <a:ln cap="flat" cmpd="sng" w="9525">
            <a:solidFill>
              <a:srgbClr val="6A4C93"/>
            </a:solidFill>
            <a:prstDash val="solid"/>
            <a:round/>
            <a:headEnd len="sm" w="sm" type="none"/>
            <a:tailEnd len="sm" w="sm" type="none"/>
          </a:ln>
        </p:spPr>
      </p:cxnSp>
      <p:cxnSp>
        <p:nvCxnSpPr>
          <p:cNvPr id="279" name="Google Shape;279;h5eb69ffe71b1ad8e_0_0"/>
          <p:cNvCxnSpPr/>
          <p:nvPr/>
        </p:nvCxnSpPr>
        <p:spPr>
          <a:xfrm>
            <a:off x="1342705" y="3461187"/>
            <a:ext cx="1034700" cy="1129200"/>
          </a:xfrm>
          <a:prstGeom prst="straightConnector1">
            <a:avLst/>
          </a:prstGeom>
          <a:noFill/>
          <a:ln cap="flat" cmpd="sng" w="9525">
            <a:solidFill>
              <a:srgbClr val="6A4C93"/>
            </a:solidFill>
            <a:prstDash val="solid"/>
            <a:round/>
            <a:headEnd len="sm" w="sm" type="none"/>
            <a:tailEnd len="sm" w="sm" type="none"/>
          </a:ln>
        </p:spPr>
      </p:cxnSp>
      <p:pic>
        <p:nvPicPr>
          <p:cNvPr descr="HE image" id="280" name="Google Shape;280;h5eb69ffe71b1ad8e_0_0"/>
          <p:cNvPicPr preferRelativeResize="0"/>
          <p:nvPr/>
        </p:nvPicPr>
        <p:blipFill rotWithShape="1">
          <a:blip r:embed="rId6">
            <a:alphaModFix/>
          </a:blip>
          <a:srcRect b="0" l="0" r="0" t="0"/>
          <a:stretch/>
        </p:blipFill>
        <p:spPr>
          <a:xfrm>
            <a:off x="2377440" y="3584448"/>
            <a:ext cx="1097280" cy="1005840"/>
          </a:xfrm>
          <a:prstGeom prst="rect">
            <a:avLst/>
          </a:prstGeom>
          <a:noFill/>
          <a:ln>
            <a:noFill/>
          </a:ln>
        </p:spPr>
      </p:pic>
      <p:sp>
        <p:nvSpPr>
          <p:cNvPr id="281" name="Google Shape;281;h5eb69ffe71b1ad8e_0_0"/>
          <p:cNvSpPr/>
          <p:nvPr/>
        </p:nvSpPr>
        <p:spPr>
          <a:xfrm>
            <a:off x="2377440" y="3584448"/>
            <a:ext cx="1097400" cy="1005900"/>
          </a:xfrm>
          <a:prstGeom prst="rect">
            <a:avLst/>
          </a:prstGeom>
          <a:noFill/>
          <a:ln cap="flat" cmpd="sng" w="28575">
            <a:solidFill>
              <a:srgbClr val="6A4C9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Copy number profile" id="282" name="Google Shape;282;h5eb69ffe71b1ad8e_0_0"/>
          <p:cNvPicPr preferRelativeResize="0"/>
          <p:nvPr/>
        </p:nvPicPr>
        <p:blipFill rotWithShape="1">
          <a:blip r:embed="rId7">
            <a:alphaModFix/>
          </a:blip>
          <a:srcRect b="0" l="0" r="0" t="0"/>
          <a:stretch/>
        </p:blipFill>
        <p:spPr>
          <a:xfrm>
            <a:off x="3566160" y="3584448"/>
            <a:ext cx="1840687" cy="1005840"/>
          </a:xfrm>
          <a:prstGeom prst="rect">
            <a:avLst/>
          </a:prstGeom>
          <a:noFill/>
          <a:ln>
            <a:noFill/>
          </a:ln>
        </p:spPr>
      </p:pic>
      <p:sp>
        <p:nvSpPr>
          <p:cNvPr id="283" name="Google Shape;283;h5eb69ffe71b1ad8e_0_0"/>
          <p:cNvSpPr/>
          <p:nvPr/>
        </p:nvSpPr>
        <p:spPr>
          <a:xfrm>
            <a:off x="2432304" y="4315968"/>
            <a:ext cx="1005900" cy="219600"/>
          </a:xfrm>
          <a:prstGeom prst="roundRect">
            <a:avLst>
              <a:gd fmla="val 50000" name="adj"/>
            </a:avLst>
          </a:prstGeom>
          <a:solidFill>
            <a:srgbClr val="FFFFFF"/>
          </a:solidFill>
          <a:ln>
            <a:noFill/>
          </a:ln>
        </p:spPr>
        <p:txBody>
          <a:bodyPr anchorCtr="0" anchor="ctr" bIns="0" lIns="64000" spcFirstLastPara="1" rIns="18275"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222222"/>
                </a:solidFill>
                <a:latin typeface="Calibri"/>
                <a:ea typeface="Calibri"/>
                <a:cs typeface="Calibri"/>
                <a:sym typeface="Calibri"/>
              </a:rPr>
              <a:t>Lung or elsewhere</a:t>
            </a:r>
            <a:endParaRPr b="0" i="0" spc="0" sz="1400" u="none" cap="none" strike="noStrike">
              <a:solidFill>
                <a:srgbClr val="000000"/>
              </a:solidFill>
              <a:latin typeface="Arial"/>
              <a:ea typeface="Arial"/>
              <a:cs typeface="Arial"/>
              <a:sym typeface="Arial"/>
            </a:endParaRPr>
          </a:p>
        </p:txBody>
      </p:sp>
      <p:sp>
        <p:nvSpPr>
          <p:cNvPr id="284" name="Google Shape;284;h5eb69ffe71b1ad8e_0_0"/>
          <p:cNvSpPr/>
          <p:nvPr/>
        </p:nvSpPr>
        <p:spPr>
          <a:xfrm>
            <a:off x="1089965" y="2930652"/>
            <a:ext cx="183000" cy="183000"/>
          </a:xfrm>
          <a:prstGeom prst="ellipse">
            <a:avLst/>
          </a:prstGeom>
          <a:solidFill>
            <a:srgbClr val="1E9EBE"/>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5" name="Google Shape;285;h5eb69ffe71b1ad8e_0_0"/>
          <p:cNvSpPr/>
          <p:nvPr/>
        </p:nvSpPr>
        <p:spPr>
          <a:xfrm>
            <a:off x="1251265" y="3369747"/>
            <a:ext cx="183000" cy="183000"/>
          </a:xfrm>
          <a:prstGeom prst="ellipse">
            <a:avLst/>
          </a:prstGeom>
          <a:solidFill>
            <a:srgbClr val="6A4C93"/>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6" name="Google Shape;286;h5eb69ffe71b1ad8e_0_0"/>
          <p:cNvSpPr txBox="1"/>
          <p:nvPr/>
        </p:nvSpPr>
        <p:spPr>
          <a:xfrm>
            <a:off x="777240" y="4727448"/>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Genetics</a:t>
            </a:r>
            <a:endParaRPr b="0" i="0" spc="0" sz="1400" u="none" cap="none" strike="noStrike">
              <a:solidFill>
                <a:srgbClr val="000000"/>
              </a:solidFill>
              <a:latin typeface="Arial"/>
              <a:ea typeface="Arial"/>
              <a:cs typeface="Arial"/>
              <a:sym typeface="Arial"/>
            </a:endParaRPr>
          </a:p>
        </p:txBody>
      </p:sp>
      <p:sp>
        <p:nvSpPr>
          <p:cNvPr id="287" name="Google Shape;287;h5eb69ffe71b1ad8e_0_0"/>
          <p:cNvSpPr txBox="1"/>
          <p:nvPr/>
        </p:nvSpPr>
        <p:spPr>
          <a:xfrm>
            <a:off x="1828800" y="4727448"/>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Different mutations &amp; copy-number profiles</a:t>
            </a:r>
            <a:endParaRPr b="0" i="0" spc="0" sz="1400" u="none" cap="none" strike="noStrike">
              <a:solidFill>
                <a:srgbClr val="000000"/>
              </a:solidFill>
              <a:latin typeface="Arial"/>
              <a:ea typeface="Arial"/>
              <a:cs typeface="Arial"/>
              <a:sym typeface="Arial"/>
            </a:endParaRPr>
          </a:p>
        </p:txBody>
      </p:sp>
      <p:sp>
        <p:nvSpPr>
          <p:cNvPr id="288" name="Google Shape;288;h5eb69ffe71b1ad8e_0_0"/>
          <p:cNvSpPr/>
          <p:nvPr/>
        </p:nvSpPr>
        <p:spPr>
          <a:xfrm>
            <a:off x="777240" y="5063490"/>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9" name="Google Shape;289;h5eb69ffe71b1ad8e_0_0"/>
          <p:cNvSpPr txBox="1"/>
          <p:nvPr/>
        </p:nvSpPr>
        <p:spPr>
          <a:xfrm>
            <a:off x="777240" y="5065776"/>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Stage</a:t>
            </a:r>
            <a:endParaRPr b="0" i="0" spc="0" sz="1400" u="none" cap="none" strike="noStrike">
              <a:solidFill>
                <a:srgbClr val="000000"/>
              </a:solidFill>
              <a:latin typeface="Arial"/>
              <a:ea typeface="Arial"/>
              <a:cs typeface="Arial"/>
              <a:sym typeface="Arial"/>
            </a:endParaRPr>
          </a:p>
        </p:txBody>
      </p:sp>
      <p:sp>
        <p:nvSpPr>
          <p:cNvPr id="290" name="Google Shape;290;h5eb69ffe71b1ad8e_0_0"/>
          <p:cNvSpPr txBox="1"/>
          <p:nvPr/>
        </p:nvSpPr>
        <p:spPr>
          <a:xfrm>
            <a:off x="1828800" y="5065776"/>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Each tumour staged on its own, often early</a:t>
            </a:r>
            <a:endParaRPr b="0" i="0" spc="0" sz="1400" u="none" cap="none" strike="noStrike">
              <a:solidFill>
                <a:srgbClr val="000000"/>
              </a:solidFill>
              <a:latin typeface="Arial"/>
              <a:ea typeface="Arial"/>
              <a:cs typeface="Arial"/>
              <a:sym typeface="Arial"/>
            </a:endParaRPr>
          </a:p>
        </p:txBody>
      </p:sp>
      <p:sp>
        <p:nvSpPr>
          <p:cNvPr id="291" name="Google Shape;291;h5eb69ffe71b1ad8e_0_0"/>
          <p:cNvSpPr/>
          <p:nvPr/>
        </p:nvSpPr>
        <p:spPr>
          <a:xfrm>
            <a:off x="777240" y="5401818"/>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2" name="Google Shape;292;h5eb69ffe71b1ad8e_0_0"/>
          <p:cNvSpPr txBox="1"/>
          <p:nvPr/>
        </p:nvSpPr>
        <p:spPr>
          <a:xfrm>
            <a:off x="777240" y="5404104"/>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Treatment</a:t>
            </a:r>
            <a:endParaRPr b="0" i="0" spc="0" sz="1400" u="none" cap="none" strike="noStrike">
              <a:solidFill>
                <a:srgbClr val="000000"/>
              </a:solidFill>
              <a:latin typeface="Arial"/>
              <a:ea typeface="Arial"/>
              <a:cs typeface="Arial"/>
              <a:sym typeface="Arial"/>
            </a:endParaRPr>
          </a:p>
        </p:txBody>
      </p:sp>
      <p:sp>
        <p:nvSpPr>
          <p:cNvPr id="293" name="Google Shape;293;h5eb69ffe71b1ad8e_0_0"/>
          <p:cNvSpPr txBox="1"/>
          <p:nvPr/>
        </p:nvSpPr>
        <p:spPr>
          <a:xfrm>
            <a:off x="1828800" y="5404104"/>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Curative: surgery or radiotherapy</a:t>
            </a:r>
            <a:endParaRPr b="0" i="0" spc="0" sz="1400" u="none" cap="none" strike="noStrike">
              <a:solidFill>
                <a:srgbClr val="000000"/>
              </a:solidFill>
              <a:latin typeface="Arial"/>
              <a:ea typeface="Arial"/>
              <a:cs typeface="Arial"/>
              <a:sym typeface="Arial"/>
            </a:endParaRPr>
          </a:p>
        </p:txBody>
      </p:sp>
      <p:sp>
        <p:nvSpPr>
          <p:cNvPr id="294" name="Google Shape;294;h5eb69ffe71b1ad8e_0_0"/>
          <p:cNvSpPr/>
          <p:nvPr/>
        </p:nvSpPr>
        <p:spPr>
          <a:xfrm>
            <a:off x="777240" y="5740146"/>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5" name="Google Shape;295;h5eb69ffe71b1ad8e_0_0"/>
          <p:cNvSpPr txBox="1"/>
          <p:nvPr/>
        </p:nvSpPr>
        <p:spPr>
          <a:xfrm>
            <a:off x="777240" y="5742432"/>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Prognosis</a:t>
            </a:r>
            <a:endParaRPr b="0" i="0" spc="0" sz="1400" u="none" cap="none" strike="noStrike">
              <a:solidFill>
                <a:srgbClr val="000000"/>
              </a:solidFill>
              <a:latin typeface="Arial"/>
              <a:ea typeface="Arial"/>
              <a:cs typeface="Arial"/>
              <a:sym typeface="Arial"/>
            </a:endParaRPr>
          </a:p>
        </p:txBody>
      </p:sp>
      <p:sp>
        <p:nvSpPr>
          <p:cNvPr id="296" name="Google Shape;296;h5eb69ffe71b1ad8e_0_0"/>
          <p:cNvSpPr txBox="1"/>
          <p:nvPr/>
        </p:nvSpPr>
        <p:spPr>
          <a:xfrm>
            <a:off x="1828800" y="5742432"/>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1E9EBE"/>
                </a:solidFill>
                <a:latin typeface="Calibri"/>
                <a:ea typeface="Calibri"/>
                <a:cs typeface="Calibri"/>
                <a:sym typeface="Calibri"/>
              </a:rPr>
              <a:t>High survival potential</a:t>
            </a:r>
            <a:endParaRPr b="0" i="0" spc="0" sz="1400" u="none" cap="none" strike="noStrike">
              <a:solidFill>
                <a:srgbClr val="000000"/>
              </a:solidFill>
              <a:latin typeface="Arial"/>
              <a:ea typeface="Arial"/>
              <a:cs typeface="Arial"/>
              <a:sym typeface="Arial"/>
            </a:endParaRPr>
          </a:p>
        </p:txBody>
      </p:sp>
      <p:sp>
        <p:nvSpPr>
          <p:cNvPr id="297" name="Google Shape;297;h5eb69ffe71b1ad8e_0_0"/>
          <p:cNvSpPr/>
          <p:nvPr/>
        </p:nvSpPr>
        <p:spPr>
          <a:xfrm>
            <a:off x="6229807" y="1481328"/>
            <a:ext cx="5459100" cy="4645200"/>
          </a:xfrm>
          <a:prstGeom prst="roundRect">
            <a:avLst>
              <a:gd fmla="val 4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8" name="Google Shape;298;h5eb69ffe71b1ad8e_0_0"/>
          <p:cNvSpPr txBox="1"/>
          <p:nvPr/>
        </p:nvSpPr>
        <p:spPr>
          <a:xfrm>
            <a:off x="6504127" y="1618488"/>
            <a:ext cx="5001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E08600"/>
                </a:solidFill>
                <a:latin typeface="Calibri"/>
                <a:ea typeface="Calibri"/>
                <a:cs typeface="Calibri"/>
                <a:sym typeface="Calibri"/>
              </a:rPr>
              <a:t>SCENARIO B</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800"/>
              <a:buFont typeface="Arial"/>
              <a:buNone/>
            </a:pPr>
            <a:r>
              <a:rPr b="1" i="0" lang="en-US" spc="0" sz="1800" u="none" cap="none" strike="noStrike">
                <a:solidFill>
                  <a:srgbClr val="222222"/>
                </a:solidFill>
                <a:latin typeface="Calibri"/>
                <a:ea typeface="Calibri"/>
                <a:cs typeface="Calibri"/>
                <a:sym typeface="Calibri"/>
              </a:rPr>
              <a:t>Metastasis</a:t>
            </a:r>
            <a:r>
              <a:rPr b="0" i="1" lang="en-US" spc="0" sz="1200" u="none" cap="none" strike="noStrike">
                <a:solidFill>
                  <a:srgbClr val="595959"/>
                </a:solidFill>
                <a:latin typeface="Calibri"/>
                <a:ea typeface="Calibri"/>
                <a:cs typeface="Calibri"/>
                <a:sym typeface="Calibri"/>
              </a:rPr>
              <a:t>   One tumour has spread (clonally related)</a:t>
            </a:r>
            <a:endParaRPr b="0" i="0" spc="0" sz="1400" u="none" cap="none" strike="noStrike">
              <a:solidFill>
                <a:srgbClr val="000000"/>
              </a:solidFill>
              <a:latin typeface="Arial"/>
              <a:ea typeface="Arial"/>
              <a:cs typeface="Arial"/>
              <a:sym typeface="Arial"/>
            </a:endParaRPr>
          </a:p>
        </p:txBody>
      </p:sp>
      <p:pic>
        <p:nvPicPr>
          <p:cNvPr descr="Body" id="299" name="Google Shape;299;h5eb69ffe71b1ad8e_0_0"/>
          <p:cNvPicPr preferRelativeResize="0"/>
          <p:nvPr/>
        </p:nvPicPr>
        <p:blipFill rotWithShape="1">
          <a:blip r:embed="rId3">
            <a:alphaModFix/>
          </a:blip>
          <a:srcRect b="0" l="0" r="0" t="0"/>
          <a:stretch/>
        </p:blipFill>
        <p:spPr>
          <a:xfrm>
            <a:off x="6549847" y="2350008"/>
            <a:ext cx="896112" cy="2240280"/>
          </a:xfrm>
          <a:prstGeom prst="rect">
            <a:avLst/>
          </a:prstGeom>
          <a:noFill/>
          <a:ln>
            <a:noFill/>
          </a:ln>
        </p:spPr>
      </p:pic>
      <p:cxnSp>
        <p:nvCxnSpPr>
          <p:cNvPr id="300" name="Google Shape;300;h5eb69ffe71b1ad8e_0_0"/>
          <p:cNvCxnSpPr/>
          <p:nvPr/>
        </p:nvCxnSpPr>
        <p:spPr>
          <a:xfrm flipH="1" rot="10800000">
            <a:off x="7087514" y="2350092"/>
            <a:ext cx="1016700" cy="672000"/>
          </a:xfrm>
          <a:prstGeom prst="straightConnector1">
            <a:avLst/>
          </a:prstGeom>
          <a:noFill/>
          <a:ln cap="flat" cmpd="sng" w="9525">
            <a:solidFill>
              <a:srgbClr val="FF9900"/>
            </a:solidFill>
            <a:prstDash val="solid"/>
            <a:round/>
            <a:headEnd len="sm" w="sm" type="none"/>
            <a:tailEnd len="sm" w="sm" type="none"/>
          </a:ln>
        </p:spPr>
      </p:cxnSp>
      <p:cxnSp>
        <p:nvCxnSpPr>
          <p:cNvPr id="301" name="Google Shape;301;h5eb69ffe71b1ad8e_0_0"/>
          <p:cNvCxnSpPr/>
          <p:nvPr/>
        </p:nvCxnSpPr>
        <p:spPr>
          <a:xfrm>
            <a:off x="7087514" y="3022092"/>
            <a:ext cx="1016700" cy="333900"/>
          </a:xfrm>
          <a:prstGeom prst="straightConnector1">
            <a:avLst/>
          </a:prstGeom>
          <a:noFill/>
          <a:ln cap="flat" cmpd="sng" w="9525">
            <a:solidFill>
              <a:srgbClr val="FF9900"/>
            </a:solidFill>
            <a:prstDash val="solid"/>
            <a:round/>
            <a:headEnd len="sm" w="sm" type="none"/>
            <a:tailEnd len="sm" w="sm" type="none"/>
          </a:ln>
        </p:spPr>
      </p:cxnSp>
      <p:pic>
        <p:nvPicPr>
          <p:cNvPr descr="HE image" id="302" name="Google Shape;302;h5eb69ffe71b1ad8e_0_0"/>
          <p:cNvPicPr preferRelativeResize="0"/>
          <p:nvPr/>
        </p:nvPicPr>
        <p:blipFill rotWithShape="1">
          <a:blip r:embed="rId8">
            <a:alphaModFix/>
          </a:blip>
          <a:srcRect b="0" l="0" r="0" t="0"/>
          <a:stretch/>
        </p:blipFill>
        <p:spPr>
          <a:xfrm>
            <a:off x="8104327" y="2350008"/>
            <a:ext cx="1097280" cy="1005840"/>
          </a:xfrm>
          <a:prstGeom prst="rect">
            <a:avLst/>
          </a:prstGeom>
          <a:noFill/>
          <a:ln>
            <a:noFill/>
          </a:ln>
        </p:spPr>
      </p:pic>
      <p:sp>
        <p:nvSpPr>
          <p:cNvPr id="303" name="Google Shape;303;h5eb69ffe71b1ad8e_0_0"/>
          <p:cNvSpPr/>
          <p:nvPr/>
        </p:nvSpPr>
        <p:spPr>
          <a:xfrm>
            <a:off x="8104327" y="2350008"/>
            <a:ext cx="1097400" cy="1005900"/>
          </a:xfrm>
          <a:prstGeom prst="rect">
            <a:avLst/>
          </a:prstGeom>
          <a:noFill/>
          <a:ln cap="flat" cmpd="sng" w="28575">
            <a:solidFill>
              <a:srgbClr val="FF9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Copy number profile" id="304" name="Google Shape;304;h5eb69ffe71b1ad8e_0_0"/>
          <p:cNvPicPr preferRelativeResize="0"/>
          <p:nvPr/>
        </p:nvPicPr>
        <p:blipFill rotWithShape="1">
          <a:blip r:embed="rId9">
            <a:alphaModFix/>
          </a:blip>
          <a:srcRect b="0" l="0" r="0" t="0"/>
          <a:stretch/>
        </p:blipFill>
        <p:spPr>
          <a:xfrm>
            <a:off x="9293047" y="2350008"/>
            <a:ext cx="1840687" cy="1005840"/>
          </a:xfrm>
          <a:prstGeom prst="rect">
            <a:avLst/>
          </a:prstGeom>
          <a:noFill/>
          <a:ln>
            <a:noFill/>
          </a:ln>
        </p:spPr>
      </p:pic>
      <p:sp>
        <p:nvSpPr>
          <p:cNvPr id="305" name="Google Shape;305;h5eb69ffe71b1ad8e_0_0"/>
          <p:cNvSpPr/>
          <p:nvPr/>
        </p:nvSpPr>
        <p:spPr>
          <a:xfrm>
            <a:off x="8159191" y="3081528"/>
            <a:ext cx="475500" cy="219600"/>
          </a:xfrm>
          <a:prstGeom prst="roundRect">
            <a:avLst>
              <a:gd fmla="val 50000" name="adj"/>
            </a:avLst>
          </a:prstGeom>
          <a:solidFill>
            <a:srgbClr val="FFFFFF"/>
          </a:solidFill>
          <a:ln>
            <a:noFill/>
          </a:ln>
        </p:spPr>
        <p:txBody>
          <a:bodyPr anchorCtr="0" anchor="ctr" bIns="0" lIns="64000" spcFirstLastPara="1" rIns="18275"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222222"/>
                </a:solidFill>
                <a:latin typeface="Calibri"/>
                <a:ea typeface="Calibri"/>
                <a:cs typeface="Calibri"/>
                <a:sym typeface="Calibri"/>
              </a:rPr>
              <a:t>Lung</a:t>
            </a:r>
            <a:endParaRPr b="0" i="0" spc="0" sz="1400" u="none" cap="none" strike="noStrike">
              <a:solidFill>
                <a:srgbClr val="000000"/>
              </a:solidFill>
              <a:latin typeface="Arial"/>
              <a:ea typeface="Arial"/>
              <a:cs typeface="Arial"/>
              <a:sym typeface="Arial"/>
            </a:endParaRPr>
          </a:p>
        </p:txBody>
      </p:sp>
      <p:cxnSp>
        <p:nvCxnSpPr>
          <p:cNvPr id="306" name="Google Shape;306;h5eb69ffe71b1ad8e_0_0"/>
          <p:cNvCxnSpPr/>
          <p:nvPr/>
        </p:nvCxnSpPr>
        <p:spPr>
          <a:xfrm>
            <a:off x="6908292" y="3443265"/>
            <a:ext cx="1196100" cy="141300"/>
          </a:xfrm>
          <a:prstGeom prst="straightConnector1">
            <a:avLst/>
          </a:prstGeom>
          <a:noFill/>
          <a:ln cap="flat" cmpd="sng" w="9525">
            <a:solidFill>
              <a:srgbClr val="FF9900"/>
            </a:solidFill>
            <a:prstDash val="solid"/>
            <a:round/>
            <a:headEnd len="sm" w="sm" type="none"/>
            <a:tailEnd len="sm" w="sm" type="none"/>
          </a:ln>
        </p:spPr>
      </p:cxnSp>
      <p:cxnSp>
        <p:nvCxnSpPr>
          <p:cNvPr id="307" name="Google Shape;307;h5eb69ffe71b1ad8e_0_0"/>
          <p:cNvCxnSpPr/>
          <p:nvPr/>
        </p:nvCxnSpPr>
        <p:spPr>
          <a:xfrm>
            <a:off x="6908292" y="3443265"/>
            <a:ext cx="1196100" cy="1146900"/>
          </a:xfrm>
          <a:prstGeom prst="straightConnector1">
            <a:avLst/>
          </a:prstGeom>
          <a:noFill/>
          <a:ln cap="flat" cmpd="sng" w="9525">
            <a:solidFill>
              <a:srgbClr val="FF9900"/>
            </a:solidFill>
            <a:prstDash val="solid"/>
            <a:round/>
            <a:headEnd len="sm" w="sm" type="none"/>
            <a:tailEnd len="sm" w="sm" type="none"/>
          </a:ln>
        </p:spPr>
      </p:cxnSp>
      <p:pic>
        <p:nvPicPr>
          <p:cNvPr descr="HE image" id="308" name="Google Shape;308;h5eb69ffe71b1ad8e_0_0"/>
          <p:cNvPicPr preferRelativeResize="0"/>
          <p:nvPr/>
        </p:nvPicPr>
        <p:blipFill rotWithShape="1">
          <a:blip r:embed="rId10">
            <a:alphaModFix/>
          </a:blip>
          <a:srcRect b="0" l="0" r="0" t="0"/>
          <a:stretch/>
        </p:blipFill>
        <p:spPr>
          <a:xfrm>
            <a:off x="8104327" y="3584448"/>
            <a:ext cx="1097280" cy="1005840"/>
          </a:xfrm>
          <a:prstGeom prst="rect">
            <a:avLst/>
          </a:prstGeom>
          <a:noFill/>
          <a:ln>
            <a:noFill/>
          </a:ln>
        </p:spPr>
      </p:pic>
      <p:sp>
        <p:nvSpPr>
          <p:cNvPr id="309" name="Google Shape;309;h5eb69ffe71b1ad8e_0_0"/>
          <p:cNvSpPr/>
          <p:nvPr/>
        </p:nvSpPr>
        <p:spPr>
          <a:xfrm>
            <a:off x="8104327" y="3584448"/>
            <a:ext cx="1097400" cy="1005900"/>
          </a:xfrm>
          <a:prstGeom prst="rect">
            <a:avLst/>
          </a:prstGeom>
          <a:noFill/>
          <a:ln cap="flat" cmpd="sng" w="28575">
            <a:solidFill>
              <a:srgbClr val="FF99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Copy number profile" id="310" name="Google Shape;310;h5eb69ffe71b1ad8e_0_0"/>
          <p:cNvPicPr preferRelativeResize="0"/>
          <p:nvPr/>
        </p:nvPicPr>
        <p:blipFill rotWithShape="1">
          <a:blip r:embed="rId11">
            <a:alphaModFix/>
          </a:blip>
          <a:srcRect b="0" l="0" r="0" t="0"/>
          <a:stretch/>
        </p:blipFill>
        <p:spPr>
          <a:xfrm>
            <a:off x="9293047" y="3584448"/>
            <a:ext cx="1840687" cy="1005840"/>
          </a:xfrm>
          <a:prstGeom prst="rect">
            <a:avLst/>
          </a:prstGeom>
          <a:noFill/>
          <a:ln>
            <a:noFill/>
          </a:ln>
        </p:spPr>
      </p:pic>
      <p:sp>
        <p:nvSpPr>
          <p:cNvPr id="311" name="Google Shape;311;h5eb69ffe71b1ad8e_0_0"/>
          <p:cNvSpPr/>
          <p:nvPr/>
        </p:nvSpPr>
        <p:spPr>
          <a:xfrm>
            <a:off x="8159191" y="4315968"/>
            <a:ext cx="1005900" cy="219600"/>
          </a:xfrm>
          <a:prstGeom prst="roundRect">
            <a:avLst>
              <a:gd fmla="val 50000" name="adj"/>
            </a:avLst>
          </a:prstGeom>
          <a:solidFill>
            <a:srgbClr val="FFFFFF"/>
          </a:solidFill>
          <a:ln>
            <a:noFill/>
          </a:ln>
        </p:spPr>
        <p:txBody>
          <a:bodyPr anchorCtr="0" anchor="ctr" bIns="0" lIns="64000" spcFirstLastPara="1" rIns="18275"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222222"/>
                </a:solidFill>
                <a:latin typeface="Calibri"/>
                <a:ea typeface="Calibri"/>
                <a:cs typeface="Calibri"/>
                <a:sym typeface="Calibri"/>
              </a:rPr>
              <a:t>Lung or elsewhere</a:t>
            </a:r>
            <a:endParaRPr b="0" i="0" spc="0" sz="1400" u="none" cap="none" strike="noStrike">
              <a:solidFill>
                <a:srgbClr val="000000"/>
              </a:solidFill>
              <a:latin typeface="Arial"/>
              <a:ea typeface="Arial"/>
              <a:cs typeface="Arial"/>
              <a:sym typeface="Arial"/>
            </a:endParaRPr>
          </a:p>
        </p:txBody>
      </p:sp>
      <p:cxnSp>
        <p:nvCxnSpPr>
          <p:cNvPr id="312" name="Google Shape;312;h5eb69ffe71b1ad8e_0_0"/>
          <p:cNvCxnSpPr/>
          <p:nvPr/>
        </p:nvCxnSpPr>
        <p:spPr>
          <a:xfrm flipH="1">
            <a:off x="6963194" y="3095244"/>
            <a:ext cx="78600" cy="274800"/>
          </a:xfrm>
          <a:prstGeom prst="straightConnector1">
            <a:avLst/>
          </a:prstGeom>
          <a:noFill/>
          <a:ln cap="flat" cmpd="sng" w="22225">
            <a:solidFill>
              <a:srgbClr val="B35C00"/>
            </a:solidFill>
            <a:prstDash val="dash"/>
            <a:round/>
            <a:headEnd len="sm" w="sm" type="none"/>
            <a:tailEnd len="med" w="med" type="triangle"/>
          </a:ln>
        </p:spPr>
      </p:cxnSp>
      <p:sp>
        <p:nvSpPr>
          <p:cNvPr id="313" name="Google Shape;313;h5eb69ffe71b1ad8e_0_0"/>
          <p:cNvSpPr/>
          <p:nvPr/>
        </p:nvSpPr>
        <p:spPr>
          <a:xfrm>
            <a:off x="6996074" y="2930652"/>
            <a:ext cx="183000" cy="183000"/>
          </a:xfrm>
          <a:prstGeom prst="ellipse">
            <a:avLst/>
          </a:prstGeom>
          <a:solidFill>
            <a:srgbClr val="FF9900"/>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4" name="Google Shape;314;h5eb69ffe71b1ad8e_0_0"/>
          <p:cNvSpPr/>
          <p:nvPr/>
        </p:nvSpPr>
        <p:spPr>
          <a:xfrm>
            <a:off x="6839712" y="3374685"/>
            <a:ext cx="137100" cy="137100"/>
          </a:xfrm>
          <a:prstGeom prst="ellipse">
            <a:avLst/>
          </a:prstGeom>
          <a:solidFill>
            <a:srgbClr val="FF9900"/>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5" name="Google Shape;315;h5eb69ffe71b1ad8e_0_0"/>
          <p:cNvSpPr txBox="1"/>
          <p:nvPr/>
        </p:nvSpPr>
        <p:spPr>
          <a:xfrm>
            <a:off x="6504127" y="4727448"/>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Genetics</a:t>
            </a:r>
            <a:endParaRPr b="0" i="0" spc="0" sz="1400" u="none" cap="none" strike="noStrike">
              <a:solidFill>
                <a:srgbClr val="000000"/>
              </a:solidFill>
              <a:latin typeface="Arial"/>
              <a:ea typeface="Arial"/>
              <a:cs typeface="Arial"/>
              <a:sym typeface="Arial"/>
            </a:endParaRPr>
          </a:p>
        </p:txBody>
      </p:sp>
      <p:sp>
        <p:nvSpPr>
          <p:cNvPr id="316" name="Google Shape;316;h5eb69ffe71b1ad8e_0_0"/>
          <p:cNvSpPr txBox="1"/>
          <p:nvPr/>
        </p:nvSpPr>
        <p:spPr>
          <a:xfrm>
            <a:off x="7555687" y="4727448"/>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Shared mutations &amp; copy-number profile</a:t>
            </a:r>
            <a:endParaRPr b="0" i="0" spc="0" sz="1400" u="none" cap="none" strike="noStrike">
              <a:solidFill>
                <a:srgbClr val="000000"/>
              </a:solidFill>
              <a:latin typeface="Arial"/>
              <a:ea typeface="Arial"/>
              <a:cs typeface="Arial"/>
              <a:sym typeface="Arial"/>
            </a:endParaRPr>
          </a:p>
        </p:txBody>
      </p:sp>
      <p:sp>
        <p:nvSpPr>
          <p:cNvPr id="317" name="Google Shape;317;h5eb69ffe71b1ad8e_0_0"/>
          <p:cNvSpPr/>
          <p:nvPr/>
        </p:nvSpPr>
        <p:spPr>
          <a:xfrm>
            <a:off x="6504127" y="5063490"/>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h5eb69ffe71b1ad8e_0_0"/>
          <p:cNvSpPr txBox="1"/>
          <p:nvPr/>
        </p:nvSpPr>
        <p:spPr>
          <a:xfrm>
            <a:off x="6504127" y="5065776"/>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Stage</a:t>
            </a:r>
            <a:endParaRPr b="0" i="0" spc="0" sz="1400" u="none" cap="none" strike="noStrike">
              <a:solidFill>
                <a:srgbClr val="000000"/>
              </a:solidFill>
              <a:latin typeface="Arial"/>
              <a:ea typeface="Arial"/>
              <a:cs typeface="Arial"/>
              <a:sym typeface="Arial"/>
            </a:endParaRPr>
          </a:p>
        </p:txBody>
      </p:sp>
      <p:sp>
        <p:nvSpPr>
          <p:cNvPr id="319" name="Google Shape;319;h5eb69ffe71b1ad8e_0_0"/>
          <p:cNvSpPr txBox="1"/>
          <p:nvPr/>
        </p:nvSpPr>
        <p:spPr>
          <a:xfrm>
            <a:off x="7555687" y="5065776"/>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Advanced / metastatic (e.g. T3/T4/M1a)</a:t>
            </a:r>
            <a:endParaRPr b="0" i="0" spc="0" sz="1400" u="none" cap="none" strike="noStrike">
              <a:solidFill>
                <a:srgbClr val="000000"/>
              </a:solidFill>
              <a:latin typeface="Arial"/>
              <a:ea typeface="Arial"/>
              <a:cs typeface="Arial"/>
              <a:sym typeface="Arial"/>
            </a:endParaRPr>
          </a:p>
        </p:txBody>
      </p:sp>
      <p:sp>
        <p:nvSpPr>
          <p:cNvPr id="320" name="Google Shape;320;h5eb69ffe71b1ad8e_0_0"/>
          <p:cNvSpPr/>
          <p:nvPr/>
        </p:nvSpPr>
        <p:spPr>
          <a:xfrm>
            <a:off x="6504127" y="5401818"/>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1" name="Google Shape;321;h5eb69ffe71b1ad8e_0_0"/>
          <p:cNvSpPr txBox="1"/>
          <p:nvPr/>
        </p:nvSpPr>
        <p:spPr>
          <a:xfrm>
            <a:off x="6504127" y="5404104"/>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Treatment</a:t>
            </a:r>
            <a:endParaRPr b="0" i="0" spc="0" sz="1400" u="none" cap="none" strike="noStrike">
              <a:solidFill>
                <a:srgbClr val="000000"/>
              </a:solidFill>
              <a:latin typeface="Arial"/>
              <a:ea typeface="Arial"/>
              <a:cs typeface="Arial"/>
              <a:sym typeface="Arial"/>
            </a:endParaRPr>
          </a:p>
        </p:txBody>
      </p:sp>
      <p:sp>
        <p:nvSpPr>
          <p:cNvPr id="322" name="Google Shape;322;h5eb69ffe71b1ad8e_0_0"/>
          <p:cNvSpPr txBox="1"/>
          <p:nvPr/>
        </p:nvSpPr>
        <p:spPr>
          <a:xfrm>
            <a:off x="7555687" y="5404104"/>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222222"/>
                </a:solidFill>
                <a:latin typeface="Calibri"/>
                <a:ea typeface="Calibri"/>
                <a:cs typeface="Calibri"/>
                <a:sym typeface="Calibri"/>
              </a:rPr>
              <a:t>Palliative systemic therapy</a:t>
            </a:r>
            <a:endParaRPr b="0" i="0" spc="0" sz="1400" u="none" cap="none" strike="noStrike">
              <a:solidFill>
                <a:srgbClr val="000000"/>
              </a:solidFill>
              <a:latin typeface="Arial"/>
              <a:ea typeface="Arial"/>
              <a:cs typeface="Arial"/>
              <a:sym typeface="Arial"/>
            </a:endParaRPr>
          </a:p>
        </p:txBody>
      </p:sp>
      <p:sp>
        <p:nvSpPr>
          <p:cNvPr id="323" name="Google Shape;323;h5eb69ffe71b1ad8e_0_0"/>
          <p:cNvSpPr/>
          <p:nvPr/>
        </p:nvSpPr>
        <p:spPr>
          <a:xfrm>
            <a:off x="6504127" y="5740146"/>
            <a:ext cx="4910400" cy="4500"/>
          </a:xfrm>
          <a:prstGeom prst="rect">
            <a:avLst/>
          </a:prstGeom>
          <a:solidFill>
            <a:srgbClr val="D5DBE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4" name="Google Shape;324;h5eb69ffe71b1ad8e_0_0"/>
          <p:cNvSpPr txBox="1"/>
          <p:nvPr/>
        </p:nvSpPr>
        <p:spPr>
          <a:xfrm>
            <a:off x="6504127" y="5742432"/>
            <a:ext cx="10059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Calibri"/>
                <a:ea typeface="Calibri"/>
                <a:cs typeface="Calibri"/>
                <a:sym typeface="Calibri"/>
              </a:rPr>
              <a:t>Prognosis</a:t>
            </a:r>
            <a:endParaRPr b="0" i="0" spc="0" sz="1400" u="none" cap="none" strike="noStrike">
              <a:solidFill>
                <a:srgbClr val="000000"/>
              </a:solidFill>
              <a:latin typeface="Arial"/>
              <a:ea typeface="Arial"/>
              <a:cs typeface="Arial"/>
              <a:sym typeface="Arial"/>
            </a:endParaRPr>
          </a:p>
        </p:txBody>
      </p:sp>
      <p:sp>
        <p:nvSpPr>
          <p:cNvPr id="325" name="Google Shape;325;h5eb69ffe71b1ad8e_0_0"/>
          <p:cNvSpPr txBox="1"/>
          <p:nvPr/>
        </p:nvSpPr>
        <p:spPr>
          <a:xfrm>
            <a:off x="7555687" y="5742432"/>
            <a:ext cx="3904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E08600"/>
                </a:solidFill>
                <a:latin typeface="Calibri"/>
                <a:ea typeface="Calibri"/>
                <a:cs typeface="Calibri"/>
                <a:sym typeface="Calibri"/>
              </a:rPr>
              <a:t>Poor survival potential</a:t>
            </a:r>
            <a:endParaRPr b="0" i="0" spc="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
          <p:cNvSpPr txBox="1"/>
          <p:nvPr/>
        </p:nvSpPr>
        <p:spPr>
          <a:xfrm>
            <a:off x="448056" y="1097280"/>
            <a:ext cx="112471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2800" u="none" cap="none" strike="noStrike">
                <a:solidFill>
                  <a:srgbClr val="1E9EBE"/>
                </a:solidFill>
                <a:latin typeface="Trebuchet MS"/>
                <a:ea typeface="Trebuchet MS"/>
                <a:cs typeface="Trebuchet MS"/>
                <a:sym typeface="Trebuchet MS"/>
              </a:rPr>
              <a:t>Two kinds of DNA changes</a:t>
            </a:r>
            <a:endParaRPr/>
          </a:p>
        </p:txBody>
      </p:sp>
      <p:sp>
        <p:nvSpPr>
          <p:cNvPr id="332" name="Google Shape;332;p3"/>
          <p:cNvSpPr txBox="1"/>
          <p:nvPr/>
        </p:nvSpPr>
        <p:spPr>
          <a:xfrm>
            <a:off x="448056" y="1591056"/>
            <a:ext cx="112471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500" u="none" cap="none" strike="noStrike">
                <a:solidFill>
                  <a:srgbClr val="595959"/>
                </a:solidFill>
                <a:latin typeface="Trebuchet MS"/>
                <a:ea typeface="Trebuchet MS"/>
                <a:cs typeface="Trebuchet MS"/>
                <a:sym typeface="Trebuchet MS"/>
              </a:rPr>
              <a:t>Our DNA is packed into chromosomes. Each chromosome carries many genes.</a:t>
            </a:r>
            <a:endParaRPr/>
          </a:p>
        </p:txBody>
      </p:sp>
      <p:sp>
        <p:nvSpPr>
          <p:cNvPr id="333" name="Google Shape;333;p3"/>
          <p:cNvSpPr/>
          <p:nvPr/>
        </p:nvSpPr>
        <p:spPr>
          <a:xfrm>
            <a:off x="448056" y="2057400"/>
            <a:ext cx="4617720" cy="3429000"/>
          </a:xfrm>
          <a:prstGeom prst="roundRect">
            <a:avLst>
              <a:gd fmla="val 6000" name="adj"/>
            </a:avLst>
          </a:prstGeom>
          <a:solidFill>
            <a:srgbClr val="F3F5F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34" name="Google Shape;334;p3"/>
          <p:cNvSpPr/>
          <p:nvPr/>
        </p:nvSpPr>
        <p:spPr>
          <a:xfrm>
            <a:off x="5294376" y="2057400"/>
            <a:ext cx="6446520" cy="3429000"/>
          </a:xfrm>
          <a:prstGeom prst="roundRect">
            <a:avLst>
              <a:gd fmla="val 6000" name="adj"/>
            </a:avLst>
          </a:prstGeom>
          <a:solidFill>
            <a:srgbClr val="F3F5F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35" name="Google Shape;335;p3"/>
          <p:cNvSpPr txBox="1"/>
          <p:nvPr/>
        </p:nvSpPr>
        <p:spPr>
          <a:xfrm>
            <a:off x="813816" y="2240280"/>
            <a:ext cx="40233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2000" u="none" cap="none" strike="noStrike">
                <a:solidFill>
                  <a:srgbClr val="1E9EBE"/>
                </a:solidFill>
                <a:latin typeface="Calibri"/>
                <a:ea typeface="Calibri"/>
                <a:cs typeface="Calibri"/>
                <a:sym typeface="Calibri"/>
              </a:rPr>
              <a:t>Zoom into one chromosome</a:t>
            </a:r>
            <a:endParaRPr/>
          </a:p>
        </p:txBody>
      </p:sp>
      <p:sp>
        <p:nvSpPr>
          <p:cNvPr id="336" name="Google Shape;336;p3"/>
          <p:cNvSpPr txBox="1"/>
          <p:nvPr/>
        </p:nvSpPr>
        <p:spPr>
          <a:xfrm>
            <a:off x="914400" y="2633472"/>
            <a:ext cx="18288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8C8C8C"/>
                </a:solidFill>
                <a:latin typeface="Calibri"/>
                <a:ea typeface="Calibri"/>
                <a:cs typeface="Calibri"/>
                <a:sym typeface="Calibri"/>
              </a:rPr>
              <a:t>chromosome</a:t>
            </a:r>
            <a:endParaRPr/>
          </a:p>
        </p:txBody>
      </p:sp>
      <p:sp>
        <p:nvSpPr>
          <p:cNvPr id="337" name="Google Shape;337;p3"/>
          <p:cNvSpPr/>
          <p:nvPr/>
        </p:nvSpPr>
        <p:spPr>
          <a:xfrm>
            <a:off x="914400" y="2871216"/>
            <a:ext cx="1051560" cy="384048"/>
          </a:xfrm>
          <a:prstGeom prst="roundRect">
            <a:avLst>
              <a:gd fmla="val 5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38" name="Google Shape;338;p3"/>
          <p:cNvSpPr/>
          <p:nvPr/>
        </p:nvSpPr>
        <p:spPr>
          <a:xfrm>
            <a:off x="1828800" y="2971800"/>
            <a:ext cx="320040" cy="182880"/>
          </a:xfrm>
          <a:prstGeom prst="rect">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39" name="Google Shape;339;p3"/>
          <p:cNvSpPr/>
          <p:nvPr/>
        </p:nvSpPr>
        <p:spPr>
          <a:xfrm>
            <a:off x="2011680" y="2871216"/>
            <a:ext cx="2560320" cy="384048"/>
          </a:xfrm>
          <a:prstGeom prst="roundRect">
            <a:avLst>
              <a:gd fmla="val 5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0" name="Google Shape;340;p3"/>
          <p:cNvSpPr/>
          <p:nvPr/>
        </p:nvSpPr>
        <p:spPr>
          <a:xfrm>
            <a:off x="1234440" y="2871216"/>
            <a:ext cx="54864" cy="384048"/>
          </a:xfrm>
          <a:prstGeom prst="rect">
            <a:avLst/>
          </a:prstGeom>
          <a:solidFill>
            <a:srgbClr val="D5DB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1" name="Google Shape;341;p3"/>
          <p:cNvSpPr/>
          <p:nvPr/>
        </p:nvSpPr>
        <p:spPr>
          <a:xfrm>
            <a:off x="1554480" y="2871216"/>
            <a:ext cx="54864" cy="384048"/>
          </a:xfrm>
          <a:prstGeom prst="rect">
            <a:avLst/>
          </a:prstGeom>
          <a:solidFill>
            <a:srgbClr val="D5DB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2" name="Google Shape;342;p3"/>
          <p:cNvSpPr/>
          <p:nvPr/>
        </p:nvSpPr>
        <p:spPr>
          <a:xfrm>
            <a:off x="2423160" y="2871216"/>
            <a:ext cx="54864" cy="384048"/>
          </a:xfrm>
          <a:prstGeom prst="rect">
            <a:avLst/>
          </a:prstGeom>
          <a:solidFill>
            <a:srgbClr val="D5DB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3" name="Google Shape;343;p3"/>
          <p:cNvSpPr/>
          <p:nvPr/>
        </p:nvSpPr>
        <p:spPr>
          <a:xfrm>
            <a:off x="2697480" y="2871216"/>
            <a:ext cx="54864" cy="384048"/>
          </a:xfrm>
          <a:prstGeom prst="rect">
            <a:avLst/>
          </a:prstGeom>
          <a:solidFill>
            <a:srgbClr val="D5DB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4" name="Google Shape;344;p3"/>
          <p:cNvSpPr/>
          <p:nvPr/>
        </p:nvSpPr>
        <p:spPr>
          <a:xfrm>
            <a:off x="3794760" y="2871216"/>
            <a:ext cx="54864" cy="384048"/>
          </a:xfrm>
          <a:prstGeom prst="rect">
            <a:avLst/>
          </a:prstGeom>
          <a:solidFill>
            <a:srgbClr val="D5DB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5" name="Google Shape;345;p3"/>
          <p:cNvSpPr/>
          <p:nvPr/>
        </p:nvSpPr>
        <p:spPr>
          <a:xfrm>
            <a:off x="4114800" y="2871216"/>
            <a:ext cx="54864" cy="384048"/>
          </a:xfrm>
          <a:prstGeom prst="rect">
            <a:avLst/>
          </a:prstGeom>
          <a:solidFill>
            <a:srgbClr val="D5DB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6" name="Google Shape;346;p3"/>
          <p:cNvSpPr/>
          <p:nvPr/>
        </p:nvSpPr>
        <p:spPr>
          <a:xfrm>
            <a:off x="3154680" y="2871216"/>
            <a:ext cx="301752" cy="384048"/>
          </a:xfrm>
          <a:prstGeom prst="rect">
            <a:avLst/>
          </a:prstGeom>
          <a:solidFill>
            <a:srgbClr val="E086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7" name="Google Shape;347;p3"/>
          <p:cNvSpPr/>
          <p:nvPr/>
        </p:nvSpPr>
        <p:spPr>
          <a:xfrm>
            <a:off x="914400" y="3255264"/>
            <a:ext cx="3657600" cy="694944"/>
          </a:xfrm>
          <a:custGeom>
            <a:rect b="b" l="l" r="r" t="t"/>
            <a:pathLst>
              <a:path extrusionOk="0" h="694944" w="3657600">
                <a:moveTo>
                  <a:pt x="2240280" y="0"/>
                </a:moveTo>
                <a:lnTo>
                  <a:pt x="2542032" y="0"/>
                </a:lnTo>
                <a:lnTo>
                  <a:pt x="3657600" y="694944"/>
                </a:lnTo>
                <a:lnTo>
                  <a:pt x="0" y="694944"/>
                </a:lnTo>
                <a:close/>
              </a:path>
            </a:pathLst>
          </a:custGeom>
          <a:solidFill>
            <a:srgbClr val="FCE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8" name="Google Shape;348;p3"/>
          <p:cNvSpPr/>
          <p:nvPr/>
        </p:nvSpPr>
        <p:spPr>
          <a:xfrm>
            <a:off x="914400" y="3950208"/>
            <a:ext cx="3657600" cy="512064"/>
          </a:xfrm>
          <a:prstGeom prst="roundRect">
            <a:avLst>
              <a:gd fmla="val 12000" name="adj"/>
            </a:avLst>
          </a:prstGeom>
          <a:solidFill>
            <a:srgbClr val="FFFFFF"/>
          </a:solidFill>
          <a:ln cap="flat" cmpd="sng" w="15875">
            <a:solidFill>
              <a:srgbClr val="D5DBE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49" name="Google Shape;349;p3"/>
          <p:cNvSpPr/>
          <p:nvPr/>
        </p:nvSpPr>
        <p:spPr>
          <a:xfrm>
            <a:off x="1005840" y="4192524"/>
            <a:ext cx="3474720" cy="27432"/>
          </a:xfrm>
          <a:prstGeom prst="rect">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50" name="Google Shape;350;p3"/>
          <p:cNvSpPr/>
          <p:nvPr/>
        </p:nvSpPr>
        <p:spPr>
          <a:xfrm>
            <a:off x="1143000" y="4041648"/>
            <a:ext cx="868680" cy="329184"/>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gene A</a:t>
            </a:r>
            <a:endParaRPr/>
          </a:p>
        </p:txBody>
      </p:sp>
      <p:sp>
        <p:nvSpPr>
          <p:cNvPr id="351" name="Google Shape;351;p3"/>
          <p:cNvSpPr/>
          <p:nvPr/>
        </p:nvSpPr>
        <p:spPr>
          <a:xfrm>
            <a:off x="2308860" y="4041648"/>
            <a:ext cx="868680" cy="329184"/>
          </a:xfrm>
          <a:prstGeom prst="roundRect">
            <a:avLst>
              <a:gd fmla="val 20000" name="adj"/>
            </a:avLst>
          </a:prstGeom>
          <a:solidFill>
            <a:srgbClr val="E086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gene B</a:t>
            </a:r>
            <a:endParaRPr/>
          </a:p>
        </p:txBody>
      </p:sp>
      <p:sp>
        <p:nvSpPr>
          <p:cNvPr id="352" name="Google Shape;352;p3"/>
          <p:cNvSpPr/>
          <p:nvPr/>
        </p:nvSpPr>
        <p:spPr>
          <a:xfrm>
            <a:off x="3474720" y="4041648"/>
            <a:ext cx="868680" cy="329184"/>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gene C</a:t>
            </a:r>
            <a:endParaRPr/>
          </a:p>
        </p:txBody>
      </p:sp>
      <p:sp>
        <p:nvSpPr>
          <p:cNvPr id="353" name="Google Shape;353;p3"/>
          <p:cNvSpPr txBox="1"/>
          <p:nvPr/>
        </p:nvSpPr>
        <p:spPr>
          <a:xfrm>
            <a:off x="914400" y="4617720"/>
            <a:ext cx="38404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300" u="none" cap="none" strike="noStrike">
                <a:solidFill>
                  <a:srgbClr val="595959"/>
                </a:solidFill>
                <a:latin typeface="Calibri"/>
                <a:ea typeface="Calibri"/>
                <a:cs typeface="Calibri"/>
                <a:sym typeface="Calibri"/>
              </a:rPr>
              <a:t>A gene is a stretch of DNA that holds the recipe for one protein.</a:t>
            </a:r>
            <a:endParaRPr/>
          </a:p>
        </p:txBody>
      </p:sp>
      <p:sp>
        <p:nvSpPr>
          <p:cNvPr id="354" name="Google Shape;354;p3"/>
          <p:cNvSpPr txBox="1"/>
          <p:nvPr/>
        </p:nvSpPr>
        <p:spPr>
          <a:xfrm>
            <a:off x="5660136" y="2240280"/>
            <a:ext cx="576072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2000" u="none" cap="none" strike="noStrike">
                <a:solidFill>
                  <a:srgbClr val="E08600"/>
                </a:solidFill>
                <a:latin typeface="Calibri"/>
                <a:ea typeface="Calibri"/>
                <a:cs typeface="Calibri"/>
                <a:sym typeface="Calibri"/>
              </a:rPr>
              <a:t>What a tumour can do to gene B</a:t>
            </a:r>
            <a:endParaRPr/>
          </a:p>
        </p:txBody>
      </p:sp>
      <p:sp>
        <p:nvSpPr>
          <p:cNvPr id="355" name="Google Shape;355;p3"/>
          <p:cNvSpPr txBox="1"/>
          <p:nvPr/>
        </p:nvSpPr>
        <p:spPr>
          <a:xfrm>
            <a:off x="5660136" y="2615184"/>
            <a:ext cx="57607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8C8C8C"/>
                </a:solidFill>
                <a:latin typeface="Calibri"/>
                <a:ea typeface="Calibri"/>
                <a:cs typeface="Calibri"/>
                <a:sym typeface="Calibri"/>
              </a:rPr>
              <a:t>CNA = copy-number alteration: the number of copies of a gene changes</a:t>
            </a:r>
            <a:endParaRPr/>
          </a:p>
        </p:txBody>
      </p:sp>
      <p:sp>
        <p:nvSpPr>
          <p:cNvPr id="356" name="Google Shape;356;p3"/>
          <p:cNvSpPr txBox="1"/>
          <p:nvPr/>
        </p:nvSpPr>
        <p:spPr>
          <a:xfrm>
            <a:off x="5660136" y="3017520"/>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595959"/>
                </a:solidFill>
                <a:latin typeface="Calibri"/>
                <a:ea typeface="Calibri"/>
                <a:cs typeface="Calibri"/>
                <a:sym typeface="Calibri"/>
              </a:rPr>
              <a:t>Normal</a:t>
            </a:r>
            <a:endParaRPr/>
          </a:p>
        </p:txBody>
      </p:sp>
      <p:sp>
        <p:nvSpPr>
          <p:cNvPr id="357" name="Google Shape;357;p3"/>
          <p:cNvSpPr/>
          <p:nvPr/>
        </p:nvSpPr>
        <p:spPr>
          <a:xfrm>
            <a:off x="7178040" y="3232404"/>
            <a:ext cx="1700784" cy="27432"/>
          </a:xfrm>
          <a:prstGeom prst="rect">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58" name="Google Shape;358;p3"/>
          <p:cNvSpPr/>
          <p:nvPr/>
        </p:nvSpPr>
        <p:spPr>
          <a:xfrm>
            <a:off x="7269480" y="3090672"/>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A</a:t>
            </a:r>
            <a:endParaRPr/>
          </a:p>
        </p:txBody>
      </p:sp>
      <p:sp>
        <p:nvSpPr>
          <p:cNvPr id="359" name="Google Shape;359;p3"/>
          <p:cNvSpPr/>
          <p:nvPr/>
        </p:nvSpPr>
        <p:spPr>
          <a:xfrm>
            <a:off x="7799832" y="3090672"/>
            <a:ext cx="457200" cy="310896"/>
          </a:xfrm>
          <a:prstGeom prst="roundRect">
            <a:avLst>
              <a:gd fmla="val 20000" name="adj"/>
            </a:avLst>
          </a:prstGeom>
          <a:solidFill>
            <a:srgbClr val="E086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B</a:t>
            </a:r>
            <a:endParaRPr/>
          </a:p>
        </p:txBody>
      </p:sp>
      <p:sp>
        <p:nvSpPr>
          <p:cNvPr id="360" name="Google Shape;360;p3"/>
          <p:cNvSpPr/>
          <p:nvPr/>
        </p:nvSpPr>
        <p:spPr>
          <a:xfrm>
            <a:off x="8330184" y="3090672"/>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C</a:t>
            </a:r>
            <a:endParaRPr/>
          </a:p>
        </p:txBody>
      </p:sp>
      <p:sp>
        <p:nvSpPr>
          <p:cNvPr id="361" name="Google Shape;361;p3"/>
          <p:cNvSpPr txBox="1"/>
          <p:nvPr/>
        </p:nvSpPr>
        <p:spPr>
          <a:xfrm>
            <a:off x="10058400" y="3017520"/>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595959"/>
                </a:solidFill>
                <a:latin typeface="Calibri"/>
                <a:ea typeface="Calibri"/>
                <a:cs typeface="Calibri"/>
                <a:sym typeface="Calibri"/>
              </a:rPr>
              <a:t>each gene present once</a:t>
            </a:r>
            <a:endParaRPr/>
          </a:p>
        </p:txBody>
      </p:sp>
      <p:sp>
        <p:nvSpPr>
          <p:cNvPr id="362" name="Google Shape;362;p3"/>
          <p:cNvSpPr txBox="1"/>
          <p:nvPr/>
        </p:nvSpPr>
        <p:spPr>
          <a:xfrm>
            <a:off x="5660136" y="3584448"/>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1E9EBE"/>
                </a:solidFill>
                <a:latin typeface="Calibri"/>
                <a:ea typeface="Calibri"/>
                <a:cs typeface="Calibri"/>
                <a:sym typeface="Calibri"/>
              </a:rPr>
              <a:t>Mutation</a:t>
            </a:r>
            <a:endParaRPr/>
          </a:p>
        </p:txBody>
      </p:sp>
      <p:sp>
        <p:nvSpPr>
          <p:cNvPr id="363" name="Google Shape;363;p3"/>
          <p:cNvSpPr/>
          <p:nvPr/>
        </p:nvSpPr>
        <p:spPr>
          <a:xfrm>
            <a:off x="7178040" y="3799332"/>
            <a:ext cx="1700784" cy="27432"/>
          </a:xfrm>
          <a:prstGeom prst="rect">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4" name="Google Shape;364;p3"/>
          <p:cNvSpPr/>
          <p:nvPr/>
        </p:nvSpPr>
        <p:spPr>
          <a:xfrm>
            <a:off x="7269480" y="3657600"/>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A</a:t>
            </a:r>
            <a:endParaRPr/>
          </a:p>
        </p:txBody>
      </p:sp>
      <p:sp>
        <p:nvSpPr>
          <p:cNvPr id="365" name="Google Shape;365;p3"/>
          <p:cNvSpPr/>
          <p:nvPr/>
        </p:nvSpPr>
        <p:spPr>
          <a:xfrm>
            <a:off x="7799832" y="3657600"/>
            <a:ext cx="457200" cy="310896"/>
          </a:xfrm>
          <a:prstGeom prst="roundRect">
            <a:avLst>
              <a:gd fmla="val 20000" name="adj"/>
            </a:avLst>
          </a:prstGeom>
          <a:solidFill>
            <a:srgbClr val="E086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B</a:t>
            </a:r>
            <a:endParaRPr/>
          </a:p>
        </p:txBody>
      </p:sp>
      <p:sp>
        <p:nvSpPr>
          <p:cNvPr id="366" name="Google Shape;366;p3"/>
          <p:cNvSpPr/>
          <p:nvPr/>
        </p:nvSpPr>
        <p:spPr>
          <a:xfrm>
            <a:off x="8147304" y="3639312"/>
            <a:ext cx="54864" cy="347472"/>
          </a:xfrm>
          <a:prstGeom prst="rect">
            <a:avLst/>
          </a:prstGeom>
          <a:solidFill>
            <a:srgbClr val="D0453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7" name="Google Shape;367;p3"/>
          <p:cNvSpPr/>
          <p:nvPr/>
        </p:nvSpPr>
        <p:spPr>
          <a:xfrm>
            <a:off x="8330184" y="3657600"/>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C</a:t>
            </a:r>
            <a:endParaRPr/>
          </a:p>
        </p:txBody>
      </p:sp>
      <p:sp>
        <p:nvSpPr>
          <p:cNvPr id="368" name="Google Shape;368;p3"/>
          <p:cNvSpPr txBox="1"/>
          <p:nvPr/>
        </p:nvSpPr>
        <p:spPr>
          <a:xfrm>
            <a:off x="10058400" y="3584448"/>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595959"/>
                </a:solidFill>
                <a:latin typeface="Calibri"/>
                <a:ea typeface="Calibri"/>
                <a:cs typeface="Calibri"/>
                <a:sym typeface="Calibri"/>
              </a:rPr>
              <a:t>typo inside gene B</a:t>
            </a:r>
            <a:endParaRPr/>
          </a:p>
        </p:txBody>
      </p:sp>
      <p:sp>
        <p:nvSpPr>
          <p:cNvPr id="369" name="Google Shape;369;p3"/>
          <p:cNvSpPr txBox="1"/>
          <p:nvPr/>
        </p:nvSpPr>
        <p:spPr>
          <a:xfrm>
            <a:off x="5660136" y="4151376"/>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E08600"/>
                </a:solidFill>
                <a:latin typeface="Calibri"/>
                <a:ea typeface="Calibri"/>
                <a:cs typeface="Calibri"/>
                <a:sym typeface="Calibri"/>
              </a:rPr>
              <a:t>CNA: gain</a:t>
            </a:r>
            <a:endParaRPr/>
          </a:p>
        </p:txBody>
      </p:sp>
      <p:sp>
        <p:nvSpPr>
          <p:cNvPr id="370" name="Google Shape;370;p3"/>
          <p:cNvSpPr/>
          <p:nvPr/>
        </p:nvSpPr>
        <p:spPr>
          <a:xfrm>
            <a:off x="7178040" y="4366260"/>
            <a:ext cx="2761488" cy="27432"/>
          </a:xfrm>
          <a:prstGeom prst="rect">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1" name="Google Shape;371;p3"/>
          <p:cNvSpPr/>
          <p:nvPr/>
        </p:nvSpPr>
        <p:spPr>
          <a:xfrm>
            <a:off x="7269480" y="4224528"/>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A</a:t>
            </a:r>
            <a:endParaRPr/>
          </a:p>
        </p:txBody>
      </p:sp>
      <p:sp>
        <p:nvSpPr>
          <p:cNvPr id="372" name="Google Shape;372;p3"/>
          <p:cNvSpPr/>
          <p:nvPr/>
        </p:nvSpPr>
        <p:spPr>
          <a:xfrm>
            <a:off x="7799832" y="4224528"/>
            <a:ext cx="457200" cy="310896"/>
          </a:xfrm>
          <a:prstGeom prst="roundRect">
            <a:avLst>
              <a:gd fmla="val 20000" name="adj"/>
            </a:avLst>
          </a:prstGeom>
          <a:solidFill>
            <a:srgbClr val="E086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B</a:t>
            </a:r>
            <a:endParaRPr/>
          </a:p>
        </p:txBody>
      </p:sp>
      <p:sp>
        <p:nvSpPr>
          <p:cNvPr id="373" name="Google Shape;373;p3"/>
          <p:cNvSpPr/>
          <p:nvPr/>
        </p:nvSpPr>
        <p:spPr>
          <a:xfrm>
            <a:off x="8330184" y="4224528"/>
            <a:ext cx="457200" cy="310896"/>
          </a:xfrm>
          <a:prstGeom prst="roundRect">
            <a:avLst>
              <a:gd fmla="val 20000" name="adj"/>
            </a:avLst>
          </a:prstGeom>
          <a:solidFill>
            <a:srgbClr val="E086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B</a:t>
            </a:r>
            <a:endParaRPr/>
          </a:p>
        </p:txBody>
      </p:sp>
      <p:sp>
        <p:nvSpPr>
          <p:cNvPr id="374" name="Google Shape;374;p3"/>
          <p:cNvSpPr/>
          <p:nvPr/>
        </p:nvSpPr>
        <p:spPr>
          <a:xfrm>
            <a:off x="8860536" y="4224528"/>
            <a:ext cx="457200" cy="310896"/>
          </a:xfrm>
          <a:prstGeom prst="roundRect">
            <a:avLst>
              <a:gd fmla="val 20000" name="adj"/>
            </a:avLst>
          </a:prstGeom>
          <a:solidFill>
            <a:srgbClr val="E086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B</a:t>
            </a:r>
            <a:endParaRPr/>
          </a:p>
        </p:txBody>
      </p:sp>
      <p:sp>
        <p:nvSpPr>
          <p:cNvPr id="375" name="Google Shape;375;p3"/>
          <p:cNvSpPr/>
          <p:nvPr/>
        </p:nvSpPr>
        <p:spPr>
          <a:xfrm>
            <a:off x="9390888" y="4224528"/>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C</a:t>
            </a:r>
            <a:endParaRPr/>
          </a:p>
        </p:txBody>
      </p:sp>
      <p:sp>
        <p:nvSpPr>
          <p:cNvPr id="376" name="Google Shape;376;p3"/>
          <p:cNvSpPr txBox="1"/>
          <p:nvPr/>
        </p:nvSpPr>
        <p:spPr>
          <a:xfrm>
            <a:off x="10058400" y="4151376"/>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595959"/>
                </a:solidFill>
                <a:latin typeface="Calibri"/>
                <a:ea typeface="Calibri"/>
                <a:cs typeface="Calibri"/>
                <a:sym typeface="Calibri"/>
              </a:rPr>
              <a:t>gene B copied 3×</a:t>
            </a:r>
            <a:endParaRPr/>
          </a:p>
        </p:txBody>
      </p:sp>
      <p:sp>
        <p:nvSpPr>
          <p:cNvPr id="377" name="Google Shape;377;p3"/>
          <p:cNvSpPr txBox="1"/>
          <p:nvPr/>
        </p:nvSpPr>
        <p:spPr>
          <a:xfrm>
            <a:off x="5660136" y="4718304"/>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pc="0" sz="1600" u="none" cap="none" strike="noStrike">
                <a:solidFill>
                  <a:srgbClr val="D0453E"/>
                </a:solidFill>
                <a:latin typeface="Calibri"/>
                <a:ea typeface="Calibri"/>
                <a:cs typeface="Calibri"/>
                <a:sym typeface="Calibri"/>
              </a:rPr>
              <a:t>CNA: loss</a:t>
            </a:r>
            <a:endParaRPr/>
          </a:p>
        </p:txBody>
      </p:sp>
      <p:sp>
        <p:nvSpPr>
          <p:cNvPr id="378" name="Google Shape;378;p3"/>
          <p:cNvSpPr/>
          <p:nvPr/>
        </p:nvSpPr>
        <p:spPr>
          <a:xfrm>
            <a:off x="7178040" y="4933188"/>
            <a:ext cx="1700784" cy="27432"/>
          </a:xfrm>
          <a:prstGeom prst="rect">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9" name="Google Shape;379;p3"/>
          <p:cNvSpPr/>
          <p:nvPr/>
        </p:nvSpPr>
        <p:spPr>
          <a:xfrm>
            <a:off x="7269480" y="4791456"/>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A</a:t>
            </a:r>
            <a:endParaRPr/>
          </a:p>
        </p:txBody>
      </p:sp>
      <p:sp>
        <p:nvSpPr>
          <p:cNvPr id="380" name="Google Shape;380;p3"/>
          <p:cNvSpPr/>
          <p:nvPr/>
        </p:nvSpPr>
        <p:spPr>
          <a:xfrm>
            <a:off x="7799832" y="4791456"/>
            <a:ext cx="457200" cy="310896"/>
          </a:xfrm>
          <a:prstGeom prst="roundRect">
            <a:avLst>
              <a:gd fmla="val 20000" name="adj"/>
            </a:avLst>
          </a:prstGeom>
          <a:solidFill>
            <a:srgbClr val="F3F5F7"/>
          </a:solidFill>
          <a:ln cap="flat" cmpd="sng" w="15875">
            <a:solidFill>
              <a:srgbClr val="D0453E"/>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81" name="Google Shape;381;p3"/>
          <p:cNvSpPr/>
          <p:nvPr/>
        </p:nvSpPr>
        <p:spPr>
          <a:xfrm>
            <a:off x="8330184" y="4791456"/>
            <a:ext cx="457200" cy="310896"/>
          </a:xfrm>
          <a:prstGeom prst="roundRect">
            <a:avLst>
              <a:gd fmla="val 20000" name="adj"/>
            </a:avLst>
          </a:prstGeom>
          <a:solidFill>
            <a:srgbClr val="8C99A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300" u="none" cap="none" strike="noStrike">
                <a:solidFill>
                  <a:srgbClr val="FFFFFF"/>
                </a:solidFill>
                <a:latin typeface="Calibri"/>
                <a:ea typeface="Calibri"/>
                <a:cs typeface="Calibri"/>
                <a:sym typeface="Calibri"/>
              </a:rPr>
              <a:t>C</a:t>
            </a:r>
            <a:endParaRPr/>
          </a:p>
        </p:txBody>
      </p:sp>
      <p:sp>
        <p:nvSpPr>
          <p:cNvPr id="382" name="Google Shape;382;p3"/>
          <p:cNvSpPr txBox="1"/>
          <p:nvPr/>
        </p:nvSpPr>
        <p:spPr>
          <a:xfrm>
            <a:off x="10058400" y="4718304"/>
            <a:ext cx="1508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595959"/>
                </a:solidFill>
                <a:latin typeface="Calibri"/>
                <a:ea typeface="Calibri"/>
                <a:cs typeface="Calibri"/>
                <a:sym typeface="Calibri"/>
              </a:rPr>
              <a:t>gene B missing</a:t>
            </a:r>
            <a:endParaRPr/>
          </a:p>
        </p:txBody>
      </p:sp>
      <p:sp>
        <p:nvSpPr>
          <p:cNvPr id="383" name="Google Shape;383;p3"/>
          <p:cNvSpPr/>
          <p:nvPr/>
        </p:nvSpPr>
        <p:spPr>
          <a:xfrm>
            <a:off x="448056" y="5687568"/>
            <a:ext cx="11292840" cy="411480"/>
          </a:xfrm>
          <a:prstGeom prst="roundRect">
            <a:avLst>
              <a:gd fmla="val 12000" name="adj"/>
            </a:avLst>
          </a:prstGeom>
          <a:solidFill>
            <a:srgbClr val="FFF2CC"/>
          </a:solidFill>
          <a:ln cap="flat" cmpd="sng" w="12700">
            <a:solidFill>
              <a:srgbClr val="E0B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84" name="Google Shape;384;p3"/>
          <p:cNvSpPr txBox="1"/>
          <p:nvPr/>
        </p:nvSpPr>
        <p:spPr>
          <a:xfrm>
            <a:off x="640080" y="5687568"/>
            <a:ext cx="10927080" cy="4114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pc="0" sz="1500" u="none" cap="none" strike="noStrike">
                <a:solidFill>
                  <a:srgbClr val="222222"/>
                </a:solidFill>
                <a:latin typeface="Calibri"/>
                <a:ea typeface="Calibri"/>
                <a:cs typeface="Calibri"/>
                <a:sym typeface="Calibri"/>
              </a:rPr>
              <a:t>Which genes are mutated, gained or lost forms a fingerprint of the tumour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id="389" name="Google Shape;389;h3feeff9767e46d2f_3_229"/>
          <p:cNvPicPr preferRelativeResize="0"/>
          <p:nvPr/>
        </p:nvPicPr>
        <p:blipFill rotWithShape="1">
          <a:blip r:embed="rId3">
            <a:alphaModFix/>
          </a:blip>
          <a:srcRect b="0" l="0" r="0" t="0"/>
          <a:stretch/>
        </p:blipFill>
        <p:spPr>
          <a:xfrm>
            <a:off x="152400" y="1012950"/>
            <a:ext cx="11887196" cy="500513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fb84b8cee0_0_34"/>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5" name="Google Shape;395;g3fb84b8cee0_0_34"/>
          <p:cNvSpPr/>
          <p:nvPr/>
        </p:nvSpPr>
        <p:spPr>
          <a:xfrm>
            <a:off x="6207600" y="2663775"/>
            <a:ext cx="5712000" cy="2285700"/>
          </a:xfrm>
          <a:prstGeom prst="roundRect">
            <a:avLst>
              <a:gd fmla="val 8000" name="adj"/>
            </a:avLst>
          </a:prstGeom>
          <a:solidFill>
            <a:srgbClr val="FCEBEA"/>
          </a:solidFill>
          <a:ln cap="flat" cmpd="sng" w="15875">
            <a:solidFill>
              <a:srgbClr val="C0392B"/>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0"/>
              </a:spcBef>
              <a:spcAft>
                <a:spcPts val="0"/>
              </a:spcAft>
              <a:buClr>
                <a:srgbClr val="000000"/>
              </a:buClr>
              <a:buSzPts val="1600"/>
              <a:buFont typeface="Arial"/>
              <a:buNone/>
            </a:pPr>
            <a:r>
              <a:rPr b="1" i="0" lang="en-US" spc="0" sz="1600" u="none" cap="none" strike="noStrike">
                <a:solidFill>
                  <a:srgbClr val="9B2A1F"/>
                </a:solidFill>
                <a:latin typeface="Trebuchet MS"/>
                <a:ea typeface="Trebuchet MS"/>
                <a:cs typeface="Trebuchet MS"/>
                <a:sym typeface="Trebuchet MS"/>
              </a:rPr>
              <a:t>Histology vs. sequencing disagree often</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400"/>
              </a:spcBef>
              <a:spcAft>
                <a:spcPts val="0"/>
              </a:spcAft>
              <a:buClr>
                <a:srgbClr val="000000"/>
              </a:buClr>
              <a:buSzPts val="1400"/>
              <a:buFont typeface="Arial"/>
              <a:buNone/>
            </a:pPr>
            <a:r>
              <a:rPr b="0" i="0" lang="en-US" spc="0" sz="1400" u="none" cap="none" strike="noStrike">
                <a:solidFill>
                  <a:srgbClr val="222222"/>
                </a:solidFill>
                <a:latin typeface="Trebuchet MS"/>
                <a:ea typeface="Trebuchet MS"/>
                <a:cs typeface="Trebuchet MS"/>
                <a:sym typeface="Trebuchet MS"/>
              </a:rPr>
              <a:t>• 76 tumour pairs, prospective histologic call vs. MSK-IMPACT NGS</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222222"/>
                </a:solidFill>
                <a:latin typeface="Trebuchet MS"/>
                <a:ea typeface="Trebuchet MS"/>
                <a:cs typeface="Trebuchet MS"/>
                <a:sym typeface="Trebuchet MS"/>
              </a:rPr>
              <a:t>• </a:t>
            </a:r>
            <a:r>
              <a:rPr b="1" i="0" lang="en-US" spc="0" sz="1400" u="none" cap="none" strike="noStrike">
                <a:solidFill>
                  <a:srgbClr val="222222"/>
                </a:solidFill>
                <a:latin typeface="Trebuchet MS"/>
                <a:ea typeface="Trebuchet MS"/>
                <a:cs typeface="Trebuchet MS"/>
                <a:sym typeface="Trebuchet MS"/>
              </a:rPr>
              <a:t>Discordant in 22 %</a:t>
            </a:r>
            <a:r>
              <a:rPr b="0" i="0" lang="en-US" spc="0" sz="1400" u="none" cap="none" strike="noStrike">
                <a:solidFill>
                  <a:srgbClr val="222222"/>
                </a:solidFill>
                <a:latin typeface="Trebuchet MS"/>
                <a:ea typeface="Trebuchet MS"/>
                <a:cs typeface="Trebuchet MS"/>
                <a:sym typeface="Trebuchet MS"/>
              </a:rPr>
              <a:t> of pairs overall</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222222"/>
                </a:solidFill>
                <a:latin typeface="Trebuchet MS"/>
                <a:ea typeface="Trebuchet MS"/>
                <a:cs typeface="Trebuchet MS"/>
                <a:sym typeface="Trebuchet MS"/>
              </a:rPr>
              <a:t>• </a:t>
            </a:r>
            <a:r>
              <a:rPr b="1" i="0" lang="en-US" spc="0" sz="1400" u="none" cap="none" strike="noStrike">
                <a:solidFill>
                  <a:srgbClr val="222222"/>
                </a:solidFill>
                <a:latin typeface="Trebuchet MS"/>
                <a:ea typeface="Trebuchet MS"/>
                <a:cs typeface="Trebuchet MS"/>
                <a:sym typeface="Trebuchet MS"/>
              </a:rPr>
              <a:t>30 %</a:t>
            </a:r>
            <a:r>
              <a:rPr b="0" i="0" lang="en-US" spc="0" sz="1400" u="none" cap="none" strike="noStrike">
                <a:solidFill>
                  <a:srgbClr val="222222"/>
                </a:solidFill>
                <a:latin typeface="Trebuchet MS"/>
                <a:ea typeface="Trebuchet MS"/>
                <a:cs typeface="Trebuchet MS"/>
                <a:sym typeface="Trebuchet MS"/>
              </a:rPr>
              <a:t> </a:t>
            </a:r>
            <a:r>
              <a:rPr b="1" i="0" lang="en-US" spc="0" sz="1400" u="none" cap="none" strike="noStrike">
                <a:solidFill>
                  <a:srgbClr val="222222"/>
                </a:solidFill>
                <a:latin typeface="Trebuchet MS"/>
                <a:ea typeface="Trebuchet MS"/>
                <a:cs typeface="Trebuchet MS"/>
                <a:sym typeface="Trebuchet MS"/>
              </a:rPr>
              <a:t>discordant </a:t>
            </a:r>
            <a:r>
              <a:rPr b="0" i="0" lang="en-US" spc="0" sz="1400" u="none" cap="none" strike="noStrike">
                <a:solidFill>
                  <a:srgbClr val="222222"/>
                </a:solidFill>
                <a:latin typeface="Trebuchet MS"/>
                <a:ea typeface="Trebuchet MS"/>
                <a:cs typeface="Trebuchet MS"/>
                <a:sym typeface="Trebuchet MS"/>
              </a:rPr>
              <a:t>when histology called 'metastasis'</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200"/>
              <a:buFont typeface="Arial"/>
              <a:buNone/>
            </a:pPr>
            <a:r>
              <a:rPr b="0" i="1" lang="en-US" spc="0" sz="1200" u="none" cap="none" strike="noStrike">
                <a:solidFill>
                  <a:srgbClr val="6B6B6B"/>
                </a:solidFill>
                <a:latin typeface="Trebuchet MS"/>
                <a:ea typeface="Trebuchet MS"/>
                <a:cs typeface="Trebuchet MS"/>
                <a:sym typeface="Trebuchet MS"/>
              </a:rPr>
              <a:t>Chang et al., Clin Cancer Res 2019</a:t>
            </a:r>
            <a:endParaRPr b="0" i="1" spc="0" sz="1200" u="none" cap="none" strike="noStrike">
              <a:solidFill>
                <a:srgbClr val="6B6B6B"/>
              </a:solidFill>
              <a:latin typeface="Trebuchet MS"/>
              <a:ea typeface="Trebuchet MS"/>
              <a:cs typeface="Trebuchet MS"/>
              <a:sym typeface="Trebuchet MS"/>
            </a:endParaRPr>
          </a:p>
          <a:p>
            <a:pPr indent="0" lvl="0" marL="0" marR="0" rtl="0" algn="l">
              <a:lnSpc>
                <a:spcPct val="100000"/>
              </a:lnSpc>
              <a:spcBef>
                <a:spcPts val="300"/>
              </a:spcBef>
              <a:spcAft>
                <a:spcPts val="0"/>
              </a:spcAft>
              <a:buClr>
                <a:schemeClr val="dk1"/>
              </a:buClr>
              <a:buSzPts val="1400"/>
              <a:buFont typeface="Arial"/>
              <a:buNone/>
            </a:pPr>
            <a:r>
              <a:rPr b="0" i="0" lang="en-US" spc="0" sz="1400" u="none" cap="none" strike="noStrike">
                <a:solidFill>
                  <a:srgbClr val="222222"/>
                </a:solidFill>
                <a:latin typeface="Trebuchet MS"/>
                <a:ea typeface="Trebuchet MS"/>
                <a:cs typeface="Trebuchet MS"/>
                <a:sym typeface="Trebuchet MS"/>
              </a:rPr>
              <a:t>• </a:t>
            </a:r>
            <a:r>
              <a:rPr b="1" i="0" lang="en-US" spc="0" sz="1400" u="none" cap="none" strike="noStrike">
                <a:solidFill>
                  <a:srgbClr val="222222"/>
                </a:solidFill>
                <a:latin typeface="Trebuchet MS"/>
                <a:ea typeface="Trebuchet MS"/>
                <a:cs typeface="Trebuchet MS"/>
                <a:sym typeface="Trebuchet MS"/>
              </a:rPr>
              <a:t>Discordant in 24 % </a:t>
            </a:r>
            <a:r>
              <a:rPr b="0" i="0" lang="en-US" spc="0" sz="1400" u="none" cap="none" strike="noStrike">
                <a:solidFill>
                  <a:srgbClr val="222222"/>
                </a:solidFill>
                <a:latin typeface="Trebuchet MS"/>
                <a:ea typeface="Trebuchet MS"/>
                <a:cs typeface="Trebuchet MS"/>
                <a:sym typeface="Trebuchet MS"/>
              </a:rPr>
              <a:t>of pairs overall</a:t>
            </a:r>
            <a:endParaRPr b="0" i="0" spc="0" sz="1400" u="none" cap="none" strike="noStrike">
              <a:solidFill>
                <a:srgbClr val="222222"/>
              </a:solidFill>
              <a:latin typeface="Trebuchet MS"/>
              <a:ea typeface="Trebuchet MS"/>
              <a:cs typeface="Trebuchet MS"/>
              <a:sym typeface="Trebuchet MS"/>
            </a:endParaRPr>
          </a:p>
          <a:p>
            <a:pPr indent="0" lvl="0" marL="0" marR="0" rtl="0" algn="l">
              <a:lnSpc>
                <a:spcPct val="100000"/>
              </a:lnSpc>
              <a:spcBef>
                <a:spcPts val="300"/>
              </a:spcBef>
              <a:spcAft>
                <a:spcPts val="0"/>
              </a:spcAft>
              <a:buClr>
                <a:schemeClr val="dk1"/>
              </a:buClr>
              <a:buSzPts val="1200"/>
              <a:buFont typeface="Arial"/>
              <a:buNone/>
            </a:pPr>
            <a:r>
              <a:rPr b="0" i="1" lang="en-US" spc="0" sz="1200" u="none" cap="none" strike="noStrike">
                <a:solidFill>
                  <a:srgbClr val="6B6B6B"/>
                </a:solidFill>
                <a:latin typeface="Trebuchet MS"/>
                <a:ea typeface="Trebuchet MS"/>
                <a:cs typeface="Trebuchet MS"/>
                <a:sym typeface="Trebuchet MS"/>
              </a:rPr>
              <a:t>Allgäuer et al., Journal of Thoracic Oncology 2026</a:t>
            </a:r>
            <a:endParaRPr b="0" i="1" spc="0" sz="1200" u="none" cap="none" strike="noStrike">
              <a:solidFill>
                <a:srgbClr val="6B6B6B"/>
              </a:solidFill>
              <a:latin typeface="Trebuchet MS"/>
              <a:ea typeface="Trebuchet MS"/>
              <a:cs typeface="Trebuchet MS"/>
              <a:sym typeface="Trebuchet MS"/>
            </a:endParaRPr>
          </a:p>
        </p:txBody>
      </p:sp>
      <p:sp>
        <p:nvSpPr>
          <p:cNvPr id="396" name="Google Shape;396;g3fb84b8cee0_0_34"/>
          <p:cNvSpPr/>
          <p:nvPr/>
        </p:nvSpPr>
        <p:spPr>
          <a:xfrm>
            <a:off x="272400" y="2663776"/>
            <a:ext cx="5658000" cy="2285700"/>
          </a:xfrm>
          <a:prstGeom prst="roundRect">
            <a:avLst>
              <a:gd fmla="val 8000" name="adj"/>
            </a:avLst>
          </a:prstGeom>
          <a:solidFill>
            <a:srgbClr val="F1EAF8"/>
          </a:solidFill>
          <a:ln cap="flat" cmpd="sng" w="15875">
            <a:solidFill>
              <a:srgbClr val="6A4C93"/>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0"/>
              </a:spcBef>
              <a:spcAft>
                <a:spcPts val="0"/>
              </a:spcAft>
              <a:buClr>
                <a:srgbClr val="000000"/>
              </a:buClr>
              <a:buSzPts val="1600"/>
              <a:buFont typeface="Arial"/>
              <a:buNone/>
            </a:pPr>
            <a:r>
              <a:rPr b="1" i="0" lang="en-US" spc="0" sz="1600" u="none" cap="none" strike="noStrike">
                <a:solidFill>
                  <a:srgbClr val="4E3374"/>
                </a:solidFill>
                <a:latin typeface="Trebuchet MS"/>
                <a:ea typeface="Trebuchet MS"/>
                <a:cs typeface="Trebuchet MS"/>
                <a:sym typeface="Trebuchet MS"/>
              </a:rPr>
              <a:t>Sequencing is expensive &amp; time consuming</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400"/>
              </a:spcBef>
              <a:spcAft>
                <a:spcPts val="0"/>
              </a:spcAft>
              <a:buClr>
                <a:srgbClr val="000000"/>
              </a:buClr>
              <a:buSzPts val="1400"/>
              <a:buFont typeface="Arial"/>
              <a:buNone/>
            </a:pPr>
            <a:r>
              <a:rPr b="0" i="0" lang="en-US" spc="0" sz="1400" u="none" cap="none" strike="noStrike">
                <a:solidFill>
                  <a:srgbClr val="222222"/>
                </a:solidFill>
                <a:latin typeface="Trebuchet MS"/>
                <a:ea typeface="Trebuchet MS"/>
                <a:cs typeface="Trebuchet MS"/>
                <a:sym typeface="Trebuchet MS"/>
              </a:rPr>
              <a:t>• In our setting ≈ </a:t>
            </a:r>
            <a:r>
              <a:rPr b="1" i="0" lang="en-US" spc="0" sz="1400" u="none" cap="none" strike="noStrike">
                <a:solidFill>
                  <a:srgbClr val="222222"/>
                </a:solidFill>
                <a:latin typeface="Trebuchet MS"/>
                <a:ea typeface="Trebuchet MS"/>
                <a:cs typeface="Trebuchet MS"/>
                <a:sym typeface="Trebuchet MS"/>
              </a:rPr>
              <a:t>€1,700</a:t>
            </a:r>
            <a:r>
              <a:rPr b="0" i="0" lang="en-US" spc="0" sz="1400" u="none" cap="none" strike="noStrike">
                <a:solidFill>
                  <a:srgbClr val="222222"/>
                </a:solidFill>
                <a:latin typeface="Trebuchet MS"/>
                <a:ea typeface="Trebuchet MS"/>
                <a:cs typeface="Trebuchet MS"/>
                <a:sym typeface="Trebuchet MS"/>
              </a:rPr>
              <a:t> per tumour and &gt;</a:t>
            </a:r>
            <a:r>
              <a:rPr b="1" i="0" lang="en-US" spc="0" sz="1400" u="none" cap="none" strike="noStrike">
                <a:solidFill>
                  <a:srgbClr val="222222"/>
                </a:solidFill>
                <a:latin typeface="Trebuchet MS"/>
                <a:ea typeface="Trebuchet MS"/>
                <a:cs typeface="Trebuchet MS"/>
                <a:sym typeface="Trebuchet MS"/>
              </a:rPr>
              <a:t>1 week</a:t>
            </a:r>
            <a:r>
              <a:rPr b="0" i="0" lang="en-US" spc="0" sz="1400" u="none" cap="none" strike="noStrike">
                <a:solidFill>
                  <a:srgbClr val="222222"/>
                </a:solidFill>
                <a:latin typeface="Trebuchet MS"/>
                <a:ea typeface="Trebuchet MS"/>
                <a:cs typeface="Trebuchet MS"/>
                <a:sym typeface="Trebuchet MS"/>
              </a:rPr>
              <a:t> turnaround</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222222"/>
                </a:solidFill>
                <a:latin typeface="Trebuchet MS"/>
                <a:ea typeface="Trebuchet MS"/>
                <a:cs typeface="Trebuchet MS"/>
                <a:sym typeface="Trebuchet MS"/>
              </a:rPr>
              <a:t>• Needs sufficient tumour material from both lesions</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222222"/>
                </a:solidFill>
                <a:latin typeface="Trebuchet MS"/>
                <a:ea typeface="Trebuchet MS"/>
                <a:cs typeface="Trebuchet MS"/>
                <a:sym typeface="Trebuchet MS"/>
              </a:rPr>
              <a:t>• Availability of comprehensive profiling varies strongly between countries</a:t>
            </a:r>
            <a:endParaRPr b="0" i="0" spc="0" sz="15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200"/>
              <a:buFont typeface="Arial"/>
              <a:buNone/>
            </a:pPr>
            <a:r>
              <a:rPr b="0" i="1" lang="en-US" spc="0" sz="1200" u="none" cap="none" strike="noStrike">
                <a:solidFill>
                  <a:srgbClr val="6B6B6B"/>
                </a:solidFill>
                <a:latin typeface="Trebuchet MS"/>
                <a:ea typeface="Trebuchet MS"/>
                <a:cs typeface="Trebuchet MS"/>
                <a:sym typeface="Trebuchet MS"/>
              </a:rPr>
              <a:t>IASLC Pathology Committee recommendations, J Thorac Oncol 2024</a:t>
            </a:r>
            <a:endParaRPr b="0" i="0" spc="0" sz="1500" u="none" cap="none" strike="noStrike">
              <a:solidFill>
                <a:srgbClr val="000000"/>
              </a:solidFill>
              <a:latin typeface="Trebuchet MS"/>
              <a:ea typeface="Trebuchet MS"/>
              <a:cs typeface="Trebuchet MS"/>
              <a:sym typeface="Trebuchet MS"/>
            </a:endParaRPr>
          </a:p>
        </p:txBody>
      </p:sp>
      <p:sp>
        <p:nvSpPr>
          <p:cNvPr id="397" name="Google Shape;397;g3fb84b8cee0_0_34"/>
          <p:cNvSpPr txBox="1"/>
          <p:nvPr/>
        </p:nvSpPr>
        <p:spPr>
          <a:xfrm>
            <a:off x="409075" y="107418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Challenges in Genomic Profiling for Multiple Lesions</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fbc13185ce_0_39"/>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3" name="Google Shape;403;g3fbc13185ce_0_39"/>
          <p:cNvSpPr txBox="1"/>
          <p:nvPr/>
        </p:nvSpPr>
        <p:spPr>
          <a:xfrm>
            <a:off x="409075" y="107418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The goal: An AI-Triage Tool</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04" name="Google Shape;404;g3fbc13185ce_0_39" title="Standard vs AI-triage workflow@2x.png"/>
          <p:cNvPicPr preferRelativeResize="0"/>
          <p:nvPr/>
        </p:nvPicPr>
        <p:blipFill rotWithShape="1">
          <a:blip r:embed="rId3">
            <a:alphaModFix/>
          </a:blip>
          <a:srcRect b="0" l="0" r="0" t="0"/>
          <a:stretch/>
        </p:blipFill>
        <p:spPr>
          <a:xfrm>
            <a:off x="1170751" y="1813075"/>
            <a:ext cx="9850501" cy="393925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fb84b8cee0_0_43"/>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0" name="Google Shape;410;g3fb84b8cee0_0_43"/>
          <p:cNvSpPr txBox="1"/>
          <p:nvPr/>
        </p:nvSpPr>
        <p:spPr>
          <a:xfrm>
            <a:off x="409075" y="1074182"/>
            <a:ext cx="10607100" cy="969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Is the clonal relationship of tumors visible on WSIs?</a:t>
            </a:r>
            <a:endParaRPr b="1" i="0" spc="0" sz="2800" u="none" cap="none" strike="noStrike">
              <a:solidFill>
                <a:srgbClr val="1E9EBE"/>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Arial"/>
              <a:buNone/>
            </a:pPr>
            <a:r>
              <a:rPr b="0" i="0" lang="en-US" spc="0" sz="1500" u="none" cap="none" strike="noStrike">
                <a:solidFill>
                  <a:srgbClr val="6B6B6B"/>
                </a:solidFill>
                <a:latin typeface="Calibri"/>
                <a:ea typeface="Calibri"/>
                <a:cs typeface="Calibri"/>
                <a:sym typeface="Calibri"/>
              </a:rPr>
              <a:t>Two lines of evidence say the idea is reasonable</a:t>
            </a:r>
            <a:endParaRPr b="1" i="0" spc="0" sz="2800" u="none" cap="none" strike="noStrike">
              <a:solidFill>
                <a:srgbClr val="1E9EB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11" name="Google Shape;411;g3fb84b8cee0_0_43" title="Rationale 1 pathologists already use it@2x.png"/>
          <p:cNvPicPr preferRelativeResize="0"/>
          <p:nvPr/>
        </p:nvPicPr>
        <p:blipFill rotWithShape="1">
          <a:blip r:embed="rId3">
            <a:alphaModFix/>
          </a:blip>
          <a:srcRect b="0" l="3494" r="0" t="4003"/>
          <a:stretch/>
        </p:blipFill>
        <p:spPr>
          <a:xfrm>
            <a:off x="958250" y="1820800"/>
            <a:ext cx="4706126" cy="4328750"/>
          </a:xfrm>
          <a:prstGeom prst="rect">
            <a:avLst/>
          </a:prstGeom>
          <a:noFill/>
          <a:ln>
            <a:noFill/>
          </a:ln>
        </p:spPr>
      </p:pic>
      <p:pic>
        <p:nvPicPr>
          <p:cNvPr id="412" name="Google Shape;412;g3fb84b8cee0_0_43" title="Rationale 2 genotype traces@2x.png"/>
          <p:cNvPicPr preferRelativeResize="0"/>
          <p:nvPr/>
        </p:nvPicPr>
        <p:blipFill rotWithShape="1">
          <a:blip r:embed="rId4">
            <a:alphaModFix/>
          </a:blip>
          <a:srcRect b="0" l="4095" r="0" t="4132"/>
          <a:stretch/>
        </p:blipFill>
        <p:spPr>
          <a:xfrm>
            <a:off x="6214275" y="1853900"/>
            <a:ext cx="4646750" cy="429564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fb84b8cee0_0_52"/>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8" name="Google Shape;418;g3fb84b8cee0_0_52"/>
          <p:cNvSpPr txBox="1"/>
          <p:nvPr/>
        </p:nvSpPr>
        <p:spPr>
          <a:xfrm>
            <a:off x="409075" y="107418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Deep Learning-Based Clonality Assessment from Paired WSIs</a:t>
            </a:r>
            <a:endParaRPr b="1" i="0" spc="0" sz="2800" u="none" cap="none" strike="noStrike">
              <a:solidFill>
                <a:srgbClr val="1E9EB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19" name="Google Shape;419;g3fb84b8cee0_0_52" title="Overview_Pipeline@2x.png"/>
          <p:cNvPicPr preferRelativeResize="0"/>
          <p:nvPr/>
        </p:nvPicPr>
        <p:blipFill rotWithShape="1">
          <a:blip r:embed="rId3">
            <a:alphaModFix/>
          </a:blip>
          <a:srcRect b="0" l="0" r="0" t="0"/>
          <a:stretch/>
        </p:blipFill>
        <p:spPr>
          <a:xfrm>
            <a:off x="1283050" y="1813075"/>
            <a:ext cx="9336624" cy="3990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fb84b8cee0_0_103"/>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25" name="Google Shape;425;g3fb84b8cee0_0_103" title="Foundation model landscape@2x.png"/>
          <p:cNvPicPr preferRelativeResize="0"/>
          <p:nvPr/>
        </p:nvPicPr>
        <p:blipFill rotWithShape="1">
          <a:blip r:embed="rId3">
            <a:alphaModFix/>
          </a:blip>
          <a:srcRect b="64548" l="0" r="0" t="0"/>
          <a:stretch/>
        </p:blipFill>
        <p:spPr>
          <a:xfrm>
            <a:off x="1381799" y="1491527"/>
            <a:ext cx="7205698" cy="1150574"/>
          </a:xfrm>
          <a:prstGeom prst="rect">
            <a:avLst/>
          </a:prstGeom>
          <a:noFill/>
          <a:ln>
            <a:noFill/>
          </a:ln>
        </p:spPr>
      </p:pic>
      <p:pic>
        <p:nvPicPr>
          <p:cNvPr id="426" name="Google Shape;426;g3fb84b8cee0_0_103" title="Foundation model landscape@2x.png"/>
          <p:cNvPicPr preferRelativeResize="0"/>
          <p:nvPr/>
        </p:nvPicPr>
        <p:blipFill rotWithShape="1">
          <a:blip r:embed="rId3">
            <a:alphaModFix/>
          </a:blip>
          <a:srcRect b="7062" l="73439" r="3260" t="73538"/>
          <a:stretch/>
        </p:blipFill>
        <p:spPr>
          <a:xfrm>
            <a:off x="8392949" y="1973577"/>
            <a:ext cx="1678975" cy="629625"/>
          </a:xfrm>
          <a:prstGeom prst="rect">
            <a:avLst/>
          </a:prstGeom>
          <a:noFill/>
          <a:ln>
            <a:noFill/>
          </a:ln>
        </p:spPr>
      </p:pic>
      <p:pic>
        <p:nvPicPr>
          <p:cNvPr id="427" name="Google Shape;427;g3fb84b8cee0_0_103" title="Foundation Model – single patch@2x.png"/>
          <p:cNvPicPr preferRelativeResize="0"/>
          <p:nvPr/>
        </p:nvPicPr>
        <p:blipFill rotWithShape="1">
          <a:blip r:embed="rId4">
            <a:alphaModFix/>
          </a:blip>
          <a:srcRect b="0" l="0" r="0" t="0"/>
          <a:stretch/>
        </p:blipFill>
        <p:spPr>
          <a:xfrm>
            <a:off x="3271563" y="2940775"/>
            <a:ext cx="4735476" cy="3035926"/>
          </a:xfrm>
          <a:prstGeom prst="rect">
            <a:avLst/>
          </a:prstGeom>
          <a:noFill/>
          <a:ln>
            <a:noFill/>
          </a:ln>
        </p:spPr>
      </p:pic>
      <p:pic>
        <p:nvPicPr>
          <p:cNvPr id="428" name="Google Shape;428;g3fb84b8cee0_0_103" title="Bag of embeddings@2x.png"/>
          <p:cNvPicPr preferRelativeResize="0"/>
          <p:nvPr/>
        </p:nvPicPr>
        <p:blipFill rotWithShape="1">
          <a:blip r:embed="rId5">
            <a:alphaModFix/>
          </a:blip>
          <a:srcRect b="0" l="0" r="0" t="0"/>
          <a:stretch/>
        </p:blipFill>
        <p:spPr>
          <a:xfrm>
            <a:off x="7901125" y="3017401"/>
            <a:ext cx="4213400" cy="2701225"/>
          </a:xfrm>
          <a:prstGeom prst="rect">
            <a:avLst/>
          </a:prstGeom>
          <a:noFill/>
          <a:ln>
            <a:noFill/>
          </a:ln>
        </p:spPr>
      </p:pic>
      <p:pic>
        <p:nvPicPr>
          <p:cNvPr id="429" name="Google Shape;429;g3fb84b8cee0_0_103" title="WSI_tiled_zoom.png"/>
          <p:cNvPicPr preferRelativeResize="0"/>
          <p:nvPr/>
        </p:nvPicPr>
        <p:blipFill rotWithShape="1">
          <a:blip r:embed="rId6">
            <a:alphaModFix/>
          </a:blip>
          <a:srcRect b="0" l="0" r="0" t="0"/>
          <a:stretch/>
        </p:blipFill>
        <p:spPr>
          <a:xfrm>
            <a:off x="282125" y="3287625"/>
            <a:ext cx="2762925" cy="2342224"/>
          </a:xfrm>
          <a:prstGeom prst="rect">
            <a:avLst/>
          </a:prstGeom>
          <a:noFill/>
          <a:ln>
            <a:noFill/>
          </a:ln>
        </p:spPr>
      </p:pic>
      <p:pic>
        <p:nvPicPr>
          <p:cNvPr id="430" name="Google Shape;430;g3fb84b8cee0_0_103" title="WSI_tiled_zoom.png"/>
          <p:cNvPicPr preferRelativeResize="0"/>
          <p:nvPr/>
        </p:nvPicPr>
        <p:blipFill rotWithShape="1">
          <a:blip r:embed="rId6">
            <a:alphaModFix/>
          </a:blip>
          <a:srcRect b="68835" l="71488" r="2737" t="4446"/>
          <a:stretch/>
        </p:blipFill>
        <p:spPr>
          <a:xfrm>
            <a:off x="3790525" y="4063225"/>
            <a:ext cx="1212775" cy="1065775"/>
          </a:xfrm>
          <a:prstGeom prst="rect">
            <a:avLst/>
          </a:prstGeom>
          <a:noFill/>
          <a:ln cap="flat" cmpd="sng" w="28575">
            <a:solidFill>
              <a:srgbClr val="44546A"/>
            </a:solidFill>
            <a:prstDash val="solid"/>
            <a:round/>
            <a:headEnd len="sm" w="sm" type="none"/>
            <a:tailEnd len="sm" w="sm" type="none"/>
          </a:ln>
        </p:spPr>
      </p:pic>
      <p:sp>
        <p:nvSpPr>
          <p:cNvPr id="431" name="Google Shape;431;g3fb84b8cee0_0_103"/>
          <p:cNvSpPr txBox="1"/>
          <p:nvPr/>
        </p:nvSpPr>
        <p:spPr>
          <a:xfrm>
            <a:off x="409075" y="107418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Step by Step Overview - Foundation Model</a:t>
            </a:r>
            <a:endParaRPr b="1" i="0" spc="0" sz="2800" u="none" cap="none" strike="noStrike">
              <a:solidFill>
                <a:srgbClr val="1E9EB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fb84b8cee0_0_118"/>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37" name="Google Shape;437;g3fb84b8cee0_0_118" title="Cross-attention between bags@2x.png"/>
          <p:cNvPicPr preferRelativeResize="0"/>
          <p:nvPr/>
        </p:nvPicPr>
        <p:blipFill rotWithShape="1">
          <a:blip r:embed="rId3">
            <a:alphaModFix/>
          </a:blip>
          <a:srcRect b="0" l="0" r="0" t="0"/>
          <a:stretch/>
        </p:blipFill>
        <p:spPr>
          <a:xfrm>
            <a:off x="2112950" y="1657812"/>
            <a:ext cx="7966101" cy="3542374"/>
          </a:xfrm>
          <a:prstGeom prst="rect">
            <a:avLst/>
          </a:prstGeom>
          <a:noFill/>
          <a:ln>
            <a:noFill/>
          </a:ln>
        </p:spPr>
      </p:pic>
      <p:pic>
        <p:nvPicPr>
          <p:cNvPr id="438" name="Google Shape;438;g3fb84b8cee0_0_118"/>
          <p:cNvPicPr preferRelativeResize="0"/>
          <p:nvPr/>
        </p:nvPicPr>
        <p:blipFill rotWithShape="1">
          <a:blip r:embed="rId4">
            <a:alphaModFix/>
          </a:blip>
          <a:srcRect b="0" l="0" r="0" t="0"/>
          <a:stretch/>
        </p:blipFill>
        <p:spPr>
          <a:xfrm>
            <a:off x="2042300" y="5278325"/>
            <a:ext cx="8107400" cy="664250"/>
          </a:xfrm>
          <a:prstGeom prst="rect">
            <a:avLst/>
          </a:prstGeom>
          <a:noFill/>
          <a:ln>
            <a:noFill/>
          </a:ln>
        </p:spPr>
      </p:pic>
      <p:sp>
        <p:nvSpPr>
          <p:cNvPr id="439" name="Google Shape;439;g3fb84b8cee0_0_118"/>
          <p:cNvSpPr txBox="1"/>
          <p:nvPr/>
        </p:nvSpPr>
        <p:spPr>
          <a:xfrm>
            <a:off x="409075" y="107418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Step by Step Overview - Cross-Attention</a:t>
            </a:r>
            <a:endParaRPr b="1" i="0" spc="0" sz="2800" u="none" cap="none" strike="noStrike">
              <a:solidFill>
                <a:srgbClr val="1E9EB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fb84b8cee0_0_128"/>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5" name="Google Shape;445;g3fb84b8cee0_0_128"/>
          <p:cNvSpPr txBox="1"/>
          <p:nvPr/>
        </p:nvSpPr>
        <p:spPr>
          <a:xfrm>
            <a:off x="409075" y="107418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Step by Step Overview - Attention MIL</a:t>
            </a:r>
            <a:endParaRPr b="1" i="0" spc="0" sz="2800" u="none" cap="none" strike="noStrike">
              <a:solidFill>
                <a:srgbClr val="1E9EB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46" name="Google Shape;446;g3fb84b8cee0_0_128" title="Pipeline@2x.png"/>
          <p:cNvPicPr preferRelativeResize="0"/>
          <p:nvPr/>
        </p:nvPicPr>
        <p:blipFill rotWithShape="1">
          <a:blip r:embed="rId3">
            <a:alphaModFix/>
          </a:blip>
          <a:srcRect b="0" l="67286" r="0" t="0"/>
          <a:stretch/>
        </p:blipFill>
        <p:spPr>
          <a:xfrm>
            <a:off x="3138025" y="1700150"/>
            <a:ext cx="5613676" cy="3745325"/>
          </a:xfrm>
          <a:prstGeom prst="rect">
            <a:avLst/>
          </a:prstGeom>
          <a:noFill/>
          <a:ln>
            <a:noFill/>
          </a:ln>
        </p:spPr>
      </p:pic>
      <p:sp>
        <p:nvSpPr>
          <p:cNvPr id="447" name="Google Shape;447;g3fb84b8cee0_0_128"/>
          <p:cNvSpPr/>
          <p:nvPr/>
        </p:nvSpPr>
        <p:spPr>
          <a:xfrm>
            <a:off x="4500964" y="3732407"/>
            <a:ext cx="192000" cy="198300"/>
          </a:xfrm>
          <a:prstGeom prst="ellipse">
            <a:avLst/>
          </a:prstGeom>
          <a:solidFill>
            <a:schemeClr val="lt1"/>
          </a:solidFill>
          <a:ln cap="flat" cmpd="sng" w="12625">
            <a:solidFill>
              <a:schemeClr val="lt1"/>
            </a:solidFill>
            <a:prstDash val="solid"/>
            <a:round/>
            <a:headEnd len="sm" w="sm" type="none"/>
            <a:tailEnd len="sm" w="sm" type="none"/>
          </a:ln>
        </p:spPr>
        <p:txBody>
          <a:bodyPr anchorCtr="0" anchor="ctr" bIns="121200" lIns="121200" spcFirstLastPara="1" rIns="121200" wrap="square" tIns="121200">
            <a:noAutofit/>
          </a:bodyPr>
          <a:lstStyle/>
          <a:p>
            <a:pPr indent="0" lvl="0" marL="0" marR="0" rtl="0" algn="ctr">
              <a:lnSpc>
                <a:spcPct val="100000"/>
              </a:lnSpc>
              <a:spcBef>
                <a:spcPts val="0"/>
              </a:spcBef>
              <a:spcAft>
                <a:spcPts val="0"/>
              </a:spcAft>
              <a:buClr>
                <a:srgbClr val="000000"/>
              </a:buClr>
              <a:buSzPts val="1856"/>
              <a:buFont typeface="Arial"/>
              <a:buNone/>
            </a:pPr>
            <a:r>
              <a:t/>
            </a:r>
            <a:endParaRPr b="0" i="0" spc="0" sz="1856" u="none" cap="none" strike="noStrike">
              <a:solidFill>
                <a:srgbClr val="000000"/>
              </a:solidFill>
              <a:latin typeface="Arial"/>
              <a:ea typeface="Arial"/>
              <a:cs typeface="Arial"/>
              <a:sym typeface="Arial"/>
            </a:endParaRPr>
          </a:p>
        </p:txBody>
      </p:sp>
      <p:pic>
        <p:nvPicPr>
          <p:cNvPr id="448" name="Google Shape;448;g3fb84b8cee0_0_128"/>
          <p:cNvPicPr preferRelativeResize="0"/>
          <p:nvPr/>
        </p:nvPicPr>
        <p:blipFill rotWithShape="1">
          <a:blip r:embed="rId4">
            <a:alphaModFix/>
          </a:blip>
          <a:srcRect b="24283" l="34947" r="36063" t="23941"/>
          <a:stretch/>
        </p:blipFill>
        <p:spPr>
          <a:xfrm>
            <a:off x="4558457" y="3762567"/>
            <a:ext cx="77122" cy="137743"/>
          </a:xfrm>
          <a:prstGeom prst="rect">
            <a:avLst/>
          </a:prstGeom>
          <a:noFill/>
          <a:ln>
            <a:noFill/>
          </a:ln>
        </p:spPr>
      </p:pic>
      <p:sp>
        <p:nvSpPr>
          <p:cNvPr id="449" name="Google Shape;449;g3fb84b8cee0_0_128"/>
          <p:cNvSpPr txBox="1"/>
          <p:nvPr/>
        </p:nvSpPr>
        <p:spPr>
          <a:xfrm>
            <a:off x="1679300" y="5540700"/>
            <a:ext cx="85311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500"/>
              <a:buFont typeface="Arial"/>
              <a:buNone/>
            </a:pPr>
            <a:r>
              <a:rPr b="0" i="0" lang="en-US" spc="0" sz="1500" u="none" cap="none" strike="noStrike">
                <a:solidFill>
                  <a:srgbClr val="6B6B6B"/>
                </a:solidFill>
                <a:latin typeface="Calibri"/>
                <a:ea typeface="Calibri"/>
                <a:cs typeface="Calibri"/>
                <a:sym typeface="Calibri"/>
              </a:rPr>
              <a:t>Each tile gets an attention weight (“Importance”).</a:t>
            </a:r>
            <a:endParaRPr b="0" i="0" spc="0" sz="1500" u="none" cap="none" strike="noStrike">
              <a:solidFill>
                <a:srgbClr val="6B6B6B"/>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fb84b8cee0_0_82"/>
          <p:cNvSpPr txBox="1"/>
          <p:nvPr/>
        </p:nvSpPr>
        <p:spPr>
          <a:xfrm>
            <a:off x="397025" y="1062116"/>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5" name="Google Shape;455;g3fb84b8cee0_0_82"/>
          <p:cNvSpPr txBox="1"/>
          <p:nvPr/>
        </p:nvSpPr>
        <p:spPr>
          <a:xfrm>
            <a:off x="409075" y="107418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Deep Learning-Based Clonality Assessment from Paired WSIs</a:t>
            </a:r>
            <a:endParaRPr b="1" i="0" spc="0" sz="2800" u="none" cap="none" strike="noStrike">
              <a:solidFill>
                <a:srgbClr val="1E9EB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56" name="Google Shape;456;g3fb84b8cee0_0_82" title="Pipeline@2x.png"/>
          <p:cNvPicPr preferRelativeResize="0"/>
          <p:nvPr/>
        </p:nvPicPr>
        <p:blipFill rotWithShape="1">
          <a:blip r:embed="rId3">
            <a:alphaModFix/>
          </a:blip>
          <a:srcRect b="0" l="0" r="0" t="0"/>
          <a:stretch/>
        </p:blipFill>
        <p:spPr>
          <a:xfrm>
            <a:off x="152400" y="2350507"/>
            <a:ext cx="11887201" cy="2594521"/>
          </a:xfrm>
          <a:prstGeom prst="rect">
            <a:avLst/>
          </a:prstGeom>
          <a:noFill/>
          <a:ln>
            <a:noFill/>
          </a:ln>
        </p:spPr>
      </p:pic>
      <p:pic>
        <p:nvPicPr>
          <p:cNvPr id="457" name="Google Shape;457;g3fb84b8cee0_0_82"/>
          <p:cNvPicPr preferRelativeResize="0"/>
          <p:nvPr/>
        </p:nvPicPr>
        <p:blipFill rotWithShape="1">
          <a:blip r:embed="rId4">
            <a:alphaModFix/>
          </a:blip>
          <a:srcRect b="0" l="0" r="0" t="0"/>
          <a:stretch/>
        </p:blipFill>
        <p:spPr>
          <a:xfrm>
            <a:off x="4003425" y="3300713"/>
            <a:ext cx="281050" cy="150725"/>
          </a:xfrm>
          <a:prstGeom prst="rect">
            <a:avLst/>
          </a:prstGeom>
          <a:noFill/>
          <a:ln>
            <a:noFill/>
          </a:ln>
        </p:spPr>
      </p:pic>
      <p:pic>
        <p:nvPicPr>
          <p:cNvPr id="458" name="Google Shape;458;g3fb84b8cee0_0_82"/>
          <p:cNvPicPr preferRelativeResize="0"/>
          <p:nvPr/>
        </p:nvPicPr>
        <p:blipFill rotWithShape="1">
          <a:blip r:embed="rId4">
            <a:alphaModFix/>
          </a:blip>
          <a:srcRect b="0" l="0" r="0" t="0"/>
          <a:stretch/>
        </p:blipFill>
        <p:spPr>
          <a:xfrm>
            <a:off x="4003425" y="4088113"/>
            <a:ext cx="281050" cy="150725"/>
          </a:xfrm>
          <a:prstGeom prst="rect">
            <a:avLst/>
          </a:prstGeom>
          <a:noFill/>
          <a:ln>
            <a:noFill/>
          </a:ln>
        </p:spPr>
      </p:pic>
      <p:sp>
        <p:nvSpPr>
          <p:cNvPr id="459" name="Google Shape;459;g3fb84b8cee0_0_82"/>
          <p:cNvSpPr/>
          <p:nvPr/>
        </p:nvSpPr>
        <p:spPr>
          <a:xfrm>
            <a:off x="4044950" y="3450800"/>
            <a:ext cx="239400" cy="150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0" name="Google Shape;460;g3fb84b8cee0_0_82"/>
          <p:cNvSpPr/>
          <p:nvPr/>
        </p:nvSpPr>
        <p:spPr>
          <a:xfrm>
            <a:off x="9090325" y="3754500"/>
            <a:ext cx="144900" cy="149400"/>
          </a:xfrm>
          <a:prstGeom prst="ellips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461" name="Google Shape;461;g3fb84b8cee0_0_82"/>
          <p:cNvPicPr preferRelativeResize="0"/>
          <p:nvPr/>
        </p:nvPicPr>
        <p:blipFill rotWithShape="1">
          <a:blip r:embed="rId5">
            <a:alphaModFix/>
          </a:blip>
          <a:srcRect b="24283" l="34947" r="36063" t="23941"/>
          <a:stretch/>
        </p:blipFill>
        <p:spPr>
          <a:xfrm>
            <a:off x="9133693" y="3777250"/>
            <a:ext cx="58175" cy="103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3fb84b8cee0_0_141"/>
          <p:cNvSpPr txBox="1"/>
          <p:nvPr/>
        </p:nvSpPr>
        <p:spPr>
          <a:xfrm>
            <a:off x="448300" y="799032"/>
            <a:ext cx="106071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The data: 215 lesion pairs with a molecular answer</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6B6B6B"/>
                </a:solidFill>
                <a:latin typeface="Calibri"/>
                <a:ea typeface="Calibri"/>
                <a:cs typeface="Calibri"/>
                <a:sym typeface="Calibri"/>
              </a:rPr>
              <a:t>four cohorts, adenocarcinoma and squamous cell carcinoma, all with sequencing-based clonality labels</a:t>
            </a:r>
            <a:endParaRPr b="0" i="0" spc="0" sz="1400" u="none" cap="none" strike="noStrike">
              <a:solidFill>
                <a:srgbClr val="000000"/>
              </a:solidFill>
              <a:latin typeface="Arial"/>
              <a:ea typeface="Arial"/>
              <a:cs typeface="Arial"/>
              <a:sym typeface="Arial"/>
            </a:endParaRPr>
          </a:p>
        </p:txBody>
      </p:sp>
      <p:graphicFrame>
        <p:nvGraphicFramePr>
          <p:cNvPr id="468" name="Google Shape;468;g3fb84b8cee0_0_141"/>
          <p:cNvGraphicFramePr/>
          <p:nvPr/>
        </p:nvGraphicFramePr>
        <p:xfrm>
          <a:off x="1614278" y="1665962"/>
          <a:ext cx="3000000" cy="3000000"/>
        </p:xfrm>
        <a:graphic>
          <a:graphicData uri="http://schemas.openxmlformats.org/drawingml/2006/table">
            <a:tbl>
              <a:tblPr bandRow="1" firstRow="1">
                <a:noFill/>
                <a:tableStyleId>{29AECFB7-9CC8-4CAB-ADBA-D725458E96BA}</a:tableStyleId>
              </a:tblPr>
              <a:tblGrid>
                <a:gridCol w="2747600"/>
                <a:gridCol w="797675"/>
                <a:gridCol w="797675"/>
                <a:gridCol w="797675"/>
                <a:gridCol w="3279400"/>
              </a:tblGrid>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Cohort</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Slides</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Pairs</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Clonal</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Note</a:t>
                      </a:r>
                      <a:endParaRPr spc="0" sz="1400" u="none" cap="none" strike="noStrike"/>
                    </a:p>
                  </a:txBody>
                  <a:tcPr marT="27425" marB="27425" marR="54875" marL="54875">
                    <a:solidFill>
                      <a:srgbClr val="1E9EBE"/>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Heidelberg</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240</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106</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49 %</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lang="en-US" spc="0" sz="1250" u="none" cap="none" strike="noStrike">
                          <a:solidFill>
                            <a:srgbClr val="222222"/>
                          </a:solidFill>
                        </a:rPr>
                        <a:t>biopsies and resections</a:t>
                      </a:r>
                      <a:endParaRPr spc="0" sz="1400" u="none" cap="none" strike="noStrike"/>
                    </a:p>
                  </a:txBody>
                  <a:tcPr marT="27425" marB="27425" marR="54875" marL="54875">
                    <a:solidFill>
                      <a:srgbClr val="FFFFFF"/>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Amsterdam UMC - A</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99</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62</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55 %</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biopsies and resections</a:t>
                      </a:r>
                      <a:endParaRPr spc="0" sz="1400" u="none" cap="none" strike="noStrike"/>
                    </a:p>
                  </a:txBody>
                  <a:tcPr marT="27425" marB="27425" marR="54875" marL="54875">
                    <a:solidFill>
                      <a:srgbClr val="F3F5F7"/>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Amsterdam UMC - </a:t>
                      </a:r>
                      <a:r>
                        <a:rPr b="1" lang="en-US" spc="0" sz="1250" u="none" cap="none" strike="noStrike">
                          <a:solidFill>
                            <a:srgbClr val="222222"/>
                          </a:solidFill>
                        </a:rPr>
                        <a:t>B</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58</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31</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68 %</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lang="en-US" spc="0" sz="1250" u="none" cap="none" strike="noStrike">
                          <a:solidFill>
                            <a:srgbClr val="222222"/>
                          </a:solidFill>
                        </a:rPr>
                        <a:t>biopsies and resections</a:t>
                      </a:r>
                      <a:endParaRPr spc="0" sz="1400" u="none" cap="none" strike="noStrike"/>
                    </a:p>
                  </a:txBody>
                  <a:tcPr marT="27425" marB="27425" marR="54875" marL="54875">
                    <a:solidFill>
                      <a:srgbClr val="FFFFFF"/>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lang="en-US" spc="0" sz="1250" u="none" cap="none" strike="noStrike">
                          <a:solidFill>
                            <a:srgbClr val="222222"/>
                          </a:solidFill>
                        </a:rPr>
                        <a:t>Amsterdam UMC - </a:t>
                      </a:r>
                      <a:r>
                        <a:rPr b="1" i="0" lang="en-US" spc="0" sz="1250" u="none" cap="none" strike="noStrike">
                          <a:solidFill>
                            <a:srgbClr val="222222"/>
                          </a:solidFill>
                          <a:latin typeface="Calibri"/>
                          <a:ea typeface="Calibri"/>
                          <a:cs typeface="Calibri"/>
                          <a:sym typeface="Calibri"/>
                        </a:rPr>
                        <a:t>Lung Scope</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26</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13</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100 %</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curated resections, clonal only</a:t>
                      </a:r>
                      <a:endParaRPr spc="0" sz="1400" u="none" cap="none" strike="noStrike"/>
                    </a:p>
                  </a:txBody>
                  <a:tcPr marT="27425" marB="27425" marR="54875" marL="54875">
                    <a:solidFill>
                      <a:srgbClr val="F3F5F7"/>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Total</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 42</a:t>
                      </a:r>
                      <a:r>
                        <a:rPr lang="en-US" spc="0" sz="1250" u="none" cap="none" strike="noStrike">
                          <a:solidFill>
                            <a:srgbClr val="222222"/>
                          </a:solidFill>
                        </a:rPr>
                        <a:t>3</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215</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56 %</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120 clonal · 95 </a:t>
                      </a:r>
                      <a:r>
                        <a:rPr lang="en-US" spc="0" sz="1250" u="none" cap="none" strike="noStrike">
                          <a:solidFill>
                            <a:srgbClr val="222222"/>
                          </a:solidFill>
                        </a:rPr>
                        <a:t>non-clonal</a:t>
                      </a:r>
                      <a:endParaRPr spc="0" sz="1400" u="none" cap="none" strike="noStrike"/>
                    </a:p>
                  </a:txBody>
                  <a:tcPr marT="27425" marB="27425" marR="54875" marL="54875">
                    <a:solidFill>
                      <a:srgbClr val="FFFFFF"/>
                    </a:solidFill>
                  </a:tcPr>
                </a:tc>
              </a:tr>
            </a:tbl>
          </a:graphicData>
        </a:graphic>
      </p:graphicFrame>
      <p:sp>
        <p:nvSpPr>
          <p:cNvPr id="469" name="Google Shape;469;g3fb84b8cee0_0_141"/>
          <p:cNvSpPr/>
          <p:nvPr/>
        </p:nvSpPr>
        <p:spPr>
          <a:xfrm>
            <a:off x="548640" y="4280030"/>
            <a:ext cx="5394900" cy="1097400"/>
          </a:xfrm>
          <a:prstGeom prst="roundRect">
            <a:avLst>
              <a:gd fmla="val 8000" name="adj"/>
            </a:avLst>
          </a:prstGeom>
          <a:solidFill>
            <a:srgbClr val="F4F4F4"/>
          </a:solidFill>
          <a:ln cap="flat" cmpd="sng" w="15875">
            <a:solidFill>
              <a:srgbClr val="9E9E9E"/>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Phase 1 (thesis, spring 2026)</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96 pairs from 3 sources; 59 clonal, 37 non-clonal</a:t>
            </a:r>
            <a:endParaRPr b="0" i="0" spc="0" sz="1400" u="none" cap="none" strike="noStrike">
              <a:solidFill>
                <a:srgbClr val="000000"/>
              </a:solidFill>
              <a:latin typeface="Arial"/>
              <a:ea typeface="Arial"/>
              <a:cs typeface="Arial"/>
              <a:sym typeface="Arial"/>
            </a:endParaRPr>
          </a:p>
        </p:txBody>
      </p:sp>
      <p:sp>
        <p:nvSpPr>
          <p:cNvPr id="470" name="Google Shape;470;g3fb84b8cee0_0_141"/>
          <p:cNvSpPr/>
          <p:nvPr/>
        </p:nvSpPr>
        <p:spPr>
          <a:xfrm>
            <a:off x="6182320" y="4280030"/>
            <a:ext cx="5394900" cy="1097400"/>
          </a:xfrm>
          <a:prstGeom prst="roundRect">
            <a:avLst>
              <a:gd fmla="val 8000" name="adj"/>
            </a:avLst>
          </a:prstGeom>
          <a:solidFill>
            <a:srgbClr val="E6F5F9"/>
          </a:solidFill>
          <a:ln cap="flat" cmpd="sng" w="15875">
            <a:solidFill>
              <a:srgbClr val="1E9EBE"/>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0F6E86"/>
                </a:solidFill>
                <a:latin typeface="Calibri"/>
                <a:ea typeface="Calibri"/>
                <a:cs typeface="Calibri"/>
                <a:sym typeface="Calibri"/>
              </a:rPr>
              <a:t>Phase 2 (now)</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215 pairs, 4 cohorts, patient identifiers on every slide, per-cohort evaluation &amp; expecting more pairs to come.</a:t>
            </a:r>
            <a:endParaRPr b="0" i="0" spc="0" sz="14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t/>
            </a:r>
            <a:endParaRPr b="0" i="0" spc="0" sz="1250" u="none" cap="none" strike="noStrike">
              <a:solidFill>
                <a:srgbClr val="222222"/>
              </a:solidFill>
              <a:latin typeface="Calibri"/>
              <a:ea typeface="Calibri"/>
              <a:cs typeface="Calibri"/>
              <a:sym typeface="Calibri"/>
            </a:endParaRPr>
          </a:p>
        </p:txBody>
      </p:sp>
      <p:sp>
        <p:nvSpPr>
          <p:cNvPr id="471" name="Google Shape;471;g3fb84b8cee0_0_141"/>
          <p:cNvSpPr/>
          <p:nvPr/>
        </p:nvSpPr>
        <p:spPr>
          <a:xfrm>
            <a:off x="548100" y="5511500"/>
            <a:ext cx="11029200" cy="548700"/>
          </a:xfrm>
          <a:prstGeom prst="roundRect">
            <a:avLst>
              <a:gd fmla="val 8000" name="adj"/>
            </a:avLst>
          </a:prstGeom>
          <a:solidFill>
            <a:srgbClr val="FFF7E0"/>
          </a:solidFill>
          <a:ln cap="flat" cmpd="sng" w="15875">
            <a:solidFill>
              <a:srgbClr val="C28E00"/>
            </a:solidFill>
            <a:prstDash val="solid"/>
            <a:round/>
            <a:headEnd len="sm" w="sm" type="none"/>
            <a:tailEnd len="sm" w="sm" type="none"/>
          </a:ln>
        </p:spPr>
        <p:txBody>
          <a:bodyPr anchorCtr="0" anchor="ctr" bIns="73150" lIns="109725" spcFirstLastPara="1" rIns="109725" wrap="square" tIns="7315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222222"/>
                </a:solidFill>
                <a:latin typeface="Calibri"/>
                <a:ea typeface="Calibri"/>
                <a:cs typeface="Calibri"/>
                <a:sym typeface="Calibri"/>
              </a:rPr>
              <a:t>Small for deep learning, but to our knowledge the largest paired H&amp;E clonality set with molecular ground truth.</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3fb84b8cee0_0_151"/>
          <p:cNvSpPr txBox="1"/>
          <p:nvPr/>
        </p:nvSpPr>
        <p:spPr>
          <a:xfrm>
            <a:off x="448300" y="799032"/>
            <a:ext cx="106071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The data: 215 lesion pairs with a molecular answer</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6B6B6B"/>
                </a:solidFill>
                <a:latin typeface="Calibri"/>
                <a:ea typeface="Calibri"/>
                <a:cs typeface="Calibri"/>
                <a:sym typeface="Calibri"/>
              </a:rPr>
              <a:t>four cohorts, adenocarcinoma and squamous cell carcinoma, all with sequencing-based clonality labels</a:t>
            </a:r>
            <a:endParaRPr b="0" i="0" spc="0" sz="1400" u="none" cap="none" strike="noStrike">
              <a:solidFill>
                <a:srgbClr val="000000"/>
              </a:solidFill>
              <a:latin typeface="Arial"/>
              <a:ea typeface="Arial"/>
              <a:cs typeface="Arial"/>
              <a:sym typeface="Arial"/>
            </a:endParaRPr>
          </a:p>
        </p:txBody>
      </p:sp>
      <p:graphicFrame>
        <p:nvGraphicFramePr>
          <p:cNvPr id="478" name="Google Shape;478;g3fb84b8cee0_0_151"/>
          <p:cNvGraphicFramePr/>
          <p:nvPr/>
        </p:nvGraphicFramePr>
        <p:xfrm>
          <a:off x="1614278" y="1665962"/>
          <a:ext cx="3000000" cy="3000000"/>
        </p:xfrm>
        <a:graphic>
          <a:graphicData uri="http://schemas.openxmlformats.org/drawingml/2006/table">
            <a:tbl>
              <a:tblPr bandRow="1" firstRow="1">
                <a:noFill/>
                <a:tableStyleId>{29AECFB7-9CC8-4CAB-ADBA-D725458E96BA}</a:tableStyleId>
              </a:tblPr>
              <a:tblGrid>
                <a:gridCol w="2747600"/>
                <a:gridCol w="797675"/>
                <a:gridCol w="797675"/>
                <a:gridCol w="797675"/>
                <a:gridCol w="3279400"/>
              </a:tblGrid>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Cohort</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Slides</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Pairs</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Clonal</a:t>
                      </a:r>
                      <a:endParaRPr spc="0" sz="1400" u="none" cap="none" strike="noStrike"/>
                    </a:p>
                  </a:txBody>
                  <a:tcPr marT="27425" marB="27425" marR="54875" marL="54875">
                    <a:solidFill>
                      <a:srgbClr val="1E9EBE"/>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i="0" lang="en-US" spc="0" sz="1250" u="none" cap="none" strike="noStrike">
                          <a:solidFill>
                            <a:srgbClr val="FFFFFF"/>
                          </a:solidFill>
                          <a:latin typeface="Calibri"/>
                          <a:ea typeface="Calibri"/>
                          <a:cs typeface="Calibri"/>
                          <a:sym typeface="Calibri"/>
                        </a:rPr>
                        <a:t>Note</a:t>
                      </a:r>
                      <a:endParaRPr spc="0" sz="1400" u="none" cap="none" strike="noStrike"/>
                    </a:p>
                  </a:txBody>
                  <a:tcPr marT="27425" marB="27425" marR="54875" marL="54875">
                    <a:solidFill>
                      <a:srgbClr val="1E9EBE"/>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Heidelberg</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240</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106</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49 %</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lang="en-US" spc="0" sz="1250" u="none" cap="none" strike="noStrike">
                          <a:solidFill>
                            <a:srgbClr val="222222"/>
                          </a:solidFill>
                        </a:rPr>
                        <a:t>biopsies and resections</a:t>
                      </a:r>
                      <a:endParaRPr spc="0" sz="1400" u="none" cap="none" strike="noStrike"/>
                    </a:p>
                  </a:txBody>
                  <a:tcPr marT="27425" marB="27425" marR="54875" marL="54875">
                    <a:solidFill>
                      <a:srgbClr val="FFFFFF"/>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Amsterdam UMC - A</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99</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62</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55 %</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biopsies and resections</a:t>
                      </a:r>
                      <a:endParaRPr spc="0" sz="1400" u="none" cap="none" strike="noStrike"/>
                    </a:p>
                  </a:txBody>
                  <a:tcPr marT="27425" marB="27425" marR="54875" marL="54875">
                    <a:solidFill>
                      <a:srgbClr val="F3F5F7"/>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Amsterdam UMC - </a:t>
                      </a:r>
                      <a:r>
                        <a:rPr b="1" lang="en-US" spc="0" sz="1250" u="none" cap="none" strike="noStrike">
                          <a:solidFill>
                            <a:srgbClr val="222222"/>
                          </a:solidFill>
                        </a:rPr>
                        <a:t>B</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58</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31</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68 %</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lang="en-US" spc="0" sz="1250" u="none" cap="none" strike="noStrike">
                          <a:solidFill>
                            <a:srgbClr val="222222"/>
                          </a:solidFill>
                        </a:rPr>
                        <a:t>biopsies and resections</a:t>
                      </a:r>
                      <a:endParaRPr spc="0" sz="1400" u="none" cap="none" strike="noStrike"/>
                    </a:p>
                  </a:txBody>
                  <a:tcPr marT="27425" marB="27425" marR="54875" marL="54875">
                    <a:solidFill>
                      <a:srgbClr val="FFFFFF"/>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lang="en-US" spc="0" sz="1250" u="none" cap="none" strike="noStrike">
                          <a:solidFill>
                            <a:srgbClr val="222222"/>
                          </a:solidFill>
                        </a:rPr>
                        <a:t>Amsterdam UMC - </a:t>
                      </a:r>
                      <a:r>
                        <a:rPr b="1" i="0" lang="en-US" spc="0" sz="1250" u="none" cap="none" strike="noStrike">
                          <a:solidFill>
                            <a:srgbClr val="222222"/>
                          </a:solidFill>
                          <a:latin typeface="Calibri"/>
                          <a:ea typeface="Calibri"/>
                          <a:cs typeface="Calibri"/>
                          <a:sym typeface="Calibri"/>
                        </a:rPr>
                        <a:t>Lung Scope</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26</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13</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100 %</a:t>
                      </a:r>
                      <a:endParaRPr spc="0" sz="1400" u="none" cap="none" strike="noStrike"/>
                    </a:p>
                  </a:txBody>
                  <a:tcPr marT="27425" marB="27425" marR="54875" marL="54875">
                    <a:solidFill>
                      <a:srgbClr val="F3F5F7"/>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curated resections, clonal only</a:t>
                      </a:r>
                      <a:endParaRPr spc="0" sz="1400" u="none" cap="none" strike="noStrike"/>
                    </a:p>
                  </a:txBody>
                  <a:tcPr marT="27425" marB="27425" marR="54875" marL="54875">
                    <a:solidFill>
                      <a:srgbClr val="F3F5F7"/>
                    </a:solidFill>
                  </a:tcPr>
                </a:tc>
              </a:tr>
              <a:tr h="413425">
                <a:tc>
                  <a:txBody>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222222"/>
                          </a:solidFill>
                          <a:latin typeface="Calibri"/>
                          <a:ea typeface="Calibri"/>
                          <a:cs typeface="Calibri"/>
                          <a:sym typeface="Calibri"/>
                        </a:rPr>
                        <a:t>Total</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 42</a:t>
                      </a:r>
                      <a:r>
                        <a:rPr lang="en-US" spc="0" sz="1250" u="none" cap="none" strike="noStrike">
                          <a:solidFill>
                            <a:srgbClr val="222222"/>
                          </a:solidFill>
                        </a:rPr>
                        <a:t>3</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215</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56 %</a:t>
                      </a:r>
                      <a:endParaRPr spc="0" sz="1400" u="none" cap="none" strike="noStrike"/>
                    </a:p>
                  </a:txBody>
                  <a:tcPr marT="27425" marB="27425" marR="54875" marL="54875">
                    <a:solidFill>
                      <a:srgbClr val="FFFFFF"/>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120 clonal · 95 </a:t>
                      </a:r>
                      <a:r>
                        <a:rPr lang="en-US" spc="0" sz="1250" u="none" cap="none" strike="noStrike">
                          <a:solidFill>
                            <a:srgbClr val="222222"/>
                          </a:solidFill>
                        </a:rPr>
                        <a:t>non-clonal</a:t>
                      </a:r>
                      <a:endParaRPr spc="0" sz="1400" u="none" cap="none" strike="noStrike"/>
                    </a:p>
                  </a:txBody>
                  <a:tcPr marT="27425" marB="27425" marR="54875" marL="54875">
                    <a:solidFill>
                      <a:srgbClr val="FFFFFF"/>
                    </a:solidFill>
                  </a:tcPr>
                </a:tc>
              </a:tr>
            </a:tbl>
          </a:graphicData>
        </a:graphic>
      </p:graphicFrame>
      <p:sp>
        <p:nvSpPr>
          <p:cNvPr id="479" name="Google Shape;479;g3fb84b8cee0_0_151"/>
          <p:cNvSpPr/>
          <p:nvPr/>
        </p:nvSpPr>
        <p:spPr>
          <a:xfrm>
            <a:off x="548640" y="4280030"/>
            <a:ext cx="5394900" cy="1097400"/>
          </a:xfrm>
          <a:prstGeom prst="roundRect">
            <a:avLst>
              <a:gd fmla="val 8000" name="adj"/>
            </a:avLst>
          </a:prstGeom>
          <a:solidFill>
            <a:srgbClr val="F4F4F4"/>
          </a:solidFill>
          <a:ln cap="flat" cmpd="sng" w="15875">
            <a:solidFill>
              <a:srgbClr val="9E9E9E"/>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Phase 1 (thesis, spring 2026)</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96 pairs from 3 sources; 59 clonal, 37 independent</a:t>
            </a:r>
            <a:endParaRPr b="0" i="0" spc="0" sz="1400" u="none" cap="none" strike="noStrike">
              <a:solidFill>
                <a:srgbClr val="000000"/>
              </a:solidFill>
              <a:latin typeface="Arial"/>
              <a:ea typeface="Arial"/>
              <a:cs typeface="Arial"/>
              <a:sym typeface="Arial"/>
            </a:endParaRPr>
          </a:p>
        </p:txBody>
      </p:sp>
      <p:sp>
        <p:nvSpPr>
          <p:cNvPr id="480" name="Google Shape;480;g3fb84b8cee0_0_151"/>
          <p:cNvSpPr/>
          <p:nvPr/>
        </p:nvSpPr>
        <p:spPr>
          <a:xfrm>
            <a:off x="6182320" y="4280030"/>
            <a:ext cx="5394900" cy="1097400"/>
          </a:xfrm>
          <a:prstGeom prst="roundRect">
            <a:avLst>
              <a:gd fmla="val 8000" name="adj"/>
            </a:avLst>
          </a:prstGeom>
          <a:solidFill>
            <a:srgbClr val="E6F5F9"/>
          </a:solidFill>
          <a:ln cap="flat" cmpd="sng" w="15875">
            <a:solidFill>
              <a:srgbClr val="1E9EBE"/>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0F6E86"/>
                </a:solidFill>
                <a:latin typeface="Calibri"/>
                <a:ea typeface="Calibri"/>
                <a:cs typeface="Calibri"/>
                <a:sym typeface="Calibri"/>
              </a:rPr>
              <a:t>Phase 2 (now)</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215 pairs, 4 cohorts, patient identifiers on every slide, per-cohort evaluation &amp; expecting more pairs to come.</a:t>
            </a:r>
            <a:endParaRPr b="0" i="0" spc="0" sz="1400" u="none" cap="none" strike="noStrike">
              <a:solidFill>
                <a:srgbClr val="000000"/>
              </a:solidFill>
              <a:latin typeface="Arial"/>
              <a:ea typeface="Arial"/>
              <a:cs typeface="Arial"/>
              <a:sym typeface="Arial"/>
            </a:endParaRPr>
          </a:p>
        </p:txBody>
      </p:sp>
      <p:sp>
        <p:nvSpPr>
          <p:cNvPr id="481" name="Google Shape;481;g3fb84b8cee0_0_151"/>
          <p:cNvSpPr/>
          <p:nvPr/>
        </p:nvSpPr>
        <p:spPr>
          <a:xfrm>
            <a:off x="548100" y="5511500"/>
            <a:ext cx="11029200" cy="548700"/>
          </a:xfrm>
          <a:prstGeom prst="roundRect">
            <a:avLst>
              <a:gd fmla="val 8000" name="adj"/>
            </a:avLst>
          </a:prstGeom>
          <a:solidFill>
            <a:srgbClr val="FFF7E0"/>
          </a:solidFill>
          <a:ln cap="flat" cmpd="sng" w="15875">
            <a:solidFill>
              <a:srgbClr val="C28E00"/>
            </a:solidFill>
            <a:prstDash val="solid"/>
            <a:round/>
            <a:headEnd len="sm" w="sm" type="none"/>
            <a:tailEnd len="sm" w="sm" type="none"/>
          </a:ln>
        </p:spPr>
        <p:txBody>
          <a:bodyPr anchorCtr="0" anchor="ctr" bIns="73150" lIns="109725" spcFirstLastPara="1" rIns="109725" wrap="square" tIns="7315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222222"/>
                </a:solidFill>
                <a:latin typeface="Calibri"/>
                <a:ea typeface="Calibri"/>
                <a:cs typeface="Calibri"/>
                <a:sym typeface="Calibri"/>
              </a:rPr>
              <a:t>Small for deep learning, but to our knowledge the largest paired H&amp;E clonality set with molecular ground truth.</a:t>
            </a:r>
            <a:endParaRPr b="0" i="0" spc="0" sz="1400" u="none" cap="none" strike="noStrike">
              <a:solidFill>
                <a:srgbClr val="000000"/>
              </a:solidFill>
              <a:latin typeface="Arial"/>
              <a:ea typeface="Arial"/>
              <a:cs typeface="Arial"/>
              <a:sym typeface="Arial"/>
            </a:endParaRPr>
          </a:p>
        </p:txBody>
      </p:sp>
      <p:sp>
        <p:nvSpPr>
          <p:cNvPr id="482" name="Google Shape;482;g3fb84b8cee0_0_151"/>
          <p:cNvSpPr/>
          <p:nvPr/>
        </p:nvSpPr>
        <p:spPr>
          <a:xfrm>
            <a:off x="463000" y="4231175"/>
            <a:ext cx="5563800" cy="11988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3" name="Google Shape;483;g3fb84b8cee0_0_151"/>
          <p:cNvSpPr/>
          <p:nvPr/>
        </p:nvSpPr>
        <p:spPr>
          <a:xfrm>
            <a:off x="548640" y="4280030"/>
            <a:ext cx="5394900" cy="1097400"/>
          </a:xfrm>
          <a:prstGeom prst="roundRect">
            <a:avLst>
              <a:gd fmla="val 8000" name="adj"/>
            </a:avLst>
          </a:prstGeom>
          <a:solidFill>
            <a:srgbClr val="F4F4F4"/>
          </a:solidFill>
          <a:ln cap="flat" cmpd="sng" w="15875">
            <a:solidFill>
              <a:srgbClr val="9E9E9E"/>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Phase 1 (thesis, spring 2026)</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rPr b="0" i="0" lang="en-US" spc="0" sz="1250" u="none" cap="none" strike="noStrike">
                <a:solidFill>
                  <a:srgbClr val="222222"/>
                </a:solidFill>
                <a:latin typeface="Calibri"/>
                <a:ea typeface="Calibri"/>
                <a:cs typeface="Calibri"/>
                <a:sym typeface="Calibri"/>
              </a:rPr>
              <a:t>96 pairs from 3 sources; 59 clonal, 37 non-clonal</a:t>
            </a:r>
            <a:endParaRPr b="0" i="0" spc="0" sz="1400" u="none" cap="none" strike="noStrike">
              <a:solidFill>
                <a:srgbClr val="000000"/>
              </a:solidFill>
              <a:latin typeface="Arial"/>
              <a:ea typeface="Arial"/>
              <a:cs typeface="Arial"/>
              <a:sym typeface="Arial"/>
            </a:endParaRPr>
          </a:p>
        </p:txBody>
      </p:sp>
      <p:cxnSp>
        <p:nvCxnSpPr>
          <p:cNvPr id="484" name="Google Shape;484;g3fb84b8cee0_0_151"/>
          <p:cNvCxnSpPr/>
          <p:nvPr/>
        </p:nvCxnSpPr>
        <p:spPr>
          <a:xfrm>
            <a:off x="1487825" y="2502625"/>
            <a:ext cx="13200" cy="1218000"/>
          </a:xfrm>
          <a:prstGeom prst="straightConnector1">
            <a:avLst/>
          </a:prstGeom>
          <a:noFill/>
          <a:ln cap="flat" cmpd="sng" w="19050">
            <a:solidFill>
              <a:srgbClr val="FF0000"/>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g3fb9c5fe916_0_0"/>
          <p:cNvPicPr preferRelativeResize="0"/>
          <p:nvPr/>
        </p:nvPicPr>
        <p:blipFill rotWithShape="1">
          <a:blip r:embed="rId3">
            <a:alphaModFix/>
          </a:blip>
          <a:srcRect b="299" l="0" r="0" t="0"/>
          <a:stretch/>
        </p:blipFill>
        <p:spPr>
          <a:xfrm>
            <a:off x="2010713" y="1537925"/>
            <a:ext cx="8170575" cy="4341524"/>
          </a:xfrm>
          <a:prstGeom prst="rect">
            <a:avLst/>
          </a:prstGeom>
          <a:noFill/>
          <a:ln>
            <a:noFill/>
          </a:ln>
        </p:spPr>
      </p:pic>
      <p:sp>
        <p:nvSpPr>
          <p:cNvPr id="491" name="Google Shape;491;g3fb9c5fe916_0_0"/>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Data Strategy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2" name="Google Shape;492;g3fb9c5fe916_0_0"/>
          <p:cNvSpPr/>
          <p:nvPr/>
        </p:nvSpPr>
        <p:spPr>
          <a:xfrm>
            <a:off x="2151075" y="1572150"/>
            <a:ext cx="2064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3" name="Google Shape;493;g3fb9c5fe916_0_0"/>
          <p:cNvSpPr/>
          <p:nvPr/>
        </p:nvSpPr>
        <p:spPr>
          <a:xfrm>
            <a:off x="2914650" y="1604675"/>
            <a:ext cx="35385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4" name="Google Shape;494;g3fb9c5fe916_0_0"/>
          <p:cNvSpPr/>
          <p:nvPr/>
        </p:nvSpPr>
        <p:spPr>
          <a:xfrm>
            <a:off x="7351725" y="1604675"/>
            <a:ext cx="3636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id="500" name="Google Shape;500;h178d0342318c4c4c_0_60"/>
          <p:cNvPicPr preferRelativeResize="0"/>
          <p:nvPr/>
        </p:nvPicPr>
        <p:blipFill rotWithShape="1">
          <a:blip r:embed="rId3">
            <a:alphaModFix/>
          </a:blip>
          <a:srcRect b="299" l="0" r="0" t="0"/>
          <a:stretch/>
        </p:blipFill>
        <p:spPr>
          <a:xfrm>
            <a:off x="2010713" y="1537925"/>
            <a:ext cx="8170575" cy="4341524"/>
          </a:xfrm>
          <a:prstGeom prst="rect">
            <a:avLst/>
          </a:prstGeom>
          <a:noFill/>
          <a:ln>
            <a:noFill/>
          </a:ln>
        </p:spPr>
      </p:pic>
      <p:sp>
        <p:nvSpPr>
          <p:cNvPr id="501" name="Google Shape;501;h178d0342318c4c4c_0_60"/>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Data Strategy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2" name="Google Shape;502;h178d0342318c4c4c_0_60"/>
          <p:cNvSpPr/>
          <p:nvPr/>
        </p:nvSpPr>
        <p:spPr>
          <a:xfrm>
            <a:off x="2163025" y="3277125"/>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3" name="Google Shape;503;h178d0342318c4c4c_0_60"/>
          <p:cNvSpPr/>
          <p:nvPr/>
        </p:nvSpPr>
        <p:spPr>
          <a:xfrm>
            <a:off x="6240900" y="1979800"/>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4" name="Google Shape;504;h178d0342318c4c4c_0_60"/>
          <p:cNvSpPr/>
          <p:nvPr/>
        </p:nvSpPr>
        <p:spPr>
          <a:xfrm>
            <a:off x="2151075" y="1572150"/>
            <a:ext cx="2064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5" name="Google Shape;505;h178d0342318c4c4c_0_60"/>
          <p:cNvSpPr/>
          <p:nvPr/>
        </p:nvSpPr>
        <p:spPr>
          <a:xfrm>
            <a:off x="2914650" y="1604675"/>
            <a:ext cx="35385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6" name="Google Shape;506;h178d0342318c4c4c_0_60"/>
          <p:cNvSpPr/>
          <p:nvPr/>
        </p:nvSpPr>
        <p:spPr>
          <a:xfrm>
            <a:off x="7351725" y="1604675"/>
            <a:ext cx="3636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id="512" name="Google Shape;512;h178d0342318c4c4c_0_68"/>
          <p:cNvPicPr preferRelativeResize="0"/>
          <p:nvPr/>
        </p:nvPicPr>
        <p:blipFill rotWithShape="1">
          <a:blip r:embed="rId3">
            <a:alphaModFix/>
          </a:blip>
          <a:srcRect b="299" l="0" r="0" t="0"/>
          <a:stretch/>
        </p:blipFill>
        <p:spPr>
          <a:xfrm>
            <a:off x="2010713" y="1537925"/>
            <a:ext cx="8170575" cy="4341524"/>
          </a:xfrm>
          <a:prstGeom prst="rect">
            <a:avLst/>
          </a:prstGeom>
          <a:noFill/>
          <a:ln>
            <a:noFill/>
          </a:ln>
        </p:spPr>
      </p:pic>
      <p:sp>
        <p:nvSpPr>
          <p:cNvPr id="513" name="Google Shape;513;h178d0342318c4c4c_0_68"/>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Data Strategy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4" name="Google Shape;514;h178d0342318c4c4c_0_68"/>
          <p:cNvSpPr/>
          <p:nvPr/>
        </p:nvSpPr>
        <p:spPr>
          <a:xfrm>
            <a:off x="2163025" y="3277125"/>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5" name="Google Shape;515;h178d0342318c4c4c_0_68"/>
          <p:cNvSpPr/>
          <p:nvPr/>
        </p:nvSpPr>
        <p:spPr>
          <a:xfrm>
            <a:off x="6240900" y="1979800"/>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6" name="Google Shape;516;h178d0342318c4c4c_0_68"/>
          <p:cNvSpPr/>
          <p:nvPr/>
        </p:nvSpPr>
        <p:spPr>
          <a:xfrm>
            <a:off x="2163025" y="1979800"/>
            <a:ext cx="3819600" cy="1198200"/>
          </a:xfrm>
          <a:prstGeom prst="roundRect">
            <a:avLst>
              <a:gd fmla="val 16667" name="adj"/>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7" name="Google Shape;517;h178d0342318c4c4c_0_68"/>
          <p:cNvSpPr/>
          <p:nvPr/>
        </p:nvSpPr>
        <p:spPr>
          <a:xfrm>
            <a:off x="2151075" y="1572150"/>
            <a:ext cx="2064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8" name="Google Shape;518;h178d0342318c4c4c_0_68"/>
          <p:cNvSpPr/>
          <p:nvPr/>
        </p:nvSpPr>
        <p:spPr>
          <a:xfrm>
            <a:off x="2914650" y="1604675"/>
            <a:ext cx="35385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9" name="Google Shape;519;h178d0342318c4c4c_0_68"/>
          <p:cNvSpPr/>
          <p:nvPr/>
        </p:nvSpPr>
        <p:spPr>
          <a:xfrm>
            <a:off x="7351725" y="1604675"/>
            <a:ext cx="3636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id="525" name="Google Shape;525;h2baf384c86278644_0_8"/>
          <p:cNvPicPr preferRelativeResize="0"/>
          <p:nvPr/>
        </p:nvPicPr>
        <p:blipFill rotWithShape="1">
          <a:blip r:embed="rId3">
            <a:alphaModFix/>
          </a:blip>
          <a:srcRect b="299" l="0" r="0" t="0"/>
          <a:stretch/>
        </p:blipFill>
        <p:spPr>
          <a:xfrm>
            <a:off x="2010713" y="1537925"/>
            <a:ext cx="8170575" cy="4341524"/>
          </a:xfrm>
          <a:prstGeom prst="rect">
            <a:avLst/>
          </a:prstGeom>
          <a:noFill/>
          <a:ln>
            <a:noFill/>
          </a:ln>
        </p:spPr>
      </p:pic>
      <p:sp>
        <p:nvSpPr>
          <p:cNvPr id="526" name="Google Shape;526;h2baf384c86278644_0_8"/>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Data Strategy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7" name="Google Shape;527;h2baf384c86278644_0_8"/>
          <p:cNvSpPr/>
          <p:nvPr/>
        </p:nvSpPr>
        <p:spPr>
          <a:xfrm>
            <a:off x="2163025" y="3277125"/>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8" name="Google Shape;528;h2baf384c86278644_0_8"/>
          <p:cNvSpPr/>
          <p:nvPr/>
        </p:nvSpPr>
        <p:spPr>
          <a:xfrm>
            <a:off x="6240900" y="1979800"/>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9" name="Google Shape;529;h2baf384c86278644_0_8"/>
          <p:cNvSpPr/>
          <p:nvPr/>
        </p:nvSpPr>
        <p:spPr>
          <a:xfrm>
            <a:off x="2163025" y="1979800"/>
            <a:ext cx="3819600" cy="1198200"/>
          </a:xfrm>
          <a:prstGeom prst="roundRect">
            <a:avLst>
              <a:gd fmla="val 16667" name="adj"/>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0" name="Google Shape;530;h2baf384c86278644_0_8"/>
          <p:cNvSpPr/>
          <p:nvPr/>
        </p:nvSpPr>
        <p:spPr>
          <a:xfrm>
            <a:off x="6267400" y="3277125"/>
            <a:ext cx="3819600" cy="1198200"/>
          </a:xfrm>
          <a:prstGeom prst="roundRect">
            <a:avLst>
              <a:gd fmla="val 16667" name="adj"/>
            </a:avLst>
          </a:prstGeom>
          <a:no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531" name="Google Shape;531;h2baf384c86278644_0_8"/>
          <p:cNvPicPr preferRelativeResize="0"/>
          <p:nvPr/>
        </p:nvPicPr>
        <p:blipFill rotWithShape="1">
          <a:blip r:embed="rId4">
            <a:alphaModFix/>
          </a:blip>
          <a:srcRect b="0" l="25007" r="18223" t="0"/>
          <a:stretch/>
        </p:blipFill>
        <p:spPr>
          <a:xfrm>
            <a:off x="9593900" y="4906256"/>
            <a:ext cx="552475" cy="973181"/>
          </a:xfrm>
          <a:prstGeom prst="rect">
            <a:avLst/>
          </a:prstGeom>
          <a:noFill/>
          <a:ln>
            <a:noFill/>
          </a:ln>
        </p:spPr>
      </p:pic>
      <p:pic>
        <p:nvPicPr>
          <p:cNvPr id="532" name="Google Shape;532;h2baf384c86278644_0_8"/>
          <p:cNvPicPr preferRelativeResize="0"/>
          <p:nvPr/>
        </p:nvPicPr>
        <p:blipFill rotWithShape="1">
          <a:blip r:embed="rId5">
            <a:alphaModFix/>
          </a:blip>
          <a:srcRect b="0" l="29215" r="27568" t="0"/>
          <a:stretch/>
        </p:blipFill>
        <p:spPr>
          <a:xfrm>
            <a:off x="10647025" y="4868387"/>
            <a:ext cx="453327" cy="1048950"/>
          </a:xfrm>
          <a:prstGeom prst="rect">
            <a:avLst/>
          </a:prstGeom>
          <a:noFill/>
          <a:ln>
            <a:noFill/>
          </a:ln>
        </p:spPr>
      </p:pic>
      <p:cxnSp>
        <p:nvCxnSpPr>
          <p:cNvPr id="533" name="Google Shape;533;h2baf384c86278644_0_8"/>
          <p:cNvCxnSpPr/>
          <p:nvPr/>
        </p:nvCxnSpPr>
        <p:spPr>
          <a:xfrm>
            <a:off x="10053700" y="4402475"/>
            <a:ext cx="225000" cy="337500"/>
          </a:xfrm>
          <a:prstGeom prst="straightConnector1">
            <a:avLst/>
          </a:prstGeom>
          <a:noFill/>
          <a:ln cap="flat" cmpd="sng" w="28575">
            <a:solidFill>
              <a:schemeClr val="accent6"/>
            </a:solidFill>
            <a:prstDash val="solid"/>
            <a:round/>
            <a:headEnd len="sm" w="sm" type="none"/>
            <a:tailEnd len="sm" w="sm" type="none"/>
          </a:ln>
        </p:spPr>
      </p:cxnSp>
      <p:cxnSp>
        <p:nvCxnSpPr>
          <p:cNvPr id="534" name="Google Shape;534;h2baf384c86278644_0_8"/>
          <p:cNvCxnSpPr>
            <a:endCxn id="532" idx="1"/>
          </p:cNvCxnSpPr>
          <p:nvPr/>
        </p:nvCxnSpPr>
        <p:spPr>
          <a:xfrm>
            <a:off x="10146325" y="5392862"/>
            <a:ext cx="500700" cy="0"/>
          </a:xfrm>
          <a:prstGeom prst="straightConnector1">
            <a:avLst/>
          </a:prstGeom>
          <a:noFill/>
          <a:ln cap="flat" cmpd="sng" w="9525">
            <a:solidFill>
              <a:schemeClr val="dk2"/>
            </a:solidFill>
            <a:prstDash val="solid"/>
            <a:round/>
            <a:headEnd len="sm" w="sm" type="none"/>
            <a:tailEnd len="med" w="med" type="triangle"/>
          </a:ln>
        </p:spPr>
      </p:cxnSp>
      <p:cxnSp>
        <p:nvCxnSpPr>
          <p:cNvPr id="535" name="Google Shape;535;h2baf384c86278644_0_8"/>
          <p:cNvCxnSpPr>
            <a:stCxn id="532" idx="1"/>
            <a:endCxn id="531" idx="3"/>
          </p:cNvCxnSpPr>
          <p:nvPr/>
        </p:nvCxnSpPr>
        <p:spPr>
          <a:xfrm rot="10800000">
            <a:off x="10146325" y="5392862"/>
            <a:ext cx="500700" cy="0"/>
          </a:xfrm>
          <a:prstGeom prst="straightConnector1">
            <a:avLst/>
          </a:prstGeom>
          <a:noFill/>
          <a:ln cap="flat" cmpd="sng" w="9525">
            <a:solidFill>
              <a:schemeClr val="dk2"/>
            </a:solidFill>
            <a:prstDash val="solid"/>
            <a:round/>
            <a:headEnd len="sm" w="sm" type="none"/>
            <a:tailEnd len="med" w="med" type="triangle"/>
          </a:ln>
        </p:spPr>
      </p:cxnSp>
      <p:sp>
        <p:nvSpPr>
          <p:cNvPr id="536" name="Google Shape;536;h2baf384c86278644_0_8"/>
          <p:cNvSpPr/>
          <p:nvPr/>
        </p:nvSpPr>
        <p:spPr>
          <a:xfrm>
            <a:off x="2151075" y="1572150"/>
            <a:ext cx="2064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7" name="Google Shape;537;h2baf384c86278644_0_8"/>
          <p:cNvSpPr/>
          <p:nvPr/>
        </p:nvSpPr>
        <p:spPr>
          <a:xfrm>
            <a:off x="2914650" y="1604675"/>
            <a:ext cx="35385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8" name="Google Shape;538;h2baf384c86278644_0_8"/>
          <p:cNvSpPr/>
          <p:nvPr/>
        </p:nvSpPr>
        <p:spPr>
          <a:xfrm>
            <a:off x="7351725" y="1604675"/>
            <a:ext cx="3636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h2baf384c86278644_0_69"/>
          <p:cNvPicPr preferRelativeResize="0"/>
          <p:nvPr/>
        </p:nvPicPr>
        <p:blipFill rotWithShape="1">
          <a:blip r:embed="rId3">
            <a:alphaModFix/>
          </a:blip>
          <a:srcRect b="299" l="0" r="0" t="0"/>
          <a:stretch/>
        </p:blipFill>
        <p:spPr>
          <a:xfrm>
            <a:off x="2010713" y="1537925"/>
            <a:ext cx="8170575" cy="4341524"/>
          </a:xfrm>
          <a:prstGeom prst="rect">
            <a:avLst/>
          </a:prstGeom>
          <a:noFill/>
          <a:ln>
            <a:noFill/>
          </a:ln>
        </p:spPr>
      </p:pic>
      <p:sp>
        <p:nvSpPr>
          <p:cNvPr id="545" name="Google Shape;545;h2baf384c86278644_0_69"/>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Data Strategy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6" name="Google Shape;546;h2baf384c86278644_0_69"/>
          <p:cNvSpPr/>
          <p:nvPr/>
        </p:nvSpPr>
        <p:spPr>
          <a:xfrm>
            <a:off x="2163025" y="3277125"/>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7" name="Google Shape;547;h2baf384c86278644_0_69"/>
          <p:cNvSpPr/>
          <p:nvPr/>
        </p:nvSpPr>
        <p:spPr>
          <a:xfrm>
            <a:off x="6240900" y="1979800"/>
            <a:ext cx="3819600" cy="1198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8" name="Google Shape;548;h2baf384c86278644_0_69"/>
          <p:cNvSpPr/>
          <p:nvPr/>
        </p:nvSpPr>
        <p:spPr>
          <a:xfrm>
            <a:off x="2163025" y="1979800"/>
            <a:ext cx="3819600" cy="1198200"/>
          </a:xfrm>
          <a:prstGeom prst="roundRect">
            <a:avLst>
              <a:gd fmla="val 16667" name="adj"/>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9" name="Google Shape;549;h2baf384c86278644_0_69"/>
          <p:cNvSpPr/>
          <p:nvPr/>
        </p:nvSpPr>
        <p:spPr>
          <a:xfrm>
            <a:off x="6267400" y="3277125"/>
            <a:ext cx="3819600" cy="1198200"/>
          </a:xfrm>
          <a:prstGeom prst="roundRect">
            <a:avLst>
              <a:gd fmla="val 16667" name="adj"/>
            </a:avLst>
          </a:prstGeom>
          <a:no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550" name="Google Shape;550;h2baf384c86278644_0_69"/>
          <p:cNvPicPr preferRelativeResize="0"/>
          <p:nvPr/>
        </p:nvPicPr>
        <p:blipFill rotWithShape="1">
          <a:blip r:embed="rId4">
            <a:alphaModFix/>
          </a:blip>
          <a:srcRect b="0" l="25007" r="18223" t="0"/>
          <a:stretch/>
        </p:blipFill>
        <p:spPr>
          <a:xfrm>
            <a:off x="9593900" y="4906256"/>
            <a:ext cx="552475" cy="973181"/>
          </a:xfrm>
          <a:prstGeom prst="rect">
            <a:avLst/>
          </a:prstGeom>
          <a:noFill/>
          <a:ln>
            <a:noFill/>
          </a:ln>
        </p:spPr>
      </p:pic>
      <p:pic>
        <p:nvPicPr>
          <p:cNvPr id="551" name="Google Shape;551;h2baf384c86278644_0_69"/>
          <p:cNvPicPr preferRelativeResize="0"/>
          <p:nvPr/>
        </p:nvPicPr>
        <p:blipFill rotWithShape="1">
          <a:blip r:embed="rId5">
            <a:alphaModFix/>
          </a:blip>
          <a:srcRect b="0" l="29215" r="27568" t="0"/>
          <a:stretch/>
        </p:blipFill>
        <p:spPr>
          <a:xfrm>
            <a:off x="10647025" y="4868387"/>
            <a:ext cx="453327" cy="1048950"/>
          </a:xfrm>
          <a:prstGeom prst="rect">
            <a:avLst/>
          </a:prstGeom>
          <a:noFill/>
          <a:ln>
            <a:noFill/>
          </a:ln>
        </p:spPr>
      </p:pic>
      <p:cxnSp>
        <p:nvCxnSpPr>
          <p:cNvPr id="552" name="Google Shape;552;h2baf384c86278644_0_69"/>
          <p:cNvCxnSpPr/>
          <p:nvPr/>
        </p:nvCxnSpPr>
        <p:spPr>
          <a:xfrm>
            <a:off x="10053700" y="4402475"/>
            <a:ext cx="225000" cy="337500"/>
          </a:xfrm>
          <a:prstGeom prst="straightConnector1">
            <a:avLst/>
          </a:prstGeom>
          <a:noFill/>
          <a:ln cap="flat" cmpd="sng" w="28575">
            <a:solidFill>
              <a:schemeClr val="accent6"/>
            </a:solidFill>
            <a:prstDash val="solid"/>
            <a:round/>
            <a:headEnd len="sm" w="sm" type="none"/>
            <a:tailEnd len="sm" w="sm" type="none"/>
          </a:ln>
        </p:spPr>
      </p:cxnSp>
      <p:cxnSp>
        <p:nvCxnSpPr>
          <p:cNvPr id="553" name="Google Shape;553;h2baf384c86278644_0_69"/>
          <p:cNvCxnSpPr>
            <a:endCxn id="551" idx="1"/>
          </p:cNvCxnSpPr>
          <p:nvPr/>
        </p:nvCxnSpPr>
        <p:spPr>
          <a:xfrm>
            <a:off x="10146325" y="5392862"/>
            <a:ext cx="500700" cy="0"/>
          </a:xfrm>
          <a:prstGeom prst="straightConnector1">
            <a:avLst/>
          </a:prstGeom>
          <a:noFill/>
          <a:ln cap="flat" cmpd="sng" w="9525">
            <a:solidFill>
              <a:schemeClr val="dk2"/>
            </a:solidFill>
            <a:prstDash val="solid"/>
            <a:round/>
            <a:headEnd len="sm" w="sm" type="none"/>
            <a:tailEnd len="med" w="med" type="triangle"/>
          </a:ln>
        </p:spPr>
      </p:cxnSp>
      <p:cxnSp>
        <p:nvCxnSpPr>
          <p:cNvPr id="554" name="Google Shape;554;h2baf384c86278644_0_69"/>
          <p:cNvCxnSpPr>
            <a:stCxn id="551" idx="1"/>
            <a:endCxn id="550" idx="3"/>
          </p:cNvCxnSpPr>
          <p:nvPr/>
        </p:nvCxnSpPr>
        <p:spPr>
          <a:xfrm rot="10800000">
            <a:off x="10146325" y="5392862"/>
            <a:ext cx="500700" cy="0"/>
          </a:xfrm>
          <a:prstGeom prst="straightConnector1">
            <a:avLst/>
          </a:prstGeom>
          <a:noFill/>
          <a:ln cap="flat" cmpd="sng" w="9525">
            <a:solidFill>
              <a:schemeClr val="dk2"/>
            </a:solidFill>
            <a:prstDash val="solid"/>
            <a:round/>
            <a:headEnd len="sm" w="sm" type="none"/>
            <a:tailEnd len="med" w="med" type="triangle"/>
          </a:ln>
        </p:spPr>
      </p:cxnSp>
      <p:cxnSp>
        <p:nvCxnSpPr>
          <p:cNvPr id="555" name="Google Shape;555;h2baf384c86278644_0_69"/>
          <p:cNvCxnSpPr/>
          <p:nvPr/>
        </p:nvCxnSpPr>
        <p:spPr>
          <a:xfrm>
            <a:off x="5802325" y="5517100"/>
            <a:ext cx="1023900" cy="7800"/>
          </a:xfrm>
          <a:prstGeom prst="straightConnector1">
            <a:avLst/>
          </a:prstGeom>
          <a:noFill/>
          <a:ln cap="flat" cmpd="sng" w="76200">
            <a:solidFill>
              <a:srgbClr val="FF0000"/>
            </a:solidFill>
            <a:prstDash val="solid"/>
            <a:round/>
            <a:headEnd len="sm" w="sm" type="none"/>
            <a:tailEnd len="sm" w="sm" type="none"/>
          </a:ln>
        </p:spPr>
      </p:cxnSp>
      <p:sp>
        <p:nvSpPr>
          <p:cNvPr id="556" name="Google Shape;556;h2baf384c86278644_0_69"/>
          <p:cNvSpPr/>
          <p:nvPr/>
        </p:nvSpPr>
        <p:spPr>
          <a:xfrm>
            <a:off x="2151075" y="1572150"/>
            <a:ext cx="2064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7" name="Google Shape;557;h2baf384c86278644_0_69"/>
          <p:cNvSpPr/>
          <p:nvPr/>
        </p:nvSpPr>
        <p:spPr>
          <a:xfrm>
            <a:off x="2914650" y="1604675"/>
            <a:ext cx="35385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8" name="Google Shape;558;h2baf384c86278644_0_69"/>
          <p:cNvSpPr/>
          <p:nvPr/>
        </p:nvSpPr>
        <p:spPr>
          <a:xfrm>
            <a:off x="7351725" y="1604675"/>
            <a:ext cx="363600" cy="3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3fbc13185ce_0_5"/>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Results - Phase 1</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Trebuchet MS"/>
              <a:ea typeface="Trebuchet MS"/>
              <a:cs typeface="Trebuchet MS"/>
              <a:sym typeface="Trebuchet MS"/>
            </a:endParaRPr>
          </a:p>
        </p:txBody>
      </p:sp>
      <p:pic>
        <p:nvPicPr>
          <p:cNvPr id="565" name="Google Shape;565;g3fbc13185ce_0_5" title="Clonal-call comparison@2x.png"/>
          <p:cNvPicPr preferRelativeResize="0"/>
          <p:nvPr/>
        </p:nvPicPr>
        <p:blipFill rotWithShape="1">
          <a:blip r:embed="rId3">
            <a:alphaModFix/>
          </a:blip>
          <a:srcRect b="29289" l="0" r="23160" t="0"/>
          <a:stretch/>
        </p:blipFill>
        <p:spPr>
          <a:xfrm>
            <a:off x="5072513" y="1655875"/>
            <a:ext cx="6270374" cy="3546251"/>
          </a:xfrm>
          <a:prstGeom prst="rect">
            <a:avLst/>
          </a:prstGeom>
          <a:noFill/>
          <a:ln>
            <a:noFill/>
          </a:ln>
        </p:spPr>
      </p:pic>
      <p:pic>
        <p:nvPicPr>
          <p:cNvPr id="566" name="Google Shape;566;g3fbc13185ce_0_5" title="Results slide@2x.png"/>
          <p:cNvPicPr preferRelativeResize="0"/>
          <p:nvPr/>
        </p:nvPicPr>
        <p:blipFill rotWithShape="1">
          <a:blip r:embed="rId4">
            <a:alphaModFix/>
          </a:blip>
          <a:srcRect b="52289" l="4351" r="51924" t="33553"/>
          <a:stretch/>
        </p:blipFill>
        <p:spPr>
          <a:xfrm>
            <a:off x="368851" y="2202287"/>
            <a:ext cx="4594775" cy="836899"/>
          </a:xfrm>
          <a:prstGeom prst="rect">
            <a:avLst/>
          </a:prstGeom>
          <a:noFill/>
          <a:ln cap="flat" cmpd="sng" w="21575">
            <a:solidFill>
              <a:schemeClr val="dk2"/>
            </a:solidFill>
            <a:prstDash val="solid"/>
            <a:round/>
            <a:headEnd len="sm" w="sm" type="none"/>
            <a:tailEnd len="sm" w="sm" type="none"/>
          </a:ln>
        </p:spPr>
      </p:pic>
      <p:pic>
        <p:nvPicPr>
          <p:cNvPr id="567" name="Google Shape;567;g3fbc13185ce_0_5" title="Results slide@2x.png"/>
          <p:cNvPicPr preferRelativeResize="0"/>
          <p:nvPr/>
        </p:nvPicPr>
        <p:blipFill rotWithShape="1">
          <a:blip r:embed="rId4">
            <a:alphaModFix/>
          </a:blip>
          <a:srcRect b="20639" l="4351" r="51924" t="52013"/>
          <a:stretch/>
        </p:blipFill>
        <p:spPr>
          <a:xfrm>
            <a:off x="368856" y="3039185"/>
            <a:ext cx="4594770" cy="1616527"/>
          </a:xfrm>
          <a:prstGeom prst="rect">
            <a:avLst/>
          </a:prstGeom>
          <a:noFill/>
          <a:ln cap="flat" cmpd="sng" w="21575">
            <a:solidFill>
              <a:schemeClr val="dk2"/>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h178d0342318c4c4c_0_323"/>
          <p:cNvSpPr txBox="1"/>
          <p:nvPr/>
        </p:nvSpPr>
        <p:spPr>
          <a:xfrm>
            <a:off x="448056" y="1097280"/>
            <a:ext cx="112470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Which mistake is worse?</a:t>
            </a:r>
            <a:endParaRPr b="0" i="0" spc="0" sz="1400" u="none" cap="none" strike="noStrike">
              <a:solidFill>
                <a:srgbClr val="000000"/>
              </a:solidFill>
              <a:latin typeface="Arial"/>
              <a:ea typeface="Arial"/>
              <a:cs typeface="Arial"/>
              <a:sym typeface="Arial"/>
            </a:endParaRPr>
          </a:p>
        </p:txBody>
      </p:sp>
      <p:sp>
        <p:nvSpPr>
          <p:cNvPr id="574" name="Google Shape;574;h178d0342318c4c4c_0_323"/>
          <p:cNvSpPr txBox="1"/>
          <p:nvPr/>
        </p:nvSpPr>
        <p:spPr>
          <a:xfrm>
            <a:off x="448056" y="1572768"/>
            <a:ext cx="11247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595959"/>
                </a:solidFill>
                <a:latin typeface="Trebuchet MS"/>
                <a:ea typeface="Trebuchet MS"/>
                <a:cs typeface="Trebuchet MS"/>
                <a:sym typeface="Trebuchet MS"/>
              </a:rPr>
              <a:t>You know precision and recall. Here is what each error costs a patient.</a:t>
            </a:r>
            <a:endParaRPr b="0" i="0" spc="0" sz="1400" u="none" cap="none" strike="noStrike">
              <a:solidFill>
                <a:srgbClr val="000000"/>
              </a:solidFill>
              <a:latin typeface="Arial"/>
              <a:ea typeface="Arial"/>
              <a:cs typeface="Arial"/>
              <a:sym typeface="Arial"/>
            </a:endParaRPr>
          </a:p>
        </p:txBody>
      </p:sp>
      <p:sp>
        <p:nvSpPr>
          <p:cNvPr id="575" name="Google Shape;575;h178d0342318c4c4c_0_323"/>
          <p:cNvSpPr/>
          <p:nvPr/>
        </p:nvSpPr>
        <p:spPr>
          <a:xfrm>
            <a:off x="448056" y="2103120"/>
            <a:ext cx="3566100" cy="3246000"/>
          </a:xfrm>
          <a:prstGeom prst="roundRect">
            <a:avLst>
              <a:gd fmla="val 5000" name="adj"/>
            </a:avLst>
          </a:prstGeom>
          <a:solidFill>
            <a:srgbClr val="F3F5F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6" name="Google Shape;576;h178d0342318c4c4c_0_323"/>
          <p:cNvSpPr txBox="1"/>
          <p:nvPr/>
        </p:nvSpPr>
        <p:spPr>
          <a:xfrm>
            <a:off x="722376" y="2359152"/>
            <a:ext cx="30174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222222"/>
                </a:solidFill>
                <a:latin typeface="Trebuchet MS"/>
                <a:ea typeface="Trebuchet MS"/>
                <a:cs typeface="Trebuchet MS"/>
                <a:sym typeface="Trebuchet MS"/>
              </a:rPr>
              <a:t>Model says “clonal” 10×</a:t>
            </a:r>
            <a:endParaRPr b="0" i="0" spc="0" sz="1400" u="none" cap="none" strike="noStrike">
              <a:solidFill>
                <a:srgbClr val="000000"/>
              </a:solidFill>
              <a:latin typeface="Arial"/>
              <a:ea typeface="Arial"/>
              <a:cs typeface="Arial"/>
              <a:sym typeface="Arial"/>
            </a:endParaRPr>
          </a:p>
        </p:txBody>
      </p:sp>
      <p:sp>
        <p:nvSpPr>
          <p:cNvPr id="577" name="Google Shape;577;h178d0342318c4c4c_0_323"/>
          <p:cNvSpPr/>
          <p:nvPr/>
        </p:nvSpPr>
        <p:spPr>
          <a:xfrm>
            <a:off x="758952" y="2926079"/>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78" name="Google Shape;578;h178d0342318c4c4c_0_323"/>
          <p:cNvSpPr/>
          <p:nvPr/>
        </p:nvSpPr>
        <p:spPr>
          <a:xfrm>
            <a:off x="1380744" y="2926079"/>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79" name="Google Shape;579;h178d0342318c4c4c_0_323"/>
          <p:cNvSpPr/>
          <p:nvPr/>
        </p:nvSpPr>
        <p:spPr>
          <a:xfrm>
            <a:off x="2002536" y="2926079"/>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0" name="Google Shape;580;h178d0342318c4c4c_0_323"/>
          <p:cNvSpPr/>
          <p:nvPr/>
        </p:nvSpPr>
        <p:spPr>
          <a:xfrm>
            <a:off x="2624328" y="2926079"/>
            <a:ext cx="457200" cy="457200"/>
          </a:xfrm>
          <a:prstGeom prst="ellipse">
            <a:avLst/>
          </a:prstGeom>
          <a:solidFill>
            <a:srgbClr val="1E9EB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1" name="Google Shape;581;h178d0342318c4c4c_0_323"/>
          <p:cNvSpPr/>
          <p:nvPr/>
        </p:nvSpPr>
        <p:spPr>
          <a:xfrm>
            <a:off x="3246120" y="2926079"/>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2" name="Google Shape;582;h178d0342318c4c4c_0_323"/>
          <p:cNvSpPr/>
          <p:nvPr/>
        </p:nvSpPr>
        <p:spPr>
          <a:xfrm>
            <a:off x="758952" y="3547872"/>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3" name="Google Shape;583;h178d0342318c4c4c_0_323"/>
          <p:cNvSpPr/>
          <p:nvPr/>
        </p:nvSpPr>
        <p:spPr>
          <a:xfrm>
            <a:off x="1380744" y="3547872"/>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4" name="Google Shape;584;h178d0342318c4c4c_0_323"/>
          <p:cNvSpPr/>
          <p:nvPr/>
        </p:nvSpPr>
        <p:spPr>
          <a:xfrm>
            <a:off x="2002536" y="3547872"/>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5" name="Google Shape;585;h178d0342318c4c4c_0_323"/>
          <p:cNvSpPr/>
          <p:nvPr/>
        </p:nvSpPr>
        <p:spPr>
          <a:xfrm>
            <a:off x="2624328" y="3547872"/>
            <a:ext cx="457200" cy="457200"/>
          </a:xfrm>
          <a:prstGeom prst="ellipse">
            <a:avLst/>
          </a:prstGeom>
          <a:solidFill>
            <a:srgbClr val="1E9EB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6" name="Google Shape;586;h178d0342318c4c4c_0_323"/>
          <p:cNvSpPr/>
          <p:nvPr/>
        </p:nvSpPr>
        <p:spPr>
          <a:xfrm>
            <a:off x="3246120" y="3547872"/>
            <a:ext cx="457200" cy="457200"/>
          </a:xfrm>
          <a:prstGeom prst="ellipse">
            <a:avLst/>
          </a:prstGeom>
          <a:solidFill>
            <a:srgbClr val="FF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FFFFFF"/>
                </a:solidFill>
                <a:latin typeface="Trebuchet MS"/>
                <a:ea typeface="Trebuchet MS"/>
                <a:cs typeface="Trebuchet MS"/>
                <a:sym typeface="Trebuchet MS"/>
              </a:rPr>
              <a:t>✓</a:t>
            </a:r>
            <a:endParaRPr b="0" i="0" spc="0" sz="1400" u="none" cap="none" strike="noStrike">
              <a:solidFill>
                <a:srgbClr val="000000"/>
              </a:solidFill>
              <a:latin typeface="Arial"/>
              <a:ea typeface="Arial"/>
              <a:cs typeface="Arial"/>
              <a:sym typeface="Arial"/>
            </a:endParaRPr>
          </a:p>
        </p:txBody>
      </p:sp>
      <p:sp>
        <p:nvSpPr>
          <p:cNvPr id="587" name="Google Shape;587;h178d0342318c4c4c_0_323"/>
          <p:cNvSpPr txBox="1"/>
          <p:nvPr/>
        </p:nvSpPr>
        <p:spPr>
          <a:xfrm>
            <a:off x="630936" y="4251960"/>
            <a:ext cx="3200400" cy="461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pc="0" sz="3000" u="none" cap="none" strike="noStrike">
                <a:solidFill>
                  <a:srgbClr val="E08600"/>
                </a:solidFill>
                <a:latin typeface="Trebuchet MS"/>
                <a:ea typeface="Trebuchet MS"/>
                <a:cs typeface="Trebuchet MS"/>
                <a:sym typeface="Trebuchet MS"/>
              </a:rPr>
              <a:t>8 / 10 correct</a:t>
            </a:r>
            <a:endParaRPr b="0" i="0" spc="0" sz="1400" u="none" cap="none" strike="noStrike">
              <a:solidFill>
                <a:srgbClr val="000000"/>
              </a:solidFill>
              <a:latin typeface="Arial"/>
              <a:ea typeface="Arial"/>
              <a:cs typeface="Arial"/>
              <a:sym typeface="Arial"/>
            </a:endParaRPr>
          </a:p>
        </p:txBody>
      </p:sp>
      <p:sp>
        <p:nvSpPr>
          <p:cNvPr id="588" name="Google Shape;588;h178d0342318c4c4c_0_323"/>
          <p:cNvSpPr txBox="1"/>
          <p:nvPr/>
        </p:nvSpPr>
        <p:spPr>
          <a:xfrm>
            <a:off x="630936" y="4800600"/>
            <a:ext cx="32004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95959"/>
                </a:solidFill>
                <a:latin typeface="Trebuchet MS"/>
                <a:ea typeface="Trebuchet MS"/>
                <a:cs typeface="Trebuchet MS"/>
                <a:sym typeface="Trebuchet MS"/>
              </a:rPr>
              <a:t>= 80 % precision</a:t>
            </a:r>
            <a:endParaRPr b="0" i="0" spc="0" sz="1400" u="none" cap="none" strike="noStrike">
              <a:solidFill>
                <a:srgbClr val="000000"/>
              </a:solidFill>
              <a:latin typeface="Arial"/>
              <a:ea typeface="Arial"/>
              <a:cs typeface="Arial"/>
              <a:sym typeface="Arial"/>
            </a:endParaRPr>
          </a:p>
        </p:txBody>
      </p:sp>
      <p:sp>
        <p:nvSpPr>
          <p:cNvPr id="589" name="Google Shape;589;h178d0342318c4c4c_0_323"/>
          <p:cNvSpPr/>
          <p:nvPr/>
        </p:nvSpPr>
        <p:spPr>
          <a:xfrm>
            <a:off x="4379976" y="2103120"/>
            <a:ext cx="7360800" cy="1463100"/>
          </a:xfrm>
          <a:prstGeom prst="roundRect">
            <a:avLst>
              <a:gd fmla="val 7000" name="adj"/>
            </a:avLst>
          </a:prstGeom>
          <a:solidFill>
            <a:srgbClr val="FFF6DC"/>
          </a:solidFill>
          <a:ln cap="flat" cmpd="sng" w="15875">
            <a:solidFill>
              <a:srgbClr val="C9A22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0" name="Google Shape;590;h178d0342318c4c4c_0_323"/>
          <p:cNvSpPr txBox="1"/>
          <p:nvPr/>
        </p:nvSpPr>
        <p:spPr>
          <a:xfrm>
            <a:off x="4700016" y="2331720"/>
            <a:ext cx="42063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pc="0" sz="1900" u="none" cap="none" strike="noStrike">
                <a:solidFill>
                  <a:srgbClr val="222222"/>
                </a:solidFill>
                <a:latin typeface="Trebuchet MS"/>
                <a:ea typeface="Trebuchet MS"/>
                <a:cs typeface="Trebuchet MS"/>
                <a:sym typeface="Trebuchet MS"/>
              </a:rPr>
              <a:t>False “clonal”</a:t>
            </a:r>
            <a:endParaRPr b="0" i="0" spc="0" sz="1400" u="none" cap="none" strike="noStrike">
              <a:solidFill>
                <a:srgbClr val="000000"/>
              </a:solidFill>
              <a:latin typeface="Arial"/>
              <a:ea typeface="Arial"/>
              <a:cs typeface="Arial"/>
              <a:sym typeface="Arial"/>
            </a:endParaRPr>
          </a:p>
        </p:txBody>
      </p:sp>
      <p:sp>
        <p:nvSpPr>
          <p:cNvPr id="591" name="Google Shape;591;h178d0342318c4c4c_0_323"/>
          <p:cNvSpPr/>
          <p:nvPr/>
        </p:nvSpPr>
        <p:spPr>
          <a:xfrm>
            <a:off x="8769096" y="2350008"/>
            <a:ext cx="2651700" cy="329100"/>
          </a:xfrm>
          <a:prstGeom prst="roundRect">
            <a:avLst>
              <a:gd fmla="val 50000" name="adj"/>
            </a:avLst>
          </a:prstGeom>
          <a:solidFill>
            <a:srgbClr val="C9A22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pc="0" sz="1200" u="none" cap="none" strike="noStrike">
                <a:solidFill>
                  <a:srgbClr val="FFFFFF"/>
                </a:solidFill>
                <a:latin typeface="Trebuchet MS"/>
                <a:ea typeface="Trebuchet MS"/>
                <a:cs typeface="Trebuchet MS"/>
                <a:sym typeface="Trebuchet MS"/>
              </a:rPr>
              <a:t>Precision · our focus now</a:t>
            </a:r>
            <a:endParaRPr b="0" i="0" spc="0" sz="1400" u="none" cap="none" strike="noStrike">
              <a:solidFill>
                <a:srgbClr val="000000"/>
              </a:solidFill>
              <a:latin typeface="Arial"/>
              <a:ea typeface="Arial"/>
              <a:cs typeface="Arial"/>
              <a:sym typeface="Arial"/>
            </a:endParaRPr>
          </a:p>
        </p:txBody>
      </p:sp>
      <p:sp>
        <p:nvSpPr>
          <p:cNvPr id="592" name="Google Shape;592;h178d0342318c4c4c_0_323"/>
          <p:cNvSpPr txBox="1"/>
          <p:nvPr/>
        </p:nvSpPr>
        <p:spPr>
          <a:xfrm>
            <a:off x="4700016" y="2852927"/>
            <a:ext cx="6720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595959"/>
                </a:solidFill>
                <a:latin typeface="Trebuchet MS"/>
                <a:ea typeface="Trebuchet MS"/>
                <a:cs typeface="Trebuchet MS"/>
                <a:sym typeface="Trebuchet MS"/>
              </a:rPr>
              <a:t>Model says </a:t>
            </a:r>
            <a:r>
              <a:rPr b="1" i="0" lang="en-US" spc="0" sz="1300" u="none" cap="none" strike="noStrike">
                <a:solidFill>
                  <a:srgbClr val="E08600"/>
                </a:solidFill>
                <a:latin typeface="Trebuchet MS"/>
                <a:ea typeface="Trebuchet MS"/>
                <a:cs typeface="Trebuchet MS"/>
                <a:sym typeface="Trebuchet MS"/>
              </a:rPr>
              <a:t>Clonal</a:t>
            </a:r>
            <a:r>
              <a:rPr b="0" i="0" lang="en-US" spc="0" sz="1300" u="none" cap="none" strike="noStrike">
                <a:solidFill>
                  <a:srgbClr val="595959"/>
                </a:solidFill>
                <a:latin typeface="Trebuchet MS"/>
                <a:ea typeface="Trebuchet MS"/>
                <a:cs typeface="Trebuchet MS"/>
                <a:sym typeface="Trebuchet MS"/>
              </a:rPr>
              <a:t>   ·   sequencing shows </a:t>
            </a:r>
            <a:r>
              <a:rPr b="1" i="0" lang="en-US" spc="0" sz="1300" u="none" cap="none" strike="noStrike">
                <a:solidFill>
                  <a:srgbClr val="1E9EBE"/>
                </a:solidFill>
                <a:latin typeface="Trebuchet MS"/>
                <a:ea typeface="Trebuchet MS"/>
                <a:cs typeface="Trebuchet MS"/>
                <a:sym typeface="Trebuchet MS"/>
              </a:rPr>
              <a:t>Independent</a:t>
            </a:r>
            <a:endParaRPr b="0" i="0" spc="0" sz="1400" u="none" cap="none" strike="noStrike">
              <a:solidFill>
                <a:srgbClr val="000000"/>
              </a:solidFill>
              <a:latin typeface="Arial"/>
              <a:ea typeface="Arial"/>
              <a:cs typeface="Arial"/>
              <a:sym typeface="Arial"/>
            </a:endParaRPr>
          </a:p>
        </p:txBody>
      </p:sp>
      <p:sp>
        <p:nvSpPr>
          <p:cNvPr id="593" name="Google Shape;593;h178d0342318c4c4c_0_323"/>
          <p:cNvSpPr txBox="1"/>
          <p:nvPr/>
        </p:nvSpPr>
        <p:spPr>
          <a:xfrm>
            <a:off x="4700016" y="3154679"/>
            <a:ext cx="6720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8C99A6"/>
                </a:solidFill>
                <a:latin typeface="Trebuchet MS"/>
                <a:ea typeface="Trebuchet MS"/>
                <a:cs typeface="Trebuchet MS"/>
                <a:sym typeface="Trebuchet MS"/>
              </a:rPr>
              <a:t>→ </a:t>
            </a:r>
            <a:r>
              <a:rPr b="0" i="0" lang="en-US" spc="0" sz="1500" u="none" cap="none" strike="noStrike">
                <a:solidFill>
                  <a:srgbClr val="222222"/>
                </a:solidFill>
                <a:latin typeface="Trebuchet MS"/>
                <a:ea typeface="Trebuchet MS"/>
                <a:cs typeface="Trebuchet MS"/>
                <a:sym typeface="Trebuchet MS"/>
              </a:rPr>
              <a:t>Palliative instead of curative treatment</a:t>
            </a:r>
            <a:endParaRPr b="0" i="0" spc="0" sz="1400" u="none" cap="none" strike="noStrike">
              <a:solidFill>
                <a:srgbClr val="000000"/>
              </a:solidFill>
              <a:latin typeface="Arial"/>
              <a:ea typeface="Arial"/>
              <a:cs typeface="Arial"/>
              <a:sym typeface="Arial"/>
            </a:endParaRPr>
          </a:p>
        </p:txBody>
      </p:sp>
      <p:sp>
        <p:nvSpPr>
          <p:cNvPr id="594" name="Google Shape;594;h178d0342318c4c4c_0_323"/>
          <p:cNvSpPr/>
          <p:nvPr/>
        </p:nvSpPr>
        <p:spPr>
          <a:xfrm>
            <a:off x="4379976" y="3886200"/>
            <a:ext cx="7360800" cy="1463100"/>
          </a:xfrm>
          <a:prstGeom prst="roundRect">
            <a:avLst>
              <a:gd fmla="val 7000" name="adj"/>
            </a:avLst>
          </a:prstGeom>
          <a:solidFill>
            <a:srgbClr val="F3F5F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5" name="Google Shape;595;h178d0342318c4c4c_0_323"/>
          <p:cNvSpPr txBox="1"/>
          <p:nvPr/>
        </p:nvSpPr>
        <p:spPr>
          <a:xfrm>
            <a:off x="4700016" y="4114800"/>
            <a:ext cx="42063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pc="0" sz="1900" u="none" cap="none" strike="noStrike">
                <a:solidFill>
                  <a:srgbClr val="222222"/>
                </a:solidFill>
                <a:latin typeface="Trebuchet MS"/>
                <a:ea typeface="Trebuchet MS"/>
                <a:cs typeface="Trebuchet MS"/>
                <a:sym typeface="Trebuchet MS"/>
              </a:rPr>
              <a:t>False “independent”</a:t>
            </a:r>
            <a:endParaRPr b="0" i="0" spc="0" sz="1400" u="none" cap="none" strike="noStrike">
              <a:solidFill>
                <a:srgbClr val="000000"/>
              </a:solidFill>
              <a:latin typeface="Arial"/>
              <a:ea typeface="Arial"/>
              <a:cs typeface="Arial"/>
              <a:sym typeface="Arial"/>
            </a:endParaRPr>
          </a:p>
        </p:txBody>
      </p:sp>
      <p:sp>
        <p:nvSpPr>
          <p:cNvPr id="596" name="Google Shape;596;h178d0342318c4c4c_0_323"/>
          <p:cNvSpPr/>
          <p:nvPr/>
        </p:nvSpPr>
        <p:spPr>
          <a:xfrm>
            <a:off x="8769096" y="4133087"/>
            <a:ext cx="2651700" cy="329100"/>
          </a:xfrm>
          <a:prstGeom prst="roundRect">
            <a:avLst>
              <a:gd fmla="val 50000" name="adj"/>
            </a:avLst>
          </a:prstGeom>
          <a:solidFill>
            <a:srgbClr val="FFFFFF"/>
          </a:solidFill>
          <a:ln cap="flat" cmpd="sng" w="12700">
            <a:solidFill>
              <a:srgbClr val="D5DBE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pc="0" sz="1200" u="none" cap="none" strike="noStrike">
                <a:solidFill>
                  <a:srgbClr val="595959"/>
                </a:solidFill>
                <a:latin typeface="Trebuchet MS"/>
                <a:ea typeface="Trebuchet MS"/>
                <a:cs typeface="Trebuchet MS"/>
                <a:sym typeface="Trebuchet MS"/>
              </a:rPr>
              <a:t>Recall · next step</a:t>
            </a:r>
            <a:endParaRPr b="0" i="0" spc="0" sz="1400" u="none" cap="none" strike="noStrike">
              <a:solidFill>
                <a:srgbClr val="000000"/>
              </a:solidFill>
              <a:latin typeface="Arial"/>
              <a:ea typeface="Arial"/>
              <a:cs typeface="Arial"/>
              <a:sym typeface="Arial"/>
            </a:endParaRPr>
          </a:p>
        </p:txBody>
      </p:sp>
      <p:sp>
        <p:nvSpPr>
          <p:cNvPr id="597" name="Google Shape;597;h178d0342318c4c4c_0_323"/>
          <p:cNvSpPr txBox="1"/>
          <p:nvPr/>
        </p:nvSpPr>
        <p:spPr>
          <a:xfrm>
            <a:off x="4700016" y="4636008"/>
            <a:ext cx="6720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595959"/>
                </a:solidFill>
                <a:latin typeface="Trebuchet MS"/>
                <a:ea typeface="Trebuchet MS"/>
                <a:cs typeface="Trebuchet MS"/>
                <a:sym typeface="Trebuchet MS"/>
              </a:rPr>
              <a:t>Model says </a:t>
            </a:r>
            <a:r>
              <a:rPr b="1" i="0" lang="en-US" spc="0" sz="1300" u="none" cap="none" strike="noStrike">
                <a:solidFill>
                  <a:srgbClr val="1E9EBE"/>
                </a:solidFill>
                <a:latin typeface="Trebuchet MS"/>
                <a:ea typeface="Trebuchet MS"/>
                <a:cs typeface="Trebuchet MS"/>
                <a:sym typeface="Trebuchet MS"/>
              </a:rPr>
              <a:t>Independent</a:t>
            </a:r>
            <a:r>
              <a:rPr b="0" i="0" lang="en-US" spc="0" sz="1300" u="none" cap="none" strike="noStrike">
                <a:solidFill>
                  <a:srgbClr val="595959"/>
                </a:solidFill>
                <a:latin typeface="Trebuchet MS"/>
                <a:ea typeface="Trebuchet MS"/>
                <a:cs typeface="Trebuchet MS"/>
                <a:sym typeface="Trebuchet MS"/>
              </a:rPr>
              <a:t>   ·   sequencing shows </a:t>
            </a:r>
            <a:r>
              <a:rPr b="1" i="0" lang="en-US" spc="0" sz="1300" u="none" cap="none" strike="noStrike">
                <a:solidFill>
                  <a:srgbClr val="E08600"/>
                </a:solidFill>
                <a:latin typeface="Trebuchet MS"/>
                <a:ea typeface="Trebuchet MS"/>
                <a:cs typeface="Trebuchet MS"/>
                <a:sym typeface="Trebuchet MS"/>
              </a:rPr>
              <a:t>Metastasis</a:t>
            </a:r>
            <a:endParaRPr b="0" i="0" spc="0" sz="1400" u="none" cap="none" strike="noStrike">
              <a:solidFill>
                <a:srgbClr val="000000"/>
              </a:solidFill>
              <a:latin typeface="Arial"/>
              <a:ea typeface="Arial"/>
              <a:cs typeface="Arial"/>
              <a:sym typeface="Arial"/>
            </a:endParaRPr>
          </a:p>
        </p:txBody>
      </p:sp>
      <p:sp>
        <p:nvSpPr>
          <p:cNvPr id="598" name="Google Shape;598;h178d0342318c4c4c_0_323"/>
          <p:cNvSpPr txBox="1"/>
          <p:nvPr/>
        </p:nvSpPr>
        <p:spPr>
          <a:xfrm>
            <a:off x="4700016" y="4937760"/>
            <a:ext cx="6720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8C99A6"/>
                </a:solidFill>
                <a:latin typeface="Trebuchet MS"/>
                <a:ea typeface="Trebuchet MS"/>
                <a:cs typeface="Trebuchet MS"/>
                <a:sym typeface="Trebuchet MS"/>
              </a:rPr>
              <a:t>→ </a:t>
            </a:r>
            <a:r>
              <a:rPr b="0" i="0" lang="en-US" spc="0" sz="1500" u="none" cap="none" strike="noStrike">
                <a:solidFill>
                  <a:srgbClr val="222222"/>
                </a:solidFill>
                <a:latin typeface="Trebuchet MS"/>
                <a:ea typeface="Trebuchet MS"/>
                <a:cs typeface="Trebuchet MS"/>
                <a:sym typeface="Trebuchet MS"/>
              </a:rPr>
              <a:t>Local treatment only, while the disease has spread</a:t>
            </a:r>
            <a:endParaRPr b="0" i="0" spc="0" sz="1400" u="none" cap="none" strike="noStrike">
              <a:solidFill>
                <a:srgbClr val="000000"/>
              </a:solidFill>
              <a:latin typeface="Arial"/>
              <a:ea typeface="Arial"/>
              <a:cs typeface="Arial"/>
              <a:sym typeface="Arial"/>
            </a:endParaRPr>
          </a:p>
        </p:txBody>
      </p:sp>
      <p:sp>
        <p:nvSpPr>
          <p:cNvPr id="599" name="Google Shape;599;h178d0342318c4c4c_0_323"/>
          <p:cNvSpPr/>
          <p:nvPr/>
        </p:nvSpPr>
        <p:spPr>
          <a:xfrm>
            <a:off x="448056" y="5577840"/>
            <a:ext cx="11292900" cy="457200"/>
          </a:xfrm>
          <a:prstGeom prst="roundRect">
            <a:avLst>
              <a:gd fmla="val 25000" name="adj"/>
            </a:avLst>
          </a:prstGeom>
          <a:solidFill>
            <a:srgbClr val="E3F3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0E7C99"/>
                </a:solidFill>
                <a:latin typeface="Trebuchet MS"/>
                <a:ea typeface="Trebuchet MS"/>
                <a:cs typeface="Trebuchet MS"/>
                <a:sym typeface="Trebuchet MS"/>
              </a:rPr>
              <a:t>Both errors harm patients. </a:t>
            </a:r>
            <a:r>
              <a:rPr b="0" i="0" lang="en-US" spc="0" sz="1500" u="none" cap="none" strike="noStrike">
                <a:solidFill>
                  <a:srgbClr val="0E7C99"/>
                </a:solidFill>
                <a:latin typeface="Trebuchet MS"/>
                <a:ea typeface="Trebuchet MS"/>
                <a:cs typeface="Trebuchet MS"/>
                <a:sym typeface="Trebuchet MS"/>
              </a:rPr>
              <a:t>We start with the one that takes away a chance of cure.</a:t>
            </a:r>
            <a:endParaRPr b="0" i="0" spc="0"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h178d0342318c4c4c_0_78"/>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Results - Phase 1</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Trebuchet MS"/>
              <a:ea typeface="Trebuchet MS"/>
              <a:cs typeface="Trebuchet MS"/>
              <a:sym typeface="Trebuchet MS"/>
            </a:endParaRPr>
          </a:p>
        </p:txBody>
      </p:sp>
      <p:pic>
        <p:nvPicPr>
          <p:cNvPr id="606" name="Google Shape;606;h178d0342318c4c4c_0_78" title="Clonal-call comparison@2x.png"/>
          <p:cNvPicPr preferRelativeResize="0"/>
          <p:nvPr/>
        </p:nvPicPr>
        <p:blipFill rotWithShape="1">
          <a:blip r:embed="rId3">
            <a:alphaModFix/>
          </a:blip>
          <a:srcRect b="29289" l="0" r="23160" t="0"/>
          <a:stretch/>
        </p:blipFill>
        <p:spPr>
          <a:xfrm>
            <a:off x="5072513" y="1655875"/>
            <a:ext cx="6270374" cy="3546251"/>
          </a:xfrm>
          <a:prstGeom prst="rect">
            <a:avLst/>
          </a:prstGeom>
          <a:noFill/>
          <a:ln>
            <a:noFill/>
          </a:ln>
        </p:spPr>
      </p:pic>
      <p:pic>
        <p:nvPicPr>
          <p:cNvPr id="607" name="Google Shape;607;h178d0342318c4c4c_0_78" title="Results slide@2x.png"/>
          <p:cNvPicPr preferRelativeResize="0"/>
          <p:nvPr/>
        </p:nvPicPr>
        <p:blipFill rotWithShape="1">
          <a:blip r:embed="rId4">
            <a:alphaModFix/>
          </a:blip>
          <a:srcRect b="52289" l="4351" r="51924" t="33553"/>
          <a:stretch/>
        </p:blipFill>
        <p:spPr>
          <a:xfrm>
            <a:off x="368851" y="2202287"/>
            <a:ext cx="4594775" cy="836899"/>
          </a:xfrm>
          <a:prstGeom prst="rect">
            <a:avLst/>
          </a:prstGeom>
          <a:noFill/>
          <a:ln cap="flat" cmpd="sng" w="21575">
            <a:solidFill>
              <a:schemeClr val="dk2"/>
            </a:solidFill>
            <a:prstDash val="solid"/>
            <a:round/>
            <a:headEnd len="sm" w="sm" type="none"/>
            <a:tailEnd len="sm" w="sm" type="none"/>
          </a:ln>
        </p:spPr>
      </p:pic>
      <p:pic>
        <p:nvPicPr>
          <p:cNvPr id="608" name="Google Shape;608;h178d0342318c4c4c_0_78" title="Results slide@2x.png"/>
          <p:cNvPicPr preferRelativeResize="0"/>
          <p:nvPr/>
        </p:nvPicPr>
        <p:blipFill rotWithShape="1">
          <a:blip r:embed="rId4">
            <a:alphaModFix/>
          </a:blip>
          <a:srcRect b="20639" l="4351" r="51924" t="52013"/>
          <a:stretch/>
        </p:blipFill>
        <p:spPr>
          <a:xfrm>
            <a:off x="368856" y="3039185"/>
            <a:ext cx="4594770" cy="1616527"/>
          </a:xfrm>
          <a:prstGeom prst="rect">
            <a:avLst/>
          </a:prstGeom>
          <a:noFill/>
          <a:ln cap="flat" cmpd="sng" w="21575">
            <a:solidFill>
              <a:schemeClr val="dk2"/>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h3fbe1cc187aaddd6_0_38"/>
          <p:cNvSpPr txBox="1"/>
          <p:nvPr/>
        </p:nvSpPr>
        <p:spPr>
          <a:xfrm>
            <a:off x="448300" y="7990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Results - Phase 1</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Trebuchet MS"/>
              <a:ea typeface="Trebuchet MS"/>
              <a:cs typeface="Trebuchet MS"/>
              <a:sym typeface="Trebuchet MS"/>
            </a:endParaRPr>
          </a:p>
        </p:txBody>
      </p:sp>
      <p:pic>
        <p:nvPicPr>
          <p:cNvPr id="615" name="Google Shape;615;h3fbe1cc187aaddd6_0_38" title="Clonal-call comparison@2x.png"/>
          <p:cNvPicPr preferRelativeResize="0"/>
          <p:nvPr/>
        </p:nvPicPr>
        <p:blipFill rotWithShape="1">
          <a:blip r:embed="rId3">
            <a:alphaModFix/>
          </a:blip>
          <a:srcRect b="29289" l="0" r="23160" t="0"/>
          <a:stretch/>
        </p:blipFill>
        <p:spPr>
          <a:xfrm>
            <a:off x="5072513" y="1655875"/>
            <a:ext cx="6270374" cy="3546251"/>
          </a:xfrm>
          <a:prstGeom prst="rect">
            <a:avLst/>
          </a:prstGeom>
          <a:noFill/>
          <a:ln>
            <a:noFill/>
          </a:ln>
        </p:spPr>
      </p:pic>
      <p:pic>
        <p:nvPicPr>
          <p:cNvPr id="616" name="Google Shape;616;h3fbe1cc187aaddd6_0_38" title="Results slide@2x.png"/>
          <p:cNvPicPr preferRelativeResize="0"/>
          <p:nvPr/>
        </p:nvPicPr>
        <p:blipFill rotWithShape="1">
          <a:blip r:embed="rId4">
            <a:alphaModFix/>
          </a:blip>
          <a:srcRect b="52289" l="4351" r="51924" t="33553"/>
          <a:stretch/>
        </p:blipFill>
        <p:spPr>
          <a:xfrm>
            <a:off x="368851" y="2202287"/>
            <a:ext cx="4594775" cy="836899"/>
          </a:xfrm>
          <a:prstGeom prst="rect">
            <a:avLst/>
          </a:prstGeom>
          <a:noFill/>
          <a:ln cap="flat" cmpd="sng" w="21575">
            <a:solidFill>
              <a:schemeClr val="dk2"/>
            </a:solidFill>
            <a:prstDash val="solid"/>
            <a:round/>
            <a:headEnd len="sm" w="sm" type="none"/>
            <a:tailEnd len="sm" w="sm" type="none"/>
          </a:ln>
        </p:spPr>
      </p:pic>
      <p:pic>
        <p:nvPicPr>
          <p:cNvPr id="617" name="Google Shape;617;h3fbe1cc187aaddd6_0_38" title="Results slide@2x.png"/>
          <p:cNvPicPr preferRelativeResize="0"/>
          <p:nvPr/>
        </p:nvPicPr>
        <p:blipFill rotWithShape="1">
          <a:blip r:embed="rId4">
            <a:alphaModFix/>
          </a:blip>
          <a:srcRect b="20639" l="4351" r="51924" t="52013"/>
          <a:stretch/>
        </p:blipFill>
        <p:spPr>
          <a:xfrm>
            <a:off x="368856" y="3039185"/>
            <a:ext cx="4594770" cy="1616527"/>
          </a:xfrm>
          <a:prstGeom prst="rect">
            <a:avLst/>
          </a:prstGeom>
          <a:noFill/>
          <a:ln cap="flat" cmpd="sng" w="21575">
            <a:solidFill>
              <a:schemeClr val="dk2"/>
            </a:solidFill>
            <a:prstDash val="solid"/>
            <a:round/>
            <a:headEnd len="sm" w="sm" type="none"/>
            <a:tailEnd len="sm" w="sm" type="none"/>
          </a:ln>
        </p:spPr>
      </p:pic>
      <p:sp>
        <p:nvSpPr>
          <p:cNvPr id="618" name="Google Shape;618;h3fbe1cc187aaddd6_0_38"/>
          <p:cNvSpPr txBox="1"/>
          <p:nvPr/>
        </p:nvSpPr>
        <p:spPr>
          <a:xfrm>
            <a:off x="1718650" y="5567725"/>
            <a:ext cx="8066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en-US" spc="0" sz="2800" u="none" cap="none" strike="noStrike">
                <a:solidFill>
                  <a:srgbClr val="FF0000"/>
                </a:solidFill>
                <a:latin typeface="Trebuchet MS"/>
                <a:ea typeface="Trebuchet MS"/>
                <a:cs typeface="Trebuchet MS"/>
                <a:sym typeface="Trebuchet MS"/>
              </a:rPr>
              <a:t>Good on average - but not useful in the clinic!</a:t>
            </a:r>
            <a:endParaRPr b="1" i="0" spc="0" sz="2800" u="none" cap="none" strike="noStrike">
              <a:solidFill>
                <a:srgbClr val="FF0000"/>
              </a:solidFill>
              <a:latin typeface="Trebuchet MS"/>
              <a:ea typeface="Trebuchet MS"/>
              <a:cs typeface="Trebuchet MS"/>
              <a:sym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h1d7a0c8165ab2c72_1_0"/>
          <p:cNvSpPr txBox="1"/>
          <p:nvPr/>
        </p:nvSpPr>
        <p:spPr>
          <a:xfrm>
            <a:off x="351125" y="1032975"/>
            <a:ext cx="8299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Good on average — but not useful in the clinic</a:t>
            </a:r>
            <a:endParaRPr b="1" i="0" spc="0" sz="2800" u="none" cap="none" strike="noStrike">
              <a:solidFill>
                <a:srgbClr val="1E9EBE"/>
              </a:solidFill>
              <a:latin typeface="Trebuchet MS"/>
              <a:ea typeface="Trebuchet MS"/>
              <a:cs typeface="Trebuchet MS"/>
              <a:sym typeface="Trebuchet MS"/>
            </a:endParaRPr>
          </a:p>
        </p:txBody>
      </p:sp>
      <p:pic>
        <p:nvPicPr>
          <p:cNvPr id="625" name="Google Shape;625;h1d7a0c8165ab2c72_1_0"/>
          <p:cNvPicPr preferRelativeResize="0"/>
          <p:nvPr/>
        </p:nvPicPr>
        <p:blipFill rotWithShape="1">
          <a:blip r:embed="rId3">
            <a:alphaModFix/>
          </a:blip>
          <a:srcRect b="0" l="0" r="52620" t="0"/>
          <a:stretch/>
        </p:blipFill>
        <p:spPr>
          <a:xfrm>
            <a:off x="648875" y="2145025"/>
            <a:ext cx="5161600" cy="2394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h178d0342318c4c4c_0_2"/>
          <p:cNvSpPr txBox="1"/>
          <p:nvPr/>
        </p:nvSpPr>
        <p:spPr>
          <a:xfrm>
            <a:off x="351125" y="1032975"/>
            <a:ext cx="8299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Good on average — but not useful in the clinic</a:t>
            </a:r>
            <a:endParaRPr b="1" i="0" spc="0" sz="2800" u="none" cap="none" strike="noStrike">
              <a:solidFill>
                <a:srgbClr val="1E9EBE"/>
              </a:solidFill>
              <a:latin typeface="Trebuchet MS"/>
              <a:ea typeface="Trebuchet MS"/>
              <a:cs typeface="Trebuchet MS"/>
              <a:sym typeface="Trebuchet MS"/>
            </a:endParaRPr>
          </a:p>
        </p:txBody>
      </p:sp>
      <p:pic>
        <p:nvPicPr>
          <p:cNvPr id="632" name="Google Shape;632;h178d0342318c4c4c_0_2"/>
          <p:cNvPicPr preferRelativeResize="0"/>
          <p:nvPr/>
        </p:nvPicPr>
        <p:blipFill rotWithShape="1">
          <a:blip r:embed="rId3">
            <a:alphaModFix/>
          </a:blip>
          <a:srcRect b="0" l="0" r="0" t="0"/>
          <a:stretch/>
        </p:blipFill>
        <p:spPr>
          <a:xfrm>
            <a:off x="648875" y="2145024"/>
            <a:ext cx="10894250" cy="2394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h3fbe1cc187aaddd6_0_55"/>
          <p:cNvSpPr txBox="1"/>
          <p:nvPr/>
        </p:nvSpPr>
        <p:spPr>
          <a:xfrm>
            <a:off x="351125" y="1032975"/>
            <a:ext cx="8299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Good on average — but not useful in the clinic</a:t>
            </a:r>
            <a:endParaRPr b="1" i="0" spc="0" sz="2800" u="none" cap="none" strike="noStrike">
              <a:solidFill>
                <a:srgbClr val="1E9EBE"/>
              </a:solidFill>
              <a:latin typeface="Trebuchet MS"/>
              <a:ea typeface="Trebuchet MS"/>
              <a:cs typeface="Trebuchet MS"/>
              <a:sym typeface="Trebuchet MS"/>
            </a:endParaRPr>
          </a:p>
        </p:txBody>
      </p:sp>
      <p:pic>
        <p:nvPicPr>
          <p:cNvPr id="639" name="Google Shape;639;h3fbe1cc187aaddd6_0_55"/>
          <p:cNvPicPr preferRelativeResize="0"/>
          <p:nvPr/>
        </p:nvPicPr>
        <p:blipFill rotWithShape="1">
          <a:blip r:embed="rId3">
            <a:alphaModFix/>
          </a:blip>
          <a:srcRect b="0" l="0" r="0" t="0"/>
          <a:stretch/>
        </p:blipFill>
        <p:spPr>
          <a:xfrm>
            <a:off x="648875" y="2145024"/>
            <a:ext cx="10894250" cy="2394750"/>
          </a:xfrm>
          <a:prstGeom prst="rect">
            <a:avLst/>
          </a:prstGeom>
          <a:noFill/>
          <a:ln>
            <a:noFill/>
          </a:ln>
        </p:spPr>
      </p:pic>
      <p:sp>
        <p:nvSpPr>
          <p:cNvPr id="640" name="Google Shape;640;h3fbe1cc187aaddd6_0_55"/>
          <p:cNvSpPr txBox="1"/>
          <p:nvPr/>
        </p:nvSpPr>
        <p:spPr>
          <a:xfrm>
            <a:off x="1266750" y="5290425"/>
            <a:ext cx="96585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000"/>
              <a:buFont typeface="Arial"/>
              <a:buNone/>
            </a:pPr>
            <a:r>
              <a:rPr b="1" i="0" lang="en-US" spc="0" sz="3000" u="none" cap="none" strike="noStrike">
                <a:solidFill>
                  <a:srgbClr val="222222"/>
                </a:solidFill>
                <a:latin typeface="Trebuchet MS"/>
                <a:ea typeface="Trebuchet MS"/>
                <a:cs typeface="Trebuchet MS"/>
                <a:sym typeface="Trebuchet MS"/>
              </a:rPr>
              <a:t>Can we teach a model to know when </a:t>
            </a:r>
            <a:r>
              <a:rPr b="1" i="0" lang="en-US" spc="0" sz="3000" u="none" cap="none" strike="noStrike">
                <a:solidFill>
                  <a:srgbClr val="FF9900"/>
                </a:solidFill>
                <a:latin typeface="Trebuchet MS"/>
                <a:ea typeface="Trebuchet MS"/>
                <a:cs typeface="Trebuchet MS"/>
                <a:sym typeface="Trebuchet MS"/>
              </a:rPr>
              <a:t>not</a:t>
            </a:r>
            <a:r>
              <a:rPr b="1" i="0" lang="en-US" spc="0" sz="3000" u="none" cap="none" strike="noStrike">
                <a:solidFill>
                  <a:srgbClr val="222222"/>
                </a:solidFill>
                <a:latin typeface="Trebuchet MS"/>
                <a:ea typeface="Trebuchet MS"/>
                <a:cs typeface="Trebuchet MS"/>
                <a:sym typeface="Trebuchet MS"/>
              </a:rPr>
              <a:t> to answer?</a:t>
            </a:r>
            <a:endParaRPr b="1" i="0" spc="0" sz="3000" u="none" cap="none" strike="noStrike">
              <a:solidFill>
                <a:srgbClr val="222222"/>
              </a:solidFill>
              <a:latin typeface="Trebuchet MS"/>
              <a:ea typeface="Trebuchet MS"/>
              <a:cs typeface="Trebuchet MS"/>
              <a:sym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fbc13185ce_0_18"/>
          <p:cNvSpPr txBox="1"/>
          <p:nvPr/>
        </p:nvSpPr>
        <p:spPr>
          <a:xfrm>
            <a:off x="448300" y="799032"/>
            <a:ext cx="10607100" cy="55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Deep Gamblers: Learning to </a:t>
            </a:r>
            <a:r>
              <a:rPr b="1" i="0" lang="en-US" spc="0" sz="2800" u="none" cap="none" strike="noStrike">
                <a:solidFill>
                  <a:srgbClr val="FF9900"/>
                </a:solidFill>
                <a:latin typeface="Trebuchet MS"/>
                <a:ea typeface="Trebuchet MS"/>
                <a:cs typeface="Trebuchet MS"/>
                <a:sym typeface="Trebuchet MS"/>
              </a:rPr>
              <a:t>Abstain </a:t>
            </a:r>
            <a:r>
              <a:rPr b="1" i="0" lang="en-US" spc="0" sz="1100" u="none" cap="none" strike="noStrike">
                <a:solidFill>
                  <a:srgbClr val="009CB4"/>
                </a:solidFill>
                <a:latin typeface="Trebuchet MS"/>
                <a:ea typeface="Trebuchet MS"/>
                <a:cs typeface="Trebuchet MS"/>
                <a:sym typeface="Trebuchet MS"/>
              </a:rPr>
              <a:t>(Liu et al., NeurIPS 2019)</a:t>
            </a:r>
            <a:endParaRPr b="0" i="0" spc="0" sz="100" u="none" cap="none" strike="noStrike">
              <a:solidFill>
                <a:srgbClr val="009CB4"/>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pc="0" sz="100" u="none" cap="none" strike="noStrike">
              <a:solidFill>
                <a:srgbClr val="000000"/>
              </a:solidFill>
              <a:latin typeface="Trebuchet MS"/>
              <a:ea typeface="Trebuchet MS"/>
              <a:cs typeface="Trebuchet MS"/>
              <a:sym typeface="Trebuchet MS"/>
            </a:endParaRPr>
          </a:p>
        </p:txBody>
      </p:sp>
      <p:pic>
        <p:nvPicPr>
          <p:cNvPr id="647" name="Google Shape;647;g3fbc13185ce_0_18" title="Deep Gamblers@2x.png"/>
          <p:cNvPicPr preferRelativeResize="0"/>
          <p:nvPr/>
        </p:nvPicPr>
        <p:blipFill rotWithShape="1">
          <a:blip r:embed="rId3">
            <a:alphaModFix/>
          </a:blip>
          <a:srcRect b="0" l="0" r="0" t="0"/>
          <a:stretch/>
        </p:blipFill>
        <p:spPr>
          <a:xfrm>
            <a:off x="1805225" y="2385275"/>
            <a:ext cx="8581550" cy="3314450"/>
          </a:xfrm>
          <a:prstGeom prst="rect">
            <a:avLst/>
          </a:prstGeom>
          <a:noFill/>
          <a:ln>
            <a:noFill/>
          </a:ln>
        </p:spPr>
      </p:pic>
      <p:sp>
        <p:nvSpPr>
          <p:cNvPr id="648" name="Google Shape;648;g3fbc13185ce_0_18"/>
          <p:cNvSpPr/>
          <p:nvPr/>
        </p:nvSpPr>
        <p:spPr>
          <a:xfrm>
            <a:off x="1692100" y="1510950"/>
            <a:ext cx="8119500" cy="840300"/>
          </a:xfrm>
          <a:prstGeom prst="roundRect">
            <a:avLst>
              <a:gd fmla="val 8000" name="adj"/>
            </a:avLst>
          </a:prstGeom>
          <a:solidFill>
            <a:srgbClr val="F1EAF8"/>
          </a:solidFill>
          <a:ln cap="flat" cmpd="sng" w="15875">
            <a:solidFill>
              <a:srgbClr val="6A4C93"/>
            </a:solidFill>
            <a:prstDash val="solid"/>
            <a:round/>
            <a:headEnd len="sm" w="sm" type="none"/>
            <a:tailEnd len="sm" w="sm" type="none"/>
          </a:ln>
        </p:spPr>
        <p:txBody>
          <a:bodyPr anchorCtr="0" anchor="t" bIns="73150" lIns="109725" spcFirstLastPara="1" rIns="109725" wrap="square" tIns="73150">
            <a:noAutofit/>
          </a:bodyPr>
          <a:lstStyle/>
          <a:p>
            <a:pPr indent="0" lvl="0" marL="0" marR="0" rtl="0" algn="l">
              <a:lnSpc>
                <a:spcPct val="100000"/>
              </a:lnSpc>
              <a:spcBef>
                <a:spcPts val="400"/>
              </a:spcBef>
              <a:spcAft>
                <a:spcPts val="0"/>
              </a:spcAft>
              <a:buClr>
                <a:srgbClr val="000000"/>
              </a:buClr>
              <a:buSzPts val="1250"/>
              <a:buFont typeface="Arial"/>
              <a:buNone/>
            </a:pPr>
            <a:r>
              <a:rPr b="0" i="0" lang="en-US" spc="0" sz="1250" u="none" cap="none" strike="noStrike">
                <a:solidFill>
                  <a:srgbClr val="222222"/>
                </a:solidFill>
                <a:latin typeface="Trebuchet MS"/>
                <a:ea typeface="Trebuchet MS"/>
                <a:cs typeface="Trebuchet MS"/>
                <a:sym typeface="Trebuchet MS"/>
              </a:rPr>
              <a:t>• The model gets a third output: 'abstain/reserve'</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250"/>
              <a:buFont typeface="Arial"/>
              <a:buNone/>
            </a:pPr>
            <a:r>
              <a:rPr b="0" i="0" lang="en-US" spc="0" sz="1250" u="none" cap="none" strike="noStrike">
                <a:solidFill>
                  <a:srgbClr val="222222"/>
                </a:solidFill>
                <a:latin typeface="Trebuchet MS"/>
                <a:ea typeface="Trebuchet MS"/>
                <a:cs typeface="Trebuchet MS"/>
                <a:sym typeface="Trebuchet MS"/>
              </a:rPr>
              <a:t>• Training rewards a correct answer, punishes a wrong one, and pays a fixed, smaller reward for abstaining</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300"/>
              </a:spcBef>
              <a:spcAft>
                <a:spcPts val="0"/>
              </a:spcAft>
              <a:buClr>
                <a:srgbClr val="000000"/>
              </a:buClr>
              <a:buSzPts val="1250"/>
              <a:buFont typeface="Arial"/>
              <a:buNone/>
            </a:pPr>
            <a:r>
              <a:rPr b="0" i="0" lang="en-US" spc="0" sz="1250" u="none" cap="none" strike="noStrike">
                <a:solidFill>
                  <a:srgbClr val="222222"/>
                </a:solidFill>
                <a:latin typeface="Trebuchet MS"/>
                <a:ea typeface="Trebuchet MS"/>
                <a:cs typeface="Trebuchet MS"/>
                <a:sym typeface="Trebuchet MS"/>
              </a:rPr>
              <a:t>• No change to the architecture; the reservation score is learned with everything else</a:t>
            </a:r>
            <a:endParaRPr b="0" i="0" spc="0"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3fbc13185ce_0_31"/>
          <p:cNvSpPr txBox="1"/>
          <p:nvPr/>
        </p:nvSpPr>
        <p:spPr>
          <a:xfrm>
            <a:off x="448300" y="799032"/>
            <a:ext cx="10607100" cy="55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Deep Gamblers: Learning to </a:t>
            </a:r>
            <a:r>
              <a:rPr b="1" i="0" lang="en-US" spc="0" sz="2800" u="none" cap="none" strike="noStrike">
                <a:solidFill>
                  <a:srgbClr val="FF9900"/>
                </a:solidFill>
                <a:latin typeface="Trebuchet MS"/>
                <a:ea typeface="Trebuchet MS"/>
                <a:cs typeface="Trebuchet MS"/>
                <a:sym typeface="Trebuchet MS"/>
              </a:rPr>
              <a:t>Abstain </a:t>
            </a:r>
            <a:r>
              <a:rPr b="1" i="0" lang="en-US" spc="0" sz="1100" u="none" cap="none" strike="noStrike">
                <a:solidFill>
                  <a:srgbClr val="009CB4"/>
                </a:solidFill>
                <a:latin typeface="Trebuchet MS"/>
                <a:ea typeface="Trebuchet MS"/>
                <a:cs typeface="Trebuchet MS"/>
                <a:sym typeface="Trebuchet MS"/>
              </a:rPr>
              <a:t>(Liu et al., NeurIPS 2019)</a:t>
            </a:r>
            <a:endParaRPr b="0" i="0" spc="0" sz="100" u="none" cap="none" strike="noStrike">
              <a:solidFill>
                <a:srgbClr val="009CB4"/>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pc="0" sz="100" u="none" cap="none" strike="noStrike">
              <a:solidFill>
                <a:srgbClr val="000000"/>
              </a:solidFill>
              <a:latin typeface="Trebuchet MS"/>
              <a:ea typeface="Trebuchet MS"/>
              <a:cs typeface="Trebuchet MS"/>
              <a:sym typeface="Trebuchet MS"/>
            </a:endParaRPr>
          </a:p>
        </p:txBody>
      </p:sp>
      <p:pic>
        <p:nvPicPr>
          <p:cNvPr id="655" name="Google Shape;655;g3fbc13185ce_0_31"/>
          <p:cNvPicPr preferRelativeResize="0"/>
          <p:nvPr/>
        </p:nvPicPr>
        <p:blipFill rotWithShape="1">
          <a:blip r:embed="rId3">
            <a:alphaModFix/>
          </a:blip>
          <a:srcRect b="0" l="0" r="0" t="0"/>
          <a:stretch/>
        </p:blipFill>
        <p:spPr>
          <a:xfrm>
            <a:off x="2532950" y="1694782"/>
            <a:ext cx="7126105" cy="401511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h3fbe1cc187aaddd6_0_78"/>
          <p:cNvSpPr txBox="1"/>
          <p:nvPr/>
        </p:nvSpPr>
        <p:spPr>
          <a:xfrm>
            <a:off x="448300" y="799032"/>
            <a:ext cx="10607100" cy="55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Deep Gamblers: Learning to </a:t>
            </a:r>
            <a:r>
              <a:rPr b="1" i="0" lang="en-US" spc="0" sz="2800" u="none" cap="none" strike="noStrike">
                <a:solidFill>
                  <a:srgbClr val="FF9900"/>
                </a:solidFill>
                <a:latin typeface="Trebuchet MS"/>
                <a:ea typeface="Trebuchet MS"/>
                <a:cs typeface="Trebuchet MS"/>
                <a:sym typeface="Trebuchet MS"/>
              </a:rPr>
              <a:t>Abstain </a:t>
            </a:r>
            <a:r>
              <a:rPr b="1" i="0" lang="en-US" spc="0" sz="1100" u="none" cap="none" strike="noStrike">
                <a:solidFill>
                  <a:srgbClr val="009CB4"/>
                </a:solidFill>
                <a:latin typeface="Trebuchet MS"/>
                <a:ea typeface="Trebuchet MS"/>
                <a:cs typeface="Trebuchet MS"/>
                <a:sym typeface="Trebuchet MS"/>
              </a:rPr>
              <a:t>(Liu et al., NeurIPS 2019)</a:t>
            </a:r>
            <a:endParaRPr b="0" i="0" spc="0" sz="100" u="none" cap="none" strike="noStrike">
              <a:solidFill>
                <a:srgbClr val="009CB4"/>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pc="0" sz="100" u="none" cap="none" strike="noStrike">
              <a:solidFill>
                <a:srgbClr val="000000"/>
              </a:solidFill>
              <a:latin typeface="Trebuchet MS"/>
              <a:ea typeface="Trebuchet MS"/>
              <a:cs typeface="Trebuchet MS"/>
              <a:sym typeface="Trebuchet MS"/>
            </a:endParaRPr>
          </a:p>
        </p:txBody>
      </p:sp>
      <p:pic>
        <p:nvPicPr>
          <p:cNvPr id="662" name="Google Shape;662;h3fbe1cc187aaddd6_0_78"/>
          <p:cNvPicPr preferRelativeResize="0"/>
          <p:nvPr/>
        </p:nvPicPr>
        <p:blipFill rotWithShape="1">
          <a:blip r:embed="rId3">
            <a:alphaModFix/>
          </a:blip>
          <a:srcRect b="0" l="0" r="0" t="0"/>
          <a:stretch/>
        </p:blipFill>
        <p:spPr>
          <a:xfrm>
            <a:off x="2532950" y="1694782"/>
            <a:ext cx="7126105" cy="4015118"/>
          </a:xfrm>
          <a:prstGeom prst="rect">
            <a:avLst/>
          </a:prstGeom>
          <a:noFill/>
          <a:ln>
            <a:noFill/>
          </a:ln>
        </p:spPr>
      </p:pic>
      <p:cxnSp>
        <p:nvCxnSpPr>
          <p:cNvPr id="663" name="Google Shape;663;h3fbe1cc187aaddd6_0_78"/>
          <p:cNvCxnSpPr/>
          <p:nvPr/>
        </p:nvCxnSpPr>
        <p:spPr>
          <a:xfrm flipH="1" rot="10800000">
            <a:off x="8193575" y="2149300"/>
            <a:ext cx="16500" cy="3100500"/>
          </a:xfrm>
          <a:prstGeom prst="straightConnector1">
            <a:avLst/>
          </a:prstGeom>
          <a:noFill/>
          <a:ln cap="flat" cmpd="sng" w="28575">
            <a:solidFill>
              <a:srgbClr val="FF0000"/>
            </a:solidFill>
            <a:prstDash val="solid"/>
            <a:round/>
            <a:headEnd len="sm" w="sm" type="none"/>
            <a:tailEnd len="sm" w="sm" type="none"/>
          </a:ln>
        </p:spPr>
      </p:cxnSp>
      <p:cxnSp>
        <p:nvCxnSpPr>
          <p:cNvPr id="664" name="Google Shape;664;h3fbe1cc187aaddd6_0_78"/>
          <p:cNvCxnSpPr/>
          <p:nvPr/>
        </p:nvCxnSpPr>
        <p:spPr>
          <a:xfrm>
            <a:off x="3222975" y="2143475"/>
            <a:ext cx="4994100" cy="0"/>
          </a:xfrm>
          <a:prstGeom prst="straightConnector1">
            <a:avLst/>
          </a:prstGeom>
          <a:noFill/>
          <a:ln cap="flat" cmpd="sng" w="28575">
            <a:solidFill>
              <a:srgbClr val="FF0000"/>
            </a:solidFill>
            <a:prstDash val="solid"/>
            <a:round/>
            <a:headEnd len="sm" w="sm" type="none"/>
            <a:tailEnd len="sm" w="sm" type="none"/>
          </a:ln>
        </p:spPr>
      </p:cxnSp>
      <p:sp>
        <p:nvSpPr>
          <p:cNvPr id="665" name="Google Shape;665;h3fbe1cc187aaddd6_0_78"/>
          <p:cNvSpPr txBox="1"/>
          <p:nvPr/>
        </p:nvSpPr>
        <p:spPr>
          <a:xfrm>
            <a:off x="2687278" y="1955492"/>
            <a:ext cx="684900" cy="33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FF0000"/>
                </a:solidFill>
                <a:latin typeface="Trebuchet MS"/>
                <a:ea typeface="Trebuchet MS"/>
                <a:cs typeface="Trebuchet MS"/>
                <a:sym typeface="Trebuchet MS"/>
              </a:rPr>
              <a:t>~98%</a:t>
            </a:r>
            <a:endParaRPr b="0" i="0" spc="0" sz="1200" u="none" cap="none" strike="noStrike">
              <a:solidFill>
                <a:srgbClr val="FF0000"/>
              </a:solidFill>
              <a:latin typeface="Trebuchet MS"/>
              <a:ea typeface="Trebuchet MS"/>
              <a:cs typeface="Trebuchet MS"/>
              <a:sym typeface="Trebuchet MS"/>
            </a:endParaRPr>
          </a:p>
        </p:txBody>
      </p:sp>
      <p:cxnSp>
        <p:nvCxnSpPr>
          <p:cNvPr id="666" name="Google Shape;666;h3fbe1cc187aaddd6_0_78"/>
          <p:cNvCxnSpPr/>
          <p:nvPr/>
        </p:nvCxnSpPr>
        <p:spPr>
          <a:xfrm>
            <a:off x="8477625" y="5515650"/>
            <a:ext cx="313200" cy="173100"/>
          </a:xfrm>
          <a:prstGeom prst="straightConnector1">
            <a:avLst/>
          </a:prstGeom>
          <a:noFill/>
          <a:ln cap="flat" cmpd="sng" w="28575">
            <a:solidFill>
              <a:srgbClr val="FF0000"/>
            </a:solidFill>
            <a:prstDash val="solid"/>
            <a:round/>
            <a:headEnd len="sm" w="sm" type="none"/>
            <a:tailEnd len="med" w="med" type="triangle"/>
          </a:ln>
        </p:spPr>
      </p:cxnSp>
      <p:sp>
        <p:nvSpPr>
          <p:cNvPr id="667" name="Google Shape;667;h3fbe1cc187aaddd6_0_78"/>
          <p:cNvSpPr txBox="1"/>
          <p:nvPr/>
        </p:nvSpPr>
        <p:spPr>
          <a:xfrm>
            <a:off x="8664150" y="5642225"/>
            <a:ext cx="3456900" cy="78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Trebuchet MS"/>
                <a:ea typeface="Trebuchet MS"/>
                <a:cs typeface="Trebuchet MS"/>
                <a:sym typeface="Trebuchet MS"/>
              </a:rPr>
              <a:t>Model gave an answer for 20% of cases.</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Trebuchet MS"/>
                <a:ea typeface="Trebuchet MS"/>
                <a:cs typeface="Trebuchet MS"/>
                <a:sym typeface="Trebuchet MS"/>
              </a:rPr>
              <a:t>80% of cases were abstained.  </a:t>
            </a:r>
            <a:endParaRPr b="0" i="0" spc="0"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1d7a0c8165ab2c72_1_7"/>
          <p:cNvSpPr txBox="1"/>
          <p:nvPr/>
        </p:nvSpPr>
        <p:spPr>
          <a:xfrm>
            <a:off x="2649400" y="3121200"/>
            <a:ext cx="6452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en-US" spc="0" sz="2800" u="none" cap="none" strike="noStrike">
                <a:solidFill>
                  <a:schemeClr val="dk1"/>
                </a:solidFill>
                <a:latin typeface="Trebuchet MS"/>
                <a:ea typeface="Trebuchet MS"/>
                <a:cs typeface="Trebuchet MS"/>
                <a:sym typeface="Trebuchet MS"/>
              </a:rPr>
              <a:t>High precision, but based on</a:t>
            </a:r>
            <a:r>
              <a:rPr b="1" i="0" lang="en-US" spc="0" sz="2800" u="none" cap="none" strike="noStrike">
                <a:solidFill>
                  <a:srgbClr val="1E9EBE"/>
                </a:solidFill>
                <a:latin typeface="Trebuchet MS"/>
                <a:ea typeface="Trebuchet MS"/>
                <a:cs typeface="Trebuchet MS"/>
                <a:sym typeface="Trebuchet MS"/>
              </a:rPr>
              <a:t> </a:t>
            </a:r>
            <a:r>
              <a:rPr b="1" i="0" lang="en-US" spc="0" sz="2800" u="none" cap="none" strike="noStrike">
                <a:solidFill>
                  <a:srgbClr val="FF9900"/>
                </a:solidFill>
                <a:latin typeface="Trebuchet MS"/>
                <a:ea typeface="Trebuchet MS"/>
                <a:cs typeface="Trebuchet MS"/>
                <a:sym typeface="Trebuchet MS"/>
              </a:rPr>
              <a:t>what?</a:t>
            </a:r>
            <a:endParaRPr b="1" i="0" spc="0" sz="2800" u="none" cap="none" strike="noStrike">
              <a:solidFill>
                <a:srgbClr val="FF9900"/>
              </a:solidFill>
              <a:latin typeface="Trebuchet MS"/>
              <a:ea typeface="Trebuchet MS"/>
              <a:cs typeface="Trebuchet MS"/>
              <a:sym typeface="Trebuchet M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descr="focus_on_normal.png" id="679" name="Google Shape;679;g3fbc13185ce_0_0"/>
          <p:cNvPicPr preferRelativeResize="0"/>
          <p:nvPr/>
        </p:nvPicPr>
        <p:blipFill rotWithShape="1">
          <a:blip r:embed="rId3">
            <a:alphaModFix/>
          </a:blip>
          <a:srcRect b="0" l="0" r="0" t="0"/>
          <a:stretch/>
        </p:blipFill>
        <p:spPr>
          <a:xfrm>
            <a:off x="270040" y="1723660"/>
            <a:ext cx="6766560" cy="3806190"/>
          </a:xfrm>
          <a:prstGeom prst="rect">
            <a:avLst/>
          </a:prstGeom>
          <a:noFill/>
          <a:ln>
            <a:noFill/>
          </a:ln>
        </p:spPr>
      </p:pic>
      <p:sp>
        <p:nvSpPr>
          <p:cNvPr id="680" name="Google Shape;680;g3fbc13185ce_0_0"/>
          <p:cNvSpPr txBox="1"/>
          <p:nvPr/>
        </p:nvSpPr>
        <p:spPr>
          <a:xfrm>
            <a:off x="441675" y="865232"/>
            <a:ext cx="106071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Where did the model look? </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Trebuchet MS"/>
              <a:ea typeface="Trebuchet MS"/>
              <a:cs typeface="Trebuchet MS"/>
              <a:sym typeface="Trebuchet MS"/>
            </a:endParaRPr>
          </a:p>
        </p:txBody>
      </p:sp>
      <p:pic>
        <p:nvPicPr>
          <p:cNvPr id="681" name="Google Shape;681;g3fbc13185ce_0_0" title="Pipeline@2x.png"/>
          <p:cNvPicPr preferRelativeResize="0"/>
          <p:nvPr/>
        </p:nvPicPr>
        <p:blipFill rotWithShape="1">
          <a:blip r:embed="rId4">
            <a:alphaModFix/>
          </a:blip>
          <a:srcRect b="0" l="67286" r="0" t="0"/>
          <a:stretch/>
        </p:blipFill>
        <p:spPr>
          <a:xfrm>
            <a:off x="9616500" y="131275"/>
            <a:ext cx="2297324" cy="1532715"/>
          </a:xfrm>
          <a:prstGeom prst="rect">
            <a:avLst/>
          </a:prstGeom>
          <a:noFill/>
          <a:ln>
            <a:noFill/>
          </a:ln>
        </p:spPr>
      </p:pic>
      <p:pic>
        <p:nvPicPr>
          <p:cNvPr id="682" name="Google Shape;682;g3fbc13185ce_0_0"/>
          <p:cNvPicPr preferRelativeResize="0"/>
          <p:nvPr/>
        </p:nvPicPr>
        <p:blipFill rotWithShape="1">
          <a:blip r:embed="rId5">
            <a:alphaModFix/>
          </a:blip>
          <a:srcRect b="0" l="0" r="0" t="0"/>
          <a:stretch/>
        </p:blipFill>
        <p:spPr>
          <a:xfrm>
            <a:off x="7533225" y="3515475"/>
            <a:ext cx="1871550" cy="1649949"/>
          </a:xfrm>
          <a:prstGeom prst="rect">
            <a:avLst/>
          </a:prstGeom>
          <a:noFill/>
          <a:ln cap="flat" cmpd="sng" w="19050">
            <a:solidFill>
              <a:srgbClr val="00FFFF"/>
            </a:solidFill>
            <a:prstDash val="solid"/>
            <a:round/>
            <a:headEnd len="sm" w="sm" type="none"/>
            <a:tailEnd len="sm" w="sm" type="none"/>
          </a:ln>
        </p:spPr>
      </p:pic>
      <p:pic>
        <p:nvPicPr>
          <p:cNvPr id="683" name="Google Shape;683;g3fbc13185ce_0_0" title="Screenshot 2026-05-07 at 18.00.35.png"/>
          <p:cNvPicPr preferRelativeResize="0"/>
          <p:nvPr/>
        </p:nvPicPr>
        <p:blipFill rotWithShape="1">
          <a:blip r:embed="rId6">
            <a:alphaModFix/>
          </a:blip>
          <a:srcRect b="32105" l="35229" r="35042" t="26177"/>
          <a:stretch/>
        </p:blipFill>
        <p:spPr>
          <a:xfrm>
            <a:off x="9050168" y="1827800"/>
            <a:ext cx="1768310" cy="1532725"/>
          </a:xfrm>
          <a:prstGeom prst="rect">
            <a:avLst/>
          </a:prstGeom>
          <a:noFill/>
          <a:ln>
            <a:noFill/>
          </a:ln>
        </p:spPr>
      </p:pic>
      <p:cxnSp>
        <p:nvCxnSpPr>
          <p:cNvPr id="684" name="Google Shape;684;g3fbc13185ce_0_0"/>
          <p:cNvCxnSpPr/>
          <p:nvPr/>
        </p:nvCxnSpPr>
        <p:spPr>
          <a:xfrm flipH="1">
            <a:off x="7524925" y="2390100"/>
            <a:ext cx="1992600" cy="1105500"/>
          </a:xfrm>
          <a:prstGeom prst="straightConnector1">
            <a:avLst/>
          </a:prstGeom>
          <a:noFill/>
          <a:ln cap="flat" cmpd="sng" w="19050">
            <a:solidFill>
              <a:srgbClr val="00FFFF"/>
            </a:solidFill>
            <a:prstDash val="solid"/>
            <a:round/>
            <a:headEnd len="sm" w="sm" type="none"/>
            <a:tailEnd len="sm" w="sm" type="none"/>
          </a:ln>
        </p:spPr>
      </p:cxnSp>
      <p:cxnSp>
        <p:nvCxnSpPr>
          <p:cNvPr id="685" name="Google Shape;685;g3fbc13185ce_0_0"/>
          <p:cNvCxnSpPr/>
          <p:nvPr/>
        </p:nvCxnSpPr>
        <p:spPr>
          <a:xfrm flipH="1">
            <a:off x="9424700" y="2462925"/>
            <a:ext cx="159000" cy="1032600"/>
          </a:xfrm>
          <a:prstGeom prst="straightConnector1">
            <a:avLst/>
          </a:prstGeom>
          <a:noFill/>
          <a:ln cap="flat" cmpd="sng" w="19050">
            <a:solidFill>
              <a:srgbClr val="00FFFF"/>
            </a:solidFill>
            <a:prstDash val="solid"/>
            <a:round/>
            <a:headEnd len="sm" w="sm" type="none"/>
            <a:tailEnd len="sm" w="sm" type="none"/>
          </a:ln>
        </p:spPr>
      </p:cxnSp>
      <p:sp>
        <p:nvSpPr>
          <p:cNvPr id="686" name="Google Shape;686;g3fbc13185ce_0_0"/>
          <p:cNvSpPr/>
          <p:nvPr/>
        </p:nvSpPr>
        <p:spPr>
          <a:xfrm>
            <a:off x="3061950" y="5529850"/>
            <a:ext cx="6068100" cy="612900"/>
          </a:xfrm>
          <a:prstGeom prst="roundRect">
            <a:avLst>
              <a:gd fmla="val 16667" name="adj"/>
            </a:avLst>
          </a:prstGeom>
          <a:solidFill>
            <a:srgbClr val="FFF2CC"/>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1" i="0" lang="en-US" spc="0" sz="1700" u="none" cap="none" strike="noStrike">
                <a:solidFill>
                  <a:schemeClr val="dk1"/>
                </a:solidFill>
                <a:latin typeface="Trebuchet MS"/>
                <a:ea typeface="Trebuchet MS"/>
                <a:cs typeface="Trebuchet MS"/>
                <a:sym typeface="Trebuchet MS"/>
              </a:rPr>
              <a:t>The model mainly focuses on tumor-associated stroma</a:t>
            </a:r>
            <a:endParaRPr b="1" i="0" spc="0" sz="17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h3fbe1cc187aaddd6_0_91"/>
          <p:cNvSpPr txBox="1"/>
          <p:nvPr/>
        </p:nvSpPr>
        <p:spPr>
          <a:xfrm>
            <a:off x="446275" y="799275"/>
            <a:ext cx="6312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Shortcut learning or genuine signal?</a:t>
            </a:r>
            <a:r>
              <a:rPr b="0" i="0" lang="en-US" spc="0" sz="1100" u="none" cap="none" strike="noStrike">
                <a:solidFill>
                  <a:schemeClr val="dk1"/>
                </a:solidFill>
                <a:latin typeface="Trebuchet MS"/>
                <a:ea typeface="Trebuchet MS"/>
                <a:cs typeface="Trebuchet MS"/>
                <a:sym typeface="Trebuchet MS"/>
              </a:rPr>
              <a:t> </a:t>
            </a:r>
            <a:endParaRPr b="0" i="0" spc="0" sz="1400" u="none" cap="none" strike="noStrike">
              <a:solidFill>
                <a:srgbClr val="000000"/>
              </a:solidFill>
              <a:latin typeface="Trebuchet MS"/>
              <a:ea typeface="Trebuchet MS"/>
              <a:cs typeface="Trebuchet MS"/>
              <a:sym typeface="Trebuchet MS"/>
            </a:endParaRPr>
          </a:p>
        </p:txBody>
      </p:sp>
      <p:pic>
        <p:nvPicPr>
          <p:cNvPr id="693" name="Google Shape;693;h3fbe1cc187aaddd6_0_91"/>
          <p:cNvPicPr preferRelativeResize="0"/>
          <p:nvPr/>
        </p:nvPicPr>
        <p:blipFill rotWithShape="1">
          <a:blip r:embed="rId3">
            <a:alphaModFix/>
          </a:blip>
          <a:srcRect b="0" l="0" r="52508" t="0"/>
          <a:stretch/>
        </p:blipFill>
        <p:spPr>
          <a:xfrm>
            <a:off x="1160750" y="1414875"/>
            <a:ext cx="4649724" cy="2087300"/>
          </a:xfrm>
          <a:prstGeom prst="rect">
            <a:avLst/>
          </a:prstGeom>
          <a:noFill/>
          <a:ln cap="flat" cmpd="sng" w="19050">
            <a:solidFill>
              <a:schemeClr val="dk2"/>
            </a:solidFill>
            <a:prstDash val="solid"/>
            <a:round/>
            <a:headEnd len="sm" w="sm" type="none"/>
            <a:tailEnd len="sm" w="sm" type="none"/>
          </a:ln>
        </p:spPr>
      </p:pic>
      <p:sp>
        <p:nvSpPr>
          <p:cNvPr id="694" name="Google Shape;694;h3fbe1cc187aaddd6_0_91"/>
          <p:cNvSpPr/>
          <p:nvPr/>
        </p:nvSpPr>
        <p:spPr>
          <a:xfrm>
            <a:off x="4400075" y="2162337"/>
            <a:ext cx="992400" cy="267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Scanner differences?</a:t>
            </a:r>
            <a:endParaRPr b="1" i="0" spc="0" sz="9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h178d0342318c4c4c_0_95"/>
          <p:cNvSpPr txBox="1"/>
          <p:nvPr/>
        </p:nvSpPr>
        <p:spPr>
          <a:xfrm>
            <a:off x="446275" y="799275"/>
            <a:ext cx="6312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Shortcut learning or genuine signal?</a:t>
            </a:r>
            <a:r>
              <a:rPr b="0" i="0" lang="en-US" spc="0" sz="1100" u="none" cap="none" strike="noStrike">
                <a:solidFill>
                  <a:schemeClr val="dk1"/>
                </a:solidFill>
                <a:latin typeface="Trebuchet MS"/>
                <a:ea typeface="Trebuchet MS"/>
                <a:cs typeface="Trebuchet MS"/>
                <a:sym typeface="Trebuchet MS"/>
              </a:rPr>
              <a:t> </a:t>
            </a:r>
            <a:endParaRPr b="0" i="0" spc="0" sz="1400" u="none" cap="none" strike="noStrike">
              <a:solidFill>
                <a:srgbClr val="000000"/>
              </a:solidFill>
              <a:latin typeface="Trebuchet MS"/>
              <a:ea typeface="Trebuchet MS"/>
              <a:cs typeface="Trebuchet MS"/>
              <a:sym typeface="Trebuchet MS"/>
            </a:endParaRPr>
          </a:p>
        </p:txBody>
      </p:sp>
      <p:pic>
        <p:nvPicPr>
          <p:cNvPr id="701" name="Google Shape;701;h178d0342318c4c4c_0_95"/>
          <p:cNvPicPr preferRelativeResize="0"/>
          <p:nvPr/>
        </p:nvPicPr>
        <p:blipFill rotWithShape="1">
          <a:blip r:embed="rId3">
            <a:alphaModFix/>
          </a:blip>
          <a:srcRect b="0" l="0" r="21948" t="0"/>
          <a:stretch/>
        </p:blipFill>
        <p:spPr>
          <a:xfrm>
            <a:off x="1160750" y="1414875"/>
            <a:ext cx="7641824" cy="2087300"/>
          </a:xfrm>
          <a:prstGeom prst="rect">
            <a:avLst/>
          </a:prstGeom>
          <a:noFill/>
          <a:ln cap="flat" cmpd="sng" w="19050">
            <a:solidFill>
              <a:schemeClr val="dk2"/>
            </a:solidFill>
            <a:prstDash val="solid"/>
            <a:round/>
            <a:headEnd len="sm" w="sm" type="none"/>
            <a:tailEnd len="sm" w="sm" type="none"/>
          </a:ln>
        </p:spPr>
      </p:pic>
      <p:sp>
        <p:nvSpPr>
          <p:cNvPr id="702" name="Google Shape;702;h178d0342318c4c4c_0_95"/>
          <p:cNvSpPr/>
          <p:nvPr/>
        </p:nvSpPr>
        <p:spPr>
          <a:xfrm>
            <a:off x="4914075" y="3177700"/>
            <a:ext cx="992400" cy="2679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size?</a:t>
            </a:r>
            <a:endParaRPr b="1" i="0" spc="0" sz="900" u="none" cap="none" strike="noStrike">
              <a:solidFill>
                <a:srgbClr val="000000"/>
              </a:solidFill>
              <a:latin typeface="Trebuchet MS"/>
              <a:ea typeface="Trebuchet MS"/>
              <a:cs typeface="Trebuchet MS"/>
              <a:sym typeface="Trebuchet MS"/>
            </a:endParaRPr>
          </a:p>
        </p:txBody>
      </p:sp>
      <p:sp>
        <p:nvSpPr>
          <p:cNvPr id="703" name="Google Shape;703;h178d0342318c4c4c_0_95"/>
          <p:cNvSpPr/>
          <p:nvPr/>
        </p:nvSpPr>
        <p:spPr>
          <a:xfrm>
            <a:off x="4400075" y="2162337"/>
            <a:ext cx="992400" cy="267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Scanner differences?</a:t>
            </a:r>
            <a:endParaRPr b="1" i="0" spc="0" sz="9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h178d0342318c4c4c_0_86"/>
          <p:cNvSpPr txBox="1"/>
          <p:nvPr/>
        </p:nvSpPr>
        <p:spPr>
          <a:xfrm>
            <a:off x="446275" y="799275"/>
            <a:ext cx="6312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Shortcut learning or genuine signal?</a:t>
            </a:r>
            <a:r>
              <a:rPr b="0" i="0" lang="en-US" spc="0" sz="1100" u="none" cap="none" strike="noStrike">
                <a:solidFill>
                  <a:schemeClr val="dk1"/>
                </a:solidFill>
                <a:latin typeface="Trebuchet MS"/>
                <a:ea typeface="Trebuchet MS"/>
                <a:cs typeface="Trebuchet MS"/>
                <a:sym typeface="Trebuchet MS"/>
              </a:rPr>
              <a:t> </a:t>
            </a:r>
            <a:endParaRPr b="0" i="0" spc="0" sz="1400" u="none" cap="none" strike="noStrike">
              <a:solidFill>
                <a:srgbClr val="000000"/>
              </a:solidFill>
              <a:latin typeface="Trebuchet MS"/>
              <a:ea typeface="Trebuchet MS"/>
              <a:cs typeface="Trebuchet MS"/>
              <a:sym typeface="Trebuchet MS"/>
            </a:endParaRPr>
          </a:p>
        </p:txBody>
      </p:sp>
      <p:pic>
        <p:nvPicPr>
          <p:cNvPr id="710" name="Google Shape;710;h178d0342318c4c4c_0_86"/>
          <p:cNvPicPr preferRelativeResize="0"/>
          <p:nvPr/>
        </p:nvPicPr>
        <p:blipFill rotWithShape="1">
          <a:blip r:embed="rId3">
            <a:alphaModFix/>
          </a:blip>
          <a:srcRect b="0" l="0" r="0" t="0"/>
          <a:stretch/>
        </p:blipFill>
        <p:spPr>
          <a:xfrm>
            <a:off x="1160750" y="1414875"/>
            <a:ext cx="9790600" cy="2087300"/>
          </a:xfrm>
          <a:prstGeom prst="rect">
            <a:avLst/>
          </a:prstGeom>
          <a:noFill/>
          <a:ln cap="flat" cmpd="sng" w="19050">
            <a:solidFill>
              <a:schemeClr val="dk2"/>
            </a:solidFill>
            <a:prstDash val="solid"/>
            <a:round/>
            <a:headEnd len="sm" w="sm" type="none"/>
            <a:tailEnd len="sm" w="sm" type="none"/>
          </a:ln>
        </p:spPr>
      </p:pic>
      <p:sp>
        <p:nvSpPr>
          <p:cNvPr id="711" name="Google Shape;711;h178d0342318c4c4c_0_86"/>
          <p:cNvSpPr/>
          <p:nvPr/>
        </p:nvSpPr>
        <p:spPr>
          <a:xfrm>
            <a:off x="4914075" y="3177700"/>
            <a:ext cx="992400" cy="2679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size?</a:t>
            </a:r>
            <a:endParaRPr b="1" i="0" spc="0" sz="900" u="none" cap="none" strike="noStrike">
              <a:solidFill>
                <a:srgbClr val="000000"/>
              </a:solidFill>
              <a:latin typeface="Trebuchet MS"/>
              <a:ea typeface="Trebuchet MS"/>
              <a:cs typeface="Trebuchet MS"/>
              <a:sym typeface="Trebuchet MS"/>
            </a:endParaRPr>
          </a:p>
        </p:txBody>
      </p:sp>
      <p:sp>
        <p:nvSpPr>
          <p:cNvPr id="712" name="Google Shape;712;h178d0342318c4c4c_0_86"/>
          <p:cNvSpPr/>
          <p:nvPr/>
        </p:nvSpPr>
        <p:spPr>
          <a:xfrm>
            <a:off x="10861400" y="2097825"/>
            <a:ext cx="992400" cy="2679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subtype?</a:t>
            </a:r>
            <a:endParaRPr b="1" i="0" spc="0" sz="900" u="none" cap="none" strike="noStrike">
              <a:solidFill>
                <a:srgbClr val="000000"/>
              </a:solidFill>
              <a:latin typeface="Trebuchet MS"/>
              <a:ea typeface="Trebuchet MS"/>
              <a:cs typeface="Trebuchet MS"/>
              <a:sym typeface="Trebuchet MS"/>
            </a:endParaRPr>
          </a:p>
        </p:txBody>
      </p:sp>
      <p:sp>
        <p:nvSpPr>
          <p:cNvPr id="713" name="Google Shape;713;h178d0342318c4c4c_0_86"/>
          <p:cNvSpPr/>
          <p:nvPr/>
        </p:nvSpPr>
        <p:spPr>
          <a:xfrm>
            <a:off x="4400075" y="2162337"/>
            <a:ext cx="992400" cy="267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Scanner differences?</a:t>
            </a:r>
            <a:endParaRPr b="1" i="0" spc="0" sz="9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h3fbe1cc187aaddd6_0_132"/>
          <p:cNvSpPr txBox="1"/>
          <p:nvPr/>
        </p:nvSpPr>
        <p:spPr>
          <a:xfrm>
            <a:off x="446275" y="799275"/>
            <a:ext cx="6312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Shortcut learning or genuine signal?</a:t>
            </a:r>
            <a:r>
              <a:rPr b="0" i="0" lang="en-US" spc="0" sz="1100" u="none" cap="none" strike="noStrike">
                <a:solidFill>
                  <a:schemeClr val="dk1"/>
                </a:solidFill>
                <a:latin typeface="Trebuchet MS"/>
                <a:ea typeface="Trebuchet MS"/>
                <a:cs typeface="Trebuchet MS"/>
                <a:sym typeface="Trebuchet MS"/>
              </a:rPr>
              <a:t> </a:t>
            </a:r>
            <a:endParaRPr b="0" i="0" spc="0" sz="1400" u="none" cap="none" strike="noStrike">
              <a:solidFill>
                <a:srgbClr val="000000"/>
              </a:solidFill>
              <a:latin typeface="Trebuchet MS"/>
              <a:ea typeface="Trebuchet MS"/>
              <a:cs typeface="Trebuchet MS"/>
              <a:sym typeface="Trebuchet MS"/>
            </a:endParaRPr>
          </a:p>
        </p:txBody>
      </p:sp>
      <p:pic>
        <p:nvPicPr>
          <p:cNvPr id="720" name="Google Shape;720;h3fbe1cc187aaddd6_0_132"/>
          <p:cNvPicPr preferRelativeResize="0"/>
          <p:nvPr/>
        </p:nvPicPr>
        <p:blipFill rotWithShape="1">
          <a:blip r:embed="rId3">
            <a:alphaModFix/>
          </a:blip>
          <a:srcRect b="0" l="0" r="0" t="0"/>
          <a:stretch/>
        </p:blipFill>
        <p:spPr>
          <a:xfrm>
            <a:off x="1160750" y="1414875"/>
            <a:ext cx="9790600" cy="2087300"/>
          </a:xfrm>
          <a:prstGeom prst="rect">
            <a:avLst/>
          </a:prstGeom>
          <a:noFill/>
          <a:ln cap="flat" cmpd="sng" w="19050">
            <a:solidFill>
              <a:schemeClr val="dk2"/>
            </a:solidFill>
            <a:prstDash val="solid"/>
            <a:round/>
            <a:headEnd len="sm" w="sm" type="none"/>
            <a:tailEnd len="sm" w="sm" type="none"/>
          </a:ln>
        </p:spPr>
      </p:pic>
      <p:pic>
        <p:nvPicPr>
          <p:cNvPr id="721" name="Google Shape;721;h3fbe1cc187aaddd6_0_132"/>
          <p:cNvPicPr preferRelativeResize="0"/>
          <p:nvPr/>
        </p:nvPicPr>
        <p:blipFill rotWithShape="1">
          <a:blip r:embed="rId4">
            <a:alphaModFix/>
          </a:blip>
          <a:srcRect b="0" l="0" r="0" t="0"/>
          <a:stretch/>
        </p:blipFill>
        <p:spPr>
          <a:xfrm>
            <a:off x="6555801" y="3615525"/>
            <a:ext cx="4395549" cy="2340050"/>
          </a:xfrm>
          <a:prstGeom prst="rect">
            <a:avLst/>
          </a:prstGeom>
          <a:noFill/>
          <a:ln cap="flat" cmpd="sng" w="19050">
            <a:solidFill>
              <a:schemeClr val="dk2"/>
            </a:solidFill>
            <a:prstDash val="solid"/>
            <a:round/>
            <a:headEnd len="sm" w="sm" type="none"/>
            <a:tailEnd len="sm" w="sm" type="none"/>
          </a:ln>
        </p:spPr>
      </p:pic>
      <p:sp>
        <p:nvSpPr>
          <p:cNvPr id="722" name="Google Shape;722;h3fbe1cc187aaddd6_0_132"/>
          <p:cNvSpPr/>
          <p:nvPr/>
        </p:nvSpPr>
        <p:spPr>
          <a:xfrm>
            <a:off x="10254150" y="5514824"/>
            <a:ext cx="1254300" cy="3162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Patient identity?</a:t>
            </a:r>
            <a:endParaRPr b="1" i="0" spc="0" sz="900" u="none" cap="none" strike="noStrike">
              <a:solidFill>
                <a:srgbClr val="000000"/>
              </a:solidFill>
              <a:latin typeface="Trebuchet MS"/>
              <a:ea typeface="Trebuchet MS"/>
              <a:cs typeface="Trebuchet MS"/>
              <a:sym typeface="Trebuchet MS"/>
            </a:endParaRPr>
          </a:p>
        </p:txBody>
      </p:sp>
      <p:sp>
        <p:nvSpPr>
          <p:cNvPr id="723" name="Google Shape;723;h3fbe1cc187aaddd6_0_132"/>
          <p:cNvSpPr/>
          <p:nvPr/>
        </p:nvSpPr>
        <p:spPr>
          <a:xfrm>
            <a:off x="4914075" y="3177700"/>
            <a:ext cx="992400" cy="2679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size?</a:t>
            </a:r>
            <a:endParaRPr b="1" i="0" spc="0" sz="900" u="none" cap="none" strike="noStrike">
              <a:solidFill>
                <a:srgbClr val="000000"/>
              </a:solidFill>
              <a:latin typeface="Trebuchet MS"/>
              <a:ea typeface="Trebuchet MS"/>
              <a:cs typeface="Trebuchet MS"/>
              <a:sym typeface="Trebuchet MS"/>
            </a:endParaRPr>
          </a:p>
        </p:txBody>
      </p:sp>
      <p:sp>
        <p:nvSpPr>
          <p:cNvPr id="724" name="Google Shape;724;h3fbe1cc187aaddd6_0_132"/>
          <p:cNvSpPr/>
          <p:nvPr/>
        </p:nvSpPr>
        <p:spPr>
          <a:xfrm>
            <a:off x="10861400" y="2097825"/>
            <a:ext cx="992400" cy="2679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subtype?</a:t>
            </a:r>
            <a:endParaRPr b="1" i="0" spc="0" sz="900" u="none" cap="none" strike="noStrike">
              <a:solidFill>
                <a:srgbClr val="000000"/>
              </a:solidFill>
              <a:latin typeface="Trebuchet MS"/>
              <a:ea typeface="Trebuchet MS"/>
              <a:cs typeface="Trebuchet MS"/>
              <a:sym typeface="Trebuchet MS"/>
            </a:endParaRPr>
          </a:p>
        </p:txBody>
      </p:sp>
      <p:sp>
        <p:nvSpPr>
          <p:cNvPr id="725" name="Google Shape;725;h3fbe1cc187aaddd6_0_132"/>
          <p:cNvSpPr/>
          <p:nvPr/>
        </p:nvSpPr>
        <p:spPr>
          <a:xfrm>
            <a:off x="4400075" y="2162337"/>
            <a:ext cx="992400" cy="267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Scanner differences?</a:t>
            </a:r>
            <a:endParaRPr b="1" i="0" spc="0" sz="9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h3fbe1cc187aaddd6_0_146"/>
          <p:cNvSpPr txBox="1"/>
          <p:nvPr/>
        </p:nvSpPr>
        <p:spPr>
          <a:xfrm>
            <a:off x="446275" y="799275"/>
            <a:ext cx="6312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Shortcut learning or genuine signal?</a:t>
            </a:r>
            <a:r>
              <a:rPr b="0" i="0" lang="en-US" spc="0" sz="1100" u="none" cap="none" strike="noStrike">
                <a:solidFill>
                  <a:schemeClr val="dk1"/>
                </a:solidFill>
                <a:latin typeface="Trebuchet MS"/>
                <a:ea typeface="Trebuchet MS"/>
                <a:cs typeface="Trebuchet MS"/>
                <a:sym typeface="Trebuchet MS"/>
              </a:rPr>
              <a:t> </a:t>
            </a:r>
            <a:endParaRPr b="0" i="0" spc="0" sz="1400" u="none" cap="none" strike="noStrike">
              <a:solidFill>
                <a:srgbClr val="000000"/>
              </a:solidFill>
              <a:latin typeface="Trebuchet MS"/>
              <a:ea typeface="Trebuchet MS"/>
              <a:cs typeface="Trebuchet MS"/>
              <a:sym typeface="Trebuchet MS"/>
            </a:endParaRPr>
          </a:p>
        </p:txBody>
      </p:sp>
      <p:pic>
        <p:nvPicPr>
          <p:cNvPr id="732" name="Google Shape;732;h3fbe1cc187aaddd6_0_146"/>
          <p:cNvPicPr preferRelativeResize="0"/>
          <p:nvPr/>
        </p:nvPicPr>
        <p:blipFill rotWithShape="1">
          <a:blip r:embed="rId3">
            <a:alphaModFix/>
          </a:blip>
          <a:srcRect b="0" l="0" r="0" t="0"/>
          <a:stretch/>
        </p:blipFill>
        <p:spPr>
          <a:xfrm>
            <a:off x="1160750" y="1414875"/>
            <a:ext cx="9790600" cy="2087300"/>
          </a:xfrm>
          <a:prstGeom prst="rect">
            <a:avLst/>
          </a:prstGeom>
          <a:noFill/>
          <a:ln cap="flat" cmpd="sng" w="19050">
            <a:solidFill>
              <a:schemeClr val="dk2"/>
            </a:solidFill>
            <a:prstDash val="solid"/>
            <a:round/>
            <a:headEnd len="sm" w="sm" type="none"/>
            <a:tailEnd len="sm" w="sm" type="none"/>
          </a:ln>
        </p:spPr>
      </p:pic>
      <p:pic>
        <p:nvPicPr>
          <p:cNvPr id="733" name="Google Shape;733;h3fbe1cc187aaddd6_0_146"/>
          <p:cNvPicPr preferRelativeResize="0"/>
          <p:nvPr/>
        </p:nvPicPr>
        <p:blipFill rotWithShape="1">
          <a:blip r:embed="rId4">
            <a:alphaModFix/>
          </a:blip>
          <a:srcRect b="0" l="0" r="0" t="0"/>
          <a:stretch/>
        </p:blipFill>
        <p:spPr>
          <a:xfrm>
            <a:off x="6555801" y="3615525"/>
            <a:ext cx="4395549" cy="2340050"/>
          </a:xfrm>
          <a:prstGeom prst="rect">
            <a:avLst/>
          </a:prstGeom>
          <a:noFill/>
          <a:ln cap="flat" cmpd="sng" w="19050">
            <a:solidFill>
              <a:schemeClr val="dk2"/>
            </a:solidFill>
            <a:prstDash val="solid"/>
            <a:round/>
            <a:headEnd len="sm" w="sm" type="none"/>
            <a:tailEnd len="sm" w="sm" type="none"/>
          </a:ln>
        </p:spPr>
      </p:pic>
      <p:pic>
        <p:nvPicPr>
          <p:cNvPr id="734" name="Google Shape;734;h3fbe1cc187aaddd6_0_146" title="reservation_by_source.png"/>
          <p:cNvPicPr preferRelativeResize="0"/>
          <p:nvPr/>
        </p:nvPicPr>
        <p:blipFill rotWithShape="1">
          <a:blip r:embed="rId5">
            <a:alphaModFix/>
          </a:blip>
          <a:srcRect b="0" l="-9637" r="0" t="0"/>
          <a:stretch/>
        </p:blipFill>
        <p:spPr>
          <a:xfrm>
            <a:off x="1160750" y="3615513"/>
            <a:ext cx="4522624" cy="2377225"/>
          </a:xfrm>
          <a:prstGeom prst="rect">
            <a:avLst/>
          </a:prstGeom>
          <a:noFill/>
          <a:ln cap="flat" cmpd="sng" w="19050">
            <a:solidFill>
              <a:schemeClr val="dk2"/>
            </a:solidFill>
            <a:prstDash val="solid"/>
            <a:round/>
            <a:headEnd len="sm" w="sm" type="none"/>
            <a:tailEnd len="sm" w="sm" type="none"/>
          </a:ln>
        </p:spPr>
      </p:pic>
      <p:sp>
        <p:nvSpPr>
          <p:cNvPr id="735" name="Google Shape;735;h3fbe1cc187aaddd6_0_146"/>
          <p:cNvSpPr/>
          <p:nvPr/>
        </p:nvSpPr>
        <p:spPr>
          <a:xfrm>
            <a:off x="10254150" y="5514824"/>
            <a:ext cx="1254300" cy="3162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Patient identity?</a:t>
            </a:r>
            <a:endParaRPr b="1" i="0" spc="0" sz="900" u="none" cap="none" strike="noStrike">
              <a:solidFill>
                <a:srgbClr val="000000"/>
              </a:solidFill>
              <a:latin typeface="Trebuchet MS"/>
              <a:ea typeface="Trebuchet MS"/>
              <a:cs typeface="Trebuchet MS"/>
              <a:sym typeface="Trebuchet MS"/>
            </a:endParaRPr>
          </a:p>
        </p:txBody>
      </p:sp>
      <p:sp>
        <p:nvSpPr>
          <p:cNvPr id="736" name="Google Shape;736;h3fbe1cc187aaddd6_0_146"/>
          <p:cNvSpPr/>
          <p:nvPr/>
        </p:nvSpPr>
        <p:spPr>
          <a:xfrm>
            <a:off x="4914075" y="3177700"/>
            <a:ext cx="992400" cy="2679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size?</a:t>
            </a:r>
            <a:endParaRPr b="1" i="0" spc="0" sz="900" u="none" cap="none" strike="noStrike">
              <a:solidFill>
                <a:srgbClr val="000000"/>
              </a:solidFill>
              <a:latin typeface="Trebuchet MS"/>
              <a:ea typeface="Trebuchet MS"/>
              <a:cs typeface="Trebuchet MS"/>
              <a:sym typeface="Trebuchet MS"/>
            </a:endParaRPr>
          </a:p>
        </p:txBody>
      </p:sp>
      <p:sp>
        <p:nvSpPr>
          <p:cNvPr id="737" name="Google Shape;737;h3fbe1cc187aaddd6_0_146"/>
          <p:cNvSpPr/>
          <p:nvPr/>
        </p:nvSpPr>
        <p:spPr>
          <a:xfrm>
            <a:off x="10861400" y="2097825"/>
            <a:ext cx="992400" cy="2679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subtype?</a:t>
            </a:r>
            <a:endParaRPr b="1" i="0" spc="0" sz="900" u="none" cap="none" strike="noStrike">
              <a:solidFill>
                <a:srgbClr val="000000"/>
              </a:solidFill>
              <a:latin typeface="Trebuchet MS"/>
              <a:ea typeface="Trebuchet MS"/>
              <a:cs typeface="Trebuchet MS"/>
              <a:sym typeface="Trebuchet MS"/>
            </a:endParaRPr>
          </a:p>
        </p:txBody>
      </p:sp>
      <p:sp>
        <p:nvSpPr>
          <p:cNvPr id="738" name="Google Shape;738;h3fbe1cc187aaddd6_0_146"/>
          <p:cNvSpPr/>
          <p:nvPr/>
        </p:nvSpPr>
        <p:spPr>
          <a:xfrm>
            <a:off x="4400075" y="2162337"/>
            <a:ext cx="992400" cy="267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Scanner differences?</a:t>
            </a:r>
            <a:endParaRPr b="1" i="0" spc="0" sz="900" u="none" cap="none" strike="noStrike">
              <a:solidFill>
                <a:srgbClr val="000000"/>
              </a:solidFill>
              <a:latin typeface="Trebuchet MS"/>
              <a:ea typeface="Trebuchet MS"/>
              <a:cs typeface="Trebuchet MS"/>
              <a:sym typeface="Trebuchet MS"/>
            </a:endParaRPr>
          </a:p>
        </p:txBody>
      </p:sp>
      <p:sp>
        <p:nvSpPr>
          <p:cNvPr id="739" name="Google Shape;739;h3fbe1cc187aaddd6_0_146"/>
          <p:cNvSpPr txBox="1"/>
          <p:nvPr/>
        </p:nvSpPr>
        <p:spPr>
          <a:xfrm>
            <a:off x="1160750" y="5369313"/>
            <a:ext cx="737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never</a:t>
            </a:r>
            <a:endParaRPr b="1" i="0" spc="0" sz="9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abstain</a:t>
            </a:r>
            <a:endParaRPr b="1" i="0" spc="0" sz="900" u="none" cap="none" strike="noStrike">
              <a:solidFill>
                <a:schemeClr val="dk1"/>
              </a:solidFill>
              <a:latin typeface="Trebuchet MS"/>
              <a:ea typeface="Trebuchet MS"/>
              <a:cs typeface="Trebuchet MS"/>
              <a:sym typeface="Trebuchet MS"/>
            </a:endParaRPr>
          </a:p>
        </p:txBody>
      </p:sp>
      <p:sp>
        <p:nvSpPr>
          <p:cNvPr id="740" name="Google Shape;740;h3fbe1cc187aaddd6_0_146"/>
          <p:cNvSpPr txBox="1"/>
          <p:nvPr/>
        </p:nvSpPr>
        <p:spPr>
          <a:xfrm>
            <a:off x="1160750" y="3795788"/>
            <a:ext cx="737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always</a:t>
            </a:r>
            <a:endParaRPr b="1" i="0" spc="0" sz="9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abstain</a:t>
            </a:r>
            <a:endParaRPr b="1" i="0" spc="0" sz="900" u="none" cap="none" strike="noStrike">
              <a:solidFill>
                <a:schemeClr val="dk1"/>
              </a:solidFill>
              <a:latin typeface="Trebuchet MS"/>
              <a:ea typeface="Trebuchet MS"/>
              <a:cs typeface="Trebuchet MS"/>
              <a:sym typeface="Trebuchet MS"/>
            </a:endParaRPr>
          </a:p>
        </p:txBody>
      </p:sp>
      <p:sp>
        <p:nvSpPr>
          <p:cNvPr id="741" name="Google Shape;741;h3fbe1cc187aaddd6_0_146"/>
          <p:cNvSpPr/>
          <p:nvPr/>
        </p:nvSpPr>
        <p:spPr>
          <a:xfrm>
            <a:off x="5220250" y="3941301"/>
            <a:ext cx="887400" cy="5343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class imbalance?</a:t>
            </a:r>
            <a:endParaRPr b="1" i="0" spc="0" sz="900" u="none" cap="none" strike="noStrike">
              <a:solidFill>
                <a:srgbClr val="000000"/>
              </a:solidFill>
              <a:latin typeface="Trebuchet MS"/>
              <a:ea typeface="Trebuchet MS"/>
              <a:cs typeface="Trebuchet MS"/>
              <a:sym typeface="Trebuchet MS"/>
            </a:endParaRPr>
          </a:p>
        </p:txBody>
      </p:sp>
      <p:sp>
        <p:nvSpPr>
          <p:cNvPr id="742" name="Google Shape;742;h3fbe1cc187aaddd6_0_146"/>
          <p:cNvSpPr txBox="1"/>
          <p:nvPr/>
        </p:nvSpPr>
        <p:spPr>
          <a:xfrm>
            <a:off x="95250" y="3718850"/>
            <a:ext cx="7224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Arial"/>
                <a:ea typeface="Arial"/>
                <a:cs typeface="Arial"/>
                <a:sym typeface="Arial"/>
              </a:rPr>
              <a:t>never predict</a:t>
            </a:r>
            <a:endParaRPr b="0" i="0" spc="0" sz="1400" u="none" cap="none" strike="noStrike">
              <a:solidFill>
                <a:srgbClr val="000000"/>
              </a:solidFill>
              <a:latin typeface="Arial"/>
              <a:ea typeface="Arial"/>
              <a:cs typeface="Arial"/>
              <a:sym typeface="Arial"/>
            </a:endParaRPr>
          </a:p>
        </p:txBody>
      </p:sp>
      <p:cxnSp>
        <p:nvCxnSpPr>
          <p:cNvPr id="743" name="Google Shape;743;h3fbe1cc187aaddd6_0_146"/>
          <p:cNvCxnSpPr>
            <a:endCxn id="740" idx="1"/>
          </p:cNvCxnSpPr>
          <p:nvPr/>
        </p:nvCxnSpPr>
        <p:spPr>
          <a:xfrm>
            <a:off x="817550" y="4026638"/>
            <a:ext cx="343200" cy="0"/>
          </a:xfrm>
          <a:prstGeom prst="straightConnector1">
            <a:avLst/>
          </a:prstGeom>
          <a:noFill/>
          <a:ln cap="flat" cmpd="sng" w="19050">
            <a:solidFill>
              <a:schemeClr val="dk2"/>
            </a:solidFill>
            <a:prstDash val="solid"/>
            <a:round/>
            <a:headEnd len="sm" w="sm" type="none"/>
            <a:tailEnd len="med" w="med" type="triangle"/>
          </a:ln>
        </p:spPr>
      </p:cxnSp>
      <p:sp>
        <p:nvSpPr>
          <p:cNvPr id="744" name="Google Shape;744;h3fbe1cc187aaddd6_0_146"/>
          <p:cNvSpPr txBox="1"/>
          <p:nvPr/>
        </p:nvSpPr>
        <p:spPr>
          <a:xfrm>
            <a:off x="152400" y="5292375"/>
            <a:ext cx="8397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Arial"/>
                <a:ea typeface="Arial"/>
                <a:cs typeface="Arial"/>
                <a:sym typeface="Arial"/>
              </a:rPr>
              <a:t>always</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Arial"/>
                <a:ea typeface="Arial"/>
                <a:cs typeface="Arial"/>
                <a:sym typeface="Arial"/>
              </a:rPr>
              <a:t>predict</a:t>
            </a:r>
            <a:endParaRPr b="0" i="0" spc="0" sz="1400" u="none" cap="none" strike="noStrike">
              <a:solidFill>
                <a:srgbClr val="000000"/>
              </a:solidFill>
              <a:latin typeface="Arial"/>
              <a:ea typeface="Arial"/>
              <a:cs typeface="Arial"/>
              <a:sym typeface="Arial"/>
            </a:endParaRPr>
          </a:p>
        </p:txBody>
      </p:sp>
      <p:cxnSp>
        <p:nvCxnSpPr>
          <p:cNvPr id="745" name="Google Shape;745;h3fbe1cc187aaddd6_0_146"/>
          <p:cNvCxnSpPr/>
          <p:nvPr/>
        </p:nvCxnSpPr>
        <p:spPr>
          <a:xfrm>
            <a:off x="803275" y="5600163"/>
            <a:ext cx="343200" cy="0"/>
          </a:xfrm>
          <a:prstGeom prst="straightConnector1">
            <a:avLst/>
          </a:prstGeom>
          <a:noFill/>
          <a:ln cap="flat" cmpd="sng" w="19050">
            <a:solidFill>
              <a:schemeClr val="dk2"/>
            </a:solidFill>
            <a:prstDash val="solid"/>
            <a:round/>
            <a:headEnd len="sm" w="sm"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h3fbe1cc187aaddd6_0_113"/>
          <p:cNvSpPr txBox="1"/>
          <p:nvPr/>
        </p:nvSpPr>
        <p:spPr>
          <a:xfrm>
            <a:off x="446275" y="799275"/>
            <a:ext cx="6312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Shortcut learning or genuine signal?</a:t>
            </a:r>
            <a:r>
              <a:rPr b="0" i="0" lang="en-US" spc="0" sz="1100" u="none" cap="none" strike="noStrike">
                <a:solidFill>
                  <a:schemeClr val="dk1"/>
                </a:solidFill>
                <a:latin typeface="Trebuchet MS"/>
                <a:ea typeface="Trebuchet MS"/>
                <a:cs typeface="Trebuchet MS"/>
                <a:sym typeface="Trebuchet MS"/>
              </a:rPr>
              <a:t> </a:t>
            </a:r>
            <a:endParaRPr b="0" i="0" spc="0" sz="1400" u="none" cap="none" strike="noStrike">
              <a:solidFill>
                <a:srgbClr val="000000"/>
              </a:solidFill>
              <a:latin typeface="Trebuchet MS"/>
              <a:ea typeface="Trebuchet MS"/>
              <a:cs typeface="Trebuchet MS"/>
              <a:sym typeface="Trebuchet MS"/>
            </a:endParaRPr>
          </a:p>
        </p:txBody>
      </p:sp>
      <p:pic>
        <p:nvPicPr>
          <p:cNvPr id="752" name="Google Shape;752;h3fbe1cc187aaddd6_0_113"/>
          <p:cNvPicPr preferRelativeResize="0"/>
          <p:nvPr/>
        </p:nvPicPr>
        <p:blipFill rotWithShape="1">
          <a:blip r:embed="rId3">
            <a:alphaModFix/>
          </a:blip>
          <a:srcRect b="0" l="0" r="0" t="0"/>
          <a:stretch/>
        </p:blipFill>
        <p:spPr>
          <a:xfrm>
            <a:off x="1160750" y="1414875"/>
            <a:ext cx="9790600" cy="2087300"/>
          </a:xfrm>
          <a:prstGeom prst="rect">
            <a:avLst/>
          </a:prstGeom>
          <a:noFill/>
          <a:ln cap="flat" cmpd="sng" w="19050">
            <a:solidFill>
              <a:schemeClr val="dk2"/>
            </a:solidFill>
            <a:prstDash val="solid"/>
            <a:round/>
            <a:headEnd len="sm" w="sm" type="none"/>
            <a:tailEnd len="sm" w="sm" type="none"/>
          </a:ln>
        </p:spPr>
      </p:pic>
      <p:pic>
        <p:nvPicPr>
          <p:cNvPr id="753" name="Google Shape;753;h3fbe1cc187aaddd6_0_113"/>
          <p:cNvPicPr preferRelativeResize="0"/>
          <p:nvPr/>
        </p:nvPicPr>
        <p:blipFill rotWithShape="1">
          <a:blip r:embed="rId4">
            <a:alphaModFix/>
          </a:blip>
          <a:srcRect b="0" l="0" r="0" t="0"/>
          <a:stretch/>
        </p:blipFill>
        <p:spPr>
          <a:xfrm>
            <a:off x="6555801" y="3615525"/>
            <a:ext cx="4395549" cy="2340050"/>
          </a:xfrm>
          <a:prstGeom prst="rect">
            <a:avLst/>
          </a:prstGeom>
          <a:noFill/>
          <a:ln cap="flat" cmpd="sng" w="19050">
            <a:solidFill>
              <a:schemeClr val="dk2"/>
            </a:solidFill>
            <a:prstDash val="solid"/>
            <a:round/>
            <a:headEnd len="sm" w="sm" type="none"/>
            <a:tailEnd len="sm" w="sm" type="none"/>
          </a:ln>
        </p:spPr>
      </p:pic>
      <p:sp>
        <p:nvSpPr>
          <p:cNvPr id="754" name="Google Shape;754;h3fbe1cc187aaddd6_0_113"/>
          <p:cNvSpPr/>
          <p:nvPr/>
        </p:nvSpPr>
        <p:spPr>
          <a:xfrm>
            <a:off x="4959575" y="3926738"/>
            <a:ext cx="639600" cy="199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abstain</a:t>
            </a:r>
            <a:endParaRPr b="1" i="0" spc="0" sz="900" u="none" cap="none" strike="noStrike">
              <a:solidFill>
                <a:srgbClr val="000000"/>
              </a:solidFill>
              <a:latin typeface="Trebuchet MS"/>
              <a:ea typeface="Trebuchet MS"/>
              <a:cs typeface="Trebuchet MS"/>
              <a:sym typeface="Trebuchet MS"/>
            </a:endParaRPr>
          </a:p>
        </p:txBody>
      </p:sp>
      <p:sp>
        <p:nvSpPr>
          <p:cNvPr id="755" name="Google Shape;755;h3fbe1cc187aaddd6_0_113"/>
          <p:cNvSpPr/>
          <p:nvPr/>
        </p:nvSpPr>
        <p:spPr>
          <a:xfrm>
            <a:off x="10254150" y="5514824"/>
            <a:ext cx="1254300" cy="3162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Patient identity?</a:t>
            </a:r>
            <a:endParaRPr b="1" i="0" spc="0" sz="900" u="none" cap="none" strike="noStrike">
              <a:solidFill>
                <a:srgbClr val="000000"/>
              </a:solidFill>
              <a:latin typeface="Trebuchet MS"/>
              <a:ea typeface="Trebuchet MS"/>
              <a:cs typeface="Trebuchet MS"/>
              <a:sym typeface="Trebuchet MS"/>
            </a:endParaRPr>
          </a:p>
        </p:txBody>
      </p:sp>
      <p:sp>
        <p:nvSpPr>
          <p:cNvPr id="756" name="Google Shape;756;h3fbe1cc187aaddd6_0_113"/>
          <p:cNvSpPr/>
          <p:nvPr/>
        </p:nvSpPr>
        <p:spPr>
          <a:xfrm>
            <a:off x="4914075" y="3177700"/>
            <a:ext cx="992400" cy="2679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size?</a:t>
            </a:r>
            <a:endParaRPr b="1" i="0" spc="0" sz="900" u="none" cap="none" strike="noStrike">
              <a:solidFill>
                <a:srgbClr val="000000"/>
              </a:solidFill>
              <a:latin typeface="Trebuchet MS"/>
              <a:ea typeface="Trebuchet MS"/>
              <a:cs typeface="Trebuchet MS"/>
              <a:sym typeface="Trebuchet MS"/>
            </a:endParaRPr>
          </a:p>
        </p:txBody>
      </p:sp>
      <p:sp>
        <p:nvSpPr>
          <p:cNvPr id="757" name="Google Shape;757;h3fbe1cc187aaddd6_0_113"/>
          <p:cNvSpPr/>
          <p:nvPr/>
        </p:nvSpPr>
        <p:spPr>
          <a:xfrm>
            <a:off x="10861400" y="2097825"/>
            <a:ext cx="992400" cy="2679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subtype?</a:t>
            </a:r>
            <a:endParaRPr b="1" i="0" spc="0" sz="900" u="none" cap="none" strike="noStrike">
              <a:solidFill>
                <a:srgbClr val="000000"/>
              </a:solidFill>
              <a:latin typeface="Trebuchet MS"/>
              <a:ea typeface="Trebuchet MS"/>
              <a:cs typeface="Trebuchet MS"/>
              <a:sym typeface="Trebuchet MS"/>
            </a:endParaRPr>
          </a:p>
        </p:txBody>
      </p:sp>
      <p:sp>
        <p:nvSpPr>
          <p:cNvPr id="758" name="Google Shape;758;h3fbe1cc187aaddd6_0_113"/>
          <p:cNvSpPr/>
          <p:nvPr/>
        </p:nvSpPr>
        <p:spPr>
          <a:xfrm>
            <a:off x="4400075" y="2162337"/>
            <a:ext cx="992400" cy="267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Scanner differences?</a:t>
            </a:r>
            <a:endParaRPr b="1" i="0" spc="0" sz="900" u="none" cap="none" strike="noStrike">
              <a:solidFill>
                <a:srgbClr val="000000"/>
              </a:solidFill>
              <a:latin typeface="Trebuchet MS"/>
              <a:ea typeface="Trebuchet MS"/>
              <a:cs typeface="Trebuchet MS"/>
              <a:sym typeface="Trebuchet MS"/>
            </a:endParaRPr>
          </a:p>
        </p:txBody>
      </p:sp>
      <p:pic>
        <p:nvPicPr>
          <p:cNvPr id="759" name="Google Shape;759;h3fbe1cc187aaddd6_0_113" title="reservation_by_source.png"/>
          <p:cNvPicPr preferRelativeResize="0"/>
          <p:nvPr/>
        </p:nvPicPr>
        <p:blipFill rotWithShape="1">
          <a:blip r:embed="rId5">
            <a:alphaModFix/>
          </a:blip>
          <a:srcRect b="0" l="-9637" r="0" t="0"/>
          <a:stretch/>
        </p:blipFill>
        <p:spPr>
          <a:xfrm>
            <a:off x="1160750" y="3615513"/>
            <a:ext cx="4522624" cy="2377225"/>
          </a:xfrm>
          <a:prstGeom prst="rect">
            <a:avLst/>
          </a:prstGeom>
          <a:noFill/>
          <a:ln cap="flat" cmpd="sng" w="19050">
            <a:solidFill>
              <a:schemeClr val="dk2"/>
            </a:solidFill>
            <a:prstDash val="solid"/>
            <a:round/>
            <a:headEnd len="sm" w="sm" type="none"/>
            <a:tailEnd len="sm" w="sm" type="none"/>
          </a:ln>
        </p:spPr>
      </p:pic>
      <p:sp>
        <p:nvSpPr>
          <p:cNvPr id="760" name="Google Shape;760;h3fbe1cc187aaddd6_0_113"/>
          <p:cNvSpPr txBox="1"/>
          <p:nvPr/>
        </p:nvSpPr>
        <p:spPr>
          <a:xfrm>
            <a:off x="1160750" y="5369313"/>
            <a:ext cx="737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never</a:t>
            </a:r>
            <a:endParaRPr b="1" i="0" spc="0" sz="9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abstain</a:t>
            </a:r>
            <a:endParaRPr b="1" i="0" spc="0" sz="900" u="none" cap="none" strike="noStrike">
              <a:solidFill>
                <a:schemeClr val="dk1"/>
              </a:solidFill>
              <a:latin typeface="Trebuchet MS"/>
              <a:ea typeface="Trebuchet MS"/>
              <a:cs typeface="Trebuchet MS"/>
              <a:sym typeface="Trebuchet MS"/>
            </a:endParaRPr>
          </a:p>
        </p:txBody>
      </p:sp>
      <p:sp>
        <p:nvSpPr>
          <p:cNvPr id="761" name="Google Shape;761;h3fbe1cc187aaddd6_0_113"/>
          <p:cNvSpPr txBox="1"/>
          <p:nvPr/>
        </p:nvSpPr>
        <p:spPr>
          <a:xfrm>
            <a:off x="1160750" y="3795788"/>
            <a:ext cx="737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always</a:t>
            </a:r>
            <a:endParaRPr b="1" i="0" spc="0" sz="9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abstain</a:t>
            </a:r>
            <a:endParaRPr b="1" i="0" spc="0" sz="900" u="none" cap="none" strike="noStrike">
              <a:solidFill>
                <a:schemeClr val="dk1"/>
              </a:solidFill>
              <a:latin typeface="Trebuchet MS"/>
              <a:ea typeface="Trebuchet MS"/>
              <a:cs typeface="Trebuchet MS"/>
              <a:sym typeface="Trebuchet MS"/>
            </a:endParaRPr>
          </a:p>
        </p:txBody>
      </p:sp>
      <p:sp>
        <p:nvSpPr>
          <p:cNvPr id="762" name="Google Shape;762;h3fbe1cc187aaddd6_0_113"/>
          <p:cNvSpPr/>
          <p:nvPr/>
        </p:nvSpPr>
        <p:spPr>
          <a:xfrm>
            <a:off x="5220250" y="3941301"/>
            <a:ext cx="887400" cy="5343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class imbalance?</a:t>
            </a:r>
            <a:endParaRPr b="1" i="0" spc="0" sz="900" u="none" cap="none" strike="noStrike">
              <a:solidFill>
                <a:srgbClr val="000000"/>
              </a:solidFill>
              <a:latin typeface="Trebuchet MS"/>
              <a:ea typeface="Trebuchet MS"/>
              <a:cs typeface="Trebuchet MS"/>
              <a:sym typeface="Trebuchet MS"/>
            </a:endParaRPr>
          </a:p>
        </p:txBody>
      </p:sp>
      <p:sp>
        <p:nvSpPr>
          <p:cNvPr id="763" name="Google Shape;763;h3fbe1cc187aaddd6_0_113"/>
          <p:cNvSpPr/>
          <p:nvPr/>
        </p:nvSpPr>
        <p:spPr>
          <a:xfrm>
            <a:off x="2009950" y="2025375"/>
            <a:ext cx="7293600" cy="2638800"/>
          </a:xfrm>
          <a:prstGeom prst="roundRect">
            <a:avLst>
              <a:gd fmla="val 16667" name="adj"/>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700"/>
              <a:buFont typeface="Arial"/>
              <a:buNone/>
            </a:pPr>
            <a:r>
              <a:rPr b="1" i="0" lang="en-US" spc="0" sz="2700" u="none" cap="none" strike="noStrike">
                <a:solidFill>
                  <a:srgbClr val="FF0000"/>
                </a:solidFill>
                <a:latin typeface="Trebuchet MS"/>
                <a:ea typeface="Trebuchet MS"/>
                <a:cs typeface="Trebuchet MS"/>
                <a:sym typeface="Trebuchet MS"/>
              </a:rPr>
              <a:t>AI is sneaky:</a:t>
            </a:r>
            <a:r>
              <a:rPr b="1" i="0" lang="en-US" spc="0" sz="2700" u="none" cap="none" strike="noStrike">
                <a:solidFill>
                  <a:srgbClr val="9A6B00"/>
                </a:solidFill>
                <a:latin typeface="Trebuchet MS"/>
                <a:ea typeface="Trebuchet MS"/>
                <a:cs typeface="Trebuchet MS"/>
                <a:sym typeface="Trebuchet MS"/>
              </a:rPr>
              <a:t> </a:t>
            </a:r>
            <a:r>
              <a:rPr b="0" i="0" lang="en-US" spc="0" sz="2700" u="none" cap="none" strike="noStrike">
                <a:solidFill>
                  <a:srgbClr val="222222"/>
                </a:solidFill>
                <a:latin typeface="Trebuchet MS"/>
                <a:ea typeface="Trebuchet MS"/>
                <a:cs typeface="Trebuchet MS"/>
                <a:sym typeface="Trebuchet MS"/>
              </a:rPr>
              <a:t>it solves the easiest question that fits the labels</a:t>
            </a:r>
            <a:endParaRPr b="0" i="0" spc="0" sz="25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h3feeff9767e46d2f_0_8"/>
          <p:cNvSpPr txBox="1"/>
          <p:nvPr/>
        </p:nvSpPr>
        <p:spPr>
          <a:xfrm>
            <a:off x="446275" y="799275"/>
            <a:ext cx="6312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Shortcut learning or genuine signal?</a:t>
            </a:r>
            <a:r>
              <a:rPr b="0" i="0" lang="en-US" spc="0" sz="1100" u="none" cap="none" strike="noStrike">
                <a:solidFill>
                  <a:schemeClr val="dk1"/>
                </a:solidFill>
                <a:latin typeface="Trebuchet MS"/>
                <a:ea typeface="Trebuchet MS"/>
                <a:cs typeface="Trebuchet MS"/>
                <a:sym typeface="Trebuchet MS"/>
              </a:rPr>
              <a:t> </a:t>
            </a:r>
            <a:endParaRPr b="0" i="0" spc="0" sz="1400" u="none" cap="none" strike="noStrike">
              <a:solidFill>
                <a:srgbClr val="000000"/>
              </a:solidFill>
              <a:latin typeface="Trebuchet MS"/>
              <a:ea typeface="Trebuchet MS"/>
              <a:cs typeface="Trebuchet MS"/>
              <a:sym typeface="Trebuchet MS"/>
            </a:endParaRPr>
          </a:p>
        </p:txBody>
      </p:sp>
      <p:pic>
        <p:nvPicPr>
          <p:cNvPr id="770" name="Google Shape;770;h3feeff9767e46d2f_0_8"/>
          <p:cNvPicPr preferRelativeResize="0"/>
          <p:nvPr/>
        </p:nvPicPr>
        <p:blipFill rotWithShape="1">
          <a:blip r:embed="rId3">
            <a:alphaModFix/>
          </a:blip>
          <a:srcRect b="0" l="0" r="0" t="0"/>
          <a:stretch/>
        </p:blipFill>
        <p:spPr>
          <a:xfrm>
            <a:off x="1160750" y="1414875"/>
            <a:ext cx="9790600" cy="2087300"/>
          </a:xfrm>
          <a:prstGeom prst="rect">
            <a:avLst/>
          </a:prstGeom>
          <a:noFill/>
          <a:ln cap="flat" cmpd="sng" w="19050">
            <a:solidFill>
              <a:schemeClr val="dk2"/>
            </a:solidFill>
            <a:prstDash val="solid"/>
            <a:round/>
            <a:headEnd len="sm" w="sm" type="none"/>
            <a:tailEnd len="sm" w="sm" type="none"/>
          </a:ln>
        </p:spPr>
      </p:pic>
      <p:pic>
        <p:nvPicPr>
          <p:cNvPr id="771" name="Google Shape;771;h3feeff9767e46d2f_0_8"/>
          <p:cNvPicPr preferRelativeResize="0"/>
          <p:nvPr/>
        </p:nvPicPr>
        <p:blipFill rotWithShape="1">
          <a:blip r:embed="rId4">
            <a:alphaModFix/>
          </a:blip>
          <a:srcRect b="0" l="0" r="0" t="0"/>
          <a:stretch/>
        </p:blipFill>
        <p:spPr>
          <a:xfrm>
            <a:off x="6555801" y="3615525"/>
            <a:ext cx="4395549" cy="2340050"/>
          </a:xfrm>
          <a:prstGeom prst="rect">
            <a:avLst/>
          </a:prstGeom>
          <a:noFill/>
          <a:ln cap="flat" cmpd="sng" w="19050">
            <a:solidFill>
              <a:schemeClr val="dk2"/>
            </a:solidFill>
            <a:prstDash val="solid"/>
            <a:round/>
            <a:headEnd len="sm" w="sm" type="none"/>
            <a:tailEnd len="sm" w="sm" type="none"/>
          </a:ln>
        </p:spPr>
      </p:pic>
      <p:sp>
        <p:nvSpPr>
          <p:cNvPr id="772" name="Google Shape;772;h3feeff9767e46d2f_0_8"/>
          <p:cNvSpPr/>
          <p:nvPr/>
        </p:nvSpPr>
        <p:spPr>
          <a:xfrm>
            <a:off x="4959575" y="3926738"/>
            <a:ext cx="639600" cy="199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abstain</a:t>
            </a:r>
            <a:endParaRPr b="1" i="0" spc="0" sz="900" u="none" cap="none" strike="noStrike">
              <a:solidFill>
                <a:srgbClr val="000000"/>
              </a:solidFill>
              <a:latin typeface="Trebuchet MS"/>
              <a:ea typeface="Trebuchet MS"/>
              <a:cs typeface="Trebuchet MS"/>
              <a:sym typeface="Trebuchet MS"/>
            </a:endParaRPr>
          </a:p>
        </p:txBody>
      </p:sp>
      <p:sp>
        <p:nvSpPr>
          <p:cNvPr id="773" name="Google Shape;773;h3feeff9767e46d2f_0_8"/>
          <p:cNvSpPr/>
          <p:nvPr/>
        </p:nvSpPr>
        <p:spPr>
          <a:xfrm>
            <a:off x="10254150" y="5514824"/>
            <a:ext cx="1254300" cy="3162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Patient identity?</a:t>
            </a:r>
            <a:endParaRPr b="1" i="0" spc="0" sz="900" u="none" cap="none" strike="noStrike">
              <a:solidFill>
                <a:srgbClr val="000000"/>
              </a:solidFill>
              <a:latin typeface="Trebuchet MS"/>
              <a:ea typeface="Trebuchet MS"/>
              <a:cs typeface="Trebuchet MS"/>
              <a:sym typeface="Trebuchet MS"/>
            </a:endParaRPr>
          </a:p>
        </p:txBody>
      </p:sp>
      <p:sp>
        <p:nvSpPr>
          <p:cNvPr id="774" name="Google Shape;774;h3feeff9767e46d2f_0_8"/>
          <p:cNvSpPr/>
          <p:nvPr/>
        </p:nvSpPr>
        <p:spPr>
          <a:xfrm>
            <a:off x="4914075" y="3177700"/>
            <a:ext cx="992400" cy="2679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size?</a:t>
            </a:r>
            <a:endParaRPr b="1" i="0" spc="0" sz="900" u="none" cap="none" strike="noStrike">
              <a:solidFill>
                <a:srgbClr val="000000"/>
              </a:solidFill>
              <a:latin typeface="Trebuchet MS"/>
              <a:ea typeface="Trebuchet MS"/>
              <a:cs typeface="Trebuchet MS"/>
              <a:sym typeface="Trebuchet MS"/>
            </a:endParaRPr>
          </a:p>
        </p:txBody>
      </p:sp>
      <p:sp>
        <p:nvSpPr>
          <p:cNvPr id="775" name="Google Shape;775;h3feeff9767e46d2f_0_8"/>
          <p:cNvSpPr/>
          <p:nvPr/>
        </p:nvSpPr>
        <p:spPr>
          <a:xfrm>
            <a:off x="10861400" y="2097825"/>
            <a:ext cx="992400" cy="2679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Tumour subtype?</a:t>
            </a:r>
            <a:endParaRPr b="1" i="0" spc="0" sz="900" u="none" cap="none" strike="noStrike">
              <a:solidFill>
                <a:srgbClr val="000000"/>
              </a:solidFill>
              <a:latin typeface="Trebuchet MS"/>
              <a:ea typeface="Trebuchet MS"/>
              <a:cs typeface="Trebuchet MS"/>
              <a:sym typeface="Trebuchet MS"/>
            </a:endParaRPr>
          </a:p>
        </p:txBody>
      </p:sp>
      <p:sp>
        <p:nvSpPr>
          <p:cNvPr id="776" name="Google Shape;776;h3feeff9767e46d2f_0_8"/>
          <p:cNvSpPr/>
          <p:nvPr/>
        </p:nvSpPr>
        <p:spPr>
          <a:xfrm>
            <a:off x="4400075" y="2162337"/>
            <a:ext cx="992400" cy="267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Scanner differences?</a:t>
            </a:r>
            <a:endParaRPr b="1" i="0" spc="0" sz="900" u="none" cap="none" strike="noStrike">
              <a:solidFill>
                <a:srgbClr val="000000"/>
              </a:solidFill>
              <a:latin typeface="Trebuchet MS"/>
              <a:ea typeface="Trebuchet MS"/>
              <a:cs typeface="Trebuchet MS"/>
              <a:sym typeface="Trebuchet MS"/>
            </a:endParaRPr>
          </a:p>
        </p:txBody>
      </p:sp>
      <p:pic>
        <p:nvPicPr>
          <p:cNvPr id="777" name="Google Shape;777;h3feeff9767e46d2f_0_8" title="reservation_by_source.png"/>
          <p:cNvPicPr preferRelativeResize="0"/>
          <p:nvPr/>
        </p:nvPicPr>
        <p:blipFill rotWithShape="1">
          <a:blip r:embed="rId5">
            <a:alphaModFix/>
          </a:blip>
          <a:srcRect b="0" l="-9637" r="0" t="0"/>
          <a:stretch/>
        </p:blipFill>
        <p:spPr>
          <a:xfrm>
            <a:off x="1160750" y="3615513"/>
            <a:ext cx="4522624" cy="2377225"/>
          </a:xfrm>
          <a:prstGeom prst="rect">
            <a:avLst/>
          </a:prstGeom>
          <a:noFill/>
          <a:ln cap="flat" cmpd="sng" w="19050">
            <a:solidFill>
              <a:schemeClr val="dk2"/>
            </a:solidFill>
            <a:prstDash val="solid"/>
            <a:round/>
            <a:headEnd len="sm" w="sm" type="none"/>
            <a:tailEnd len="sm" w="sm" type="none"/>
          </a:ln>
        </p:spPr>
      </p:pic>
      <p:sp>
        <p:nvSpPr>
          <p:cNvPr id="778" name="Google Shape;778;h3feeff9767e46d2f_0_8"/>
          <p:cNvSpPr txBox="1"/>
          <p:nvPr/>
        </p:nvSpPr>
        <p:spPr>
          <a:xfrm>
            <a:off x="1160750" y="5369313"/>
            <a:ext cx="737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never</a:t>
            </a:r>
            <a:endParaRPr b="1" i="0" spc="0" sz="9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abstain</a:t>
            </a:r>
            <a:endParaRPr b="1" i="0" spc="0" sz="900" u="none" cap="none" strike="noStrike">
              <a:solidFill>
                <a:schemeClr val="dk1"/>
              </a:solidFill>
              <a:latin typeface="Trebuchet MS"/>
              <a:ea typeface="Trebuchet MS"/>
              <a:cs typeface="Trebuchet MS"/>
              <a:sym typeface="Trebuchet MS"/>
            </a:endParaRPr>
          </a:p>
        </p:txBody>
      </p:sp>
      <p:sp>
        <p:nvSpPr>
          <p:cNvPr id="779" name="Google Shape;779;h3feeff9767e46d2f_0_8"/>
          <p:cNvSpPr txBox="1"/>
          <p:nvPr/>
        </p:nvSpPr>
        <p:spPr>
          <a:xfrm>
            <a:off x="1160750" y="3795788"/>
            <a:ext cx="737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always</a:t>
            </a:r>
            <a:endParaRPr b="1" i="0" spc="0" sz="9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chemeClr val="dk1"/>
                </a:solidFill>
                <a:latin typeface="Trebuchet MS"/>
                <a:ea typeface="Trebuchet MS"/>
                <a:cs typeface="Trebuchet MS"/>
                <a:sym typeface="Trebuchet MS"/>
              </a:rPr>
              <a:t>abstain</a:t>
            </a:r>
            <a:endParaRPr b="1" i="0" spc="0" sz="900" u="none" cap="none" strike="noStrike">
              <a:solidFill>
                <a:schemeClr val="dk1"/>
              </a:solidFill>
              <a:latin typeface="Trebuchet MS"/>
              <a:ea typeface="Trebuchet MS"/>
              <a:cs typeface="Trebuchet MS"/>
              <a:sym typeface="Trebuchet MS"/>
            </a:endParaRPr>
          </a:p>
        </p:txBody>
      </p:sp>
      <p:sp>
        <p:nvSpPr>
          <p:cNvPr id="780" name="Google Shape;780;h3feeff9767e46d2f_0_8"/>
          <p:cNvSpPr/>
          <p:nvPr/>
        </p:nvSpPr>
        <p:spPr>
          <a:xfrm>
            <a:off x="5220250" y="3941301"/>
            <a:ext cx="887400" cy="5343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pc="0" sz="900" u="none" cap="none" strike="noStrike">
                <a:solidFill>
                  <a:srgbClr val="000000"/>
                </a:solidFill>
                <a:latin typeface="Trebuchet MS"/>
                <a:ea typeface="Trebuchet MS"/>
                <a:cs typeface="Trebuchet MS"/>
                <a:sym typeface="Trebuchet MS"/>
              </a:rPr>
              <a:t>class imbalance?</a:t>
            </a:r>
            <a:endParaRPr b="1" i="0" spc="0" sz="900" u="none" cap="none" strike="noStrike">
              <a:solidFill>
                <a:srgbClr val="000000"/>
              </a:solidFill>
              <a:latin typeface="Trebuchet MS"/>
              <a:ea typeface="Trebuchet MS"/>
              <a:cs typeface="Trebuchet MS"/>
              <a:sym typeface="Trebuchet MS"/>
            </a:endParaRPr>
          </a:p>
        </p:txBody>
      </p:sp>
      <p:sp>
        <p:nvSpPr>
          <p:cNvPr id="781" name="Google Shape;781;h3feeff9767e46d2f_0_8"/>
          <p:cNvSpPr/>
          <p:nvPr/>
        </p:nvSpPr>
        <p:spPr>
          <a:xfrm>
            <a:off x="2009950" y="2025375"/>
            <a:ext cx="7293600" cy="2638800"/>
          </a:xfrm>
          <a:prstGeom prst="roundRect">
            <a:avLst>
              <a:gd fmla="val 16667" name="adj"/>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700"/>
              <a:buFont typeface="Arial"/>
              <a:buNone/>
            </a:pPr>
            <a:r>
              <a:rPr b="1" i="0" lang="en-US" spc="0" sz="2700" u="none" cap="none" strike="noStrike">
                <a:solidFill>
                  <a:srgbClr val="FF0000"/>
                </a:solidFill>
                <a:latin typeface="Trebuchet MS"/>
                <a:ea typeface="Trebuchet MS"/>
                <a:cs typeface="Trebuchet MS"/>
                <a:sym typeface="Trebuchet MS"/>
              </a:rPr>
              <a:t>AI is sneaky:</a:t>
            </a:r>
            <a:r>
              <a:rPr b="1" i="0" lang="en-US" spc="0" sz="2700" u="none" cap="none" strike="noStrike">
                <a:solidFill>
                  <a:srgbClr val="9A6B00"/>
                </a:solidFill>
                <a:latin typeface="Trebuchet MS"/>
                <a:ea typeface="Trebuchet MS"/>
                <a:cs typeface="Trebuchet MS"/>
                <a:sym typeface="Trebuchet MS"/>
              </a:rPr>
              <a:t> </a:t>
            </a:r>
            <a:r>
              <a:rPr b="0" i="0" lang="en-US" spc="0" sz="2700" u="none" cap="none" strike="noStrike">
                <a:solidFill>
                  <a:srgbClr val="222222"/>
                </a:solidFill>
                <a:latin typeface="Trebuchet MS"/>
                <a:ea typeface="Trebuchet MS"/>
                <a:cs typeface="Trebuchet MS"/>
                <a:sym typeface="Trebuchet MS"/>
              </a:rPr>
              <a:t>it solves the easiest question that fits the labels</a:t>
            </a:r>
            <a:endParaRPr b="0" i="0" spc="0" sz="2500" u="none" cap="none" strike="noStrike">
              <a:solidFill>
                <a:srgbClr val="000000"/>
              </a:solidFill>
              <a:latin typeface="Trebuchet MS"/>
              <a:ea typeface="Trebuchet MS"/>
              <a:cs typeface="Trebuchet MS"/>
              <a:sym typeface="Trebuchet MS"/>
            </a:endParaRPr>
          </a:p>
        </p:txBody>
      </p:sp>
      <p:sp>
        <p:nvSpPr>
          <p:cNvPr id="782" name="Google Shape;782;h3feeff9767e46d2f_0_8"/>
          <p:cNvSpPr/>
          <p:nvPr/>
        </p:nvSpPr>
        <p:spPr>
          <a:xfrm>
            <a:off x="3988425" y="3962100"/>
            <a:ext cx="7700700" cy="13032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pc="0" sz="1900" u="none" cap="none" strike="noStrike">
                <a:solidFill>
                  <a:srgbClr val="000000"/>
                </a:solidFill>
                <a:latin typeface="Trebuchet MS"/>
                <a:ea typeface="Trebuchet MS"/>
                <a:cs typeface="Trebuchet MS"/>
                <a:sym typeface="Trebuchet MS"/>
              </a:rPr>
              <a:t>..but it can also provide insights that humans might not consider.</a:t>
            </a:r>
            <a:endParaRPr b="0" i="0" spc="0" sz="19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h3feeff9767e46d2f_3_399"/>
          <p:cNvSpPr txBox="1"/>
          <p:nvPr/>
        </p:nvSpPr>
        <p:spPr>
          <a:xfrm>
            <a:off x="448056" y="795528"/>
            <a:ext cx="5486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Future work</a:t>
            </a:r>
            <a:endParaRPr b="0" i="0" spc="0" sz="1400" u="none" cap="none" strike="noStrike">
              <a:solidFill>
                <a:srgbClr val="000000"/>
              </a:solidFill>
              <a:latin typeface="Arial"/>
              <a:ea typeface="Arial"/>
              <a:cs typeface="Arial"/>
              <a:sym typeface="Arial"/>
            </a:endParaRPr>
          </a:p>
        </p:txBody>
      </p:sp>
      <p:sp>
        <p:nvSpPr>
          <p:cNvPr id="789" name="Google Shape;789;h3feeff9767e46d2f_3_399"/>
          <p:cNvSpPr txBox="1"/>
          <p:nvPr/>
        </p:nvSpPr>
        <p:spPr>
          <a:xfrm>
            <a:off x="448056" y="1325880"/>
            <a:ext cx="105156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595959"/>
                </a:solidFill>
                <a:latin typeface="Calibri"/>
                <a:ea typeface="Calibri"/>
                <a:cs typeface="Calibri"/>
                <a:sym typeface="Calibri"/>
              </a:rPr>
              <a:t>Scale up the data, then turn Deep Gamblers into a triage tool for the clinic</a:t>
            </a:r>
            <a:endParaRPr b="0" i="0" spc="0" sz="1400" u="none" cap="none" strike="noStrike">
              <a:solidFill>
                <a:srgbClr val="000000"/>
              </a:solidFill>
              <a:latin typeface="Arial"/>
              <a:ea typeface="Arial"/>
              <a:cs typeface="Arial"/>
              <a:sym typeface="Arial"/>
            </a:endParaRPr>
          </a:p>
        </p:txBody>
      </p:sp>
      <p:sp>
        <p:nvSpPr>
          <p:cNvPr id="790" name="Google Shape;790;h3feeff9767e46d2f_3_399"/>
          <p:cNvSpPr txBox="1"/>
          <p:nvPr/>
        </p:nvSpPr>
        <p:spPr>
          <a:xfrm>
            <a:off x="502920" y="1874520"/>
            <a:ext cx="6583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F9900"/>
                </a:solidFill>
                <a:latin typeface="Calibri"/>
                <a:ea typeface="Calibri"/>
                <a:cs typeface="Calibri"/>
                <a:sym typeface="Calibri"/>
              </a:rPr>
              <a:t>1  </a:t>
            </a:r>
            <a:r>
              <a:rPr b="1" i="0" lang="en-US" spc="0" sz="1500" u="none" cap="none" strike="noStrike">
                <a:solidFill>
                  <a:srgbClr val="222222"/>
                </a:solidFill>
                <a:latin typeface="Calibri"/>
                <a:ea typeface="Calibri"/>
                <a:cs typeface="Calibri"/>
                <a:sym typeface="Calibri"/>
              </a:rPr>
              <a:t>More slides from more centres</a:t>
            </a:r>
            <a:endParaRPr b="0" i="0" spc="0" sz="1400" u="none" cap="none" strike="noStrike">
              <a:solidFill>
                <a:srgbClr val="000000"/>
              </a:solidFill>
              <a:latin typeface="Arial"/>
              <a:ea typeface="Arial"/>
              <a:cs typeface="Arial"/>
              <a:sym typeface="Arial"/>
            </a:endParaRPr>
          </a:p>
        </p:txBody>
      </p:sp>
      <p:sp>
        <p:nvSpPr>
          <p:cNvPr id="791" name="Google Shape;791;h3feeff9767e46d2f_3_399"/>
          <p:cNvSpPr/>
          <p:nvPr/>
        </p:nvSpPr>
        <p:spPr>
          <a:xfrm>
            <a:off x="2758495" y="2354550"/>
            <a:ext cx="2103000" cy="1326000"/>
          </a:xfrm>
          <a:prstGeom prst="roundRect">
            <a:avLst>
              <a:gd fmla="val 8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2" name="Google Shape;792;h3feeff9767e46d2f_3_399"/>
          <p:cNvSpPr/>
          <p:nvPr/>
        </p:nvSpPr>
        <p:spPr>
          <a:xfrm>
            <a:off x="2941375" y="2537430"/>
            <a:ext cx="411600" cy="4116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793" name="Google Shape;793;h3feeff9767e46d2f_3_399"/>
          <p:cNvPicPr preferRelativeResize="0"/>
          <p:nvPr/>
        </p:nvPicPr>
        <p:blipFill rotWithShape="1">
          <a:blip r:embed="rId3">
            <a:alphaModFix/>
          </a:blip>
          <a:srcRect b="0" l="0" r="0" t="0"/>
          <a:stretch/>
        </p:blipFill>
        <p:spPr>
          <a:xfrm>
            <a:off x="3048360" y="2644415"/>
            <a:ext cx="197510" cy="197510"/>
          </a:xfrm>
          <a:prstGeom prst="rect">
            <a:avLst/>
          </a:prstGeom>
          <a:noFill/>
          <a:ln>
            <a:noFill/>
          </a:ln>
        </p:spPr>
      </p:pic>
      <p:sp>
        <p:nvSpPr>
          <p:cNvPr id="794" name="Google Shape;794;h3feeff9767e46d2f_3_399"/>
          <p:cNvSpPr txBox="1"/>
          <p:nvPr/>
        </p:nvSpPr>
        <p:spPr>
          <a:xfrm>
            <a:off x="3471727" y="2537430"/>
            <a:ext cx="1280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222222"/>
                </a:solidFill>
                <a:latin typeface="Calibri"/>
                <a:ea typeface="Calibri"/>
                <a:cs typeface="Calibri"/>
                <a:sym typeface="Calibri"/>
              </a:rPr>
              <a:t>Heidelberg</a:t>
            </a:r>
            <a:endParaRPr b="0" i="0" spc="0" sz="1400" u="none" cap="none" strike="noStrike">
              <a:solidFill>
                <a:srgbClr val="000000"/>
              </a:solidFill>
              <a:latin typeface="Arial"/>
              <a:ea typeface="Arial"/>
              <a:cs typeface="Arial"/>
              <a:sym typeface="Arial"/>
            </a:endParaRPr>
          </a:p>
        </p:txBody>
      </p:sp>
      <p:sp>
        <p:nvSpPr>
          <p:cNvPr id="795" name="Google Shape;795;h3feeff9767e46d2f_3_399"/>
          <p:cNvSpPr txBox="1"/>
          <p:nvPr/>
        </p:nvSpPr>
        <p:spPr>
          <a:xfrm>
            <a:off x="2941375" y="3040350"/>
            <a:ext cx="182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240</a:t>
            </a:r>
            <a:r>
              <a:rPr b="0" i="0" lang="en-US" spc="0" sz="1300" u="none" cap="none" strike="noStrike">
                <a:solidFill>
                  <a:srgbClr val="595959"/>
                </a:solidFill>
                <a:latin typeface="Calibri"/>
                <a:ea typeface="Calibri"/>
                <a:cs typeface="Calibri"/>
                <a:sym typeface="Calibri"/>
              </a:rPr>
              <a:t>  WSIs</a:t>
            </a:r>
            <a:endParaRPr b="0" i="0" spc="0" sz="1400" u="none" cap="none" strike="noStrike">
              <a:solidFill>
                <a:srgbClr val="000000"/>
              </a:solidFill>
              <a:latin typeface="Arial"/>
              <a:ea typeface="Arial"/>
              <a:cs typeface="Arial"/>
              <a:sym typeface="Arial"/>
            </a:endParaRPr>
          </a:p>
        </p:txBody>
      </p:sp>
      <p:sp>
        <p:nvSpPr>
          <p:cNvPr id="796" name="Google Shape;796;h3feeff9767e46d2f_3_399"/>
          <p:cNvSpPr/>
          <p:nvPr/>
        </p:nvSpPr>
        <p:spPr>
          <a:xfrm>
            <a:off x="5044495" y="2354550"/>
            <a:ext cx="2103000" cy="1326000"/>
          </a:xfrm>
          <a:prstGeom prst="roundRect">
            <a:avLst>
              <a:gd fmla="val 8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7" name="Google Shape;797;h3feeff9767e46d2f_3_399"/>
          <p:cNvSpPr/>
          <p:nvPr/>
        </p:nvSpPr>
        <p:spPr>
          <a:xfrm>
            <a:off x="5227375" y="2537430"/>
            <a:ext cx="411600" cy="4116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798" name="Google Shape;798;h3feeff9767e46d2f_3_399"/>
          <p:cNvPicPr preferRelativeResize="0"/>
          <p:nvPr/>
        </p:nvPicPr>
        <p:blipFill rotWithShape="1">
          <a:blip r:embed="rId3">
            <a:alphaModFix/>
          </a:blip>
          <a:srcRect b="0" l="0" r="0" t="0"/>
          <a:stretch/>
        </p:blipFill>
        <p:spPr>
          <a:xfrm>
            <a:off x="5334360" y="2644415"/>
            <a:ext cx="197510" cy="197510"/>
          </a:xfrm>
          <a:prstGeom prst="rect">
            <a:avLst/>
          </a:prstGeom>
          <a:noFill/>
          <a:ln>
            <a:noFill/>
          </a:ln>
        </p:spPr>
      </p:pic>
      <p:sp>
        <p:nvSpPr>
          <p:cNvPr id="799" name="Google Shape;799;h3feeff9767e46d2f_3_399"/>
          <p:cNvSpPr txBox="1"/>
          <p:nvPr/>
        </p:nvSpPr>
        <p:spPr>
          <a:xfrm>
            <a:off x="5757727" y="2537430"/>
            <a:ext cx="1280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222222"/>
                </a:solidFill>
                <a:latin typeface="Calibri"/>
                <a:ea typeface="Calibri"/>
                <a:cs typeface="Calibri"/>
                <a:sym typeface="Calibri"/>
              </a:rPr>
              <a:t>Erasmus MC</a:t>
            </a:r>
            <a:endParaRPr b="0" i="0" spc="0" sz="1400" u="none" cap="none" strike="noStrike">
              <a:solidFill>
                <a:srgbClr val="000000"/>
              </a:solidFill>
              <a:latin typeface="Arial"/>
              <a:ea typeface="Arial"/>
              <a:cs typeface="Arial"/>
              <a:sym typeface="Arial"/>
            </a:endParaRPr>
          </a:p>
        </p:txBody>
      </p:sp>
      <p:sp>
        <p:nvSpPr>
          <p:cNvPr id="800" name="Google Shape;800;h3feeff9767e46d2f_3_399"/>
          <p:cNvSpPr txBox="1"/>
          <p:nvPr/>
        </p:nvSpPr>
        <p:spPr>
          <a:xfrm>
            <a:off x="5227375" y="3040350"/>
            <a:ext cx="182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220</a:t>
            </a:r>
            <a:r>
              <a:rPr b="0" i="0" lang="en-US" spc="0" sz="1300" u="none" cap="none" strike="noStrike">
                <a:solidFill>
                  <a:srgbClr val="595959"/>
                </a:solidFill>
                <a:latin typeface="Calibri"/>
                <a:ea typeface="Calibri"/>
                <a:cs typeface="Calibri"/>
                <a:sym typeface="Calibri"/>
              </a:rPr>
              <a:t>  WSIs</a:t>
            </a:r>
            <a:endParaRPr b="0" i="0" spc="0" sz="1400" u="none" cap="none" strike="noStrike">
              <a:solidFill>
                <a:srgbClr val="000000"/>
              </a:solidFill>
              <a:latin typeface="Arial"/>
              <a:ea typeface="Arial"/>
              <a:cs typeface="Arial"/>
              <a:sym typeface="Arial"/>
            </a:endParaRPr>
          </a:p>
        </p:txBody>
      </p:sp>
      <p:sp>
        <p:nvSpPr>
          <p:cNvPr id="801" name="Google Shape;801;h3feeff9767e46d2f_3_399"/>
          <p:cNvSpPr/>
          <p:nvPr/>
        </p:nvSpPr>
        <p:spPr>
          <a:xfrm>
            <a:off x="7330495" y="2354550"/>
            <a:ext cx="2103000" cy="1326000"/>
          </a:xfrm>
          <a:prstGeom prst="roundRect">
            <a:avLst>
              <a:gd fmla="val 8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2" name="Google Shape;802;h3feeff9767e46d2f_3_399"/>
          <p:cNvSpPr/>
          <p:nvPr/>
        </p:nvSpPr>
        <p:spPr>
          <a:xfrm>
            <a:off x="7513375" y="2537430"/>
            <a:ext cx="411600" cy="4116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03" name="Google Shape;803;h3feeff9767e46d2f_3_399"/>
          <p:cNvPicPr preferRelativeResize="0"/>
          <p:nvPr/>
        </p:nvPicPr>
        <p:blipFill rotWithShape="1">
          <a:blip r:embed="rId3">
            <a:alphaModFix/>
          </a:blip>
          <a:srcRect b="0" l="0" r="0" t="0"/>
          <a:stretch/>
        </p:blipFill>
        <p:spPr>
          <a:xfrm>
            <a:off x="7620360" y="2644415"/>
            <a:ext cx="197510" cy="197510"/>
          </a:xfrm>
          <a:prstGeom prst="rect">
            <a:avLst/>
          </a:prstGeom>
          <a:noFill/>
          <a:ln>
            <a:noFill/>
          </a:ln>
        </p:spPr>
      </p:pic>
      <p:sp>
        <p:nvSpPr>
          <p:cNvPr id="804" name="Google Shape;804;h3feeff9767e46d2f_3_399"/>
          <p:cNvSpPr txBox="1"/>
          <p:nvPr/>
        </p:nvSpPr>
        <p:spPr>
          <a:xfrm>
            <a:off x="8043727" y="2537430"/>
            <a:ext cx="1280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222222"/>
                </a:solidFill>
                <a:latin typeface="Calibri"/>
                <a:ea typeface="Calibri"/>
                <a:cs typeface="Calibri"/>
                <a:sym typeface="Calibri"/>
              </a:rPr>
              <a:t>MSKCC</a:t>
            </a:r>
            <a:endParaRPr b="0" i="0" spc="0" sz="1400" u="none" cap="none" strike="noStrike">
              <a:solidFill>
                <a:srgbClr val="000000"/>
              </a:solidFill>
              <a:latin typeface="Arial"/>
              <a:ea typeface="Arial"/>
              <a:cs typeface="Arial"/>
              <a:sym typeface="Arial"/>
            </a:endParaRPr>
          </a:p>
        </p:txBody>
      </p:sp>
      <p:sp>
        <p:nvSpPr>
          <p:cNvPr id="805" name="Google Shape;805;h3feeff9767e46d2f_3_399"/>
          <p:cNvSpPr txBox="1"/>
          <p:nvPr/>
        </p:nvSpPr>
        <p:spPr>
          <a:xfrm>
            <a:off x="7513375" y="3040350"/>
            <a:ext cx="182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200</a:t>
            </a:r>
            <a:r>
              <a:rPr b="0" i="0" lang="en-US" spc="0" sz="1300" u="none" cap="none" strike="noStrike">
                <a:solidFill>
                  <a:srgbClr val="595959"/>
                </a:solidFill>
                <a:latin typeface="Calibri"/>
                <a:ea typeface="Calibri"/>
                <a:cs typeface="Calibri"/>
                <a:sym typeface="Calibri"/>
              </a:rPr>
              <a:t>  WSIs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h178d0342318c4c4c_0_8"/>
          <p:cNvSpPr txBox="1"/>
          <p:nvPr/>
        </p:nvSpPr>
        <p:spPr>
          <a:xfrm>
            <a:off x="448056" y="795528"/>
            <a:ext cx="5486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Future work</a:t>
            </a:r>
            <a:endParaRPr b="0" i="0" spc="0" sz="1400" u="none" cap="none" strike="noStrike">
              <a:solidFill>
                <a:srgbClr val="000000"/>
              </a:solidFill>
              <a:latin typeface="Arial"/>
              <a:ea typeface="Arial"/>
              <a:cs typeface="Arial"/>
              <a:sym typeface="Arial"/>
            </a:endParaRPr>
          </a:p>
        </p:txBody>
      </p:sp>
      <p:sp>
        <p:nvSpPr>
          <p:cNvPr id="812" name="Google Shape;812;h178d0342318c4c4c_0_8"/>
          <p:cNvSpPr txBox="1"/>
          <p:nvPr/>
        </p:nvSpPr>
        <p:spPr>
          <a:xfrm>
            <a:off x="448056" y="1325880"/>
            <a:ext cx="105156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595959"/>
                </a:solidFill>
                <a:latin typeface="Calibri"/>
                <a:ea typeface="Calibri"/>
                <a:cs typeface="Calibri"/>
                <a:sym typeface="Calibri"/>
              </a:rPr>
              <a:t>Scale up the data, then turn Deep Gamblers into a triage tool for the clinic</a:t>
            </a:r>
            <a:endParaRPr b="0" i="0" spc="0" sz="1400" u="none" cap="none" strike="noStrike">
              <a:solidFill>
                <a:srgbClr val="000000"/>
              </a:solidFill>
              <a:latin typeface="Arial"/>
              <a:ea typeface="Arial"/>
              <a:cs typeface="Arial"/>
              <a:sym typeface="Arial"/>
            </a:endParaRPr>
          </a:p>
        </p:txBody>
      </p:sp>
      <p:sp>
        <p:nvSpPr>
          <p:cNvPr id="813" name="Google Shape;813;h178d0342318c4c4c_0_8"/>
          <p:cNvSpPr txBox="1"/>
          <p:nvPr/>
        </p:nvSpPr>
        <p:spPr>
          <a:xfrm>
            <a:off x="502920" y="1874520"/>
            <a:ext cx="6583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F9900"/>
                </a:solidFill>
                <a:latin typeface="Calibri"/>
                <a:ea typeface="Calibri"/>
                <a:cs typeface="Calibri"/>
                <a:sym typeface="Calibri"/>
              </a:rPr>
              <a:t>1  </a:t>
            </a:r>
            <a:r>
              <a:rPr b="1" i="0" lang="en-US" spc="0" sz="1500" u="none" cap="none" strike="noStrike">
                <a:solidFill>
                  <a:srgbClr val="222222"/>
                </a:solidFill>
                <a:latin typeface="Calibri"/>
                <a:ea typeface="Calibri"/>
                <a:cs typeface="Calibri"/>
                <a:sym typeface="Calibri"/>
              </a:rPr>
              <a:t>More slides from more centres</a:t>
            </a:r>
            <a:endParaRPr b="0" i="0" spc="0" sz="1400" u="none" cap="none" strike="noStrike">
              <a:solidFill>
                <a:srgbClr val="000000"/>
              </a:solidFill>
              <a:latin typeface="Arial"/>
              <a:ea typeface="Arial"/>
              <a:cs typeface="Arial"/>
              <a:sym typeface="Arial"/>
            </a:endParaRPr>
          </a:p>
        </p:txBody>
      </p:sp>
      <p:sp>
        <p:nvSpPr>
          <p:cNvPr id="814" name="Google Shape;814;h178d0342318c4c4c_0_8"/>
          <p:cNvSpPr/>
          <p:nvPr/>
        </p:nvSpPr>
        <p:spPr>
          <a:xfrm>
            <a:off x="2758495" y="2354550"/>
            <a:ext cx="2103000" cy="1326000"/>
          </a:xfrm>
          <a:prstGeom prst="roundRect">
            <a:avLst>
              <a:gd fmla="val 8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5" name="Google Shape;815;h178d0342318c4c4c_0_8"/>
          <p:cNvSpPr/>
          <p:nvPr/>
        </p:nvSpPr>
        <p:spPr>
          <a:xfrm>
            <a:off x="2941375" y="2537430"/>
            <a:ext cx="411600" cy="4116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16" name="Google Shape;816;h178d0342318c4c4c_0_8"/>
          <p:cNvPicPr preferRelativeResize="0"/>
          <p:nvPr/>
        </p:nvPicPr>
        <p:blipFill rotWithShape="1">
          <a:blip r:embed="rId3">
            <a:alphaModFix/>
          </a:blip>
          <a:srcRect b="0" l="0" r="0" t="0"/>
          <a:stretch/>
        </p:blipFill>
        <p:spPr>
          <a:xfrm>
            <a:off x="3048360" y="2644415"/>
            <a:ext cx="197510" cy="197510"/>
          </a:xfrm>
          <a:prstGeom prst="rect">
            <a:avLst/>
          </a:prstGeom>
          <a:noFill/>
          <a:ln>
            <a:noFill/>
          </a:ln>
        </p:spPr>
      </p:pic>
      <p:sp>
        <p:nvSpPr>
          <p:cNvPr id="817" name="Google Shape;817;h178d0342318c4c4c_0_8"/>
          <p:cNvSpPr txBox="1"/>
          <p:nvPr/>
        </p:nvSpPr>
        <p:spPr>
          <a:xfrm>
            <a:off x="3471727" y="2537430"/>
            <a:ext cx="1280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222222"/>
                </a:solidFill>
                <a:latin typeface="Calibri"/>
                <a:ea typeface="Calibri"/>
                <a:cs typeface="Calibri"/>
                <a:sym typeface="Calibri"/>
              </a:rPr>
              <a:t>Heidelberg</a:t>
            </a:r>
            <a:endParaRPr b="0" i="0" spc="0" sz="1400" u="none" cap="none" strike="noStrike">
              <a:solidFill>
                <a:srgbClr val="000000"/>
              </a:solidFill>
              <a:latin typeface="Arial"/>
              <a:ea typeface="Arial"/>
              <a:cs typeface="Arial"/>
              <a:sym typeface="Arial"/>
            </a:endParaRPr>
          </a:p>
        </p:txBody>
      </p:sp>
      <p:sp>
        <p:nvSpPr>
          <p:cNvPr id="818" name="Google Shape;818;h178d0342318c4c4c_0_8"/>
          <p:cNvSpPr txBox="1"/>
          <p:nvPr/>
        </p:nvSpPr>
        <p:spPr>
          <a:xfrm>
            <a:off x="2941375" y="3040350"/>
            <a:ext cx="182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240</a:t>
            </a:r>
            <a:r>
              <a:rPr b="0" i="0" lang="en-US" spc="0" sz="1300" u="none" cap="none" strike="noStrike">
                <a:solidFill>
                  <a:srgbClr val="595959"/>
                </a:solidFill>
                <a:latin typeface="Calibri"/>
                <a:ea typeface="Calibri"/>
                <a:cs typeface="Calibri"/>
                <a:sym typeface="Calibri"/>
              </a:rPr>
              <a:t>  WSIs</a:t>
            </a:r>
            <a:endParaRPr b="0" i="0" spc="0" sz="1400" u="none" cap="none" strike="noStrike">
              <a:solidFill>
                <a:srgbClr val="000000"/>
              </a:solidFill>
              <a:latin typeface="Arial"/>
              <a:ea typeface="Arial"/>
              <a:cs typeface="Arial"/>
              <a:sym typeface="Arial"/>
            </a:endParaRPr>
          </a:p>
        </p:txBody>
      </p:sp>
      <p:sp>
        <p:nvSpPr>
          <p:cNvPr id="819" name="Google Shape;819;h178d0342318c4c4c_0_8"/>
          <p:cNvSpPr/>
          <p:nvPr/>
        </p:nvSpPr>
        <p:spPr>
          <a:xfrm>
            <a:off x="5044495" y="2354550"/>
            <a:ext cx="2103000" cy="1326000"/>
          </a:xfrm>
          <a:prstGeom prst="roundRect">
            <a:avLst>
              <a:gd fmla="val 8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0" name="Google Shape;820;h178d0342318c4c4c_0_8"/>
          <p:cNvSpPr/>
          <p:nvPr/>
        </p:nvSpPr>
        <p:spPr>
          <a:xfrm>
            <a:off x="5227375" y="2537430"/>
            <a:ext cx="411600" cy="4116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21" name="Google Shape;821;h178d0342318c4c4c_0_8"/>
          <p:cNvPicPr preferRelativeResize="0"/>
          <p:nvPr/>
        </p:nvPicPr>
        <p:blipFill rotWithShape="1">
          <a:blip r:embed="rId3">
            <a:alphaModFix/>
          </a:blip>
          <a:srcRect b="0" l="0" r="0" t="0"/>
          <a:stretch/>
        </p:blipFill>
        <p:spPr>
          <a:xfrm>
            <a:off x="5334360" y="2644415"/>
            <a:ext cx="197510" cy="197510"/>
          </a:xfrm>
          <a:prstGeom prst="rect">
            <a:avLst/>
          </a:prstGeom>
          <a:noFill/>
          <a:ln>
            <a:noFill/>
          </a:ln>
        </p:spPr>
      </p:pic>
      <p:sp>
        <p:nvSpPr>
          <p:cNvPr id="822" name="Google Shape;822;h178d0342318c4c4c_0_8"/>
          <p:cNvSpPr txBox="1"/>
          <p:nvPr/>
        </p:nvSpPr>
        <p:spPr>
          <a:xfrm>
            <a:off x="5757727" y="2537430"/>
            <a:ext cx="1280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222222"/>
                </a:solidFill>
                <a:latin typeface="Calibri"/>
                <a:ea typeface="Calibri"/>
                <a:cs typeface="Calibri"/>
                <a:sym typeface="Calibri"/>
              </a:rPr>
              <a:t>Erasmus MC</a:t>
            </a:r>
            <a:endParaRPr b="0" i="0" spc="0" sz="1400" u="none" cap="none" strike="noStrike">
              <a:solidFill>
                <a:srgbClr val="000000"/>
              </a:solidFill>
              <a:latin typeface="Arial"/>
              <a:ea typeface="Arial"/>
              <a:cs typeface="Arial"/>
              <a:sym typeface="Arial"/>
            </a:endParaRPr>
          </a:p>
        </p:txBody>
      </p:sp>
      <p:sp>
        <p:nvSpPr>
          <p:cNvPr id="823" name="Google Shape;823;h178d0342318c4c4c_0_8"/>
          <p:cNvSpPr txBox="1"/>
          <p:nvPr/>
        </p:nvSpPr>
        <p:spPr>
          <a:xfrm>
            <a:off x="5227375" y="3040350"/>
            <a:ext cx="182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220</a:t>
            </a:r>
            <a:r>
              <a:rPr b="0" i="0" lang="en-US" spc="0" sz="1300" u="none" cap="none" strike="noStrike">
                <a:solidFill>
                  <a:srgbClr val="595959"/>
                </a:solidFill>
                <a:latin typeface="Calibri"/>
                <a:ea typeface="Calibri"/>
                <a:cs typeface="Calibri"/>
                <a:sym typeface="Calibri"/>
              </a:rPr>
              <a:t>  WSIs</a:t>
            </a:r>
            <a:endParaRPr b="0" i="0" spc="0" sz="1400" u="none" cap="none" strike="noStrike">
              <a:solidFill>
                <a:srgbClr val="000000"/>
              </a:solidFill>
              <a:latin typeface="Arial"/>
              <a:ea typeface="Arial"/>
              <a:cs typeface="Arial"/>
              <a:sym typeface="Arial"/>
            </a:endParaRPr>
          </a:p>
        </p:txBody>
      </p:sp>
      <p:sp>
        <p:nvSpPr>
          <p:cNvPr id="824" name="Google Shape;824;h178d0342318c4c4c_0_8"/>
          <p:cNvSpPr/>
          <p:nvPr/>
        </p:nvSpPr>
        <p:spPr>
          <a:xfrm>
            <a:off x="7330495" y="2354550"/>
            <a:ext cx="2103000" cy="1326000"/>
          </a:xfrm>
          <a:prstGeom prst="roundRect">
            <a:avLst>
              <a:gd fmla="val 8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5" name="Google Shape;825;h178d0342318c4c4c_0_8"/>
          <p:cNvSpPr/>
          <p:nvPr/>
        </p:nvSpPr>
        <p:spPr>
          <a:xfrm>
            <a:off x="7513375" y="2537430"/>
            <a:ext cx="411600" cy="4116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26" name="Google Shape;826;h178d0342318c4c4c_0_8"/>
          <p:cNvPicPr preferRelativeResize="0"/>
          <p:nvPr/>
        </p:nvPicPr>
        <p:blipFill rotWithShape="1">
          <a:blip r:embed="rId3">
            <a:alphaModFix/>
          </a:blip>
          <a:srcRect b="0" l="0" r="0" t="0"/>
          <a:stretch/>
        </p:blipFill>
        <p:spPr>
          <a:xfrm>
            <a:off x="7620360" y="2644415"/>
            <a:ext cx="197510" cy="197510"/>
          </a:xfrm>
          <a:prstGeom prst="rect">
            <a:avLst/>
          </a:prstGeom>
          <a:noFill/>
          <a:ln>
            <a:noFill/>
          </a:ln>
        </p:spPr>
      </p:pic>
      <p:sp>
        <p:nvSpPr>
          <p:cNvPr id="827" name="Google Shape;827;h178d0342318c4c4c_0_8"/>
          <p:cNvSpPr txBox="1"/>
          <p:nvPr/>
        </p:nvSpPr>
        <p:spPr>
          <a:xfrm>
            <a:off x="8043727" y="2537430"/>
            <a:ext cx="1280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222222"/>
                </a:solidFill>
                <a:latin typeface="Calibri"/>
                <a:ea typeface="Calibri"/>
                <a:cs typeface="Calibri"/>
                <a:sym typeface="Calibri"/>
              </a:rPr>
              <a:t>MSKCC</a:t>
            </a:r>
            <a:endParaRPr b="0" i="0" spc="0" sz="1400" u="none" cap="none" strike="noStrike">
              <a:solidFill>
                <a:srgbClr val="000000"/>
              </a:solidFill>
              <a:latin typeface="Arial"/>
              <a:ea typeface="Arial"/>
              <a:cs typeface="Arial"/>
              <a:sym typeface="Arial"/>
            </a:endParaRPr>
          </a:p>
        </p:txBody>
      </p:sp>
      <p:sp>
        <p:nvSpPr>
          <p:cNvPr id="828" name="Google Shape;828;h178d0342318c4c4c_0_8"/>
          <p:cNvSpPr txBox="1"/>
          <p:nvPr/>
        </p:nvSpPr>
        <p:spPr>
          <a:xfrm>
            <a:off x="7513375" y="3040350"/>
            <a:ext cx="182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Calibri"/>
                <a:ea typeface="Calibri"/>
                <a:cs typeface="Calibri"/>
                <a:sym typeface="Calibri"/>
              </a:rPr>
              <a:t>200</a:t>
            </a:r>
            <a:r>
              <a:rPr b="0" i="0" lang="en-US" spc="0" sz="1300" u="none" cap="none" strike="noStrike">
                <a:solidFill>
                  <a:srgbClr val="595959"/>
                </a:solidFill>
                <a:latin typeface="Calibri"/>
                <a:ea typeface="Calibri"/>
                <a:cs typeface="Calibri"/>
                <a:sym typeface="Calibri"/>
              </a:rPr>
              <a:t>  WSIs</a:t>
            </a:r>
            <a:endParaRPr b="0" i="0" spc="0" sz="1400" u="none" cap="none" strike="noStrike">
              <a:solidFill>
                <a:srgbClr val="000000"/>
              </a:solidFill>
              <a:latin typeface="Arial"/>
              <a:ea typeface="Arial"/>
              <a:cs typeface="Arial"/>
              <a:sym typeface="Arial"/>
            </a:endParaRPr>
          </a:p>
        </p:txBody>
      </p:sp>
      <p:sp>
        <p:nvSpPr>
          <p:cNvPr id="829" name="Google Shape;829;h178d0342318c4c4c_0_8"/>
          <p:cNvSpPr txBox="1"/>
          <p:nvPr/>
        </p:nvSpPr>
        <p:spPr>
          <a:xfrm>
            <a:off x="502920" y="3840480"/>
            <a:ext cx="8229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F9900"/>
                </a:solidFill>
                <a:latin typeface="Calibri"/>
                <a:ea typeface="Calibri"/>
                <a:cs typeface="Calibri"/>
                <a:sym typeface="Calibri"/>
              </a:rPr>
              <a:t>2  </a:t>
            </a:r>
            <a:r>
              <a:rPr b="1" i="0" lang="en-US" spc="0" sz="1500" u="none" cap="none" strike="noStrike">
                <a:solidFill>
                  <a:srgbClr val="222222"/>
                </a:solidFill>
                <a:latin typeface="Calibri"/>
                <a:ea typeface="Calibri"/>
                <a:cs typeface="Calibri"/>
                <a:sym typeface="Calibri"/>
              </a:rPr>
              <a:t>The potential: a triage tool that knows when not to answer</a:t>
            </a:r>
            <a:endParaRPr b="0" i="0" spc="0" sz="1400" u="none" cap="none" strike="noStrike">
              <a:solidFill>
                <a:srgbClr val="000000"/>
              </a:solidFill>
              <a:latin typeface="Arial"/>
              <a:ea typeface="Arial"/>
              <a:cs typeface="Arial"/>
              <a:sym typeface="Arial"/>
            </a:endParaRPr>
          </a:p>
        </p:txBody>
      </p:sp>
      <p:sp>
        <p:nvSpPr>
          <p:cNvPr id="830" name="Google Shape;830;h178d0342318c4c4c_0_8"/>
          <p:cNvSpPr/>
          <p:nvPr/>
        </p:nvSpPr>
        <p:spPr>
          <a:xfrm>
            <a:off x="502920" y="4434840"/>
            <a:ext cx="2011800" cy="1326000"/>
          </a:xfrm>
          <a:prstGeom prst="roundRect">
            <a:avLst>
              <a:gd fmla="val 8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1" name="Google Shape;831;h178d0342318c4c4c_0_8"/>
          <p:cNvSpPr/>
          <p:nvPr/>
        </p:nvSpPr>
        <p:spPr>
          <a:xfrm>
            <a:off x="1280160" y="4572000"/>
            <a:ext cx="457200" cy="4572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32" name="Google Shape;832;h178d0342318c4c4c_0_8"/>
          <p:cNvPicPr preferRelativeResize="0"/>
          <p:nvPr/>
        </p:nvPicPr>
        <p:blipFill rotWithShape="1">
          <a:blip r:embed="rId4">
            <a:alphaModFix/>
          </a:blip>
          <a:srcRect b="0" l="0" r="0" t="0"/>
          <a:stretch/>
        </p:blipFill>
        <p:spPr>
          <a:xfrm>
            <a:off x="1399032" y="4690872"/>
            <a:ext cx="219456" cy="219456"/>
          </a:xfrm>
          <a:prstGeom prst="rect">
            <a:avLst/>
          </a:prstGeom>
          <a:noFill/>
          <a:ln>
            <a:noFill/>
          </a:ln>
        </p:spPr>
      </p:pic>
      <p:sp>
        <p:nvSpPr>
          <p:cNvPr id="833" name="Google Shape;833;h178d0342318c4c4c_0_8"/>
          <p:cNvSpPr txBox="1"/>
          <p:nvPr/>
        </p:nvSpPr>
        <p:spPr>
          <a:xfrm>
            <a:off x="594360" y="5120640"/>
            <a:ext cx="1828800" cy="54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222222"/>
                </a:solidFill>
                <a:latin typeface="Calibri"/>
                <a:ea typeface="Calibri"/>
                <a:cs typeface="Calibri"/>
                <a:sym typeface="Calibri"/>
              </a:rPr>
              <a:t>Two lesions</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pc="0" sz="1200" u="none" cap="none" strike="noStrike">
                <a:solidFill>
                  <a:srgbClr val="595959"/>
                </a:solidFill>
                <a:latin typeface="Calibri"/>
                <a:ea typeface="Calibri"/>
                <a:cs typeface="Calibri"/>
                <a:sym typeface="Calibri"/>
              </a:rPr>
              <a:t>H&amp;E slides only</a:t>
            </a:r>
            <a:endParaRPr b="0" i="0" spc="0" sz="1400" u="none" cap="none" strike="noStrike">
              <a:solidFill>
                <a:srgbClr val="000000"/>
              </a:solidFill>
              <a:latin typeface="Arial"/>
              <a:ea typeface="Arial"/>
              <a:cs typeface="Arial"/>
              <a:sym typeface="Arial"/>
            </a:endParaRPr>
          </a:p>
        </p:txBody>
      </p:sp>
      <p:cxnSp>
        <p:nvCxnSpPr>
          <p:cNvPr id="834" name="Google Shape;834;h178d0342318c4c4c_0_8"/>
          <p:cNvCxnSpPr/>
          <p:nvPr/>
        </p:nvCxnSpPr>
        <p:spPr>
          <a:xfrm>
            <a:off x="2560320" y="5097780"/>
            <a:ext cx="365700" cy="0"/>
          </a:xfrm>
          <a:prstGeom prst="straightConnector1">
            <a:avLst/>
          </a:prstGeom>
          <a:noFill/>
          <a:ln cap="flat" cmpd="sng" w="22225">
            <a:solidFill>
              <a:srgbClr val="8C99A6"/>
            </a:solidFill>
            <a:prstDash val="solid"/>
            <a:round/>
            <a:headEnd len="sm" w="sm" type="none"/>
            <a:tailEnd len="med" w="med" type="triangle"/>
          </a:ln>
        </p:spPr>
      </p:cxnSp>
      <p:sp>
        <p:nvSpPr>
          <p:cNvPr id="835" name="Google Shape;835;h178d0342318c4c4c_0_8"/>
          <p:cNvSpPr/>
          <p:nvPr/>
        </p:nvSpPr>
        <p:spPr>
          <a:xfrm>
            <a:off x="2971800" y="4434840"/>
            <a:ext cx="2103000" cy="1326000"/>
          </a:xfrm>
          <a:prstGeom prst="roundRect">
            <a:avLst>
              <a:gd fmla="val 8000" name="adj"/>
            </a:avLst>
          </a:prstGeom>
          <a:solidFill>
            <a:srgbClr val="1E9EB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FFFFFF"/>
                </a:solidFill>
                <a:latin typeface="Calibri"/>
                <a:ea typeface="Calibri"/>
                <a:cs typeface="Calibri"/>
                <a:sym typeface="Calibri"/>
              </a:rPr>
              <a:t>Deep Gamblers</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200"/>
              <a:buFont typeface="Arial"/>
              <a:buNone/>
            </a:pPr>
            <a:r>
              <a:rPr b="0" i="0" lang="en-US" spc="0" sz="1200" u="none" cap="none" strike="noStrike">
                <a:solidFill>
                  <a:srgbClr val="FFFFFF"/>
                </a:solidFill>
                <a:latin typeface="Calibri"/>
                <a:ea typeface="Calibri"/>
                <a:cs typeface="Calibri"/>
                <a:sym typeface="Calibri"/>
              </a:rPr>
              <a:t>clonal / non-clonal</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pc="0" sz="1200" u="none" cap="none" strike="noStrike">
                <a:solidFill>
                  <a:srgbClr val="FFFFFF"/>
                </a:solidFill>
                <a:latin typeface="Calibri"/>
                <a:ea typeface="Calibri"/>
                <a:cs typeface="Calibri"/>
                <a:sym typeface="Calibri"/>
              </a:rPr>
              <a:t>or abstain</a:t>
            </a:r>
            <a:endParaRPr b="0" i="0" spc="0" sz="1400" u="none" cap="none" strike="noStrike">
              <a:solidFill>
                <a:srgbClr val="000000"/>
              </a:solidFill>
              <a:latin typeface="Arial"/>
              <a:ea typeface="Arial"/>
              <a:cs typeface="Arial"/>
              <a:sym typeface="Arial"/>
            </a:endParaRPr>
          </a:p>
        </p:txBody>
      </p:sp>
      <p:cxnSp>
        <p:nvCxnSpPr>
          <p:cNvPr id="836" name="Google Shape;836;h178d0342318c4c4c_0_8"/>
          <p:cNvCxnSpPr/>
          <p:nvPr/>
        </p:nvCxnSpPr>
        <p:spPr>
          <a:xfrm flipH="1" rot="10800000">
            <a:off x="5120640" y="4663440"/>
            <a:ext cx="411600" cy="342900"/>
          </a:xfrm>
          <a:prstGeom prst="straightConnector1">
            <a:avLst/>
          </a:prstGeom>
          <a:noFill/>
          <a:ln cap="flat" cmpd="sng" w="22225">
            <a:solidFill>
              <a:srgbClr val="8C99A6"/>
            </a:solidFill>
            <a:prstDash val="solid"/>
            <a:round/>
            <a:headEnd len="sm" w="sm" type="none"/>
            <a:tailEnd len="med" w="med" type="triangle"/>
          </a:ln>
        </p:spPr>
      </p:cxnSp>
      <p:cxnSp>
        <p:nvCxnSpPr>
          <p:cNvPr id="837" name="Google Shape;837;h178d0342318c4c4c_0_8"/>
          <p:cNvCxnSpPr/>
          <p:nvPr/>
        </p:nvCxnSpPr>
        <p:spPr>
          <a:xfrm>
            <a:off x="5120640" y="5189220"/>
            <a:ext cx="411600" cy="342900"/>
          </a:xfrm>
          <a:prstGeom prst="straightConnector1">
            <a:avLst/>
          </a:prstGeom>
          <a:noFill/>
          <a:ln cap="flat" cmpd="sng" w="22225">
            <a:solidFill>
              <a:srgbClr val="8C99A6"/>
            </a:solidFill>
            <a:prstDash val="solid"/>
            <a:round/>
            <a:headEnd len="sm" w="sm" type="none"/>
            <a:tailEnd len="med" w="med" type="triangle"/>
          </a:ln>
        </p:spPr>
      </p:cxnSp>
      <p:sp>
        <p:nvSpPr>
          <p:cNvPr id="838" name="Google Shape;838;h178d0342318c4c4c_0_8"/>
          <p:cNvSpPr/>
          <p:nvPr/>
        </p:nvSpPr>
        <p:spPr>
          <a:xfrm>
            <a:off x="5577840" y="4251960"/>
            <a:ext cx="2971800" cy="777300"/>
          </a:xfrm>
          <a:prstGeom prst="roundRect">
            <a:avLst>
              <a:gd fmla="val 10000" name="adj"/>
            </a:avLst>
          </a:prstGeom>
          <a:solidFill>
            <a:srgbClr val="E3F3F8"/>
          </a:solidFill>
          <a:ln cap="flat" cmpd="sng" w="15875">
            <a:solidFill>
              <a:srgbClr val="1E9EBE"/>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0E7C99"/>
                </a:solidFill>
                <a:latin typeface="Calibri"/>
                <a:ea typeface="Calibri"/>
                <a:cs typeface="Calibri"/>
                <a:sym typeface="Calibri"/>
              </a:rPr>
              <a:t>Confident  </a:t>
            </a:r>
            <a:r>
              <a:rPr b="0" i="0" lang="en-US" spc="0" sz="1300" u="none" cap="none" strike="noStrike">
                <a:solidFill>
                  <a:srgbClr val="222222"/>
                </a:solidFill>
                <a:latin typeface="Calibri"/>
                <a:ea typeface="Calibri"/>
                <a:cs typeface="Calibri"/>
                <a:sym typeface="Calibri"/>
              </a:rPr>
              <a:t>→ report clonality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595959"/>
                </a:solidFill>
                <a:latin typeface="Calibri"/>
                <a:ea typeface="Calibri"/>
                <a:cs typeface="Calibri"/>
                <a:sym typeface="Calibri"/>
              </a:rPr>
              <a:t>~98 % precision on 20 % of pairs (Phase 1)</a:t>
            </a:r>
            <a:endParaRPr b="0" i="0" spc="0" sz="1400" u="none" cap="none" strike="noStrike">
              <a:solidFill>
                <a:srgbClr val="000000"/>
              </a:solidFill>
              <a:latin typeface="Arial"/>
              <a:ea typeface="Arial"/>
              <a:cs typeface="Arial"/>
              <a:sym typeface="Arial"/>
            </a:endParaRPr>
          </a:p>
        </p:txBody>
      </p:sp>
      <p:sp>
        <p:nvSpPr>
          <p:cNvPr id="839" name="Google Shape;839;h178d0342318c4c4c_0_8"/>
          <p:cNvSpPr/>
          <p:nvPr/>
        </p:nvSpPr>
        <p:spPr>
          <a:xfrm>
            <a:off x="5577840" y="5166360"/>
            <a:ext cx="2971800" cy="777300"/>
          </a:xfrm>
          <a:prstGeom prst="roundRect">
            <a:avLst>
              <a:gd fmla="val 10000" name="adj"/>
            </a:avLst>
          </a:prstGeom>
          <a:solidFill>
            <a:srgbClr val="FFF6DC"/>
          </a:solidFill>
          <a:ln cap="flat" cmpd="sng" w="15875">
            <a:solidFill>
              <a:srgbClr val="C9A227"/>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9A7400"/>
                </a:solidFill>
                <a:latin typeface="Calibri"/>
                <a:ea typeface="Calibri"/>
                <a:cs typeface="Calibri"/>
                <a:sym typeface="Calibri"/>
              </a:rPr>
              <a:t>Abstain  </a:t>
            </a:r>
            <a:r>
              <a:rPr b="0" i="0" lang="en-US" spc="0" sz="1300" u="none" cap="none" strike="noStrike">
                <a:solidFill>
                  <a:srgbClr val="222222"/>
                </a:solidFill>
                <a:latin typeface="Calibri"/>
                <a:ea typeface="Calibri"/>
                <a:cs typeface="Calibri"/>
                <a:sym typeface="Calibri"/>
              </a:rPr>
              <a:t>→ sequence (NGS)</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595959"/>
                </a:solidFill>
                <a:latin typeface="Calibri"/>
                <a:ea typeface="Calibri"/>
                <a:cs typeface="Calibri"/>
                <a:sym typeface="Calibri"/>
              </a:rPr>
              <a:t>same as today, nothing lost</a:t>
            </a:r>
            <a:endParaRPr b="0" i="0" spc="0" sz="1400" u="none" cap="none" strike="noStrike">
              <a:solidFill>
                <a:srgbClr val="000000"/>
              </a:solidFill>
              <a:latin typeface="Arial"/>
              <a:ea typeface="Arial"/>
              <a:cs typeface="Arial"/>
              <a:sym typeface="Arial"/>
            </a:endParaRPr>
          </a:p>
        </p:txBody>
      </p:sp>
      <p:sp>
        <p:nvSpPr>
          <p:cNvPr id="840" name="Google Shape;840;h178d0342318c4c4c_0_8"/>
          <p:cNvSpPr/>
          <p:nvPr/>
        </p:nvSpPr>
        <p:spPr>
          <a:xfrm>
            <a:off x="8823960" y="4251960"/>
            <a:ext cx="2864700" cy="1691700"/>
          </a:xfrm>
          <a:prstGeom prst="roundRect">
            <a:avLst>
              <a:gd fmla="val 6000" name="adj"/>
            </a:avLst>
          </a:prstGeom>
          <a:solidFill>
            <a:srgbClr val="F3F5F7"/>
          </a:solidFill>
          <a:ln>
            <a:noFill/>
          </a:ln>
        </p:spPr>
        <p:txBody>
          <a:bodyPr anchorCtr="0" anchor="ctr" bIns="91425" lIns="182875" spcFirstLastPara="1" rIns="137150"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595959"/>
                </a:solidFill>
                <a:latin typeface="Calibri"/>
                <a:ea typeface="Calibri"/>
                <a:cs typeface="Calibri"/>
                <a:sym typeface="Calibri"/>
              </a:rPr>
              <a:t>Every pair it answers saves</a:t>
            </a:r>
            <a:endParaRPr b="0" i="0" spc="0" sz="1400" u="none" cap="none" strike="noStrike">
              <a:solidFill>
                <a:srgbClr val="000000"/>
              </a:solidFill>
              <a:latin typeface="Arial"/>
              <a:ea typeface="Arial"/>
              <a:cs typeface="Arial"/>
              <a:sym typeface="Arial"/>
            </a:endParaRPr>
          </a:p>
          <a:p>
            <a:pPr indent="0" lvl="0" marL="0" marR="0" rtl="0" algn="l">
              <a:lnSpc>
                <a:spcPct val="95000"/>
              </a:lnSpc>
              <a:spcBef>
                <a:spcPts val="0"/>
              </a:spcBef>
              <a:spcAft>
                <a:spcPts val="0"/>
              </a:spcAft>
              <a:buClr>
                <a:srgbClr val="000000"/>
              </a:buClr>
              <a:buSzPts val="3000"/>
              <a:buFont typeface="Arial"/>
              <a:buNone/>
            </a:pPr>
            <a:r>
              <a:rPr b="1" i="0" lang="en-US" spc="0" sz="3000" u="none" cap="none" strike="noStrike">
                <a:solidFill>
                  <a:srgbClr val="FF9900"/>
                </a:solidFill>
                <a:latin typeface="Calibri"/>
                <a:ea typeface="Calibri"/>
                <a:cs typeface="Calibri"/>
                <a:sym typeface="Calibri"/>
              </a:rPr>
              <a:t>≈ €3,400</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222222"/>
                </a:solidFill>
                <a:latin typeface="Calibri"/>
                <a:ea typeface="Calibri"/>
                <a:cs typeface="Calibri"/>
                <a:sym typeface="Calibri"/>
              </a:rPr>
              <a:t>and &gt;1 week of waiting</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US" spc="0" sz="1000" u="none" cap="none" strike="noStrike">
                <a:solidFill>
                  <a:srgbClr val="595959"/>
                </a:solidFill>
                <a:latin typeface="Calibri"/>
                <a:ea typeface="Calibri"/>
                <a:cs typeface="Calibri"/>
                <a:sym typeface="Calibri"/>
              </a:rPr>
              <a:t>2 × ≈ €1,700 sequencing per tumour</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h3feeff9767e46d2f_3_602"/>
          <p:cNvSpPr txBox="1"/>
          <p:nvPr/>
        </p:nvSpPr>
        <p:spPr>
          <a:xfrm>
            <a:off x="448056" y="795528"/>
            <a:ext cx="5486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Conclusion</a:t>
            </a:r>
            <a:endParaRPr b="0" i="0" spc="0" sz="1400" u="none" cap="none" strike="noStrike">
              <a:solidFill>
                <a:srgbClr val="000000"/>
              </a:solidFill>
              <a:latin typeface="Arial"/>
              <a:ea typeface="Arial"/>
              <a:cs typeface="Arial"/>
              <a:sym typeface="Arial"/>
            </a:endParaRPr>
          </a:p>
        </p:txBody>
      </p:sp>
      <p:sp>
        <p:nvSpPr>
          <p:cNvPr id="847" name="Google Shape;847;h3feeff9767e46d2f_3_602"/>
          <p:cNvSpPr/>
          <p:nvPr/>
        </p:nvSpPr>
        <p:spPr>
          <a:xfrm>
            <a:off x="2468990" y="1517775"/>
            <a:ext cx="7254000" cy="887100"/>
          </a:xfrm>
          <a:prstGeom prst="roundRect">
            <a:avLst>
              <a:gd fmla="val 10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8" name="Google Shape;848;h3feeff9767e46d2f_3_602"/>
          <p:cNvSpPr/>
          <p:nvPr/>
        </p:nvSpPr>
        <p:spPr>
          <a:xfrm>
            <a:off x="2651870" y="1709799"/>
            <a:ext cx="502800" cy="5028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49" name="Google Shape;849;h3feeff9767e46d2f_3_602"/>
          <p:cNvPicPr preferRelativeResize="0"/>
          <p:nvPr/>
        </p:nvPicPr>
        <p:blipFill rotWithShape="1">
          <a:blip r:embed="rId3">
            <a:alphaModFix/>
          </a:blip>
          <a:srcRect b="0" l="0" r="0" t="0"/>
          <a:stretch/>
        </p:blipFill>
        <p:spPr>
          <a:xfrm>
            <a:off x="2782629" y="1840558"/>
            <a:ext cx="241402" cy="241402"/>
          </a:xfrm>
          <a:prstGeom prst="rect">
            <a:avLst/>
          </a:prstGeom>
          <a:noFill/>
          <a:ln>
            <a:noFill/>
          </a:ln>
        </p:spPr>
      </p:pic>
      <p:sp>
        <p:nvSpPr>
          <p:cNvPr id="850" name="Google Shape;850;h3feeff9767e46d2f_3_602"/>
          <p:cNvSpPr txBox="1"/>
          <p:nvPr/>
        </p:nvSpPr>
        <p:spPr>
          <a:xfrm>
            <a:off x="3337670" y="1590927"/>
            <a:ext cx="6248100" cy="74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Clonality is hard</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pc="0" sz="1200" u="none" cap="none" strike="noStrike">
                <a:solidFill>
                  <a:srgbClr val="404040"/>
                </a:solidFill>
                <a:latin typeface="Calibri"/>
                <a:ea typeface="Calibri"/>
                <a:cs typeface="Calibri"/>
                <a:sym typeface="Calibri"/>
              </a:rPr>
              <a:t>Histology and sequencing disagree in about 1 in 5 pairs; sequencing costs ≈ €1,700 per tumour and takes &gt;1 week.</a:t>
            </a:r>
            <a:endParaRPr b="0" i="0" spc="0" sz="1400" u="none" cap="none" strike="noStrike">
              <a:solidFill>
                <a:srgbClr val="000000"/>
              </a:solidFill>
              <a:latin typeface="Arial"/>
              <a:ea typeface="Arial"/>
              <a:cs typeface="Arial"/>
              <a:sym typeface="Arial"/>
            </a:endParaRPr>
          </a:p>
        </p:txBody>
      </p:sp>
      <p:sp>
        <p:nvSpPr>
          <p:cNvPr id="851" name="Google Shape;851;h3feeff9767e46d2f_3_602"/>
          <p:cNvSpPr/>
          <p:nvPr/>
        </p:nvSpPr>
        <p:spPr>
          <a:xfrm>
            <a:off x="2468990" y="2532759"/>
            <a:ext cx="7254000" cy="887100"/>
          </a:xfrm>
          <a:prstGeom prst="roundRect">
            <a:avLst>
              <a:gd fmla="val 10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2" name="Google Shape;852;h3feeff9767e46d2f_3_602"/>
          <p:cNvSpPr/>
          <p:nvPr/>
        </p:nvSpPr>
        <p:spPr>
          <a:xfrm>
            <a:off x="2651870" y="2724783"/>
            <a:ext cx="502800" cy="5028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53" name="Google Shape;853;h3feeff9767e46d2f_3_602"/>
          <p:cNvPicPr preferRelativeResize="0"/>
          <p:nvPr/>
        </p:nvPicPr>
        <p:blipFill rotWithShape="1">
          <a:blip r:embed="rId4">
            <a:alphaModFix/>
          </a:blip>
          <a:srcRect b="0" l="0" r="0" t="0"/>
          <a:stretch/>
        </p:blipFill>
        <p:spPr>
          <a:xfrm>
            <a:off x="2782629" y="2855542"/>
            <a:ext cx="241402" cy="241402"/>
          </a:xfrm>
          <a:prstGeom prst="rect">
            <a:avLst/>
          </a:prstGeom>
          <a:noFill/>
          <a:ln>
            <a:noFill/>
          </a:ln>
        </p:spPr>
      </p:pic>
      <p:sp>
        <p:nvSpPr>
          <p:cNvPr id="854" name="Google Shape;854;h3feeff9767e46d2f_3_602"/>
          <p:cNvSpPr txBox="1"/>
          <p:nvPr/>
        </p:nvSpPr>
        <p:spPr>
          <a:xfrm>
            <a:off x="3337670" y="2605911"/>
            <a:ext cx="6248100" cy="74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Morphology carries signal for a subset</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pc="0" sz="1200" u="none" cap="none" strike="noStrike">
                <a:solidFill>
                  <a:srgbClr val="404040"/>
                </a:solidFill>
                <a:latin typeface="Calibri"/>
                <a:ea typeface="Calibri"/>
                <a:cs typeface="Calibri"/>
                <a:sym typeface="Calibri"/>
              </a:rPr>
              <a:t>There is evidence that part of the tumour pairs can be called from H&amp;E alone.</a:t>
            </a:r>
            <a:endParaRPr b="0" i="0" spc="0" sz="1400" u="none" cap="none" strike="noStrike">
              <a:solidFill>
                <a:srgbClr val="000000"/>
              </a:solidFill>
              <a:latin typeface="Arial"/>
              <a:ea typeface="Arial"/>
              <a:cs typeface="Arial"/>
              <a:sym typeface="Arial"/>
            </a:endParaRPr>
          </a:p>
        </p:txBody>
      </p:sp>
      <p:sp>
        <p:nvSpPr>
          <p:cNvPr id="855" name="Google Shape;855;h3feeff9767e46d2f_3_602"/>
          <p:cNvSpPr/>
          <p:nvPr/>
        </p:nvSpPr>
        <p:spPr>
          <a:xfrm>
            <a:off x="2468990" y="3547743"/>
            <a:ext cx="7254000" cy="887100"/>
          </a:xfrm>
          <a:prstGeom prst="roundRect">
            <a:avLst>
              <a:gd fmla="val 10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6" name="Google Shape;856;h3feeff9767e46d2f_3_602"/>
          <p:cNvSpPr/>
          <p:nvPr/>
        </p:nvSpPr>
        <p:spPr>
          <a:xfrm>
            <a:off x="2651870" y="3739767"/>
            <a:ext cx="502800" cy="502800"/>
          </a:xfrm>
          <a:prstGeom prst="ellipse">
            <a:avLst/>
          </a:prstGeom>
          <a:solidFill>
            <a:srgbClr val="FF99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57" name="Google Shape;857;h3feeff9767e46d2f_3_602"/>
          <p:cNvPicPr preferRelativeResize="0"/>
          <p:nvPr/>
        </p:nvPicPr>
        <p:blipFill rotWithShape="1">
          <a:blip r:embed="rId5">
            <a:alphaModFix/>
          </a:blip>
          <a:srcRect b="0" l="0" r="0" t="0"/>
          <a:stretch/>
        </p:blipFill>
        <p:spPr>
          <a:xfrm>
            <a:off x="2782629" y="3870526"/>
            <a:ext cx="241402" cy="241402"/>
          </a:xfrm>
          <a:prstGeom prst="rect">
            <a:avLst/>
          </a:prstGeom>
          <a:noFill/>
          <a:ln>
            <a:noFill/>
          </a:ln>
        </p:spPr>
      </p:pic>
      <p:sp>
        <p:nvSpPr>
          <p:cNvPr id="858" name="Google Shape;858;h3feeff9767e46d2f_3_602"/>
          <p:cNvSpPr txBox="1"/>
          <p:nvPr/>
        </p:nvSpPr>
        <p:spPr>
          <a:xfrm>
            <a:off x="3337670" y="3620895"/>
            <a:ext cx="6248100" cy="74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Knowing when not to answer</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pc="0" sz="1200" u="none" cap="none" strike="noStrike">
                <a:solidFill>
                  <a:srgbClr val="404040"/>
                </a:solidFill>
                <a:latin typeface="Calibri"/>
                <a:ea typeface="Calibri"/>
                <a:cs typeface="Calibri"/>
                <a:sym typeface="Calibri"/>
              </a:rPr>
              <a:t>To our knowledge the first image-based AI for clonality, built around abstention: Deep Gamblers turns an average model into a precise one on the cases it answers.</a:t>
            </a:r>
            <a:endParaRPr b="0" i="0" spc="0" sz="1400" u="none" cap="none" strike="noStrike">
              <a:solidFill>
                <a:srgbClr val="000000"/>
              </a:solidFill>
              <a:latin typeface="Arial"/>
              <a:ea typeface="Arial"/>
              <a:cs typeface="Arial"/>
              <a:sym typeface="Arial"/>
            </a:endParaRPr>
          </a:p>
        </p:txBody>
      </p:sp>
      <p:sp>
        <p:nvSpPr>
          <p:cNvPr id="859" name="Google Shape;859;h3feeff9767e46d2f_3_602"/>
          <p:cNvSpPr/>
          <p:nvPr/>
        </p:nvSpPr>
        <p:spPr>
          <a:xfrm>
            <a:off x="2468990" y="4562727"/>
            <a:ext cx="7254000" cy="887100"/>
          </a:xfrm>
          <a:prstGeom prst="roundRect">
            <a:avLst>
              <a:gd fmla="val 10000" name="adj"/>
            </a:avLst>
          </a:prstGeom>
          <a:solidFill>
            <a:srgbClr val="F3F5F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0" name="Google Shape;860;h3feeff9767e46d2f_3_602"/>
          <p:cNvSpPr/>
          <p:nvPr/>
        </p:nvSpPr>
        <p:spPr>
          <a:xfrm>
            <a:off x="2651870" y="4754751"/>
            <a:ext cx="502800" cy="502800"/>
          </a:xfrm>
          <a:prstGeom prst="ellipse">
            <a:avLst/>
          </a:prstGeom>
          <a:solidFill>
            <a:srgbClr val="1E9EB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Icon" id="861" name="Google Shape;861;h3feeff9767e46d2f_3_602"/>
          <p:cNvPicPr preferRelativeResize="0"/>
          <p:nvPr/>
        </p:nvPicPr>
        <p:blipFill rotWithShape="1">
          <a:blip r:embed="rId6">
            <a:alphaModFix/>
          </a:blip>
          <a:srcRect b="0" l="0" r="0" t="0"/>
          <a:stretch/>
        </p:blipFill>
        <p:spPr>
          <a:xfrm>
            <a:off x="2782629" y="4885510"/>
            <a:ext cx="241402" cy="241402"/>
          </a:xfrm>
          <a:prstGeom prst="rect">
            <a:avLst/>
          </a:prstGeom>
          <a:noFill/>
          <a:ln>
            <a:noFill/>
          </a:ln>
        </p:spPr>
      </p:pic>
      <p:sp>
        <p:nvSpPr>
          <p:cNvPr id="862" name="Google Shape;862;h3feeff9767e46d2f_3_602"/>
          <p:cNvSpPr txBox="1"/>
          <p:nvPr/>
        </p:nvSpPr>
        <p:spPr>
          <a:xfrm>
            <a:off x="3337670" y="4635879"/>
            <a:ext cx="6248100" cy="74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AI is powerful, and sneaky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pc="0" sz="1200" u="none" cap="none" strike="noStrike">
                <a:solidFill>
                  <a:srgbClr val="404040"/>
                </a:solidFill>
                <a:latin typeface="Calibri"/>
                <a:ea typeface="Calibri"/>
                <a:cs typeface="Calibri"/>
                <a:sym typeface="Calibri"/>
              </a:rPr>
              <a:t>It takes the easiest shortcut that fits the labels, but it can also point to cues pathologists might not consider.</a:t>
            </a:r>
            <a:endParaRPr b="0" i="0" spc="0" sz="1400" u="none" cap="none" strike="noStrike">
              <a:solidFill>
                <a:srgbClr val="000000"/>
              </a:solidFill>
              <a:latin typeface="Arial"/>
              <a:ea typeface="Arial"/>
              <a:cs typeface="Arial"/>
              <a:sym typeface="Arial"/>
            </a:endParaRPr>
          </a:p>
        </p:txBody>
      </p:sp>
      <p:sp>
        <p:nvSpPr>
          <p:cNvPr id="863" name="Google Shape;863;h3feeff9767e46d2f_3_602"/>
          <p:cNvSpPr/>
          <p:nvPr/>
        </p:nvSpPr>
        <p:spPr>
          <a:xfrm>
            <a:off x="502920" y="5669280"/>
            <a:ext cx="11185800" cy="457200"/>
          </a:xfrm>
          <a:prstGeom prst="roundRect">
            <a:avLst>
              <a:gd fmla="val 12000" name="adj"/>
            </a:avLst>
          </a:prstGeom>
          <a:solidFill>
            <a:srgbClr val="FFF6DC"/>
          </a:solidFill>
          <a:ln cap="flat" cmpd="sng" w="15875">
            <a:solidFill>
              <a:srgbClr val="C9A22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pc="0" sz="1500" u="none" cap="none" strike="noStrike">
                <a:solidFill>
                  <a:srgbClr val="222222"/>
                </a:solidFill>
                <a:latin typeface="Calibri"/>
                <a:ea typeface="Calibri"/>
                <a:cs typeface="Calibri"/>
                <a:sym typeface="Calibri"/>
              </a:rPr>
              <a:t>Answer the cases you can, sequence the rest.</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h3feeff9767e46d2f_3_800"/>
          <p:cNvSpPr txBox="1"/>
          <p:nvPr/>
        </p:nvSpPr>
        <p:spPr>
          <a:xfrm>
            <a:off x="448056" y="795528"/>
            <a:ext cx="5486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E9EBE"/>
                </a:solidFill>
                <a:latin typeface="Trebuchet MS"/>
                <a:ea typeface="Trebuchet MS"/>
                <a:cs typeface="Trebuchet MS"/>
                <a:sym typeface="Trebuchet MS"/>
              </a:rPr>
              <a:t>Acknowledgements</a:t>
            </a:r>
            <a:endParaRPr b="0" i="0" spc="0" sz="1400" u="none" cap="none" strike="noStrike">
              <a:solidFill>
                <a:srgbClr val="000000"/>
              </a:solidFill>
              <a:latin typeface="Arial"/>
              <a:ea typeface="Arial"/>
              <a:cs typeface="Arial"/>
              <a:sym typeface="Arial"/>
            </a:endParaRPr>
          </a:p>
        </p:txBody>
      </p:sp>
      <p:sp>
        <p:nvSpPr>
          <p:cNvPr id="870" name="Google Shape;870;h3feeff9767e46d2f_3_800"/>
          <p:cNvSpPr txBox="1"/>
          <p:nvPr/>
        </p:nvSpPr>
        <p:spPr>
          <a:xfrm>
            <a:off x="434375" y="1421625"/>
            <a:ext cx="5015100" cy="126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000000"/>
                </a:solidFill>
                <a:latin typeface="Trebuchet MS"/>
                <a:ea typeface="Trebuchet MS"/>
                <a:cs typeface="Trebuchet MS"/>
                <a:sym typeface="Trebuchet MS"/>
              </a:rPr>
              <a:t>Dr. Richard Schoonhoven   +	</a:t>
            </a:r>
            <a:r>
              <a:rPr b="1" i="0" lang="en-US" spc="0" sz="1500" u="none" cap="none" strike="noStrike">
                <a:solidFill>
                  <a:schemeClr val="dk1"/>
                </a:solidFill>
                <a:latin typeface="Trebuchet MS"/>
                <a:ea typeface="Trebuchet MS"/>
                <a:cs typeface="Trebuchet MS"/>
                <a:sym typeface="Trebuchet MS"/>
              </a:rPr>
              <a:t>Dr. Teodora Radonic</a:t>
            </a:r>
            <a:endParaRPr b="1" i="0" spc="0" sz="15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500"/>
              <a:buFont typeface="Arial"/>
              <a:buNone/>
            </a:pPr>
            <a:r>
              <a:t/>
            </a:r>
            <a:endParaRPr b="1" sz="1500">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500"/>
              <a:buFont typeface="Arial"/>
              <a:buNone/>
            </a:pPr>
            <a:r>
              <a:rPr b="1" lang="en-US" sz="1500">
                <a:solidFill>
                  <a:schemeClr val="dk1"/>
                </a:solidFill>
                <a:latin typeface="Trebuchet MS"/>
                <a:ea typeface="Trebuchet MS"/>
                <a:cs typeface="Trebuchet MS"/>
                <a:sym typeface="Trebuchet MS"/>
              </a:rPr>
              <a:t>Dr. Hoel Kervadec</a:t>
            </a:r>
            <a:endParaRPr b="1" sz="1500">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Trebuchet MS"/>
                <a:ea typeface="Trebuchet MS"/>
                <a:cs typeface="Trebuchet MS"/>
                <a:sym typeface="Trebuchet MS"/>
              </a:rPr>
              <a:t>MMAI Group</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Trebuchet MS"/>
                <a:ea typeface="Trebuchet MS"/>
                <a:cs typeface="Trebuchet MS"/>
                <a:sym typeface="Trebuchet MS"/>
              </a:rPr>
              <a:t>TGAC Group</a:t>
            </a:r>
            <a:endParaRPr b="0" i="0" spc="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000000"/>
                </a:solidFill>
                <a:latin typeface="Trebuchet MS"/>
                <a:ea typeface="Trebuchet MS"/>
                <a:cs typeface="Trebuchet MS"/>
                <a:sym typeface="Trebuchet MS"/>
              </a:rPr>
              <a:t>all the others that I forgot </a:t>
            </a:r>
            <a:endParaRPr b="0" i="0" spc="0" sz="1400" u="none" cap="none" strike="noStrike">
              <a:solidFill>
                <a:srgbClr val="000000"/>
              </a:solidFill>
              <a:latin typeface="Trebuchet MS"/>
              <a:ea typeface="Trebuchet MS"/>
              <a:cs typeface="Trebuchet MS"/>
              <a:sym typeface="Trebuchet MS"/>
            </a:endParaRPr>
          </a:p>
        </p:txBody>
      </p:sp>
      <p:pic>
        <p:nvPicPr>
          <p:cNvPr id="871" name="Google Shape;871;h3feeff9767e46d2f_3_800"/>
          <p:cNvPicPr preferRelativeResize="0"/>
          <p:nvPr/>
        </p:nvPicPr>
        <p:blipFill rotWithShape="1">
          <a:blip r:embed="rId3">
            <a:alphaModFix/>
          </a:blip>
          <a:srcRect b="0" l="0" r="0" t="0"/>
          <a:stretch/>
        </p:blipFill>
        <p:spPr>
          <a:xfrm>
            <a:off x="6940825" y="1421632"/>
            <a:ext cx="4400700" cy="330051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h5ce19bdfec7f05b0_1_189"/>
          <p:cNvSpPr txBox="1"/>
          <p:nvPr/>
        </p:nvSpPr>
        <p:spPr>
          <a:xfrm>
            <a:off x="420450" y="2197750"/>
            <a:ext cx="11351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Loss:  ℓ = −log( p_y + p_abstain / o ),   1 &lt; o &lt; 2     small o → abstaining is cheap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0x010100CDE4031ED3179A4FA4E2C3E910A1FF91</vt:lpwstr>
  </property>
  <property fmtid="{D5CDD505-2E9C-101B-9397-08002B2CF9AE}" pid="3" name="MediaServiceImageTags">
    <vt:lpwstr/>
  </property>
</Properties>
</file>